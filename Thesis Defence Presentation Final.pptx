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319" r:id="rId16"/>
    <p:sldId id="323" r:id="rId17"/>
    <p:sldId id="272" r:id="rId18"/>
    <p:sldId id="289" r:id="rId19"/>
    <p:sldId id="296" r:id="rId20"/>
    <p:sldId id="299" r:id="rId21"/>
    <p:sldId id="291" r:id="rId22"/>
    <p:sldId id="266"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8D29"/>
    <a:srgbClr val="00A731"/>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20"/>
    <p:restoredTop sz="94629"/>
  </p:normalViewPr>
  <p:slideViewPr>
    <p:cSldViewPr snapToGrid="0" snapToObjects="1">
      <p:cViewPr varScale="1">
        <p:scale>
          <a:sx n="103" d="100"/>
          <a:sy n="103" d="100"/>
        </p:scale>
        <p:origin x="488" y="17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a:t>
            </a:fld>
            <a:endParaRPr lang="en-US"/>
          </a:p>
        </p:txBody>
      </p:sp>
    </p:spTree>
    <p:extLst>
      <p:ext uri="{BB962C8B-B14F-4D97-AF65-F5344CB8AC3E}">
        <p14:creationId xmlns:p14="http://schemas.microsoft.com/office/powerpoint/2010/main" val="394336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10</a:t>
            </a:fld>
            <a:endParaRPr lang="en-US"/>
          </a:p>
        </p:txBody>
      </p:sp>
    </p:spTree>
    <p:extLst>
      <p:ext uri="{BB962C8B-B14F-4D97-AF65-F5344CB8AC3E}">
        <p14:creationId xmlns:p14="http://schemas.microsoft.com/office/powerpoint/2010/main" val="39946285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15</a:t>
            </a:fld>
            <a:endParaRPr lang="en-US"/>
          </a:p>
        </p:txBody>
      </p:sp>
    </p:spTree>
    <p:extLst>
      <p:ext uri="{BB962C8B-B14F-4D97-AF65-F5344CB8AC3E}">
        <p14:creationId xmlns:p14="http://schemas.microsoft.com/office/powerpoint/2010/main" val="40598478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58522" y="359596"/>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761596"/>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3931846"/>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a:t>
            </a:r>
            <a:r>
              <a:rPr lang="en-US" dirty="0">
                <a:latin typeface="Avenir Next" panose="020B0503020202020204" pitchFamily="34" charset="0"/>
              </a:rPr>
              <a:t>c</a:t>
            </a:r>
            <a:r>
              <a:rPr dirty="0">
                <a:latin typeface="Avenir Next" panose="020B0503020202020204" pitchFamily="34" charset="0"/>
              </a:rPr>
              <a:t>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a:t>
            </a:r>
            <a:r>
              <a:rPr lang="en-US" dirty="0">
                <a:latin typeface="Avenir Next" panose="020B0503020202020204" pitchFamily="34" charset="0"/>
              </a:rPr>
              <a:t>Hidden</a:t>
            </a:r>
            <a:r>
              <a:rPr dirty="0">
                <a:latin typeface="Avenir Next" panose="020B0503020202020204" pitchFamily="34" charset="0"/>
              </a:rPr>
              <a:t>)</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06806" y="1016542"/>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
        <p:nvSpPr>
          <p:cNvPr id="2" name="Rectangle 1">
            <a:extLst>
              <a:ext uri="{FF2B5EF4-FFF2-40B4-BE49-F238E27FC236}">
                <a16:creationId xmlns:a16="http://schemas.microsoft.com/office/drawing/2014/main" id="{3FDCB222-8459-526C-D2D9-E81267351D9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84384" y="418457"/>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314149"/>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a:t>
            </a:r>
            <a:r>
              <a:rPr lang="en-US" sz="1600" dirty="0">
                <a:latin typeface="Avenir Next" panose="020B0503020202020204" pitchFamily="34" charset="0"/>
              </a:rPr>
              <a:t> </a:t>
            </a:r>
            <a:r>
              <a:rPr sz="1600" dirty="0">
                <a:latin typeface="Avenir Next" panose="020B0503020202020204" pitchFamily="34" charset="0"/>
              </a:rPr>
              <a:t>a distant</a:t>
            </a:r>
            <a:r>
              <a:rPr lang="en-US" sz="1600" dirty="0">
                <a:latin typeface="Avenir Next" panose="020B0503020202020204" pitchFamily="34" charset="0"/>
              </a:rPr>
              <a:t> </a:t>
            </a:r>
            <a:r>
              <a:rPr sz="1600" dirty="0">
                <a:latin typeface="Avenir Next" panose="020B0503020202020204" pitchFamily="34" charset="0"/>
              </a:rPr>
              <a:t>issue</a:t>
            </a:r>
            <a:r>
              <a:rPr lang="en-US" sz="1600" dirty="0">
                <a:latin typeface="Avenir Next" panose="020B0503020202020204" pitchFamily="34" charset="0"/>
              </a:rPr>
              <a:t>, </a:t>
            </a:r>
            <a:r>
              <a:rPr sz="1600" dirty="0">
                <a:latin typeface="Avenir Next" panose="020B0503020202020204" pitchFamily="34" charset="0"/>
              </a:rPr>
              <a:t>it directly affects our wallets, our choices, and our future.</a:t>
            </a:r>
          </a:p>
        </p:txBody>
      </p:sp>
      <p:sp>
        <p:nvSpPr>
          <p:cNvPr id="6" name="Rounded Rectangle 5"/>
          <p:cNvSpPr/>
          <p:nvPr/>
        </p:nvSpPr>
        <p:spPr>
          <a:xfrm>
            <a:off x="731520" y="2182205"/>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2182205"/>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365085"/>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2182205"/>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2182205"/>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2365085"/>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2182205"/>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2182205"/>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2365085"/>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a:t>
            </a:r>
            <a:r>
              <a:rPr lang="en-US" sz="1600" dirty="0">
                <a:latin typeface="Avenir Next" panose="020B0503020202020204" pitchFamily="34" charset="0"/>
              </a:rPr>
              <a:t>Un-substantiated slogans like </a:t>
            </a:r>
            <a:r>
              <a:rPr sz="1600" dirty="0">
                <a:latin typeface="Avenir Next" panose="020B0503020202020204" pitchFamily="34" charset="0"/>
              </a:rPr>
              <a:t>'Net-Zero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t>
            </a:r>
            <a:r>
              <a:rPr lang="en-US" sz="1600" dirty="0">
                <a:latin typeface="Avenir Next" panose="020B0503020202020204" pitchFamily="34" charset="0"/>
              </a:rPr>
              <a:t>climate </a:t>
            </a:r>
            <a:r>
              <a:rPr sz="1600" dirty="0">
                <a:latin typeface="Avenir Next" panose="020B0503020202020204" pitchFamily="34" charset="0"/>
              </a:rPr>
              <a:t>action, while extreme weather and toxic pollution directly threaten our families.</a:t>
            </a:r>
          </a:p>
        </p:txBody>
      </p:sp>
      <p:sp>
        <p:nvSpPr>
          <p:cNvPr id="2" name="Rectangle 1">
            <a:extLst>
              <a:ext uri="{FF2B5EF4-FFF2-40B4-BE49-F238E27FC236}">
                <a16:creationId xmlns:a16="http://schemas.microsoft.com/office/drawing/2014/main" id="{66655456-B331-7B6A-DA3E-76E0DEDDAA4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289919"/>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t>
            </a:r>
            <a:r>
              <a:rPr sz="3200" b="1" dirty="0">
                <a:solidFill>
                  <a:srgbClr val="173F35"/>
                </a:solidFill>
                <a:latin typeface="Avenir Next Demi Bold"/>
              </a:rPr>
              <a:t>in India</a:t>
            </a:r>
          </a:p>
        </p:txBody>
      </p:sp>
      <p:sp>
        <p:nvSpPr>
          <p:cNvPr id="8" name="Rounded Rectangle 7"/>
          <p:cNvSpPr/>
          <p:nvPr/>
        </p:nvSpPr>
        <p:spPr>
          <a:xfrm>
            <a:off x="783524" y="1345828"/>
            <a:ext cx="3009045" cy="268829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713336" y="1291949"/>
            <a:ext cx="2782636"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1970728"/>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783524" y="2424285"/>
            <a:ext cx="2712448"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150" b="0">
                <a:solidFill>
                  <a:srgbClr val="2A2A2A"/>
                </a:solidFill>
                <a:latin typeface="Avenir Next"/>
              </a:defRPr>
            </a:pPr>
            <a:r>
              <a:rPr sz="1300" b="1" dirty="0">
                <a:latin typeface="Avenir Next" panose="020B0503020202020204" pitchFamily="34" charset="0"/>
              </a:rPr>
              <a:t>ASCI reviewed 211 environmental ads in </a:t>
            </a:r>
            <a:r>
              <a:rPr lang="en-US" sz="1300" b="1" dirty="0">
                <a:latin typeface="Avenir Next" panose="020B0503020202020204" pitchFamily="34" charset="0"/>
              </a:rPr>
              <a:t>its 2024-25 Annual Report.</a:t>
            </a:r>
          </a:p>
          <a:p>
            <a:pPr>
              <a:defRPr sz="1150" b="0">
                <a:solidFill>
                  <a:srgbClr val="2A2A2A"/>
                </a:solidFill>
                <a:latin typeface="Avenir Next"/>
              </a:defRPr>
            </a:pPr>
            <a:endParaRPr lang="en-US" sz="800" b="1" dirty="0">
              <a:latin typeface="Avenir Next" panose="020B0503020202020204" pitchFamily="34" charset="0"/>
            </a:endParaRPr>
          </a:p>
          <a:p>
            <a:pPr marL="285750" indent="-285750">
              <a:buFont typeface="Arial" panose="020B0604020202020204" pitchFamily="34" charset="0"/>
              <a:buChar char="•"/>
              <a:defRPr sz="1150" b="0">
                <a:solidFill>
                  <a:srgbClr val="2A2A2A"/>
                </a:solidFill>
                <a:latin typeface="Avenir Next"/>
              </a:defRPr>
            </a:pPr>
            <a:r>
              <a:rPr lang="en-US" sz="1300" b="1" dirty="0">
                <a:latin typeface="Avenir Next" panose="020B0503020202020204" pitchFamily="34" charset="0"/>
              </a:rPr>
              <a:t>A</a:t>
            </a:r>
            <a:r>
              <a:rPr sz="1300" b="1" dirty="0">
                <a:latin typeface="Avenir Next" panose="020B0503020202020204" pitchFamily="34" charset="0"/>
              </a:rPr>
              <a:t>nd every one </a:t>
            </a:r>
            <a:r>
              <a:rPr lang="en-US" sz="1300" b="1" dirty="0">
                <a:latin typeface="Avenir Next" panose="020B0503020202020204" pitchFamily="34" charset="0"/>
              </a:rPr>
              <a:t>of them </a:t>
            </a:r>
            <a:r>
              <a:rPr sz="1300" b="1" dirty="0">
                <a:latin typeface="Avenir Next" panose="020B0503020202020204" pitchFamily="34" charset="0"/>
              </a:rPr>
              <a:t>required modification for lack of substantiation.</a:t>
            </a:r>
          </a:p>
        </p:txBody>
      </p:sp>
      <p:sp>
        <p:nvSpPr>
          <p:cNvPr id="13" name="Rounded Rectangle 12"/>
          <p:cNvSpPr/>
          <p:nvPr/>
        </p:nvSpPr>
        <p:spPr>
          <a:xfrm>
            <a:off x="4133087" y="1345828"/>
            <a:ext cx="3127248" cy="336592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Avenir Next" panose="020B0503020202020204" pitchFamily="34" charset="0"/>
            </a:endParaRPr>
          </a:p>
        </p:txBody>
      </p:sp>
      <p:sp>
        <p:nvSpPr>
          <p:cNvPr id="14" name="Rounded Rectangle 13"/>
          <p:cNvSpPr/>
          <p:nvPr/>
        </p:nvSpPr>
        <p:spPr>
          <a:xfrm>
            <a:off x="4068831" y="1279591"/>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169811" y="1952784"/>
            <a:ext cx="3009972" cy="692497"/>
          </a:xfrm>
          <a:prstGeom prst="rect">
            <a:avLst/>
          </a:prstGeom>
          <a:noFill/>
        </p:spPr>
        <p:txBody>
          <a:bodyPr wrap="square" lIns="91440" tIns="45720" rIns="91440" bIns="45720" anchor="t">
            <a:spAutoFit/>
          </a:bodyPr>
          <a:lstStyle/>
          <a:p>
            <a:pPr>
              <a:defRPr sz="1150" b="1">
                <a:solidFill>
                  <a:srgbClr val="2A2A2A"/>
                </a:solidFill>
                <a:latin typeface="Avenir Next"/>
              </a:defRPr>
            </a:pPr>
            <a:r>
              <a:rPr lang="en-US" sz="1300" dirty="0">
                <a:latin typeface="Avenir Next" panose="020B0503020202020204" pitchFamily="34" charset="0"/>
              </a:rPr>
              <a:t>We looked at two peer reviewed studies highlighting greenwashing of same Nifty 50 </a:t>
            </a:r>
            <a:r>
              <a:rPr sz="1300" dirty="0">
                <a:latin typeface="Avenir Next" panose="020B0503020202020204" pitchFamily="34" charset="0"/>
              </a:rPr>
              <a:t>firms</a:t>
            </a:r>
            <a:r>
              <a:rPr lang="en-US" sz="1300" dirty="0">
                <a:latin typeface="Avenir Next" panose="020B0503020202020204" pitchFamily="34" charset="0"/>
              </a:rPr>
              <a:t>:</a:t>
            </a:r>
          </a:p>
        </p:txBody>
      </p:sp>
      <p:sp>
        <p:nvSpPr>
          <p:cNvPr id="18" name="Rounded Rectangle 17"/>
          <p:cNvSpPr/>
          <p:nvPr/>
        </p:nvSpPr>
        <p:spPr>
          <a:xfrm>
            <a:off x="7588036" y="1345829"/>
            <a:ext cx="407970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523393" y="1291949"/>
            <a:ext cx="3780707"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lang="en-US" sz="1500" dirty="0">
                <a:solidFill>
                  <a:schemeClr val="bg1"/>
                </a:solidFill>
                <a:latin typeface="Avenir Next" panose="020B0503020202020204" pitchFamily="34" charset="0"/>
              </a:rPr>
              <a:t>Market Scale of </a:t>
            </a:r>
            <a:r>
              <a:rPr sz="1500" dirty="0">
                <a:solidFill>
                  <a:schemeClr val="bg1"/>
                </a:solidFill>
                <a:latin typeface="Avenir Next" panose="020B0503020202020204" pitchFamily="34" charset="0"/>
              </a:rPr>
              <a:t>ESG </a:t>
            </a:r>
            <a:r>
              <a:rPr lang="en-US" sz="1500" dirty="0">
                <a:solidFill>
                  <a:schemeClr val="bg1"/>
                </a:solidFill>
                <a:latin typeface="Avenir Next" panose="020B0503020202020204" pitchFamily="34" charset="0"/>
              </a:rPr>
              <a:t>Equity and Debt</a:t>
            </a:r>
            <a:endParaRPr sz="1500" dirty="0">
              <a:solidFill>
                <a:schemeClr val="bg1"/>
              </a:solidFill>
              <a:latin typeface="Avenir Next" panose="020B0503020202020204" pitchFamily="34" charset="0"/>
            </a:endParaRPr>
          </a:p>
        </p:txBody>
      </p:sp>
      <p:sp>
        <p:nvSpPr>
          <p:cNvPr id="20" name="TextBox 19"/>
          <p:cNvSpPr txBox="1"/>
          <p:nvPr/>
        </p:nvSpPr>
        <p:spPr>
          <a:xfrm>
            <a:off x="7626136" y="1897080"/>
            <a:ext cx="2134188"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IN" sz="2000" dirty="0">
                <a:latin typeface="Avenir Next" panose="020B0503020202020204" pitchFamily="34" charset="0"/>
              </a:rPr>
              <a:t>ESG fund AUM</a:t>
            </a:r>
          </a:p>
        </p:txBody>
      </p:sp>
      <p:sp>
        <p:nvSpPr>
          <p:cNvPr id="21" name="TextBox 20"/>
          <p:cNvSpPr txBox="1"/>
          <p:nvPr/>
        </p:nvSpPr>
        <p:spPr>
          <a:xfrm>
            <a:off x="7699865" y="2254266"/>
            <a:ext cx="1859039" cy="1015663"/>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Grew from US$ 331 million in January 2020 to US$ 1.2 billion by March 2024</a:t>
            </a:r>
          </a:p>
          <a:p>
            <a:pPr>
              <a:defRPr sz="1050" b="0">
                <a:solidFill>
                  <a:srgbClr val="2A2A2A"/>
                </a:solidFill>
                <a:latin typeface="Avenir Next"/>
              </a:defRPr>
            </a:pPr>
            <a:endParaRPr sz="1200" dirty="0">
              <a:latin typeface="Avenir Next" panose="020B0503020202020204" pitchFamily="34" charset="0"/>
            </a:endParaRPr>
          </a:p>
        </p:txBody>
      </p:sp>
      <p:sp>
        <p:nvSpPr>
          <p:cNvPr id="22" name="TextBox 21"/>
          <p:cNvSpPr txBox="1"/>
          <p:nvPr/>
        </p:nvSpPr>
        <p:spPr>
          <a:xfrm>
            <a:off x="9707819" y="1897080"/>
            <a:ext cx="1551672"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US" sz="2000" dirty="0">
                <a:latin typeface="Avenir Next" panose="020B0503020202020204" pitchFamily="34" charset="0"/>
              </a:rPr>
              <a:t>ESG Debt</a:t>
            </a:r>
          </a:p>
        </p:txBody>
      </p:sp>
      <p:sp>
        <p:nvSpPr>
          <p:cNvPr id="23" name="TextBox 22"/>
          <p:cNvSpPr txBox="1"/>
          <p:nvPr/>
        </p:nvSpPr>
        <p:spPr>
          <a:xfrm>
            <a:off x="9838484" y="2259734"/>
            <a:ext cx="1634637" cy="830997"/>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Reached US$ 56 billion by Dec. 2024, a 186% increase since 2021</a:t>
            </a:r>
          </a:p>
        </p:txBody>
      </p:sp>
      <p:sp>
        <p:nvSpPr>
          <p:cNvPr id="24" name="TextBox 23"/>
          <p:cNvSpPr txBox="1"/>
          <p:nvPr/>
        </p:nvSpPr>
        <p:spPr>
          <a:xfrm>
            <a:off x="7702107" y="3192884"/>
            <a:ext cx="3657600"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India is already the fourth-largest emerging</a:t>
            </a:r>
            <a:r>
              <a:rPr lang="en-US" sz="1300" dirty="0">
                <a:solidFill>
                  <a:schemeClr val="tx1">
                    <a:lumMod val="95000"/>
                    <a:lumOff val="5000"/>
                  </a:schemeClr>
                </a:solidFill>
                <a:latin typeface="Avenir Next" panose="020B0503020202020204" pitchFamily="34" charset="0"/>
              </a:rPr>
              <a:t> </a:t>
            </a:r>
            <a:r>
              <a:rPr sz="1300" dirty="0">
                <a:solidFill>
                  <a:schemeClr val="tx1">
                    <a:lumMod val="95000"/>
                    <a:lumOff val="5000"/>
                  </a:schemeClr>
                </a:solidFill>
                <a:latin typeface="Avenir Next" panose="020B0503020202020204" pitchFamily="34" charset="0"/>
              </a:rPr>
              <a:t>market source of sustainable debt globally</a:t>
            </a:r>
            <a:r>
              <a:rPr lang="en-US" sz="1300" dirty="0">
                <a:solidFill>
                  <a:schemeClr val="tx1">
                    <a:lumMod val="95000"/>
                    <a:lumOff val="5000"/>
                  </a:schemeClr>
                </a:solidFill>
                <a:latin typeface="Avenir Next" panose="020B0503020202020204" pitchFamily="34" charset="0"/>
              </a:rPr>
              <a:t>.</a:t>
            </a:r>
          </a:p>
          <a:p>
            <a:pPr>
              <a:defRPr sz="1070" b="1">
                <a:solidFill>
                  <a:srgbClr val="A23E2A"/>
                </a:solidFill>
                <a:latin typeface="Avenir Next"/>
              </a:defRPr>
            </a:pPr>
            <a:endParaRPr lang="en-US" sz="600" dirty="0">
              <a:solidFill>
                <a:schemeClr val="tx1">
                  <a:lumMod val="95000"/>
                  <a:lumOff val="5000"/>
                </a:schemeClr>
              </a:solidFill>
              <a:latin typeface="Avenir Next" panose="020B0503020202020204" pitchFamily="34" charset="0"/>
            </a:endParaRPr>
          </a:p>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RBI</a:t>
            </a:r>
            <a:r>
              <a:rPr lang="en-US" sz="1300" dirty="0">
                <a:solidFill>
                  <a:schemeClr val="tx1">
                    <a:lumMod val="95000"/>
                    <a:lumOff val="5000"/>
                  </a:schemeClr>
                </a:solidFill>
                <a:latin typeface="Avenir Next" panose="020B0503020202020204" pitchFamily="34" charset="0"/>
              </a:rPr>
              <a:t>’s 2023</a:t>
            </a:r>
            <a:r>
              <a:rPr sz="1300" dirty="0">
                <a:solidFill>
                  <a:schemeClr val="tx1">
                    <a:lumMod val="95000"/>
                    <a:lumOff val="5000"/>
                  </a:schemeClr>
                </a:solidFill>
                <a:latin typeface="Avenir Next" panose="020B0503020202020204" pitchFamily="34" charset="0"/>
              </a:rPr>
              <a:t> research</a:t>
            </a:r>
            <a:r>
              <a:rPr lang="en-US" sz="1300" dirty="0">
                <a:solidFill>
                  <a:schemeClr val="tx1">
                    <a:lumMod val="95000"/>
                    <a:lumOff val="5000"/>
                  </a:schemeClr>
                </a:solidFill>
                <a:latin typeface="Avenir Next" panose="020B0503020202020204" pitchFamily="34" charset="0"/>
              </a:rPr>
              <a:t> study</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found that </a:t>
            </a:r>
            <a:r>
              <a:rPr sz="1300" dirty="0">
                <a:solidFill>
                  <a:schemeClr val="tx1">
                    <a:lumMod val="95000"/>
                    <a:lumOff val="5000"/>
                  </a:schemeClr>
                </a:solidFill>
                <a:latin typeface="Avenir Next" panose="020B0503020202020204" pitchFamily="34" charset="0"/>
              </a:rPr>
              <a:t>ESG </a:t>
            </a:r>
            <a:r>
              <a:rPr lang="en-US" sz="1300" dirty="0">
                <a:solidFill>
                  <a:schemeClr val="tx1">
                    <a:lumMod val="95000"/>
                    <a:lumOff val="5000"/>
                  </a:schemeClr>
                </a:solidFill>
                <a:latin typeface="Avenir Next" panose="020B0503020202020204" pitchFamily="34" charset="0"/>
              </a:rPr>
              <a:t>based stocks have higher returns</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compared to </a:t>
            </a:r>
            <a:r>
              <a:rPr sz="1300" dirty="0">
                <a:solidFill>
                  <a:schemeClr val="tx1">
                    <a:lumMod val="95000"/>
                    <a:lumOff val="5000"/>
                  </a:schemeClr>
                </a:solidFill>
                <a:latin typeface="Avenir Next" panose="020B0503020202020204" pitchFamily="34" charset="0"/>
              </a:rPr>
              <a:t>market.</a:t>
            </a:r>
          </a:p>
        </p:txBody>
      </p:sp>
      <p:sp>
        <p:nvSpPr>
          <p:cNvPr id="28" name="Rounded Rectangle 27"/>
          <p:cNvSpPr/>
          <p:nvPr/>
        </p:nvSpPr>
        <p:spPr>
          <a:xfrm>
            <a:off x="1515292" y="5390971"/>
            <a:ext cx="9013372" cy="993388"/>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987552" y="5546637"/>
            <a:ext cx="10267120" cy="615553"/>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US" sz="1400" cap="small" dirty="0">
                <a:latin typeface="Avenir Next" panose="020B0503020202020204" pitchFamily="34" charset="0"/>
              </a:rPr>
              <a:t>Greenwashing distorts the information on which consumers, investors and regulators rely on.</a:t>
            </a:r>
          </a:p>
          <a:p>
            <a:pPr algn="ctr">
              <a:defRPr sz="1150" b="1">
                <a:solidFill>
                  <a:srgbClr val="12402D"/>
                </a:solidFill>
                <a:latin typeface="Avenir Next Demi Bold"/>
              </a:defRPr>
            </a:pPr>
            <a:endParaRPr lang="en-IN" sz="600" cap="small" dirty="0">
              <a:latin typeface="Avenir Next" panose="020B0503020202020204" pitchFamily="34" charset="0"/>
            </a:endParaRPr>
          </a:p>
          <a:p>
            <a:pPr algn="ctr">
              <a:defRPr sz="1150" b="1">
                <a:solidFill>
                  <a:srgbClr val="12402D"/>
                </a:solidFill>
                <a:latin typeface="Avenir Next Demi Bold"/>
              </a:defRPr>
            </a:pPr>
            <a:r>
              <a:rPr lang="en-IN" sz="1400" cap="small" dirty="0">
                <a:latin typeface="Avenir Next" panose="020B0503020202020204" pitchFamily="34" charset="0"/>
              </a:rPr>
              <a:t>It affects consumer choice and capital allocation.</a:t>
            </a:r>
            <a:endParaRPr lang="en-IN" sz="1600" cap="small" dirty="0">
              <a:latin typeface="Avenir Next" panose="020B0503020202020204" pitchFamily="34" charset="0"/>
            </a:endParaRPr>
          </a:p>
        </p:txBody>
      </p:sp>
      <p:sp>
        <p:nvSpPr>
          <p:cNvPr id="30" name="TextBox 29"/>
          <p:cNvSpPr txBox="1"/>
          <p:nvPr/>
        </p:nvSpPr>
        <p:spPr>
          <a:xfrm>
            <a:off x="643329" y="6557535"/>
            <a:ext cx="8981177" cy="307777"/>
          </a:xfrm>
          <a:prstGeom prst="rect">
            <a:avLst/>
          </a:prstGeom>
          <a:noFill/>
        </p:spPr>
        <p:txBody>
          <a:bodyPr wrap="none" lIns="91440" tIns="45720" rIns="91440" bIns="45720" anchor="t">
            <a:spAutoFit/>
          </a:bodyPr>
          <a:lstStyle/>
          <a:p>
            <a:pPr>
              <a:defRPr sz="850">
                <a:solidFill>
                  <a:srgbClr val="6B6F6A"/>
                </a:solidFill>
                <a:latin typeface="Avenir Next"/>
              </a:defRPr>
            </a:pPr>
            <a:r>
              <a:rPr sz="1400" dirty="0">
                <a:solidFill>
                  <a:schemeClr val="tx1">
                    <a:lumMod val="95000"/>
                    <a:lumOff val="5000"/>
                  </a:schemeClr>
                </a:solidFill>
              </a:rPr>
              <a:t>Source: </a:t>
            </a:r>
            <a:r>
              <a:rPr lang="en-US" sz="1400" dirty="0">
                <a:solidFill>
                  <a:schemeClr val="tx1">
                    <a:lumMod val="95000"/>
                    <a:lumOff val="5000"/>
                  </a:schemeClr>
                </a:solidFill>
              </a:rPr>
              <a:t>Section 2.5 of Thesis. ASCI</a:t>
            </a:r>
            <a:r>
              <a:rPr sz="1400" dirty="0">
                <a:solidFill>
                  <a:schemeClr val="tx1">
                    <a:lumMod val="95000"/>
                    <a:lumOff val="5000"/>
                  </a:schemeClr>
                </a:solidFill>
              </a:rPr>
              <a:t>, RBI,</a:t>
            </a:r>
            <a:r>
              <a:rPr lang="en-US" sz="1400" dirty="0">
                <a:solidFill>
                  <a:schemeClr val="tx1">
                    <a:lumMod val="95000"/>
                    <a:lumOff val="5000"/>
                  </a:schemeClr>
                </a:solidFill>
              </a:rPr>
              <a:t> CRISIL, </a:t>
            </a:r>
            <a:r>
              <a:rPr sz="1400" dirty="0">
                <a:solidFill>
                  <a:schemeClr val="tx1">
                    <a:lumMod val="95000"/>
                    <a:lumOff val="5000"/>
                  </a:schemeClr>
                </a:solidFill>
              </a:rPr>
              <a:t> figures</a:t>
            </a:r>
            <a:r>
              <a:rPr lang="en-US" sz="1400" dirty="0">
                <a:solidFill>
                  <a:schemeClr val="tx1">
                    <a:lumMod val="95000"/>
                    <a:lumOff val="5000"/>
                  </a:schemeClr>
                </a:solidFill>
              </a:rPr>
              <a:t> and some peer-reviewed studies, </a:t>
            </a:r>
            <a:r>
              <a:rPr sz="1400" dirty="0">
                <a:solidFill>
                  <a:schemeClr val="tx1">
                    <a:lumMod val="95000"/>
                    <a:lumOff val="5000"/>
                  </a:schemeClr>
                </a:solidFill>
              </a:rPr>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864671"/>
            <a:ext cx="5464894"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b="1" i="1" dirty="0">
                <a:solidFill>
                  <a:srgbClr val="12402D"/>
                </a:solidFill>
                <a:latin typeface="Avenir Next" panose="020B0503020202020204" pitchFamily="34" charset="0"/>
              </a:rPr>
              <a:t>Based on available data from authority-based sources</a:t>
            </a:r>
          </a:p>
        </p:txBody>
      </p:sp>
      <p:sp>
        <p:nvSpPr>
          <p:cNvPr id="6" name="TextBox 5">
            <a:extLst>
              <a:ext uri="{FF2B5EF4-FFF2-40B4-BE49-F238E27FC236}">
                <a16:creationId xmlns:a16="http://schemas.microsoft.com/office/drawing/2014/main" id="{5E4D6379-FB21-ECB8-430A-DD00BE2CA29F}"/>
              </a:ext>
            </a:extLst>
          </p:cNvPr>
          <p:cNvSpPr txBox="1"/>
          <p:nvPr/>
        </p:nvSpPr>
        <p:spPr>
          <a:xfrm>
            <a:off x="4169811" y="3832835"/>
            <a:ext cx="3204595" cy="692497"/>
          </a:xfrm>
          <a:prstGeom prst="rect">
            <a:avLst/>
          </a:prstGeom>
          <a:noFill/>
        </p:spPr>
        <p:txBody>
          <a:bodyPr wrap="square">
            <a:spAutoFit/>
          </a:bodyPr>
          <a:lstStyle/>
          <a:p>
            <a:pPr>
              <a:defRPr sz="1150" b="1">
                <a:solidFill>
                  <a:srgbClr val="2A2A2A"/>
                </a:solidFill>
                <a:latin typeface="Avenir Next"/>
              </a:defRPr>
            </a:pPr>
            <a:r>
              <a:rPr lang="en-IN" sz="1300" dirty="0">
                <a:latin typeface="Avenir Next" panose="020B0503020202020204" pitchFamily="34" charset="0"/>
              </a:rPr>
              <a:t>A CRISIL Report in 2022, discovered that nearly 80% of 586 companies scored weak on ESG parameters.</a:t>
            </a:r>
          </a:p>
        </p:txBody>
      </p:sp>
      <p:sp>
        <p:nvSpPr>
          <p:cNvPr id="12" name="TextBox 11">
            <a:extLst>
              <a:ext uri="{FF2B5EF4-FFF2-40B4-BE49-F238E27FC236}">
                <a16:creationId xmlns:a16="http://schemas.microsoft.com/office/drawing/2014/main" id="{03976511-B45A-D9C6-7CF1-E7DF1798451D}"/>
              </a:ext>
            </a:extLst>
          </p:cNvPr>
          <p:cNvSpPr txBox="1"/>
          <p:nvPr/>
        </p:nvSpPr>
        <p:spPr>
          <a:xfrm>
            <a:off x="4429684" y="2912847"/>
            <a:ext cx="1153453"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54% of Nifty 50 (2022)</a:t>
            </a:r>
          </a:p>
        </p:txBody>
      </p:sp>
      <p:sp>
        <p:nvSpPr>
          <p:cNvPr id="31" name="TextBox 30">
            <a:extLst>
              <a:ext uri="{FF2B5EF4-FFF2-40B4-BE49-F238E27FC236}">
                <a16:creationId xmlns:a16="http://schemas.microsoft.com/office/drawing/2014/main" id="{13EBFC7C-4502-5C27-2F3A-49DBCBD283E7}"/>
              </a:ext>
            </a:extLst>
          </p:cNvPr>
          <p:cNvSpPr txBox="1"/>
          <p:nvPr/>
        </p:nvSpPr>
        <p:spPr>
          <a:xfrm>
            <a:off x="5891174" y="2918695"/>
            <a:ext cx="1020207"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47% of Nifty 50 (2025)</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620486"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5" name="Rounded Rectangle 4"/>
          <p:cNvSpPr/>
          <p:nvPr/>
        </p:nvSpPr>
        <p:spPr>
          <a:xfrm>
            <a:off x="709903" y="1181657"/>
            <a:ext cx="10627808" cy="426779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7" name="TextBox 6"/>
          <p:cNvSpPr txBox="1"/>
          <p:nvPr/>
        </p:nvSpPr>
        <p:spPr>
          <a:xfrm>
            <a:off x="1004990" y="1408552"/>
            <a:ext cx="10140803" cy="3960058"/>
          </a:xfrm>
          <a:prstGeom prst="rect">
            <a:avLst/>
          </a:prstGeom>
          <a:noFill/>
        </p:spPr>
        <p:txBody>
          <a:bodyPr wrap="square">
            <a:spAutoFit/>
          </a:bodyPr>
          <a:lstStyle/>
          <a:p>
            <a:pPr algn="l">
              <a:spcAft>
                <a:spcPts val="200"/>
              </a:spcAft>
              <a:defRPr sz="1250" b="1">
                <a:solidFill>
                  <a:srgbClr val="12402D"/>
                </a:solidFill>
                <a:latin typeface="Calibri"/>
              </a:defRPr>
            </a:pPr>
            <a:r>
              <a:rPr lang="en-US" sz="1350" dirty="0">
                <a:latin typeface="Avenir Next" panose="020B0503020202020204" pitchFamily="34" charset="0"/>
              </a:rPr>
              <a:t>Lack of an integrated analysis </a:t>
            </a:r>
          </a:p>
          <a:p>
            <a:pPr>
              <a:defRPr sz="1050"/>
            </a:pPr>
            <a:r>
              <a:rPr lang="en-IN" sz="1350" dirty="0">
                <a:latin typeface="Avenir Next" panose="020B0503020202020204" pitchFamily="34" charset="0"/>
              </a:rPr>
              <a:t>The research gap is not the complete absence of laws or regulations tackling greenwashing, but the absence of an integrated analysis of how those rules translate into enforceable accountability.</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doctrinal work on board-level accountability for environmental claims</a:t>
            </a:r>
          </a:p>
          <a:p>
            <a:pPr>
              <a:defRPr sz="1050"/>
            </a:pPr>
            <a:r>
              <a:rPr lang="en-US" sz="1350" dirty="0">
                <a:latin typeface="Avenir Next" panose="020B0503020202020204" pitchFamily="34" charset="0"/>
              </a:rPr>
              <a:t>Section 166(2) of the Companies Act, 2013 creates a statutory expectation that remains under-studied.</a:t>
            </a:r>
          </a:p>
          <a:p>
            <a:pPr>
              <a:defRPr sz="1050"/>
            </a:pPr>
            <a:endParaRPr lang="en-US"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Regulatory Fragmentation</a:t>
            </a:r>
          </a:p>
          <a:p>
            <a:pPr>
              <a:defRPr sz="1050"/>
            </a:pPr>
            <a:r>
              <a:rPr lang="en-IN" sz="1350" dirty="0">
                <a:latin typeface="Avenir Next" panose="020B0503020202020204" pitchFamily="34" charset="0"/>
              </a:rPr>
              <a:t>The regulatory fragmentation problem has not been sufficiently examined as a structural cause of greenwashing. Green claims are policed across siloed regimes (MCA, SEBI, CCPA/ASCI), creating jurisdictional overlap and an accountability vacuum.</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analysis of structural reasons for low Enforcement</a:t>
            </a:r>
          </a:p>
          <a:p>
            <a:pPr>
              <a:defRPr sz="1050"/>
            </a:pPr>
            <a:r>
              <a:rPr lang="en-US" sz="1350" dirty="0">
                <a:latin typeface="Avenir Next" panose="020B0503020202020204" pitchFamily="34" charset="0"/>
              </a:rPr>
              <a:t>The available discussion on the enforcement of section 166(2) of Companies Act remains thin. Beyond Companies Act also, there is lack of doctrinal studies evaluating why SEBI rarely brings deterrent enforcement action against greenwashing.</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Limited study on Verification &amp; Assurance Gap</a:t>
            </a:r>
          </a:p>
          <a:p>
            <a:pPr>
              <a:defRPr sz="1050"/>
            </a:pPr>
            <a:r>
              <a:rPr lang="en-IN" sz="1350" dirty="0">
                <a:latin typeface="Avenir Next" panose="020B0503020202020204" pitchFamily="34" charset="0"/>
              </a:rPr>
              <a:t>Mandatory ESG disclosure has expanded without corresponding third-party verification capacity, resulting in unverified violations and meagre enforcement of regulation.</a:t>
            </a:r>
          </a:p>
        </p:txBody>
      </p:sp>
      <p:sp>
        <p:nvSpPr>
          <p:cNvPr id="20" name="Rounded Rectangle 19"/>
          <p:cNvSpPr/>
          <p:nvPr/>
        </p:nvSpPr>
        <p:spPr>
          <a:xfrm>
            <a:off x="676302" y="5754490"/>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1042062" y="5824178"/>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lang="en-US" sz="1600" dirty="0">
                <a:latin typeface="Avenir Next" panose="020B0503020202020204" pitchFamily="34" charset="0"/>
              </a:rPr>
              <a:t>MY</a:t>
            </a:r>
            <a:r>
              <a:rPr sz="1600" dirty="0">
                <a:latin typeface="Avenir Next" panose="020B0503020202020204" pitchFamily="34" charset="0"/>
              </a:rPr>
              <a:t>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a:t>
            </a:r>
            <a:r>
              <a:rPr lang="en-US" sz="1400" dirty="0">
                <a:latin typeface="Avenir Next" panose="020B0503020202020204" pitchFamily="34" charset="0"/>
              </a:rPr>
              <a:t> </a:t>
            </a:r>
            <a:r>
              <a:rPr sz="1400" dirty="0">
                <a:latin typeface="Avenir Next" panose="020B0503020202020204" pitchFamily="34" charset="0"/>
              </a:rPr>
              <a:t>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19633" y="161231"/>
            <a:ext cx="10058400" cy="1123384"/>
          </a:xfrm>
          <a:prstGeom prst="rect">
            <a:avLst/>
          </a:prstGeom>
          <a:noFill/>
        </p:spPr>
        <p:txBody>
          <a:bodyPr wrap="square" lIns="91440" tIns="45720" rIns="91440" bIns="45720" anchor="t">
            <a:spAutoFit/>
          </a:bodyPr>
          <a:lstStyle/>
          <a:p>
            <a:pPr>
              <a:lnSpc>
                <a:spcPct val="150000"/>
              </a:lnSpc>
              <a:spcAft>
                <a:spcPts val="600"/>
              </a:spcAft>
              <a:defRPr sz="3000" b="1">
                <a:solidFill>
                  <a:srgbClr val="1B1B2F"/>
                </a:solidFill>
                <a:latin typeface="Calibri Light"/>
              </a:defRPr>
            </a:pPr>
            <a:r>
              <a:rPr sz="3200" b="1" dirty="0">
                <a:solidFill>
                  <a:srgbClr val="173F35"/>
                </a:solidFill>
                <a:latin typeface="Avenir Next Demi Bold"/>
              </a:rPr>
              <a:t>Research Methodology</a:t>
            </a:r>
            <a:endParaRPr sz="1200" b="1" dirty="0">
              <a:solidFill>
                <a:srgbClr val="173F35"/>
              </a:solidFill>
              <a:latin typeface="Avenir Next Demi Bold"/>
            </a:endParaRPr>
          </a:p>
          <a:p>
            <a:pPr>
              <a:defRPr sz="1300" b="0">
                <a:solidFill>
                  <a:srgbClr val="6B6B7B"/>
                </a:solidFill>
                <a:latin typeface="Calibri"/>
              </a:defRPr>
            </a:pPr>
            <a:r>
              <a:rPr lang="en-US" sz="1400" b="1" dirty="0">
                <a:latin typeface="Avenir Next" panose="020B0503020202020204" pitchFamily="34" charset="0"/>
              </a:rPr>
              <a:t>Comparative and Analytical </a:t>
            </a:r>
            <a:r>
              <a:rPr sz="1400" b="1" dirty="0">
                <a:latin typeface="Avenir Next" panose="020B0503020202020204" pitchFamily="34" charset="0"/>
              </a:rPr>
              <a:t>Legal Research</a:t>
            </a:r>
            <a:endParaRPr sz="1400" b="1"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67598"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SEBI,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92360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defRPr sz="1200" b="0">
                <a:solidFill>
                  <a:srgbClr val="3A3A4A"/>
                </a:solidFill>
                <a:latin typeface="Calibri"/>
              </a:defRPr>
            </a:pP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061829"/>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US, UK,</a:t>
            </a:r>
            <a:r>
              <a:rPr lang="en-US" sz="1400" dirty="0">
                <a:latin typeface="Avenir Next" panose="020B0503020202020204" pitchFamily="34" charset="0"/>
              </a:rPr>
              <a:t> </a:t>
            </a:r>
            <a:r>
              <a:rPr sz="1400" dirty="0">
                <a:latin typeface="Avenir Next" panose="020B0503020202020204" pitchFamily="34" charset="0"/>
              </a:rPr>
              <a:t>Australia, and </a:t>
            </a:r>
            <a:r>
              <a:rPr lang="en-US" sz="1400" dirty="0">
                <a:latin typeface="Avenir Next" panose="020B0503020202020204" pitchFamily="34" charset="0"/>
              </a:rPr>
              <a:t>also developing countries</a:t>
            </a:r>
            <a:r>
              <a:rPr sz="1400" dirty="0">
                <a:latin typeface="Avenir Next" panose="020B0503020202020204" pitchFamily="34" charset="0"/>
              </a:rPr>
              <a:t>.</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492716"/>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relevant sections of the Companies Act 2013, Consumer Protection Act 2019. And of relevant SEBI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a:t>
            </a:r>
            <a:r>
              <a:rPr lang="en-US" sz="1400" dirty="0">
                <a:latin typeface="Avenir Next" panose="020B0503020202020204" pitchFamily="34" charset="0"/>
              </a:rPr>
              <a:t> maintained</a:t>
            </a:r>
            <a:r>
              <a:rPr sz="1400" dirty="0">
                <a:latin typeface="Avenir Next" panose="020B0503020202020204" pitchFamily="34" charset="0"/>
              </a:rPr>
              <a:t> between what the law currently provides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a:t>
            </a:r>
            <a:r>
              <a:rPr lang="en-US" sz="1400" dirty="0">
                <a:latin typeface="Avenir Next" panose="020B0503020202020204" pitchFamily="34" charset="0"/>
              </a:rPr>
              <a:t>, </a:t>
            </a:r>
            <a:r>
              <a:rPr sz="1400" dirty="0">
                <a:latin typeface="Avenir Next" panose="020B0503020202020204" pitchFamily="34" charset="0"/>
              </a:rPr>
              <a:t>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lang="en-US" sz="3200" b="1" dirty="0">
                <a:solidFill>
                  <a:srgbClr val="173F35"/>
                </a:solidFill>
                <a:latin typeface="Avenir Next Demi Bold"/>
              </a:rPr>
              <a:t>How </a:t>
            </a:r>
            <a:r>
              <a:rPr sz="3200" b="1" dirty="0">
                <a:solidFill>
                  <a:srgbClr val="173F35"/>
                </a:solidFill>
                <a:latin typeface="Avenir Next Demi Bold"/>
              </a:rPr>
              <a:t>Greenwashing </a:t>
            </a:r>
            <a:r>
              <a:rPr lang="en-US" sz="3200" b="1" dirty="0">
                <a:solidFill>
                  <a:srgbClr val="173F35"/>
                </a:solidFill>
                <a:latin typeface="Avenir Next Demi Bold"/>
              </a:rPr>
              <a:t>has </a:t>
            </a:r>
            <a:r>
              <a:rPr sz="3200" b="1" dirty="0">
                <a:solidFill>
                  <a:srgbClr val="173F35"/>
                </a:solidFill>
                <a:latin typeface="Avenir Next Demi Bold"/>
              </a:rPr>
              <a:t>evolved and </a:t>
            </a:r>
            <a:r>
              <a:rPr lang="en-US" sz="3200" b="1" dirty="0">
                <a:solidFill>
                  <a:srgbClr val="173F35"/>
                </a:solidFill>
                <a:latin typeface="Avenir Next Demi Bold"/>
              </a:rPr>
              <a:t>its consequences</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104458"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EVOLVED</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8"/>
            <a:ext cx="10058400" cy="867621"/>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endParaRPr dirty="0"/>
          </a:p>
        </p:txBody>
      </p:sp>
      <p:sp>
        <p:nvSpPr>
          <p:cNvPr id="8" name="Rounded Rectangle 7"/>
          <p:cNvSpPr/>
          <p:nvPr/>
        </p:nvSpPr>
        <p:spPr>
          <a:xfrm>
            <a:off x="757509"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757509" y="2285896"/>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903812" y="2481346"/>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903813" y="2806765"/>
            <a:ext cx="3145536"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p:txBody>
      </p:sp>
      <p:sp>
        <p:nvSpPr>
          <p:cNvPr id="12" name="Rounded Rectangle 11"/>
          <p:cNvSpPr/>
          <p:nvPr/>
        </p:nvSpPr>
        <p:spPr>
          <a:xfrm>
            <a:off x="4341957"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341957" y="2285896"/>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488261" y="2481346"/>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475915" y="2825053"/>
            <a:ext cx="3316531" cy="1395254"/>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p:txBody>
      </p:sp>
      <p:sp>
        <p:nvSpPr>
          <p:cNvPr id="16" name="Rounded Rectangle 15"/>
          <p:cNvSpPr/>
          <p:nvPr/>
        </p:nvSpPr>
        <p:spPr>
          <a:xfrm>
            <a:off x="7926405"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7926405" y="2285896"/>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072709" y="2481346"/>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139687" y="2849406"/>
            <a:ext cx="3212515"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p:txBody>
      </p:sp>
      <p:sp>
        <p:nvSpPr>
          <p:cNvPr id="20" name="Rounded Rectangle 19"/>
          <p:cNvSpPr/>
          <p:nvPr/>
        </p:nvSpPr>
        <p:spPr>
          <a:xfrm>
            <a:off x="1249519" y="4785759"/>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876140"/>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46438" cy="86762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1146468"/>
          </a:xfrm>
          <a:prstGeom prst="rect">
            <a:avLst/>
          </a:prstGeom>
          <a:noFill/>
        </p:spPr>
        <p:txBody>
          <a:bodyPr wrap="square" anchor="t">
            <a:spAutoFit/>
          </a:bodyPr>
          <a:lstStyle/>
          <a:p>
            <a:pPr algn="l">
              <a:defRPr sz="1250" b="1">
                <a:solidFill>
                  <a:srgbClr val="D1A94B"/>
                </a:solidFill>
                <a:latin typeface="Avenir Next"/>
              </a:defRPr>
            </a:pPr>
            <a:r>
              <a:rPr sz="1250" b="1" dirty="0">
                <a:solidFill>
                  <a:schemeClr val="tx1">
                    <a:lumMod val="95000"/>
                    <a:lumOff val="5000"/>
                  </a:schemeClr>
                </a:solidFill>
                <a:latin typeface="Avenir Next" panose="020B0503020202020204" pitchFamily="34" charset="0"/>
              </a:rPr>
              <a:t>Constitutional Bedrock: </a:t>
            </a:r>
            <a:endParaRPr lang="en-US" sz="1250" b="1" dirty="0">
              <a:solidFill>
                <a:schemeClr val="tx1">
                  <a:lumMod val="95000"/>
                  <a:lumOff val="5000"/>
                </a:schemeClr>
              </a:solidFill>
              <a:latin typeface="Avenir Next" panose="020B0503020202020204" pitchFamily="34" charset="0"/>
            </a:endParaRPr>
          </a:p>
          <a:p>
            <a:pPr marL="285750" indent="-285750" algn="l">
              <a:buFont typeface="Arial" panose="020B0604020202020204" pitchFamily="34" charset="0"/>
              <a:buChar char="•"/>
              <a:defRPr sz="1400" b="1">
                <a:solidFill>
                  <a:srgbClr val="FFFFFF"/>
                </a:solidFill>
                <a:latin typeface="Avenir Next"/>
              </a:defRPr>
            </a:pPr>
            <a:r>
              <a:rPr sz="1400" b="1" dirty="0">
                <a:solidFill>
                  <a:schemeClr val="tx1">
                    <a:lumMod val="95000"/>
                    <a:lumOff val="5000"/>
                  </a:schemeClr>
                </a:solidFill>
                <a:latin typeface="Avenir Next" panose="020B0503020202020204" pitchFamily="34" charset="0"/>
              </a:rPr>
              <a:t>Articles 21, 48A, 51A(g)</a:t>
            </a:r>
            <a:r>
              <a:rPr lang="en-US" sz="1400" b="1" dirty="0">
                <a:solidFill>
                  <a:schemeClr val="tx1">
                    <a:lumMod val="95000"/>
                    <a:lumOff val="5000"/>
                  </a:schemeClr>
                </a:solidFill>
                <a:latin typeface="Avenir Next" panose="020B0503020202020204" pitchFamily="34" charset="0"/>
              </a:rPr>
              <a:t> of the constitution.</a:t>
            </a:r>
          </a:p>
          <a:p>
            <a:pPr marL="285750" indent="-285750" algn="l">
              <a:buFont typeface="Arial" panose="020B0604020202020204" pitchFamily="34" charset="0"/>
              <a:buChar char="•"/>
              <a:defRPr sz="1400" b="1">
                <a:solidFill>
                  <a:srgbClr val="FFFFFF"/>
                </a:solidFill>
                <a:latin typeface="Avenir Next"/>
              </a:defRPr>
            </a:pPr>
            <a:r>
              <a:rPr lang="en-US" sz="1400" b="1" dirty="0">
                <a:solidFill>
                  <a:schemeClr val="tx1">
                    <a:lumMod val="95000"/>
                    <a:lumOff val="5000"/>
                  </a:schemeClr>
                </a:solidFill>
                <a:latin typeface="Avenir Next" panose="020B0503020202020204" pitchFamily="34" charset="0"/>
              </a:rPr>
              <a:t>Supreme Court rulings (Tata-Mistry and MK Ranjitsinh) affirm environmental duties and climate rights.</a:t>
            </a: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a:t>
            </a:r>
            <a:r>
              <a:rPr lang="en-US" sz="1600" dirty="0">
                <a:latin typeface="Avenir Next" panose="020B0503020202020204" pitchFamily="34" charset="0"/>
              </a:rPr>
              <a:t>Pathway</a:t>
            </a:r>
            <a:endParaRPr sz="1600" dirty="0">
              <a:latin typeface="Avenir Next" panose="020B0503020202020204" pitchFamily="34" charset="0"/>
            </a:endParaRP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387626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913899" y="1405912"/>
            <a:ext cx="6089793"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r>
              <a:rPr lang="en-US" sz="1600" dirty="0">
                <a:solidFill>
                  <a:srgbClr val="2D2D2D"/>
                </a:solidFill>
                <a:latin typeface="Avenir Next" panose="020B0503020202020204" pitchFamily="34" charset="0"/>
              </a:rPr>
              <a:t> Rather than proactive systemic regulation.</a:t>
            </a:r>
            <a:endParaRPr lang="en-IN"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2. No Upstream Boardroom Mandates: </a:t>
            </a:r>
            <a:r>
              <a:rPr lang="en-IN" sz="1600" dirty="0">
                <a:solidFill>
                  <a:srgbClr val="2D2D2D"/>
                </a:solidFill>
                <a:latin typeface="Avenir Next" panose="020B0503020202020204" pitchFamily="34" charset="0"/>
              </a:rPr>
              <a:t>Regulates ad copy, does not guide internal corporate systems or decision-making.</a:t>
            </a:r>
            <a:endParaRPr sz="1600" dirty="0">
              <a:solidFill>
                <a:srgbClr val="2D2D2D"/>
              </a:solidFill>
              <a:latin typeface="Avenir Next" panose="020B0503020202020204" pitchFamily="34" charset="0"/>
            </a:endParaRPr>
          </a:p>
          <a:p>
            <a:pPr>
              <a:spcBef>
                <a:spcPts val="200"/>
              </a:spcBef>
              <a:spcAft>
                <a:spcPts val="300"/>
              </a:spcAft>
            </a:pPr>
            <a:r>
              <a:rPr lang="en-US" sz="1600" b="1" dirty="0">
                <a:solidFill>
                  <a:srgbClr val="22704E"/>
                </a:solidFill>
                <a:latin typeface="Avenir Next" panose="020B0503020202020204" pitchFamily="34" charset="0"/>
              </a:rPr>
              <a:t>3</a:t>
            </a:r>
            <a:r>
              <a:rPr sz="1600" b="1" dirty="0">
                <a:solidFill>
                  <a:srgbClr val="22704E"/>
                </a:solidFill>
                <a:latin typeface="Avenir Next" panose="020B0503020202020204" pitchFamily="34" charset="0"/>
              </a:rPr>
              <a:t>. Individual Harm Focus: </a:t>
            </a:r>
            <a:r>
              <a:rPr sz="1600" dirty="0">
                <a:solidFill>
                  <a:srgbClr val="2D2D2D"/>
                </a:solidFill>
                <a:latin typeface="Avenir Next" panose="020B0503020202020204" pitchFamily="34" charset="0"/>
              </a:rPr>
              <a:t>Treats greenwashing </a:t>
            </a:r>
            <a:r>
              <a:rPr lang="en-US" sz="1600" dirty="0">
                <a:solidFill>
                  <a:srgbClr val="2D2D2D"/>
                </a:solidFill>
                <a:latin typeface="Avenir Next" panose="020B0503020202020204" pitchFamily="34" charset="0"/>
              </a:rPr>
              <a:t>merely </a:t>
            </a:r>
            <a:r>
              <a:rPr sz="1600" dirty="0">
                <a:solidFill>
                  <a:srgbClr val="2D2D2D"/>
                </a:solidFill>
                <a:latin typeface="Avenir Next" panose="020B0503020202020204" pitchFamily="34" charset="0"/>
              </a:rPr>
              <a:t>consumer </a:t>
            </a:r>
            <a:r>
              <a:rPr lang="en-US" sz="1600" dirty="0">
                <a:solidFill>
                  <a:srgbClr val="2D2D2D"/>
                </a:solidFill>
                <a:latin typeface="Avenir Next" panose="020B0503020202020204" pitchFamily="34" charset="0"/>
              </a:rPr>
              <a:t>harm</a:t>
            </a:r>
            <a:r>
              <a:rPr sz="1600" dirty="0">
                <a:solidFill>
                  <a:srgbClr val="2D2D2D"/>
                </a:solidFill>
                <a:latin typeface="Avenir Next" panose="020B0503020202020204" pitchFamily="34" charset="0"/>
              </a:rPr>
              <a:t>, not systemic governance failure.</a:t>
            </a:r>
            <a:endParaRPr lang="en-US" sz="1600" dirty="0">
              <a:solidFill>
                <a:srgbClr val="2D2D2D"/>
              </a:solidFill>
              <a:latin typeface="Avenir Next" panose="020B0503020202020204" pitchFamily="34" charset="0"/>
            </a:endParaRPr>
          </a:p>
          <a:p>
            <a:pPr>
              <a:spcBef>
                <a:spcPts val="200"/>
              </a:spcBef>
              <a:spcAft>
                <a:spcPts val="300"/>
              </a:spcAft>
            </a:pPr>
            <a:r>
              <a:rPr lang="en-US" sz="1600" b="1" dirty="0">
                <a:solidFill>
                  <a:srgbClr val="22704E"/>
                </a:solidFill>
                <a:latin typeface="Avenir Next" panose="020B0503020202020204" pitchFamily="34" charset="0"/>
              </a:rPr>
              <a:t>4. </a:t>
            </a:r>
            <a:r>
              <a:rPr sz="1600" b="1" dirty="0">
                <a:solidFill>
                  <a:srgbClr val="22704E"/>
                </a:solidFill>
                <a:latin typeface="Avenir Next" panose="020B0503020202020204" pitchFamily="34" charset="0"/>
              </a:rPr>
              <a:t>Puffery Loophole: </a:t>
            </a:r>
            <a:r>
              <a:rPr lang="en-US" sz="1600" dirty="0">
                <a:solidFill>
                  <a:srgbClr val="2D2D2D"/>
                </a:solidFill>
                <a:latin typeface="Avenir Next" panose="020B0503020202020204" pitchFamily="34" charset="0"/>
              </a:rPr>
              <a:t>Scope for </a:t>
            </a:r>
            <a:r>
              <a:rPr sz="1600" dirty="0">
                <a:solidFill>
                  <a:srgbClr val="2D2D2D"/>
                </a:solidFill>
                <a:latin typeface="Avenir Next" panose="020B0503020202020204" pitchFamily="34" charset="0"/>
              </a:rPr>
              <a:t>exaggerations </a:t>
            </a:r>
            <a:r>
              <a:rPr lang="en-US" sz="1600" dirty="0">
                <a:solidFill>
                  <a:srgbClr val="2D2D2D"/>
                </a:solidFill>
                <a:latin typeface="Avenir Next" panose="020B0503020202020204" pitchFamily="34" charset="0"/>
              </a:rPr>
              <a:t>creates </a:t>
            </a:r>
            <a:r>
              <a:rPr sz="1600" dirty="0">
                <a:solidFill>
                  <a:srgbClr val="2D2D2D"/>
                </a:solidFill>
                <a:latin typeface="Avenir Next" panose="020B0503020202020204" pitchFamily="34" charset="0"/>
              </a:rPr>
              <a:t>loopholes for vague green buzzwords.</a:t>
            </a:r>
          </a:p>
          <a:p>
            <a:pPr>
              <a:spcBef>
                <a:spcPts val="200"/>
              </a:spcBef>
              <a:spcAft>
                <a:spcPts val="300"/>
              </a:spcAft>
            </a:pPr>
            <a:r>
              <a:rPr lang="en-US" sz="1600" b="1" dirty="0">
                <a:solidFill>
                  <a:srgbClr val="22704E"/>
                </a:solidFill>
                <a:latin typeface="Avenir Next" panose="020B0503020202020204" pitchFamily="34" charset="0"/>
              </a:rPr>
              <a:t>5</a:t>
            </a:r>
            <a:r>
              <a:rPr sz="1600" b="1" dirty="0">
                <a:solidFill>
                  <a:srgbClr val="22704E"/>
                </a:solidFill>
                <a:latin typeface="Avenir Next" panose="020B0503020202020204" pitchFamily="34" charset="0"/>
              </a:rPr>
              <a:t>. </a:t>
            </a:r>
            <a:r>
              <a:rPr lang="en-US" sz="1600" b="1" dirty="0">
                <a:solidFill>
                  <a:srgbClr val="22704E"/>
                </a:solidFill>
                <a:latin typeface="Avenir Next" panose="020B0503020202020204" pitchFamily="34" charset="0"/>
              </a:rPr>
              <a:t>Fixed cap penalties</a:t>
            </a:r>
            <a:r>
              <a:rPr sz="1600" b="1" dirty="0">
                <a:solidFill>
                  <a:srgbClr val="22704E"/>
                </a:solidFill>
                <a:latin typeface="Avenir Next" panose="020B0503020202020204" pitchFamily="34" charset="0"/>
              </a:rPr>
              <a:t>: </a:t>
            </a:r>
            <a:r>
              <a:rPr lang="en-IN" sz="1600" dirty="0">
                <a:solidFill>
                  <a:srgbClr val="2D2D2D"/>
                </a:solidFill>
                <a:latin typeface="Avenir Next" panose="020B0503020202020204" pitchFamily="34" charset="0"/>
              </a:rPr>
              <a:t>Not turnover linked</a:t>
            </a:r>
            <a:r>
              <a:rPr sz="1600" dirty="0">
                <a:solidFill>
                  <a:srgbClr val="2D2D2D"/>
                </a:solidFill>
                <a:latin typeface="Avenir Next" panose="020B0503020202020204" pitchFamily="34" charset="0"/>
              </a:rPr>
              <a:t>.</a:t>
            </a:r>
            <a:r>
              <a:rPr lang="en-US" sz="1600" dirty="0">
                <a:solidFill>
                  <a:srgbClr val="2D2D2D"/>
                </a:solidFill>
                <a:latin typeface="Avenir Next" panose="020B0503020202020204" pitchFamily="34" charset="0"/>
              </a:rPr>
              <a:t> Limited deterrence for big companies.</a:t>
            </a:r>
            <a:endParaRPr lang="en-US" sz="1600" dirty="0">
              <a:latin typeface="Avenir Next" panose="020B0503020202020204" pitchFamily="34" charset="0"/>
              <a:ea typeface="Calibri"/>
              <a:cs typeface="Calibri"/>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584521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0823" y="5290044"/>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08748" y="5380949"/>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790823"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a:t>
            </a:r>
            <a:r>
              <a:rPr lang="en-US" dirty="0">
                <a:latin typeface="Avenir Next" panose="020B0503020202020204" pitchFamily="34" charset="0"/>
              </a:rPr>
              <a:t>introduced: </a:t>
            </a:r>
            <a:r>
              <a:rPr dirty="0">
                <a:latin typeface="Avenir Next" panose="020B0503020202020204" pitchFamily="34" charset="0"/>
              </a:rPr>
              <a:t> mandatory for the top 1000 listed entities</a:t>
            </a:r>
          </a:p>
        </p:txBody>
      </p:sp>
      <p:sp>
        <p:nvSpPr>
          <p:cNvPr id="9" name="Rounded Rectangle 8"/>
          <p:cNvSpPr/>
          <p:nvPr/>
        </p:nvSpPr>
        <p:spPr>
          <a:xfrm>
            <a:off x="3406007" y="4001368"/>
            <a:ext cx="2468880" cy="1067934"/>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2023</a:t>
            </a:r>
          </a:p>
          <a:p>
            <a:pPr algn="ctr">
              <a:defRPr sz="1050">
                <a:solidFill>
                  <a:srgbClr val="2A2A2A"/>
                </a:solidFill>
                <a:latin typeface="Avenir Next"/>
              </a:defRPr>
            </a:pPr>
            <a:r>
              <a:rPr dirty="0">
                <a:latin typeface="Avenir Next" panose="020B0503020202020204" pitchFamily="34" charset="0"/>
              </a:rPr>
              <a:t>BRSR Core</a:t>
            </a:r>
            <a:r>
              <a:rPr lang="en-US" dirty="0">
                <a:latin typeface="Avenir Next" panose="020B0503020202020204" pitchFamily="34" charset="0"/>
              </a:rPr>
              <a:t> introduced: stricter,</a:t>
            </a:r>
            <a:r>
              <a:rPr dirty="0">
                <a:latin typeface="Avenir Next" panose="020B0503020202020204" pitchFamily="34" charset="0"/>
              </a:rPr>
              <a:t> adds KPIs, </a:t>
            </a:r>
            <a:r>
              <a:rPr lang="en-US" dirty="0">
                <a:latin typeface="Avenir Next" panose="020B0503020202020204" pitchFamily="34" charset="0"/>
              </a:rPr>
              <a:t>mandatory reasonable </a:t>
            </a:r>
            <a:r>
              <a:rPr dirty="0">
                <a:latin typeface="Avenir Next" panose="020B0503020202020204" pitchFamily="34" charset="0"/>
              </a:rPr>
              <a:t>assurance and value-chain reporting</a:t>
            </a:r>
          </a:p>
        </p:txBody>
      </p:sp>
      <p:sp>
        <p:nvSpPr>
          <p:cNvPr id="10" name="Rounded Rectangle 9"/>
          <p:cNvSpPr/>
          <p:nvPr/>
        </p:nvSpPr>
        <p:spPr>
          <a:xfrm>
            <a:off x="6021191" y="4001368"/>
            <a:ext cx="2468880" cy="1067934"/>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t>
            </a:r>
            <a:r>
              <a:rPr lang="en-US" dirty="0">
                <a:latin typeface="Avenir Next" panose="020B0503020202020204" pitchFamily="34" charset="0"/>
              </a:rPr>
              <a:t>to assessment </a:t>
            </a:r>
            <a:r>
              <a:rPr dirty="0">
                <a:latin typeface="Avenir Next" panose="020B0503020202020204" pitchFamily="34" charset="0"/>
              </a:rPr>
              <a:t>and value-chain disclosure deferred and made voluntary</a:t>
            </a:r>
          </a:p>
        </p:txBody>
      </p:sp>
      <p:sp>
        <p:nvSpPr>
          <p:cNvPr id="11" name="Rounded Rectangle 10"/>
          <p:cNvSpPr/>
          <p:nvPr/>
        </p:nvSpPr>
        <p:spPr>
          <a:xfrm>
            <a:off x="8636375"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2025</a:t>
            </a:r>
          </a:p>
          <a:p>
            <a:pPr algn="ctr">
              <a:defRPr sz="1050">
                <a:solidFill>
                  <a:srgbClr val="2A2A2A"/>
                </a:solidFill>
                <a:latin typeface="Avenir Next"/>
              </a:defRPr>
            </a:pPr>
            <a:r>
              <a:rPr dirty="0">
                <a:latin typeface="Avenir Next" panose="020B0503020202020204" pitchFamily="34" charset="0"/>
              </a:rPr>
              <a:t>scope narrowed further</a:t>
            </a:r>
          </a:p>
        </p:txBody>
      </p:sp>
      <p:sp>
        <p:nvSpPr>
          <p:cNvPr id="12" name="Rounded Rectangle 11"/>
          <p:cNvSpPr/>
          <p:nvPr/>
        </p:nvSpPr>
        <p:spPr>
          <a:xfrm>
            <a:off x="771613" y="1043361"/>
            <a:ext cx="3292762" cy="276503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777805" y="1050441"/>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977339" y="160728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36538" y="1036959"/>
            <a:ext cx="3267149" cy="219735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417117" y="1050441"/>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16652" y="1607285"/>
            <a:ext cx="2921592" cy="1638910"/>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defRPr sz="1000"/>
            </a:pPr>
            <a:r>
              <a:rPr sz="1400" dirty="0">
                <a:latin typeface="Avenir Next" panose="020B0503020202020204" pitchFamily="34" charset="0"/>
              </a:rPr>
              <a:t>• Value-chain reporting deferred</a:t>
            </a:r>
            <a:r>
              <a:rPr lang="en-US" sz="1400" dirty="0">
                <a:latin typeface="Avenir Next" panose="020B0503020202020204" pitchFamily="34" charset="0"/>
              </a:rPr>
              <a:t> and</a:t>
            </a:r>
            <a:r>
              <a:rPr sz="1400" dirty="0">
                <a:latin typeface="Avenir Next" panose="020B0503020202020204" pitchFamily="34" charset="0"/>
              </a:rPr>
              <a:t> made voluntary, and narrowed (2% threshold / 75% cap).</a:t>
            </a:r>
          </a:p>
        </p:txBody>
      </p:sp>
      <p:sp>
        <p:nvSpPr>
          <p:cNvPr id="18" name="Rounded Rectangle 17"/>
          <p:cNvSpPr/>
          <p:nvPr/>
        </p:nvSpPr>
        <p:spPr>
          <a:xfrm>
            <a:off x="8069446" y="1036959"/>
            <a:ext cx="3279955" cy="2745599"/>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038322" y="1050442"/>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55962" y="1607285"/>
            <a:ext cx="2968921"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a:t>
            </a:r>
            <a:r>
              <a:rPr lang="en-US" sz="1400" dirty="0">
                <a:latin typeface="Avenir Next" panose="020B0503020202020204" pitchFamily="34" charset="0"/>
              </a:rPr>
              <a:t>EBI s</a:t>
            </a:r>
            <a:r>
              <a:rPr sz="1400" dirty="0">
                <a:latin typeface="Avenir Next" panose="020B0503020202020204" pitchFamily="34" charset="0"/>
              </a:rPr>
              <a:t>till lacks a dedicated ESG enforcement team</a:t>
            </a:r>
            <a:r>
              <a:rPr lang="en-US" sz="1400" dirty="0">
                <a:latin typeface="Avenir Next" panose="020B0503020202020204" pitchFamily="34" charset="0"/>
              </a:rPr>
              <a:t>.</a:t>
            </a:r>
            <a:endParaRPr sz="1400" dirty="0">
              <a:latin typeface="Avenir Next" panose="020B0503020202020204" pitchFamily="34" charset="0"/>
            </a:endParaRPr>
          </a:p>
        </p:txBody>
      </p:sp>
      <p:sp>
        <p:nvSpPr>
          <p:cNvPr id="24" name="TextBox 23"/>
          <p:cNvSpPr txBox="1"/>
          <p:nvPr/>
        </p:nvSpPr>
        <p:spPr>
          <a:xfrm>
            <a:off x="11304573" y="4627235"/>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116086"/>
            <a:ext cx="11277600" cy="461833"/>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(Contd.)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33524" y="384048"/>
            <a:ext cx="11629874"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Enforcement </a:t>
            </a:r>
            <a:r>
              <a:rPr sz="2800" dirty="0"/>
              <a:t>Is Weak</a:t>
            </a:r>
            <a:r>
              <a:rPr lang="en-US" sz="2800" dirty="0"/>
              <a:t>: A comparison</a:t>
            </a:r>
            <a:endParaRPr sz="2800" dirty="0"/>
          </a:p>
        </p:txBody>
      </p:sp>
      <p:sp>
        <p:nvSpPr>
          <p:cNvPr id="5" name="TextBox 4"/>
          <p:cNvSpPr txBox="1"/>
          <p:nvPr/>
        </p:nvSpPr>
        <p:spPr>
          <a:xfrm>
            <a:off x="490348"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23900" y="1975759"/>
            <a:ext cx="4914900" cy="3666674"/>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65200" y="1966685"/>
            <a:ext cx="4432300" cy="342900"/>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 in Law — But Unenforced</a:t>
            </a:r>
          </a:p>
        </p:txBody>
      </p:sp>
      <p:sp>
        <p:nvSpPr>
          <p:cNvPr id="10" name="TextBox 9"/>
          <p:cNvSpPr txBox="1"/>
          <p:nvPr/>
        </p:nvSpPr>
        <p:spPr>
          <a:xfrm>
            <a:off x="952500" y="2559959"/>
            <a:ext cx="4445000" cy="2831544"/>
          </a:xfrm>
          <a:prstGeom prst="rect">
            <a:avLst/>
          </a:prstGeom>
          <a:noFill/>
        </p:spPr>
        <p:txBody>
          <a:bodyPr wrap="square" lIns="91440" tIns="45720" rIns="91440" bIns="45720" anchor="t">
            <a:spAutoFit/>
          </a:bodyPr>
          <a:lstStyle/>
          <a:p>
            <a:pPr marL="171450" indent="-171450">
              <a:spcAft>
                <a:spcPts val="600"/>
              </a:spcAft>
              <a:defRPr sz="1150">
                <a:solidFill>
                  <a:srgbClr val="2D2D2D"/>
                </a:solidFill>
                <a:latin typeface="Avenir Next"/>
              </a:defRPr>
            </a:pPr>
            <a:r>
              <a:rPr lang="en-US" sz="1400" dirty="0">
                <a:latin typeface="Avenir Next" panose="020B0503020202020204" pitchFamily="34" charset="0"/>
              </a:rPr>
              <a:t>• Section 166(2) explicitly places environmental protection inside directors' duties, yet not a single director liability case has been reported under it for green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Supreme Court rulings (Tata-Mistry, Ranjitsinh) affirm environmental duties and climate rights, but narrow legal standing keeps the affected public and civil society from filing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SEBI's BRSR and BRSR Core formalize detailed sustainability disclosures, while audits remain partial and delayed, leaving the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58420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5842000" y="1975759"/>
            <a:ext cx="2603500" cy="88900"/>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59817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5981700" y="2460172"/>
            <a:ext cx="2324100" cy="1015663"/>
          </a:xfrm>
          <a:prstGeom prst="rect">
            <a:avLst/>
          </a:prstGeom>
          <a:noFill/>
        </p:spPr>
        <p:txBody>
          <a:bodyPr wrap="square" anchor="t">
            <a:spAutoFit/>
          </a:bodyPr>
          <a:lstStyle/>
          <a:p>
            <a:pPr>
              <a:defRPr sz="1000" b="0">
                <a:solidFill>
                  <a:srgbClr val="2A2A2A"/>
                </a:solidFill>
                <a:latin typeface="Avenir Next"/>
              </a:defRPr>
            </a:pPr>
            <a:r>
              <a:rPr lang="en-IN" sz="1200" dirty="0">
                <a:latin typeface="Avenir Next" panose="020B0503020202020204" pitchFamily="34" charset="0"/>
              </a:rPr>
              <a:t>In Australia, its securities regulator, ASIC made 47 greenwashing-related regulatory interventions in just 15 months ending June 2024.</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87122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8712200" y="1975759"/>
            <a:ext cx="2603500" cy="88900"/>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88519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8851900" y="2509159"/>
            <a:ext cx="2324100" cy="830997"/>
          </a:xfrm>
          <a:prstGeom prst="rect">
            <a:avLst/>
          </a:prstGeom>
          <a:noFill/>
        </p:spPr>
        <p:txBody>
          <a:bodyPr wrap="square" anchor="t">
            <a:spAutoFit/>
          </a:bodyPr>
          <a:lstStyle/>
          <a:p>
            <a:pPr algn="l">
              <a:defRPr sz="1000" b="0">
                <a:solidFill>
                  <a:srgbClr val="2A2A2A"/>
                </a:solidFill>
                <a:latin typeface="Avenir Next"/>
              </a:defRPr>
            </a:pPr>
            <a:r>
              <a:rPr sz="1200" dirty="0">
                <a:latin typeface="Avenir Next" panose="020B0503020202020204" pitchFamily="34" charset="0"/>
              </a:rPr>
              <a:t>US FTC and SEC brought </a:t>
            </a:r>
            <a:r>
              <a:rPr lang="en-US" sz="1200" dirty="0">
                <a:latin typeface="Avenir Next" panose="020B0503020202020204" pitchFamily="34" charset="0"/>
              </a:rPr>
              <a:t>over </a:t>
            </a:r>
            <a:r>
              <a:rPr sz="1200" dirty="0">
                <a:latin typeface="Avenir Next" panose="020B0503020202020204" pitchFamily="34" charset="0"/>
              </a:rPr>
              <a:t>90 greenwashing enforcement actions </a:t>
            </a:r>
            <a:r>
              <a:rPr lang="en-US" sz="1200" dirty="0">
                <a:latin typeface="Avenir Next" panose="020B0503020202020204" pitchFamily="34" charset="0"/>
              </a:rPr>
              <a:t>between </a:t>
            </a:r>
            <a:r>
              <a:rPr sz="1200" dirty="0">
                <a:latin typeface="Avenir Next" panose="020B0503020202020204" pitchFamily="34" charset="0"/>
              </a:rPr>
              <a:t>2021</a:t>
            </a:r>
            <a:r>
              <a:rPr lang="en-US" sz="1200" dirty="0">
                <a:latin typeface="Avenir Next" panose="020B0503020202020204" pitchFamily="34" charset="0"/>
              </a:rPr>
              <a:t> and 2023.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5842000" y="4000500"/>
            <a:ext cx="2603500" cy="173372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5842000" y="4000500"/>
            <a:ext cx="2603500" cy="88900"/>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59817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5981700" y="4484913"/>
            <a:ext cx="2324100" cy="1200329"/>
          </a:xfrm>
          <a:prstGeom prst="rect">
            <a:avLst/>
          </a:prstGeom>
          <a:noFill/>
        </p:spPr>
        <p:txBody>
          <a:bodyPr wrap="square" anchor="t">
            <a:spAutoFit/>
          </a:bodyPr>
          <a:lstStyle/>
          <a:p>
            <a:pPr algn="l">
              <a:defRPr sz="1000" b="0">
                <a:solidFill>
                  <a:srgbClr val="2A2A2A"/>
                </a:solidFill>
                <a:latin typeface="Avenir Next"/>
              </a:defRPr>
            </a:pPr>
            <a:r>
              <a:rPr lang="en-IN" sz="1200" dirty="0">
                <a:latin typeface="Avenir Next" panose="020B0503020202020204" pitchFamily="34" charset="0"/>
              </a:rPr>
              <a:t>n the European Union, France’s competition authority</a:t>
            </a:r>
          </a:p>
          <a:p>
            <a:pPr algn="l">
              <a:defRPr sz="1000" b="0">
                <a:solidFill>
                  <a:srgbClr val="2A2A2A"/>
                </a:solidFill>
                <a:latin typeface="Avenir Next"/>
              </a:defRPr>
            </a:pPr>
            <a:r>
              <a:rPr lang="en-IN" sz="1200" dirty="0">
                <a:latin typeface="Avenir Next" panose="020B0503020202020204" pitchFamily="34" charset="0"/>
              </a:rPr>
              <a:t>alone issued 141 warnings and 114 injunctions for misleading environmental claims.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8712200" y="4000500"/>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8712200" y="4000500"/>
            <a:ext cx="2603500" cy="88900"/>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88519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8851900" y="4533900"/>
            <a:ext cx="2324100" cy="646331"/>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a:t>
            </a:r>
            <a:r>
              <a:rPr lang="en-US" sz="1200" dirty="0">
                <a:latin typeface="Avenir Next" panose="020B0503020202020204" pitchFamily="34" charset="0"/>
              </a:rPr>
              <a:t>enforcement is scarce.</a:t>
            </a:r>
            <a:endParaRPr sz="1200" dirty="0">
              <a:latin typeface="Avenir Next" panose="020B0503020202020204" pitchFamily="34" charset="0"/>
            </a:endParaRPr>
          </a:p>
        </p:txBody>
      </p:sp>
    </p:spTree>
    <p:extLst>
      <p:ext uri="{BB962C8B-B14F-4D97-AF65-F5344CB8AC3E}">
        <p14:creationId xmlns:p14="http://schemas.microsoft.com/office/powerpoint/2010/main" val="911528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45137" y="351390"/>
            <a:ext cx="11636617"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t>India's Enforcement Gap Is</a:t>
            </a:r>
            <a:r>
              <a:rPr lang="en-US" sz="2600" dirty="0"/>
              <a:t> A</a:t>
            </a:r>
            <a:r>
              <a:rPr sz="2600" dirty="0"/>
              <a:t> Design Problem</a:t>
            </a:r>
            <a:r>
              <a:rPr lang="en-US" sz="2600" dirty="0"/>
              <a:t>: A Comparative Study</a:t>
            </a:r>
            <a:endParaRPr sz="2600" dirty="0"/>
          </a:p>
        </p:txBody>
      </p:sp>
      <p:sp>
        <p:nvSpPr>
          <p:cNvPr id="21" name="TextBox 20"/>
          <p:cNvSpPr txBox="1"/>
          <p:nvPr/>
        </p:nvSpPr>
        <p:spPr>
          <a:xfrm>
            <a:off x="566928" y="6580418"/>
            <a:ext cx="3698448" cy="261610"/>
          </a:xfrm>
          <a:prstGeom prst="rect">
            <a:avLst/>
          </a:prstGeom>
          <a:noFill/>
        </p:spPr>
        <p:txBody>
          <a:bodyPr wrap="none" lIns="91440" tIns="45720" rIns="91440" bIns="45720" anchor="t">
            <a:spAutoFit/>
          </a:bodyPr>
          <a:lstStyle/>
          <a:p>
            <a:pPr>
              <a:defRPr sz="850">
                <a:solidFill>
                  <a:srgbClr val="6B6F6A"/>
                </a:solidFill>
                <a:latin typeface="Avenir Next"/>
              </a:defRPr>
            </a:pPr>
            <a:r>
              <a:rPr lang="en-US" sz="1100" dirty="0"/>
              <a:t>Source base: Comparative study, Chapter 4, Chapter 5</a:t>
            </a:r>
          </a:p>
        </p:txBody>
      </p:sp>
      <p:sp>
        <p:nvSpPr>
          <p:cNvPr id="41" name="Shape 41"/>
          <p:cNvSpPr/>
          <p:nvPr/>
        </p:nvSpPr>
        <p:spPr>
          <a:xfrm>
            <a:off x="6096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42" name="Shape 42"/>
          <p:cNvSpPr/>
          <p:nvPr/>
        </p:nvSpPr>
        <p:spPr>
          <a:xfrm>
            <a:off x="609600" y="1030511"/>
            <a:ext cx="3568700" cy="88900"/>
          </a:xfrm>
          <a:prstGeom prst="rect">
            <a:avLst/>
          </a:prstGeom>
          <a:solidFill>
            <a:srgbClr val="6A8C69"/>
          </a:solidFill>
          <a:ln>
            <a:noFill/>
          </a:ln>
        </p:spPr>
        <p:txBody>
          <a:bodyPr/>
          <a:lstStyle/>
          <a:p>
            <a:endParaRPr/>
          </a:p>
        </p:txBody>
      </p:sp>
      <p:sp>
        <p:nvSpPr>
          <p:cNvPr id="43" name="TextBox 43"/>
          <p:cNvSpPr txBox="1"/>
          <p:nvPr/>
        </p:nvSpPr>
        <p:spPr>
          <a:xfrm>
            <a:off x="8128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European Union</a:t>
            </a:r>
          </a:p>
          <a:p>
            <a:r>
              <a:rPr lang="en-US" sz="1400" b="1" dirty="0">
                <a:solidFill>
                  <a:srgbClr val="6A8C69"/>
                </a:solidFill>
                <a:latin typeface="Avenir Next" panose="020B0503020202020204" pitchFamily="34" charset="0"/>
              </a:rPr>
              <a:t>Integrated reporting architecture</a:t>
            </a:r>
          </a:p>
        </p:txBody>
      </p:sp>
      <p:sp>
        <p:nvSpPr>
          <p:cNvPr id="44" name="TextBox 44"/>
          <p:cNvSpPr txBox="1"/>
          <p:nvPr/>
        </p:nvSpPr>
        <p:spPr>
          <a:xfrm>
            <a:off x="812800" y="1914065"/>
            <a:ext cx="3365500" cy="2458361"/>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CSRD: direct board accountability, double materiality, phased move to reasonable assurance and audits, standardized ESRS format for reports.</a:t>
            </a:r>
          </a:p>
          <a:p>
            <a:pPr marL="171450" indent="-171450">
              <a:spcAft>
                <a:spcPts val="500"/>
              </a:spcAft>
            </a:pPr>
            <a:r>
              <a:rPr lang="en-US" sz="1600" b="0" i="0" dirty="0">
                <a:solidFill>
                  <a:srgbClr val="2D2D2D"/>
                </a:solidFill>
                <a:latin typeface="Avenir Next" panose="020B0503020202020204" pitchFamily="34" charset="0"/>
              </a:rPr>
              <a:t>• Green Claims Directive: lifecycle substantiation, accredited verification pre-publication</a:t>
            </a:r>
          </a:p>
          <a:p>
            <a:pPr marL="171450" indent="-171450">
              <a:spcAft>
                <a:spcPts val="500"/>
              </a:spcAft>
            </a:pPr>
            <a:r>
              <a:rPr lang="en-US" sz="1600" dirty="0">
                <a:solidFill>
                  <a:srgbClr val="2D2D2D"/>
                </a:solidFill>
                <a:latin typeface="Avenir Next" panose="020B0503020202020204" pitchFamily="34" charset="0"/>
              </a:rPr>
              <a:t>• Turnover Linked Penalties</a:t>
            </a:r>
            <a:endParaRPr lang="en-US" sz="1600" b="0" i="0" dirty="0">
              <a:solidFill>
                <a:srgbClr val="2D2D2D"/>
              </a:solidFill>
              <a:latin typeface="Avenir Next" panose="020B0503020202020204" pitchFamily="34" charset="0"/>
            </a:endParaRPr>
          </a:p>
        </p:txBody>
      </p:sp>
      <p:sp>
        <p:nvSpPr>
          <p:cNvPr id="45" name="Shape 45"/>
          <p:cNvSpPr/>
          <p:nvPr/>
        </p:nvSpPr>
        <p:spPr>
          <a:xfrm>
            <a:off x="4381500" y="1030510"/>
            <a:ext cx="3568700" cy="3341917"/>
          </a:xfrm>
          <a:prstGeom prst="roundRect">
            <a:avLst>
              <a:gd name="adj" fmla="val 8000"/>
            </a:avLst>
          </a:prstGeom>
          <a:solidFill>
            <a:srgbClr val="FFFDF8"/>
          </a:solidFill>
          <a:ln w="9525">
            <a:solidFill>
              <a:srgbClr val="E5E0D8"/>
            </a:solidFill>
          </a:ln>
        </p:spPr>
        <p:txBody>
          <a:bodyPr/>
          <a:lstStyle/>
          <a:p>
            <a:endParaRPr/>
          </a:p>
        </p:txBody>
      </p:sp>
      <p:sp>
        <p:nvSpPr>
          <p:cNvPr id="46" name="Shape 46"/>
          <p:cNvSpPr/>
          <p:nvPr/>
        </p:nvSpPr>
        <p:spPr>
          <a:xfrm>
            <a:off x="4381500" y="1030511"/>
            <a:ext cx="3568700" cy="88900"/>
          </a:xfrm>
          <a:prstGeom prst="rect">
            <a:avLst/>
          </a:prstGeom>
          <a:solidFill>
            <a:srgbClr val="C8A24D"/>
          </a:solidFill>
          <a:ln>
            <a:noFill/>
          </a:ln>
        </p:spPr>
        <p:txBody>
          <a:bodyPr/>
          <a:lstStyle/>
          <a:p>
            <a:endParaRPr/>
          </a:p>
        </p:txBody>
      </p:sp>
      <p:sp>
        <p:nvSpPr>
          <p:cNvPr id="47" name="TextBox 47"/>
          <p:cNvSpPr txBox="1"/>
          <p:nvPr/>
        </p:nvSpPr>
        <p:spPr>
          <a:xfrm>
            <a:off x="45847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United Kingdom</a:t>
            </a:r>
          </a:p>
          <a:p>
            <a:r>
              <a:rPr lang="en-US" sz="1400" b="1" dirty="0">
                <a:solidFill>
                  <a:srgbClr val="C8A24D"/>
                </a:solidFill>
                <a:latin typeface="Avenir Next" panose="020B0503020202020204" pitchFamily="34" charset="0"/>
              </a:rPr>
              <a:t>Aligned regulators</a:t>
            </a:r>
          </a:p>
        </p:txBody>
      </p:sp>
      <p:sp>
        <p:nvSpPr>
          <p:cNvPr id="48" name="TextBox 48"/>
          <p:cNvSpPr txBox="1"/>
          <p:nvPr/>
        </p:nvSpPr>
        <p:spPr>
          <a:xfrm>
            <a:off x="4584700" y="1914066"/>
            <a:ext cx="3365500" cy="2545446"/>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FCA rule: environmental claims must be fair, clear, not misleading and evidence-backed</a:t>
            </a:r>
          </a:p>
          <a:p>
            <a:pPr marL="171450" indent="-171450">
              <a:spcAft>
                <a:spcPts val="500"/>
              </a:spcAft>
            </a:pPr>
            <a:r>
              <a:rPr lang="en-US" sz="1600" b="0" i="0" dirty="0">
                <a:solidFill>
                  <a:srgbClr val="2D2D2D"/>
                </a:solidFill>
                <a:latin typeface="Avenir Next" panose="020B0503020202020204" pitchFamily="34" charset="0"/>
              </a:rPr>
              <a:t>• CMA can fine up to 10% of global turnover for breaking consumer laws</a:t>
            </a:r>
          </a:p>
          <a:p>
            <a:pPr marL="171450" indent="-171450"/>
            <a:r>
              <a:rPr lang="en-US" sz="1600" b="0" i="0" dirty="0">
                <a:solidFill>
                  <a:srgbClr val="2D2D2D"/>
                </a:solidFill>
                <a:latin typeface="Avenir Next" panose="020B0503020202020204" pitchFamily="34" charset="0"/>
              </a:rPr>
              <a:t>• FCA and CMA act as one aligned enforcement structure, not silos</a:t>
            </a:r>
          </a:p>
          <a:p>
            <a:pPr marL="171450" indent="-171450"/>
            <a:r>
              <a:rPr lang="en-US" sz="1600" dirty="0">
                <a:solidFill>
                  <a:srgbClr val="2D2D2D"/>
                </a:solidFill>
                <a:latin typeface="Avenir Next" panose="020B0503020202020204" pitchFamily="34" charset="0"/>
              </a:rPr>
              <a:t>• Turnover Linked Penalties</a:t>
            </a:r>
          </a:p>
        </p:txBody>
      </p:sp>
      <p:sp>
        <p:nvSpPr>
          <p:cNvPr id="49" name="Shape 49"/>
          <p:cNvSpPr/>
          <p:nvPr/>
        </p:nvSpPr>
        <p:spPr>
          <a:xfrm>
            <a:off x="81534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50" name="Shape 50"/>
          <p:cNvSpPr/>
          <p:nvPr/>
        </p:nvSpPr>
        <p:spPr>
          <a:xfrm>
            <a:off x="8153400" y="1030511"/>
            <a:ext cx="3568700" cy="88900"/>
          </a:xfrm>
          <a:prstGeom prst="rect">
            <a:avLst/>
          </a:prstGeom>
          <a:solidFill>
            <a:srgbClr val="C96A3D"/>
          </a:solidFill>
          <a:ln>
            <a:noFill/>
          </a:ln>
        </p:spPr>
        <p:txBody>
          <a:bodyPr/>
          <a:lstStyle/>
          <a:p>
            <a:endParaRPr/>
          </a:p>
        </p:txBody>
      </p:sp>
      <p:sp>
        <p:nvSpPr>
          <p:cNvPr id="51" name="TextBox 51"/>
          <p:cNvSpPr txBox="1"/>
          <p:nvPr/>
        </p:nvSpPr>
        <p:spPr>
          <a:xfrm>
            <a:off x="83566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Australia</a:t>
            </a:r>
          </a:p>
          <a:p>
            <a:r>
              <a:rPr lang="en-US" sz="1400" b="1" dirty="0">
                <a:solidFill>
                  <a:srgbClr val="C96A3D"/>
                </a:solidFill>
                <a:latin typeface="Avenir Next" panose="020B0503020202020204" pitchFamily="34" charset="0"/>
              </a:rPr>
              <a:t>Visible enforcement</a:t>
            </a:r>
          </a:p>
        </p:txBody>
      </p:sp>
      <p:sp>
        <p:nvSpPr>
          <p:cNvPr id="52" name="TextBox 52"/>
          <p:cNvSpPr txBox="1"/>
          <p:nvPr/>
        </p:nvSpPr>
        <p:spPr>
          <a:xfrm>
            <a:off x="8356600" y="1914065"/>
            <a:ext cx="3225800" cy="2509163"/>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ASIC: 47 greenwashing interventions in the 15 months to 30 June 2024</a:t>
            </a:r>
          </a:p>
          <a:p>
            <a:pPr marL="171450" indent="-171450">
              <a:spcAft>
                <a:spcPts val="500"/>
              </a:spcAft>
            </a:pPr>
            <a:r>
              <a:rPr lang="en-US" sz="1600" b="0" i="0" dirty="0">
                <a:solidFill>
                  <a:srgbClr val="2D2D2D"/>
                </a:solidFill>
                <a:latin typeface="Avenir Next" panose="020B0503020202020204" pitchFamily="34" charset="0"/>
              </a:rPr>
              <a:t>• AUD 11.3 Million penalty against Mercer Super for misleading ESG disclosures</a:t>
            </a:r>
          </a:p>
          <a:p>
            <a:pPr marL="171450" indent="-171450"/>
            <a:r>
              <a:rPr lang="en-US" sz="1600" b="0" i="0" dirty="0">
                <a:solidFill>
                  <a:srgbClr val="2D2D2D"/>
                </a:solidFill>
                <a:latin typeface="Avenir Next" panose="020B0503020202020204" pitchFamily="34" charset="0"/>
              </a:rPr>
              <a:t>• ASIC and ACCC treat greenwashing as a joint priority</a:t>
            </a:r>
          </a:p>
          <a:p>
            <a:pPr marL="171450" indent="-171450"/>
            <a:r>
              <a:rPr lang="en-US" sz="1600" dirty="0">
                <a:solidFill>
                  <a:srgbClr val="2D2D2D"/>
                </a:solidFill>
                <a:latin typeface="Avenir Next" panose="020B0503020202020204" pitchFamily="34" charset="0"/>
              </a:rPr>
              <a:t>• Turnover Linked Penalties</a:t>
            </a:r>
          </a:p>
        </p:txBody>
      </p:sp>
      <p:sp>
        <p:nvSpPr>
          <p:cNvPr id="53" name="Shape 53"/>
          <p:cNvSpPr/>
          <p:nvPr/>
        </p:nvSpPr>
        <p:spPr>
          <a:xfrm>
            <a:off x="609600" y="4497612"/>
            <a:ext cx="10972800" cy="2044706"/>
          </a:xfrm>
          <a:prstGeom prst="roundRect">
            <a:avLst>
              <a:gd name="adj" fmla="val 8000"/>
            </a:avLst>
          </a:prstGeom>
          <a:solidFill>
            <a:srgbClr val="E8EFE6"/>
          </a:solidFill>
          <a:ln>
            <a:noFill/>
          </a:ln>
        </p:spPr>
        <p:txBody>
          <a:bodyPr/>
          <a:lstStyle/>
          <a:p>
            <a:endParaRPr/>
          </a:p>
        </p:txBody>
      </p:sp>
      <p:sp>
        <p:nvSpPr>
          <p:cNvPr id="54" name="Shape 54"/>
          <p:cNvSpPr/>
          <p:nvPr/>
        </p:nvSpPr>
        <p:spPr>
          <a:xfrm>
            <a:off x="609600" y="4497613"/>
            <a:ext cx="10972800" cy="88900"/>
          </a:xfrm>
          <a:prstGeom prst="rect">
            <a:avLst/>
          </a:prstGeom>
          <a:solidFill>
            <a:srgbClr val="173F35"/>
          </a:solidFill>
          <a:ln>
            <a:noFill/>
          </a:ln>
        </p:spPr>
        <p:txBody>
          <a:bodyPr/>
          <a:lstStyle/>
          <a:p>
            <a:endParaRPr/>
          </a:p>
        </p:txBody>
      </p:sp>
      <p:sp>
        <p:nvSpPr>
          <p:cNvPr id="55" name="TextBox 55"/>
          <p:cNvSpPr txBox="1"/>
          <p:nvPr/>
        </p:nvSpPr>
        <p:spPr>
          <a:xfrm>
            <a:off x="838200" y="4660897"/>
            <a:ext cx="10515600" cy="304800"/>
          </a:xfrm>
          <a:prstGeom prst="rect">
            <a:avLst/>
          </a:prstGeom>
          <a:noFill/>
        </p:spPr>
        <p:txBody>
          <a:bodyPr wrap="square" lIns="0" tIns="0" rIns="0" bIns="0">
            <a:normAutofit/>
          </a:bodyPr>
          <a:lstStyle/>
          <a:p>
            <a:r>
              <a:rPr lang="en-US" sz="1600" b="1" dirty="0">
                <a:solidFill>
                  <a:srgbClr val="173F35"/>
                </a:solidFill>
                <a:latin typeface="Avenir Next" panose="020B0503020202020204" pitchFamily="34" charset="0"/>
              </a:rPr>
              <a:t>Indian Regulatory Design Failures</a:t>
            </a:r>
          </a:p>
        </p:txBody>
      </p:sp>
      <p:sp>
        <p:nvSpPr>
          <p:cNvPr id="56" name="TextBox 56"/>
          <p:cNvSpPr txBox="1"/>
          <p:nvPr/>
        </p:nvSpPr>
        <p:spPr>
          <a:xfrm>
            <a:off x="838200" y="4982026"/>
            <a:ext cx="10515600" cy="1560292"/>
          </a:xfrm>
          <a:prstGeom prst="rect">
            <a:avLst/>
          </a:prstGeom>
          <a:noFill/>
        </p:spPr>
        <p:txBody>
          <a:bodyPr wrap="square" lIns="0" tIns="0" rIns="0" bIns="0">
            <a:noAutofit/>
          </a:bodyPr>
          <a:lstStyle/>
          <a:p>
            <a:pPr marL="171450" indent="-171450">
              <a:spcAft>
                <a:spcPts val="300"/>
              </a:spcAft>
            </a:pPr>
            <a:r>
              <a:rPr lang="en-US" sz="1500" b="0" i="0" dirty="0">
                <a:solidFill>
                  <a:srgbClr val="2D2D2D"/>
                </a:solidFill>
                <a:latin typeface="Avenir Next" panose="020B0503020202020204" pitchFamily="34" charset="0"/>
              </a:rPr>
              <a:t>• No integrated architecture linking Section 166(2), SEBI's BRSR and the CCPA guidelines across the life cycle of a claim.</a:t>
            </a:r>
          </a:p>
          <a:p>
            <a:pPr marL="171450" indent="-171450">
              <a:spcAft>
                <a:spcPts val="300"/>
              </a:spcAft>
            </a:pPr>
            <a:r>
              <a:rPr lang="en-US" sz="1500" b="0" i="0" dirty="0">
                <a:solidFill>
                  <a:srgbClr val="2D2D2D"/>
                </a:solidFill>
                <a:latin typeface="Avenir Next" panose="020B0503020202020204" pitchFamily="34" charset="0"/>
              </a:rPr>
              <a:t>• No protocol for operational coordination.</a:t>
            </a:r>
          </a:p>
          <a:p>
            <a:pPr marL="171450" indent="-171450">
              <a:spcAft>
                <a:spcPts val="300"/>
              </a:spcAft>
            </a:pPr>
            <a:r>
              <a:rPr lang="en-US" sz="1500" dirty="0">
                <a:solidFill>
                  <a:srgbClr val="2D2D2D"/>
                </a:solidFill>
                <a:latin typeface="Avenir Next" panose="020B0503020202020204" pitchFamily="34" charset="0"/>
              </a:rPr>
              <a:t>• The </a:t>
            </a:r>
            <a:r>
              <a:rPr lang="en-US" sz="1500" b="0" i="0" dirty="0">
                <a:solidFill>
                  <a:srgbClr val="2D2D2D"/>
                </a:solidFill>
                <a:latin typeface="Avenir Next" panose="020B0503020202020204" pitchFamily="34" charset="0"/>
              </a:rPr>
              <a:t>study finds poor enforcement record not just for section 166(2), but also for SEBI BRSR and CCPA Greenwashing Guidelines.</a:t>
            </a:r>
          </a:p>
          <a:p>
            <a:pPr marL="171450" indent="-171450"/>
            <a:r>
              <a:rPr lang="en-US" sz="1500" b="0" i="0" dirty="0">
                <a:solidFill>
                  <a:srgbClr val="2D2D2D"/>
                </a:solidFill>
                <a:latin typeface="Avenir Next" panose="020B0503020202020204" pitchFamily="34" charset="0"/>
              </a:rPr>
              <a:t>• Backsliding rather than tightening: BRSR assurance and value-chain relaxations.</a:t>
            </a:r>
          </a:p>
          <a:p>
            <a:pPr marL="171450" indent="-171450"/>
            <a:r>
              <a:rPr lang="en-US" sz="1500" dirty="0">
                <a:solidFill>
                  <a:srgbClr val="2D2D2D"/>
                </a:solidFill>
                <a:latin typeface="Avenir Next" panose="020B0503020202020204" pitchFamily="34" charset="0"/>
              </a:rPr>
              <a:t>• Fixed low cap penalties: CCPA ₹50L, Section 166(7) ₹5L, FSSAI ₹10L, far below global practice.</a:t>
            </a:r>
            <a:endParaRPr lang="en-US" sz="1500" b="0" i="0" dirty="0">
              <a:solidFill>
                <a:srgbClr val="2D2D2D"/>
              </a:solidFill>
              <a:latin typeface="Avenir Next" panose="020B0503020202020204" pitchFamily="34" charset="0"/>
            </a:endParaRPr>
          </a:p>
          <a:p>
            <a:pPr marL="171450" indent="-171450"/>
            <a:endParaRPr lang="en-US" sz="1500" b="0" i="0" dirty="0">
              <a:solidFill>
                <a:srgbClr val="2D2D2D"/>
              </a:solidFill>
              <a:latin typeface="Avenir Next" panose="020B0503020202020204" pitchFamily="34" charset="0"/>
            </a:endParaRPr>
          </a:p>
        </p:txBody>
      </p:sp>
    </p:spTree>
    <p:extLst>
      <p:ext uri="{BB962C8B-B14F-4D97-AF65-F5344CB8AC3E}">
        <p14:creationId xmlns:p14="http://schemas.microsoft.com/office/powerpoint/2010/main" val="299616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International Best Practices – A Comparative Benchmark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b="1" dirty="0">
                <a:solidFill>
                  <a:srgbClr val="173F35"/>
                </a:solidFill>
                <a:latin typeface="Avenir Next Demi Bold"/>
              </a:rPr>
              <a:t>Other Gaps in Indian Regulatory Ecosystem</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821999" y="1063289"/>
            <a:ext cx="5116716" cy="164853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176403" y="1023034"/>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932893" y="1172276"/>
            <a:ext cx="5044439" cy="1477328"/>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625317" y="3200811"/>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76403" y="3111569"/>
            <a:ext cx="711962"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917251" y="3260811"/>
            <a:ext cx="4690875"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t>
            </a:r>
            <a:r>
              <a:rPr lang="en-IN" sz="1600" dirty="0">
                <a:latin typeface="Avenir Next" panose="020B0503020202020204" pitchFamily="34" charset="0"/>
              </a:rPr>
              <a:t>&amp; Ambiguity</a:t>
            </a:r>
            <a:endParaRPr sz="1600" dirty="0">
              <a:latin typeface="Avenir Next" panose="020B0503020202020204" pitchFamily="34" charset="0"/>
            </a:endParaRP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792883" y="2098155"/>
            <a:ext cx="5116716" cy="195133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105286" y="205867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842481" y="2256535"/>
            <a:ext cx="5069243" cy="1620957"/>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lang="en-US" sz="1600" dirty="0">
                <a:latin typeface="Avenir Next" panose="020B0503020202020204" pitchFamily="34" charset="0"/>
              </a:rPr>
              <a:t>Scientific </a:t>
            </a:r>
            <a:r>
              <a:rPr sz="1600" dirty="0">
                <a:latin typeface="Avenir Next" panose="020B0503020202020204" pitchFamily="34" charset="0"/>
              </a:rPr>
              <a:t>&amp; Technical </a:t>
            </a:r>
            <a:r>
              <a:rPr lang="en-US" sz="1600" dirty="0">
                <a:latin typeface="Avenir Next" panose="020B0503020202020204" pitchFamily="34" charset="0"/>
              </a:rPr>
              <a:t>Verification </a:t>
            </a:r>
            <a:r>
              <a:rPr sz="1600" dirty="0">
                <a:latin typeface="Avenir Next" panose="020B0503020202020204" pitchFamily="34" charset="0"/>
              </a:rPr>
              <a:t>Gaps</a:t>
            </a:r>
            <a:endParaRPr lang="en-US" sz="1600" dirty="0">
              <a:latin typeface="Avenir Next" panose="020B0503020202020204" pitchFamily="34" charset="0"/>
            </a:endParaRP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endParaRPr lang="en-US" sz="1600" dirty="0">
              <a:latin typeface="Avenir Next" panose="020B0503020202020204" pitchFamily="34" charset="0"/>
            </a:endParaRPr>
          </a:p>
          <a:p>
            <a:pPr>
              <a:defRPr sz="1100">
                <a:solidFill>
                  <a:srgbClr val="2D2D2D"/>
                </a:solidFill>
              </a:defRPr>
            </a:pPr>
            <a:r>
              <a:rPr lang="en-IN" sz="1600" dirty="0">
                <a:latin typeface="Avenir Next" panose="020B0503020202020204" pitchFamily="34" charset="0"/>
              </a:rPr>
              <a:t>• India still lacks joint enforcement teams, shared technical experts or a unified enforcement database for greenwashing matters.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070071"/>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into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a:t>
            </a:r>
            <a:r>
              <a:rPr lang="en-US" sz="1300" b="1"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Consumer law is reactive and complaint-led; corporate/securities routes reach upstream — board oversight, controls, assurance.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264587" y="1150000"/>
            <a:ext cx="3843209" cy="501435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439412" y="1350000"/>
            <a:ext cx="3433572" cy="1292662"/>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439412" y="2775180"/>
            <a:ext cx="3433572" cy="3100849"/>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D2D2D"/>
                </a:solidFill>
                <a:latin typeface="Avenir Next" panose="020B0503020202020204" pitchFamily="34" charset="0"/>
              </a:rPr>
              <a:t>Tests whether penalties are large and certain enough to outweigh the gains from greenwashing — across company, securities, and consumer law.</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enforcement routes are weak for Section 166(2); and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spanning products, ads, annual reports, ESG filings, and green bonds.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322112"/>
            <a:ext cx="10911841" cy="34062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403757"/>
            <a:ext cx="10475056" cy="198516"/>
          </a:xfrm>
          <a:prstGeom prst="rect">
            <a:avLst/>
          </a:prstGeom>
          <a:noFill/>
        </p:spPr>
        <p:txBody>
          <a:bodyPr wrap="square" lIns="0" tIns="0" rIns="0" bIns="0">
            <a:spAutoFit/>
          </a:bodyPr>
          <a:lstStyle/>
          <a:p>
            <a:pPr algn="ctr">
              <a:lnSpc>
                <a:spcPct val="110000"/>
              </a:lnSpc>
              <a:defRPr sz="1300" b="1">
                <a:solidFill>
                  <a:srgbClr val="12402D"/>
                </a:solidFill>
              </a:defRPr>
            </a:pPr>
            <a:r>
              <a:rPr sz="1200" dirty="0">
                <a:latin typeface="Avenir Next" panose="020B0503020202020204" pitchFamily="34" charset="0"/>
              </a:rPr>
              <a:t>All Three Hypotheses Stand Formally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1911096"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1911096"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1911096"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680103"/>
            <a:ext cx="10835640" cy="58477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574423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918971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255264"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16956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246282"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255264"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142135"/>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839874"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255264"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114703"/>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6064911"/>
            <a:ext cx="10835640" cy="40904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136164"/>
            <a:ext cx="10575640" cy="261610"/>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(Contd.)</a:t>
            </a:r>
            <a:endParaRPr lang="en-US" sz="1400" b="1" dirty="0">
              <a:solidFill>
                <a:srgbClr val="173F35"/>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262e1e5b-f2ad-9fc2-aee0-e09e10d73375&quot;,&quot;title&quot;:&quot;Reduce Text Load Sections 1,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2614</TotalTime>
  <Words>4258</Words>
  <Application>Microsoft Macintosh PowerPoint</Application>
  <PresentationFormat>Widescreen</PresentationFormat>
  <Paragraphs>431</Paragraphs>
  <Slides>23</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1661</cp:revision>
  <dcterms:created xsi:type="dcterms:W3CDTF">2013-01-27T09:14:16Z</dcterms:created>
  <dcterms:modified xsi:type="dcterms:W3CDTF">2026-08-20T15:15:37Z</dcterms:modified>
  <cp:category/>
</cp:coreProperties>
</file>