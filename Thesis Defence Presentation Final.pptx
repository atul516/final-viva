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5"/>
    <p:restoredTop sz="94629"/>
  </p:normalViewPr>
  <p:slideViewPr>
    <p:cSldViewPr snapToGrid="0" snapToObjects="1">
      <p:cViewPr varScale="1">
        <p:scale>
          <a:sx n="81" d="100"/>
          <a:sy n="81" d="100"/>
        </p:scale>
        <p:origin x="208" y="65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GROWN</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010878"/>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75966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85209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34388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75966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85209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34388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89580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89580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89579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89580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36237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89579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89580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02381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34014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6572" y="499428"/>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90132168"/>
              </p:ext>
            </p:extLst>
          </p:nvPr>
        </p:nvGraphicFramePr>
        <p:xfrm>
          <a:off x="627999" y="1600906"/>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r>
                        <a:rPr sz="1600" b="1" dirty="0">
                          <a:solidFill>
                            <a:srgbClr val="FFFFFF"/>
                          </a:solidFill>
                          <a:latin typeface="Avenir Next" panose="020B0503020202020204" pitchFamily="34" charset="0"/>
                        </a:rPr>
                        <a:t>Design Element</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European Union</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United Kingdom</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Australia</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India</a:t>
                      </a:r>
                    </a:p>
                  </a:txBody>
                  <a:tcPr anchor="ctr">
                    <a:solidFill>
                      <a:srgbClr val="173F35"/>
                    </a:solidFill>
                  </a:tcPr>
                </a:tc>
                <a:extLst>
                  <a:ext uri="{0D108BD9-81ED-4DB2-BD59-A6C34878D82A}">
                    <a16:rowId xmlns:a16="http://schemas.microsoft.com/office/drawing/2014/main" val="10000"/>
                  </a:ext>
                </a:extLst>
              </a:tr>
              <a:tr h="601980">
                <a:tc>
                  <a:txBody>
                    <a:bodyPr/>
                    <a:lstStyle/>
                    <a:p>
                      <a:r>
                        <a:rPr sz="1600" b="0" dirty="0"/>
                        <a:t>Board Accountability</a:t>
                      </a:r>
                    </a:p>
                  </a:txBody>
                  <a:tcPr>
                    <a:solidFill>
                      <a:srgbClr val="FFFDF8"/>
                    </a:solidFill>
                  </a:tcPr>
                </a:tc>
                <a:tc>
                  <a:txBody>
                    <a:bodyPr/>
                    <a:lstStyle/>
                    <a:p>
                      <a:r>
                        <a:rPr sz="1600" b="0" dirty="0"/>
                        <a:t>Strong &amp; direct</a:t>
                      </a:r>
                    </a:p>
                  </a:txBody>
                  <a:tcPr>
                    <a:solidFill>
                      <a:srgbClr val="FFFDF8"/>
                    </a:solidFill>
                  </a:tcPr>
                </a:tc>
                <a:tc>
                  <a:txBody>
                    <a:bodyPr/>
                    <a:lstStyle/>
                    <a:p>
                      <a:r>
                        <a:rPr sz="1600" b="0" dirty="0"/>
                        <a:t>Strong &amp; direct</a:t>
                      </a:r>
                    </a:p>
                  </a:txBody>
                  <a:tcPr>
                    <a:solidFill>
                      <a:srgbClr val="FFFDF8"/>
                    </a:solidFill>
                  </a:tcPr>
                </a:tc>
                <a:tc>
                  <a:txBody>
                    <a:bodyPr/>
                    <a:lstStyle/>
                    <a:p>
                      <a:r>
                        <a:rPr sz="1600" b="0"/>
                        <a:t>Growing &amp; active</a:t>
                      </a:r>
                    </a:p>
                  </a:txBody>
                  <a:tcPr>
                    <a:solidFill>
                      <a:srgbClr val="FFFDF8"/>
                    </a:solidFill>
                  </a:tcPr>
                </a:tc>
                <a:tc>
                  <a:txBody>
                    <a:bodyPr/>
                    <a:lstStyle/>
                    <a:p>
                      <a:r>
                        <a:rPr sz="1600" b="0" dirty="0">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600" b="0" dirty="0"/>
                        <a:t>Integrated architecture</a:t>
                      </a:r>
                    </a:p>
                  </a:txBody>
                  <a:tcPr>
                    <a:solidFill>
                      <a:srgbClr val="E8EFE6"/>
                    </a:solidFill>
                  </a:tcPr>
                </a:tc>
                <a:tc>
                  <a:txBody>
                    <a:bodyPr/>
                    <a:lstStyle/>
                    <a:p>
                      <a:r>
                        <a:rPr sz="1600" b="0" dirty="0"/>
                        <a:t>Integrated reporting &amp; claim rules</a:t>
                      </a:r>
                    </a:p>
                  </a:txBody>
                  <a:tcPr>
                    <a:solidFill>
                      <a:srgbClr val="E8EFE6"/>
                    </a:solidFill>
                  </a:tcPr>
                </a:tc>
                <a:tc>
                  <a:txBody>
                    <a:bodyPr/>
                    <a:lstStyle/>
                    <a:p>
                      <a:r>
                        <a:rPr sz="1600" b="0" dirty="0"/>
                        <a:t>FCA + CMA + Company Law</a:t>
                      </a:r>
                    </a:p>
                  </a:txBody>
                  <a:tcPr>
                    <a:solidFill>
                      <a:srgbClr val="E8EFE6"/>
                    </a:solidFill>
                  </a:tcPr>
                </a:tc>
                <a:tc>
                  <a:txBody>
                    <a:bodyPr/>
                    <a:lstStyle/>
                    <a:p>
                      <a:r>
                        <a:rPr sz="1600" b="0" dirty="0"/>
                        <a:t>Active inter-agency teamwork</a:t>
                      </a:r>
                    </a:p>
                  </a:txBody>
                  <a:tcPr>
                    <a:solidFill>
                      <a:srgbClr val="E8EFE6"/>
                    </a:solidFill>
                  </a:tcPr>
                </a:tc>
                <a:tc>
                  <a:txBody>
                    <a:bodyPr/>
                    <a:lstStyle/>
                    <a:p>
                      <a:r>
                        <a:rPr sz="1600" b="0" dirty="0">
                          <a:solidFill>
                            <a:srgbClr val="A8552F"/>
                          </a:solidFill>
                        </a:rPr>
                        <a:t>MCA, SEBI &amp; CCPA</a:t>
                      </a:r>
                      <a:r>
                        <a:rPr lang="en-US" sz="1600" b="0" dirty="0">
                          <a:solidFill>
                            <a:srgbClr val="A8552F"/>
                          </a:solidFill>
                        </a:rPr>
                        <a:t> working</a:t>
                      </a:r>
                      <a:r>
                        <a:rPr sz="1600" b="0"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600" b="0"/>
                        <a:t>Third-Party Audits</a:t>
                      </a:r>
                    </a:p>
                  </a:txBody>
                  <a:tcPr>
                    <a:solidFill>
                      <a:srgbClr val="FFFDF8"/>
                    </a:solidFill>
                  </a:tcPr>
                </a:tc>
                <a:tc>
                  <a:txBody>
                    <a:bodyPr/>
                    <a:lstStyle/>
                    <a:p>
                      <a:r>
                        <a:rPr sz="1600" b="0"/>
                        <a:t>Phased move to strict audits</a:t>
                      </a:r>
                    </a:p>
                  </a:txBody>
                  <a:tcPr>
                    <a:solidFill>
                      <a:srgbClr val="FFFDF8"/>
                    </a:solidFill>
                  </a:tcPr>
                </a:tc>
                <a:tc>
                  <a:txBody>
                    <a:bodyPr/>
                    <a:lstStyle/>
                    <a:p>
                      <a:r>
                        <a:rPr sz="1600" b="0" dirty="0"/>
                        <a:t>Expanding requirements</a:t>
                      </a:r>
                    </a:p>
                  </a:txBody>
                  <a:tcPr>
                    <a:solidFill>
                      <a:srgbClr val="FFFDF8"/>
                    </a:solidFill>
                  </a:tcPr>
                </a:tc>
                <a:tc>
                  <a:txBody>
                    <a:bodyPr/>
                    <a:lstStyle/>
                    <a:p>
                      <a:r>
                        <a:rPr sz="1600" b="0" dirty="0"/>
                        <a:t>Moving to mandatory audits</a:t>
                      </a:r>
                    </a:p>
                  </a:txBody>
                  <a:tcPr>
                    <a:solidFill>
                      <a:srgbClr val="FFFDF8"/>
                    </a:solidFill>
                  </a:tcPr>
                </a:tc>
                <a:tc>
                  <a:txBody>
                    <a:bodyPr/>
                    <a:lstStyle/>
                    <a:p>
                      <a:r>
                        <a:rPr sz="1600" b="0">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600" b="0"/>
                        <a:t>Future Claims &amp; Offsets</a:t>
                      </a:r>
                    </a:p>
                  </a:txBody>
                  <a:tcPr>
                    <a:solidFill>
                      <a:srgbClr val="E8EFE6"/>
                    </a:solidFill>
                  </a:tcPr>
                </a:tc>
                <a:tc>
                  <a:txBody>
                    <a:bodyPr/>
                    <a:lstStyle/>
                    <a:p>
                      <a:r>
                        <a:rPr sz="1600" b="0"/>
                        <a:t>Strict limits on offset claims</a:t>
                      </a:r>
                    </a:p>
                  </a:txBody>
                  <a:tcPr>
                    <a:solidFill>
                      <a:srgbClr val="E8EFE6"/>
                    </a:solidFill>
                  </a:tcPr>
                </a:tc>
                <a:tc>
                  <a:txBody>
                    <a:bodyPr/>
                    <a:lstStyle/>
                    <a:p>
                      <a:r>
                        <a:rPr sz="1600" b="0"/>
                        <a:t>Subject to regulatory checks</a:t>
                      </a:r>
                    </a:p>
                  </a:txBody>
                  <a:tcPr>
                    <a:solidFill>
                      <a:srgbClr val="E8EFE6"/>
                    </a:solidFill>
                  </a:tcPr>
                </a:tc>
                <a:tc>
                  <a:txBody>
                    <a:bodyPr/>
                    <a:lstStyle/>
                    <a:p>
                      <a:r>
                        <a:rPr sz="1600" b="0" dirty="0"/>
                        <a:t>Actively policed under law</a:t>
                      </a:r>
                    </a:p>
                  </a:txBody>
                  <a:tcPr>
                    <a:solidFill>
                      <a:srgbClr val="E8EFE6"/>
                    </a:solidFill>
                  </a:tcPr>
                </a:tc>
                <a:tc>
                  <a:txBody>
                    <a:bodyPr/>
                    <a:lstStyle/>
                    <a:p>
                      <a:r>
                        <a:rPr sz="1600" b="0"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600" b="0" dirty="0"/>
                        <a:t>Proportionate penalties</a:t>
                      </a:r>
                    </a:p>
                  </a:txBody>
                  <a:tcPr>
                    <a:solidFill>
                      <a:srgbClr val="FFFDF8"/>
                    </a:solidFill>
                  </a:tcPr>
                </a:tc>
                <a:tc>
                  <a:txBody>
                    <a:bodyPr/>
                    <a:lstStyle/>
                    <a:p>
                      <a:r>
                        <a:rPr sz="1600" b="0"/>
                        <a:t>Linked to company turnover</a:t>
                      </a:r>
                    </a:p>
                  </a:txBody>
                  <a:tcPr>
                    <a:solidFill>
                      <a:srgbClr val="FFFDF8"/>
                    </a:solidFill>
                  </a:tcPr>
                </a:tc>
                <a:tc>
                  <a:txBody>
                    <a:bodyPr/>
                    <a:lstStyle/>
                    <a:p>
                      <a:r>
                        <a:rPr sz="1600" b="0"/>
                        <a:t>Up to 10% global turnover</a:t>
                      </a:r>
                    </a:p>
                  </a:txBody>
                  <a:tcPr>
                    <a:solidFill>
                      <a:srgbClr val="FFFDF8"/>
                    </a:solidFill>
                  </a:tcPr>
                </a:tc>
                <a:tc>
                  <a:txBody>
                    <a:bodyPr/>
                    <a:lstStyle/>
                    <a:p>
                      <a:r>
                        <a:rPr sz="1600" b="0"/>
                        <a:t>High civil penalty exposure</a:t>
                      </a:r>
                    </a:p>
                  </a:txBody>
                  <a:tcPr>
                    <a:solidFill>
                      <a:srgbClr val="FFFDF8"/>
                    </a:solidFill>
                  </a:tcPr>
                </a:tc>
                <a:tc>
                  <a:txBody>
                    <a:bodyPr/>
                    <a:lstStyle/>
                    <a:p>
                      <a:r>
                        <a:rPr sz="1600" b="0" dirty="0">
                          <a:solidFill>
                            <a:srgbClr val="A8552F"/>
                          </a:solidFill>
                        </a:rPr>
                        <a:t>Low fixed cap </a:t>
                      </a:r>
                      <a:r>
                        <a:rPr lang="en-US" sz="1600" b="0" dirty="0">
                          <a:solidFill>
                            <a:srgbClr val="A8552F"/>
                          </a:solidFill>
                        </a:rPr>
                        <a:t>penalties</a:t>
                      </a:r>
                      <a:endParaRPr sz="1600" b="0"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836568"/>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738357" y="5880157"/>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13" name="Rounded Rectangle 12"/>
          <p:cNvSpPr/>
          <p:nvPr/>
        </p:nvSpPr>
        <p:spPr>
          <a:xfrm>
            <a:off x="697925" y="1646661"/>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618129"/>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2272572"/>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Proof Before Publishing: </a:t>
            </a:r>
            <a:r>
              <a:rPr sz="1600" dirty="0">
                <a:latin typeface="Avenir Next" panose="020B0503020202020204" pitchFamily="34" charset="0"/>
              </a:rPr>
              <a:t>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Independent Audits: </a:t>
            </a:r>
            <a:r>
              <a:rPr sz="1600" dirty="0">
                <a:latin typeface="Avenir Next" panose="020B0503020202020204" pitchFamily="34" charset="0"/>
              </a:rPr>
              <a:t>Mandatory third-party assurance that escalates over time.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Clear Accountability: </a:t>
            </a:r>
            <a:r>
              <a:rPr sz="1600" dirty="0">
                <a:latin typeface="Avenir Next" panose="020B0503020202020204" pitchFamily="34" charset="0"/>
              </a:rPr>
              <a:t>Direct liability routes for decision-makers.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Turnover-Linked Penalties: </a:t>
            </a:r>
            <a:r>
              <a:rPr sz="1600" dirty="0">
                <a:latin typeface="Avenir Next" panose="020B0503020202020204" pitchFamily="34" charset="0"/>
              </a:rPr>
              <a:t>Fines scaled to company revenue to deter misconduct.</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Lifecycle Coverage: </a:t>
            </a:r>
            <a:r>
              <a:rPr sz="1600" dirty="0">
                <a:latin typeface="Avenir Next" panose="020B0503020202020204" pitchFamily="34" charset="0"/>
              </a:rPr>
              <a:t>Rules apply from product labels to financial filings.</a:t>
            </a:r>
          </a:p>
        </p:txBody>
      </p:sp>
      <p:sp>
        <p:nvSpPr>
          <p:cNvPr id="16" name="Rounded Rectangle 15"/>
          <p:cNvSpPr/>
          <p:nvPr/>
        </p:nvSpPr>
        <p:spPr>
          <a:xfrm>
            <a:off x="6350320" y="1646660"/>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618129"/>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2244430"/>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Reactive Policing: </a:t>
            </a:r>
            <a:r>
              <a:rPr sz="1600" dirty="0">
                <a:latin typeface="Avenir Next" panose="020B0503020202020204" pitchFamily="34" charset="0"/>
              </a:rPr>
              <a:t>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Diluted Auditing: </a:t>
            </a:r>
            <a:r>
              <a:rPr sz="1600" dirty="0">
                <a:latin typeface="Avenir Next" panose="020B0503020202020204" pitchFamily="34" charset="0"/>
              </a:rPr>
              <a:t>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No Pre-Approval: </a:t>
            </a:r>
            <a:r>
              <a:rPr sz="1600" dirty="0">
                <a:latin typeface="Avenir Next" panose="020B0503020202020204" pitchFamily="34" charset="0"/>
              </a:rPr>
              <a:t>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Regulatory Rollbacks:</a:t>
            </a:r>
            <a:r>
              <a:rPr sz="1600" dirty="0">
                <a:latin typeface="Avenir Next" panose="020B0503020202020204" pitchFamily="34" charset="0"/>
              </a:rPr>
              <a:t> Repeated delays and narrowed reporting scopes.</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Fixed Low Penalties: </a:t>
            </a:r>
            <a:r>
              <a:rPr sz="1600" dirty="0">
                <a:latin typeface="Avenir Next" panose="020B0503020202020204" pitchFamily="34" charset="0"/>
              </a:rPr>
              <a:t>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270126"/>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corporate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 </a:t>
            </a:r>
            <a:r>
              <a:rPr lang="en-IN" sz="13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r>
              <a:rPr sz="1300" dirty="0">
                <a:solidFill>
                  <a:srgbClr val="2D2D2D"/>
                </a:solidFill>
                <a:latin typeface="Avenir Next" panose="020B0503020202020204" pitchFamily="34" charset="0"/>
              </a:rPr>
              <a:t>.</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35664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609862" y="1350000"/>
            <a:ext cx="3263122" cy="1508105"/>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609862" y="2945300"/>
            <a:ext cx="3263122" cy="3116238"/>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Evaluates </a:t>
            </a:r>
            <a:r>
              <a:rPr lang="en-US" sz="1300" dirty="0">
                <a:solidFill>
                  <a:srgbClr val="2D2D2D"/>
                </a:solidFill>
                <a:latin typeface="Avenir Next" panose="020B0503020202020204" pitchFamily="34" charset="0"/>
              </a:rPr>
              <a:t>whether legal costs exceed benefits</a:t>
            </a:r>
            <a:r>
              <a:rPr sz="1300" dirty="0">
                <a:solidFill>
                  <a:srgbClr val="2D2D2D"/>
                </a:solidFill>
                <a:latin typeface="Avenir Next" panose="020B0503020202020204" pitchFamily="34" charset="0"/>
              </a:rPr>
              <a:t> across Company Law, Securities Law, and Consumer Protection.</a:t>
            </a: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ordinary liability routes are weak. Section 166(2) lacks open standing;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corporate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encompassing</a:t>
            </a:r>
            <a:r>
              <a:rPr sz="1300" dirty="0">
                <a:solidFill>
                  <a:srgbClr val="2D2D2D"/>
                </a:solidFill>
                <a:latin typeface="Avenir Next" panose="020B0503020202020204" pitchFamily="34" charset="0"/>
              </a:rPr>
              <a:t> products,</a:t>
            </a:r>
            <a:r>
              <a:rPr lang="en-US" sz="1300" dirty="0">
                <a:solidFill>
                  <a:srgbClr val="2D2D2D"/>
                </a:solidFill>
                <a:latin typeface="Avenir Next" panose="020B0503020202020204" pitchFamily="34" charset="0"/>
              </a:rPr>
              <a:t> ads,</a:t>
            </a:r>
            <a:r>
              <a:rPr sz="1300" dirty="0">
                <a:solidFill>
                  <a:srgbClr val="2D2D2D"/>
                </a:solidFill>
                <a:latin typeface="Avenir Next" panose="020B0503020202020204" pitchFamily="34" charset="0"/>
              </a:rPr>
              <a:t> corporate </a:t>
            </a:r>
            <a:r>
              <a:rPr lang="en-US" sz="1300" dirty="0">
                <a:solidFill>
                  <a:srgbClr val="2D2D2D"/>
                </a:solidFill>
                <a:latin typeface="Avenir Next" panose="020B0503020202020204" pitchFamily="34" charset="0"/>
              </a:rPr>
              <a:t>annual </a:t>
            </a:r>
            <a:r>
              <a:rPr sz="1300" dirty="0">
                <a:solidFill>
                  <a:srgbClr val="2D2D2D"/>
                </a:solidFill>
                <a:latin typeface="Avenir Next" panose="020B0503020202020204" pitchFamily="34" charset="0"/>
              </a:rPr>
              <a:t>reports,</a:t>
            </a:r>
            <a:r>
              <a:rPr lang="en-US" sz="1300" dirty="0">
                <a:solidFill>
                  <a:srgbClr val="2D2D2D"/>
                </a:solidFill>
                <a:latin typeface="Avenir Next" panose="020B0503020202020204" pitchFamily="34" charset="0"/>
              </a:rPr>
              <a:t> ESG Filings</a:t>
            </a:r>
            <a:r>
              <a:rPr sz="1300" dirty="0">
                <a:solidFill>
                  <a:srgbClr val="2D2D2D"/>
                </a:solidFill>
                <a:latin typeface="Avenir Next" panose="020B0503020202020204" pitchFamily="34" charset="0"/>
              </a:rPr>
              <a:t> and </a:t>
            </a:r>
            <a:r>
              <a:rPr lang="en-US" sz="1300" dirty="0">
                <a:solidFill>
                  <a:srgbClr val="2D2D2D"/>
                </a:solidFill>
                <a:latin typeface="Avenir Next" panose="020B0503020202020204" pitchFamily="34" charset="0"/>
              </a:rPr>
              <a:t>G</a:t>
            </a:r>
            <a:r>
              <a:rPr sz="1300" dirty="0">
                <a:solidFill>
                  <a:srgbClr val="2D2D2D"/>
                </a:solidFill>
                <a:latin typeface="Avenir Next" panose="020B0503020202020204" pitchFamily="34" charset="0"/>
              </a:rPr>
              <a:t>reen </a:t>
            </a:r>
            <a:r>
              <a:rPr lang="en-US" sz="1300" dirty="0">
                <a:solidFill>
                  <a:srgbClr val="2D2D2D"/>
                </a:solidFill>
                <a:latin typeface="Avenir Next" panose="020B0503020202020204" pitchFamily="34" charset="0"/>
              </a:rPr>
              <a:t>B</a:t>
            </a:r>
            <a:r>
              <a:rPr sz="1300" dirty="0">
                <a:solidFill>
                  <a:srgbClr val="2D2D2D"/>
                </a:solidFill>
                <a:latin typeface="Avenir Next" panose="020B0503020202020204" pitchFamily="34" charset="0"/>
              </a:rPr>
              <a:t>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188762"/>
            <a:ext cx="10911841" cy="47397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322112"/>
            <a:ext cx="10475056" cy="231602"/>
          </a:xfrm>
          <a:prstGeom prst="rect">
            <a:avLst/>
          </a:prstGeom>
          <a:noFill/>
        </p:spPr>
        <p:txBody>
          <a:bodyPr wrap="square" lIns="0" tIns="0" rIns="0" bIns="0">
            <a:spAutoFit/>
          </a:bodyPr>
          <a:lstStyle/>
          <a:p>
            <a:pPr algn="ctr">
              <a:lnSpc>
                <a:spcPct val="110000"/>
              </a:lnSpc>
              <a:defRPr sz="1300" b="1">
                <a:solidFill>
                  <a:srgbClr val="12402D"/>
                </a:solidFill>
              </a:defRPr>
            </a:pPr>
            <a:r>
              <a:rPr sz="1400" dirty="0">
                <a:latin typeface="Avenir Next" panose="020B0503020202020204" pitchFamily="34" charset="0"/>
              </a:rPr>
              <a:t>All Three Hypotheses Stand Formally Validated</a:t>
            </a:r>
            <a:endParaRPr sz="14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2057400"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2057400"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2057400"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6ebd02e2-39fe-9866-8e33-718e47e27752&quot;,&quot;title&quot;:&quot;Condense Text in Sections 1 &amp; 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1870</TotalTime>
  <Words>4571</Words>
  <Application>Microsoft Macintosh PowerPoint</Application>
  <PresentationFormat>Widescreen</PresentationFormat>
  <Paragraphs>470</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1409</cp:revision>
  <dcterms:created xsi:type="dcterms:W3CDTF">2013-01-27T09:14:16Z</dcterms:created>
  <dcterms:modified xsi:type="dcterms:W3CDTF">2026-08-16T09:31:38Z</dcterms:modified>
  <cp:category/>
</cp:coreProperties>
</file>