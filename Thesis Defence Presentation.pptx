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79" r:id="rId2"/>
    <p:sldId id="297" r:id="rId3"/>
    <p:sldId id="298" r:id="rId4"/>
    <p:sldId id="281" r:id="rId5"/>
    <p:sldId id="283" r:id="rId6"/>
    <p:sldId id="260" r:id="rId7"/>
    <p:sldId id="261" r:id="rId8"/>
    <p:sldId id="265" r:id="rId9"/>
    <p:sldId id="280" r:id="rId10"/>
    <p:sldId id="295" r:id="rId11"/>
    <p:sldId id="284" r:id="rId12"/>
    <p:sldId id="293" r:id="rId13"/>
    <p:sldId id="294" r:id="rId14"/>
    <p:sldId id="290" r:id="rId15"/>
    <p:sldId id="287" r:id="rId16"/>
    <p:sldId id="288" r:id="rId17"/>
    <p:sldId id="289" r:id="rId18"/>
    <p:sldId id="262" r:id="rId19"/>
    <p:sldId id="272" r:id="rId20"/>
    <p:sldId id="296" r:id="rId21"/>
    <p:sldId id="291" r:id="rId22"/>
    <p:sldId id="266" r:id="rId23"/>
    <p:sldId id="292" r:id="rId2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9B5"/>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9D82549-73EC-4856-879A-C813D151772C}" v="3106" dt="2026-03-17T15:45:46.53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618"/>
    <p:restoredTop sz="94629"/>
  </p:normalViewPr>
  <p:slideViewPr>
    <p:cSldViewPr snapToGrid="0" snapToObjects="1">
      <p:cViewPr varScale="1">
        <p:scale>
          <a:sx n="99" d="100"/>
          <a:sy n="99" d="100"/>
        </p:scale>
        <p:origin x="192" y="26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 Id="rId30"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D16D8C7-7ACE-0E43-ADC6-5E8A68AC397B}" type="datetimeFigureOut">
              <a:rPr lang="en-US" smtClean="0"/>
              <a:t>8/13/26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762F6BD-97DA-5F40-B046-A0BF2F554C1C}" type="slidenum">
              <a:rPr lang="en-US" smtClean="0"/>
              <a:t>‹#›</a:t>
            </a:fld>
            <a:endParaRPr lang="en-US"/>
          </a:p>
        </p:txBody>
      </p:sp>
    </p:spTree>
    <p:extLst>
      <p:ext uri="{BB962C8B-B14F-4D97-AF65-F5344CB8AC3E}">
        <p14:creationId xmlns:p14="http://schemas.microsoft.com/office/powerpoint/2010/main" val="38967405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8/13/26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8/13/26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8/13/26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8/13/26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B698CBB9-5E50-2F14-2467-F5962F12EF2A}"/>
              </a:ext>
            </a:extLst>
          </p:cNvPr>
          <p:cNvSpPr>
            <a:spLocks noChangeArrowheads="1"/>
          </p:cNvSpPr>
          <p:nvPr/>
        </p:nvSpPr>
        <p:spPr bwMode="auto">
          <a:xfrm>
            <a:off x="1816976" y="2462044"/>
            <a:ext cx="7609490"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n-US" sz="1800" b="1" i="0" strike="noStrike" cap="none" normalizeH="0" baseline="0" dirty="0">
                <a:ln>
                  <a:noFill/>
                </a:ln>
                <a:solidFill>
                  <a:schemeClr val="tx1"/>
                </a:solidFill>
                <a:effectLst/>
                <a:latin typeface="Aptos" panose="020B0004020202020204" pitchFamily="34" charset="0"/>
                <a:ea typeface="Aptos" panose="020B0004020202020204" pitchFamily="34" charset="0"/>
                <a:cs typeface="Times New Roman" panose="02020603050405020304" pitchFamily="18" charset="0"/>
              </a:rPr>
              <a:t>CORPORATE RESPONSIBILITY REGARDING THE CONCERN OF GREENWASHING, POLICY AND LEGAL INITIATIVES: A CRITICAL STUDY</a:t>
            </a:r>
            <a:endParaRPr kumimoji="0" lang="en-US" altLang="en-US" sz="1000" b="0" i="0"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strike="noStrike" cap="none" normalizeH="0" baseline="0" dirty="0">
              <a:ln>
                <a:noFill/>
              </a:ln>
              <a:solidFill>
                <a:schemeClr val="tx1"/>
              </a:solidFill>
              <a:effectLst/>
              <a:latin typeface="Arial" panose="020B0604020202020204" pitchFamily="34" charset="0"/>
            </a:endParaRPr>
          </a:p>
        </p:txBody>
      </p:sp>
      <p:pic>
        <p:nvPicPr>
          <p:cNvPr id="1025" name="Picture 1" descr="https://upload.wikimedia.org/wikipedia/en/2/29/Chanakya_National_Law_University_Logo.png">
            <a:extLst>
              <a:ext uri="{FF2B5EF4-FFF2-40B4-BE49-F238E27FC236}">
                <a16:creationId xmlns:a16="http://schemas.microsoft.com/office/drawing/2014/main" id="{2B95BC30-4621-E5CA-BBC4-3F45D7ACEC7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15341" y="450739"/>
            <a:ext cx="1212762" cy="1117643"/>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3">
            <a:extLst>
              <a:ext uri="{FF2B5EF4-FFF2-40B4-BE49-F238E27FC236}">
                <a16:creationId xmlns:a16="http://schemas.microsoft.com/office/drawing/2014/main" id="{377CE1B1-81AF-B124-8E50-A278D3AA36D9}"/>
              </a:ext>
            </a:extLst>
          </p:cNvPr>
          <p:cNvSpPr>
            <a:spLocks noChangeArrowheads="1"/>
          </p:cNvSpPr>
          <p:nvPr/>
        </p:nvSpPr>
        <p:spPr bwMode="auto">
          <a:xfrm>
            <a:off x="2349796" y="3388628"/>
            <a:ext cx="6060558" cy="35086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indent="457200"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1pPr>
            <a:lvl2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2pPr>
            <a:lvl3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3pPr>
            <a:lvl4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4pPr>
            <a:lvl5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5pPr>
            <a:lvl6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6pPr>
            <a:lvl7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7pPr>
            <a:lvl8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8pPr>
            <a:lvl9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9pPr>
          </a:lstStyle>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sz="1400" b="1" i="0" u="none" strike="noStrike" cap="none" normalizeH="0" baseline="0" dirty="0">
                <a:ln>
                  <a:noFill/>
                </a:ln>
                <a:solidFill>
                  <a:schemeClr val="tx1"/>
                </a:solidFill>
                <a:effectLst/>
                <a:latin typeface="+mj-lt"/>
                <a:ea typeface="Aptos" panose="020B0004020202020204" pitchFamily="34" charset="0"/>
                <a:cs typeface="Times New Roman" panose="02020603050405020304" pitchFamily="18" charset="0"/>
              </a:rPr>
              <a:t>Submitte</a:t>
            </a:r>
            <a:r>
              <a:rPr lang="en-US" altLang="en-US" sz="1400" b="1" dirty="0">
                <a:latin typeface="+mj-lt"/>
                <a:ea typeface="Aptos" panose="020B0004020202020204" pitchFamily="34" charset="0"/>
                <a:cs typeface="Times New Roman" panose="02020603050405020304" pitchFamily="18" charset="0"/>
              </a:rPr>
              <a:t>d To</a:t>
            </a:r>
            <a:endParaRPr kumimoji="0" lang="en-US" altLang="en-US" sz="1400" b="1" i="0" u="none" strike="noStrike" cap="none" normalizeH="0" baseline="0" dirty="0">
              <a:ln>
                <a:noFill/>
              </a:ln>
              <a:solidFill>
                <a:schemeClr val="tx1"/>
              </a:solidFill>
              <a:effectLst/>
              <a:latin typeface="+mj-lt"/>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sz="1400" b="1" i="0" u="none" strike="noStrike" cap="none" normalizeH="0" baseline="0" dirty="0">
                <a:ln>
                  <a:noFill/>
                </a:ln>
                <a:solidFill>
                  <a:schemeClr val="tx1"/>
                </a:solidFill>
                <a:effectLst/>
                <a:latin typeface="+mj-lt"/>
                <a:ea typeface="Aptos" panose="020B0004020202020204" pitchFamily="34" charset="0"/>
                <a:cs typeface="Times New Roman" panose="02020603050405020304" pitchFamily="18" charset="0"/>
              </a:rPr>
              <a:t>Chanakya National Law University</a:t>
            </a:r>
            <a:endParaRPr kumimoji="0" lang="en-US" altLang="en-US" sz="1400" b="1" i="0" u="none" strike="noStrike" cap="none" normalizeH="0" baseline="0" dirty="0">
              <a:ln>
                <a:noFill/>
              </a:ln>
              <a:solidFill>
                <a:schemeClr val="tx1"/>
              </a:solidFill>
              <a:effectLst/>
              <a:latin typeface="+mj-lt"/>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sz="1400" b="1" i="0" u="none" strike="noStrike" cap="none" normalizeH="0" baseline="0" dirty="0">
                <a:ln>
                  <a:noFill/>
                </a:ln>
                <a:solidFill>
                  <a:schemeClr val="tx1"/>
                </a:solidFill>
                <a:effectLst/>
                <a:latin typeface="+mj-lt"/>
                <a:ea typeface="Aptos" panose="020B0004020202020204" pitchFamily="34" charset="0"/>
                <a:cs typeface="Times New Roman" panose="02020603050405020304" pitchFamily="18" charset="0"/>
              </a:rPr>
              <a:t>Nyaya Nagar, Patna 800001</a:t>
            </a: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endParaRPr lang="en-US" altLang="en-US" sz="1200" b="1" dirty="0">
              <a:latin typeface="+mj-lt"/>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endParaRPr kumimoji="0" lang="en-US" altLang="en-US" sz="1200" b="1" i="0" u="none" strike="noStrike" cap="none" normalizeH="0" baseline="0" dirty="0">
              <a:ln>
                <a:noFill/>
              </a:ln>
              <a:solidFill>
                <a:schemeClr val="tx1"/>
              </a:solidFill>
              <a:effectLst/>
              <a:latin typeface="+mj-lt"/>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endParaRPr kumimoji="0" lang="en-US" altLang="en-US" sz="1200" b="1" i="0" u="none" strike="noStrike" cap="none" normalizeH="0" baseline="0" dirty="0">
              <a:ln>
                <a:noFill/>
              </a:ln>
              <a:solidFill>
                <a:schemeClr val="tx1"/>
              </a:solidFill>
              <a:effectLst/>
              <a:latin typeface="+mj-lt"/>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GB" altLang="en-US" sz="1200" b="1" i="0" u="none" strike="noStrike" cap="none" normalizeH="0" baseline="0" dirty="0">
                <a:ln>
                  <a:noFill/>
                </a:ln>
                <a:solidFill>
                  <a:schemeClr val="tx1"/>
                </a:solidFill>
                <a:effectLst/>
                <a:latin typeface="+mj-lt"/>
                <a:ea typeface="Aptos" panose="020B0004020202020204" pitchFamily="34" charset="0"/>
                <a:cs typeface="Times New Roman" panose="02020603050405020304" pitchFamily="18" charset="0"/>
              </a:rPr>
              <a:t>UNDER THE SUPERVISION OF</a:t>
            </a: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GB" altLang="en-US" sz="1200" b="1" i="0" u="none" strike="noStrike" cap="none" normalizeH="0" baseline="0" dirty="0">
                <a:ln>
                  <a:noFill/>
                </a:ln>
                <a:solidFill>
                  <a:schemeClr val="tx1"/>
                </a:solidFill>
                <a:effectLst/>
                <a:latin typeface="+mj-lt"/>
                <a:ea typeface="Aptos" panose="020B0004020202020204" pitchFamily="34" charset="0"/>
                <a:cs typeface="Times New Roman" panose="02020603050405020304" pitchFamily="18" charset="0"/>
              </a:rPr>
              <a:t>DR. P. P. RAO</a:t>
            </a:r>
          </a:p>
          <a:p>
            <a:pPr lvl="0" algn="ctr" defTabSz="914400"/>
            <a:r>
              <a:rPr lang="en-GB" altLang="en-US" sz="1200" b="1" dirty="0">
                <a:latin typeface="+mj-lt"/>
                <a:ea typeface="Aptos" panose="020B0004020202020204" pitchFamily="34" charset="0"/>
                <a:cs typeface="Times New Roman" panose="02020603050405020304" pitchFamily="18" charset="0"/>
              </a:rPr>
              <a:t>ASSOCIATE PROFESSOR</a:t>
            </a:r>
          </a:p>
          <a:p>
            <a:pPr lvl="0" algn="ctr" defTabSz="914400"/>
            <a:endParaRPr lang="en-GB" altLang="en-US" sz="1200" b="1" dirty="0">
              <a:latin typeface="+mj-lt"/>
              <a:ea typeface="Aptos" panose="020B0004020202020204" pitchFamily="34" charset="0"/>
              <a:cs typeface="Times New Roman" panose="02020603050405020304" pitchFamily="18" charset="0"/>
            </a:endParaRPr>
          </a:p>
          <a:p>
            <a:pPr lvl="0" algn="ctr" defTabSz="914400"/>
            <a:endParaRPr lang="en-GB" altLang="en-US" sz="1200" b="1" dirty="0">
              <a:latin typeface="+mj-lt"/>
              <a:ea typeface="Aptos" panose="020B0004020202020204" pitchFamily="34" charset="0"/>
              <a:cs typeface="Times New Roman" panose="02020603050405020304" pitchFamily="18" charset="0"/>
            </a:endParaRPr>
          </a:p>
          <a:p>
            <a:pPr lvl="0" algn="ctr" defTabSz="914400"/>
            <a:endParaRPr lang="en-GB" altLang="en-US" sz="1200" b="1" dirty="0">
              <a:latin typeface="+mj-lt"/>
              <a:ea typeface="Aptos" panose="020B0004020202020204" pitchFamily="34" charset="0"/>
              <a:cs typeface="Times New Roman" panose="02020603050405020304" pitchFamily="18" charset="0"/>
            </a:endParaRPr>
          </a:p>
          <a:p>
            <a:pPr lvl="0" algn="ctr" defTabSz="914400"/>
            <a:r>
              <a:rPr lang="en-GB" altLang="en-US" sz="1200" b="1" dirty="0">
                <a:latin typeface="+mj-lt"/>
                <a:cs typeface="Times New Roman" panose="02020603050405020304" pitchFamily="18" charset="0"/>
              </a:rPr>
              <a:t>Submitted by</a:t>
            </a:r>
          </a:p>
          <a:p>
            <a:pPr lvl="0" algn="ctr" defTabSz="914400"/>
            <a:r>
              <a:rPr kumimoji="0" lang="en-GB" altLang="en-US" sz="1200" b="1" i="0" u="none" strike="noStrike" cap="none" normalizeH="0" baseline="0" dirty="0">
                <a:ln>
                  <a:noFill/>
                </a:ln>
                <a:solidFill>
                  <a:schemeClr val="tx1"/>
                </a:solidFill>
                <a:effectLst/>
                <a:latin typeface="+mj-lt"/>
                <a:ea typeface="Aptos" panose="020B0004020202020204" pitchFamily="34" charset="0"/>
                <a:cs typeface="Times New Roman" panose="02020603050405020304" pitchFamily="18" charset="0"/>
              </a:rPr>
              <a:t>Saumya Singh</a:t>
            </a:r>
          </a:p>
          <a:p>
            <a:pPr lvl="0" algn="ctr" defTabSz="914400"/>
            <a:r>
              <a:rPr lang="en-GB" altLang="en-US" sz="1200" b="1" dirty="0">
                <a:latin typeface="+mj-lt"/>
                <a:ea typeface="Aptos" panose="020B0004020202020204" pitchFamily="34" charset="0"/>
                <a:cs typeface="Times New Roman" panose="02020603050405020304" pitchFamily="18" charset="0"/>
              </a:rPr>
              <a:t>Roll No- PL-2121</a:t>
            </a:r>
          </a:p>
          <a:p>
            <a:pPr algn="ctr" defTabSz="914400"/>
            <a:r>
              <a:rPr lang="en-GB" altLang="en-US" sz="1200" b="1" dirty="0">
                <a:latin typeface="+mj-lt"/>
                <a:ea typeface="Aptos" panose="020B0004020202020204" pitchFamily="34" charset="0"/>
                <a:cs typeface="Times New Roman" panose="02020603050405020304" pitchFamily="18" charset="0"/>
              </a:rPr>
              <a:t>Ph.D. (Batch- 2021)</a:t>
            </a:r>
            <a:endParaRPr lang="en-GB" altLang="en-US" sz="1200" b="1" dirty="0">
              <a:latin typeface="+mj-lt"/>
            </a:endParaRPr>
          </a:p>
          <a:p>
            <a:pPr lvl="0" algn="ctr" defTabSz="914400"/>
            <a:endParaRPr kumimoji="0" lang="en-GB" altLang="en-US" sz="1200" b="1" i="0" u="none" strike="noStrike" cap="none" normalizeH="0" baseline="0" dirty="0">
              <a:ln>
                <a:noFill/>
              </a:ln>
              <a:solidFill>
                <a:schemeClr val="tx1"/>
              </a:solidFill>
              <a:effectLst/>
              <a:latin typeface="+mj-lt"/>
              <a:ea typeface="Aptos" panose="020B0004020202020204" pitchFamily="34" charset="0"/>
              <a:cs typeface="Times New Roman" panose="02020603050405020304" pitchFamily="18" charset="0"/>
            </a:endParaRPr>
          </a:p>
          <a:p>
            <a:pPr lvl="0" algn="ctr" defTabSz="914400"/>
            <a:r>
              <a:rPr kumimoji="0" lang="en-GB" altLang="en-US" sz="1200" b="1" i="0" u="none" strike="noStrike" cap="none" normalizeH="0" baseline="0" dirty="0">
                <a:ln>
                  <a:noFill/>
                </a:ln>
                <a:solidFill>
                  <a:schemeClr val="tx1"/>
                </a:solidFill>
                <a:effectLst/>
                <a:latin typeface="+mj-lt"/>
                <a:ea typeface="Aptos" panose="020B0004020202020204" pitchFamily="34" charset="0"/>
                <a:cs typeface="Times New Roman" panose="02020603050405020304" pitchFamily="18" charset="0"/>
              </a:rPr>
              <a:t>	</a:t>
            </a:r>
            <a:endParaRPr kumimoji="0" lang="en-GB" altLang="en-US" sz="1200" b="1" i="0" u="none" strike="noStrike" cap="none" normalizeH="0" baseline="0" dirty="0">
              <a:ln>
                <a:noFill/>
              </a:ln>
              <a:solidFill>
                <a:schemeClr val="tx1"/>
              </a:solidFill>
              <a:effectLst/>
              <a:latin typeface="+mj-lt"/>
            </a:endParaRPr>
          </a:p>
        </p:txBody>
      </p:sp>
      <p:sp>
        <p:nvSpPr>
          <p:cNvPr id="4" name="TextBox 3">
            <a:extLst>
              <a:ext uri="{FF2B5EF4-FFF2-40B4-BE49-F238E27FC236}">
                <a16:creationId xmlns:a16="http://schemas.microsoft.com/office/drawing/2014/main" id="{D04EECE9-C3B3-47D6-98DA-6D47961BFCE5}"/>
              </a:ext>
            </a:extLst>
          </p:cNvPr>
          <p:cNvSpPr txBox="1"/>
          <p:nvPr/>
        </p:nvSpPr>
        <p:spPr>
          <a:xfrm>
            <a:off x="3692187" y="1704738"/>
            <a:ext cx="3859069" cy="707886"/>
          </a:xfrm>
          <a:prstGeom prst="rect">
            <a:avLst/>
          </a:prstGeom>
          <a:noFill/>
        </p:spPr>
        <p:txBody>
          <a:bodyPr wrap="none" rtlCol="0">
            <a:spAutoFit/>
          </a:bodyPr>
          <a:lstStyle/>
          <a:p>
            <a:pPr algn="ctr"/>
            <a:r>
              <a:rPr lang="en-US" sz="2400" b="1" dirty="0"/>
              <a:t>Pre-Submission Presentation</a:t>
            </a:r>
          </a:p>
          <a:p>
            <a:pPr algn="ctr"/>
            <a:endParaRPr lang="en-US" sz="200" b="1" dirty="0"/>
          </a:p>
          <a:p>
            <a:pPr algn="ctr"/>
            <a:r>
              <a:rPr lang="en-US" sz="1400" b="1" dirty="0"/>
              <a:t>On the Topic of</a:t>
            </a:r>
          </a:p>
        </p:txBody>
      </p:sp>
    </p:spTree>
    <p:extLst>
      <p:ext uri="{BB962C8B-B14F-4D97-AF65-F5344CB8AC3E}">
        <p14:creationId xmlns:p14="http://schemas.microsoft.com/office/powerpoint/2010/main" val="15196136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9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35304"/>
            <a:ext cx="10698480" cy="646331"/>
          </a:xfrm>
          <a:prstGeom prst="rect">
            <a:avLst/>
          </a:prstGeom>
          <a:noFill/>
        </p:spPr>
        <p:txBody>
          <a:bodyPr wrap="square" tIns="91440" bIns="91440">
            <a:spAutoFit/>
          </a:bodyPr>
          <a:lstStyle/>
          <a:p>
            <a:pPr>
              <a:defRPr sz="3000" b="1">
                <a:solidFill>
                  <a:srgbClr val="173F35"/>
                </a:solidFill>
              </a:defRPr>
            </a:pPr>
            <a:r>
              <a:rPr dirty="0"/>
              <a:t>WHAT IS GREENWASHING</a:t>
            </a:r>
            <a:r>
              <a:rPr lang="en-US" dirty="0"/>
              <a:t> </a:t>
            </a:r>
            <a:r>
              <a:rPr dirty="0"/>
              <a:t>?</a:t>
            </a:r>
          </a:p>
        </p:txBody>
      </p:sp>
      <p:sp>
        <p:nvSpPr>
          <p:cNvPr id="5" name="TextBox 4"/>
          <p:cNvSpPr txBox="1"/>
          <p:nvPr/>
        </p:nvSpPr>
        <p:spPr>
          <a:xfrm>
            <a:off x="731520" y="1041256"/>
            <a:ext cx="10698480" cy="400110"/>
          </a:xfrm>
          <a:prstGeom prst="rect">
            <a:avLst/>
          </a:prstGeom>
          <a:noFill/>
        </p:spPr>
        <p:txBody>
          <a:bodyPr wrap="square" tIns="91440" bIns="91440">
            <a:spAutoFit/>
          </a:bodyPr>
          <a:lstStyle/>
          <a:p>
            <a:pPr>
              <a:defRPr sz="2200" b="1">
                <a:solidFill>
                  <a:srgbClr val="173F35"/>
                </a:solidFill>
                <a:latin typeface="Georgia"/>
              </a:defRPr>
            </a:pPr>
            <a:r>
              <a:rPr lang="en-IN" sz="1400" dirty="0"/>
              <a:t>Greenwashing is any misleading, exaggerated, vague, or unsubstantiated environmental claim made by an entity.</a:t>
            </a:r>
          </a:p>
        </p:txBody>
      </p:sp>
      <p:sp>
        <p:nvSpPr>
          <p:cNvPr id="6" name="Rounded Rectangle 5"/>
          <p:cNvSpPr/>
          <p:nvPr/>
        </p:nvSpPr>
        <p:spPr>
          <a:xfrm>
            <a:off x="594360" y="1691639"/>
            <a:ext cx="5760720" cy="4228137"/>
          </a:xfrm>
          <a:prstGeom prst="roundRect">
            <a:avLst/>
          </a:prstGeom>
          <a:solidFill>
            <a:srgbClr val="FFFFFF"/>
          </a:solidFill>
          <a:ln w="12700">
            <a:solidFill>
              <a:srgbClr val="B4D2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31520" y="1691640"/>
            <a:ext cx="5760720" cy="10972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68680" y="1874519"/>
            <a:ext cx="5486400" cy="3777957"/>
          </a:xfrm>
          <a:prstGeom prst="rect">
            <a:avLst/>
          </a:prstGeom>
          <a:noFill/>
        </p:spPr>
        <p:txBody>
          <a:bodyPr wrap="square" tIns="91440" bIns="91440">
            <a:spAutoFit/>
          </a:bodyPr>
          <a:lstStyle/>
          <a:p>
            <a:pPr>
              <a:spcAft>
                <a:spcPts val="600"/>
              </a:spcAft>
              <a:defRPr sz="1450" b="1">
                <a:solidFill>
                  <a:srgbClr val="173F35"/>
                </a:solidFill>
              </a:defRPr>
            </a:pPr>
            <a:r>
              <a:rPr sz="1400" dirty="0"/>
              <a:t>🌿  The Eco-Facade  (What Companies Show You)</a:t>
            </a:r>
          </a:p>
          <a:p>
            <a:pPr>
              <a:spcAft>
                <a:spcPts val="500"/>
              </a:spcAft>
            </a:pPr>
            <a:r>
              <a:rPr sz="1400" b="1" dirty="0">
                <a:solidFill>
                  <a:srgbClr val="0E8A74"/>
                </a:solidFill>
              </a:rPr>
              <a:t>• Visual &amp; Textual Trickery: </a:t>
            </a:r>
            <a:r>
              <a:rPr sz="1400" dirty="0">
                <a:solidFill>
                  <a:srgbClr val="1B1B2F"/>
                </a:solidFill>
              </a:rPr>
              <a:t>Earthy brown packaging, green leaves, and unverified buzzwords ("100% Eco", "Natural", "Conscious", "Clean").</a:t>
            </a:r>
          </a:p>
          <a:p>
            <a:pPr>
              <a:spcAft>
                <a:spcPts val="500"/>
              </a:spcAft>
            </a:pPr>
            <a:r>
              <a:rPr sz="1400" b="1" dirty="0">
                <a:solidFill>
                  <a:srgbClr val="0E8A74"/>
                </a:solidFill>
              </a:rPr>
              <a:t>• Self-Awarded Seals: </a:t>
            </a:r>
            <a:r>
              <a:rPr sz="1400" dirty="0">
                <a:solidFill>
                  <a:srgbClr val="1B1B2F"/>
                </a:solidFill>
              </a:rPr>
              <a:t>Inventing custom green stamps &amp; badges that imitate official third-party certifications.</a:t>
            </a:r>
          </a:p>
          <a:p>
            <a:pPr>
              <a:spcAft>
                <a:spcPts val="500"/>
              </a:spcAft>
            </a:pPr>
            <a:r>
              <a:rPr sz="1400" b="1" dirty="0">
                <a:solidFill>
                  <a:srgbClr val="0E8A74"/>
                </a:solidFill>
              </a:rPr>
              <a:t>• Halo Marketing: </a:t>
            </a:r>
            <a:r>
              <a:rPr sz="1400" dirty="0">
                <a:solidFill>
                  <a:srgbClr val="1B1B2F"/>
                </a:solidFill>
              </a:rPr>
              <a:t>High-budget PR highlighting 1 minor eco-feature while masking 99% polluting core operations.</a:t>
            </a:r>
          </a:p>
          <a:p>
            <a:pPr>
              <a:spcBef>
                <a:spcPts val="800"/>
              </a:spcBef>
              <a:spcAft>
                <a:spcPts val="600"/>
              </a:spcAft>
              <a:defRPr sz="1450" b="1">
                <a:solidFill>
                  <a:srgbClr val="A23E2A"/>
                </a:solidFill>
              </a:defRPr>
            </a:pPr>
            <a:r>
              <a:rPr sz="1400" dirty="0"/>
              <a:t>🛑  The Hidden Reality  (What Stays Concealed)</a:t>
            </a:r>
          </a:p>
          <a:p>
            <a:pPr>
              <a:spcAft>
                <a:spcPts val="500"/>
              </a:spcAft>
            </a:pPr>
            <a:r>
              <a:rPr sz="1400" b="1" dirty="0">
                <a:solidFill>
                  <a:srgbClr val="A23E2A"/>
                </a:solidFill>
              </a:rPr>
              <a:t>• Unchanged Operations: </a:t>
            </a:r>
            <a:r>
              <a:rPr sz="1400" dirty="0">
                <a:solidFill>
                  <a:srgbClr val="1B1B2F"/>
                </a:solidFill>
              </a:rPr>
              <a:t>Core supply chains remain heavily dependent on fossil fuels, toxic emissions, and plastic waste.</a:t>
            </a:r>
          </a:p>
          <a:p>
            <a:pPr>
              <a:spcAft>
                <a:spcPts val="500"/>
              </a:spcAft>
            </a:pPr>
            <a:r>
              <a:rPr sz="1400" b="1" dirty="0">
                <a:solidFill>
                  <a:srgbClr val="A23E2A"/>
                </a:solidFill>
              </a:rPr>
              <a:t>• Verification Deficit: </a:t>
            </a:r>
            <a:r>
              <a:rPr sz="1400" dirty="0">
                <a:solidFill>
                  <a:srgbClr val="1B1B2F"/>
                </a:solidFill>
              </a:rPr>
              <a:t>Zero scientific proof, independent third-party audits, or regulatory substantiation behind claims.</a:t>
            </a:r>
          </a:p>
          <a:p>
            <a:pPr>
              <a:spcAft>
                <a:spcPts val="500"/>
              </a:spcAft>
            </a:pPr>
            <a:r>
              <a:rPr sz="1400" b="1" dirty="0">
                <a:solidFill>
                  <a:srgbClr val="A23E2A"/>
                </a:solidFill>
              </a:rPr>
              <a:t>• Decoupled Governance: </a:t>
            </a:r>
            <a:r>
              <a:rPr sz="1400" dirty="0">
                <a:solidFill>
                  <a:srgbClr val="1B1B2F"/>
                </a:solidFill>
              </a:rPr>
              <a:t>PR &amp; marketing operate independently from board-level environmental duties and oversight.</a:t>
            </a:r>
          </a:p>
        </p:txBody>
      </p:sp>
      <p:pic>
        <p:nvPicPr>
          <p:cNvPr id="11" name="Picture 10">
            <a:extLst>
              <a:ext uri="{FF2B5EF4-FFF2-40B4-BE49-F238E27FC236}">
                <a16:creationId xmlns:a16="http://schemas.microsoft.com/office/drawing/2014/main" id="{16A96FB4-60E9-C6D9-B0FD-C931CEDC2A8D}"/>
              </a:ext>
            </a:extLst>
          </p:cNvPr>
          <p:cNvPicPr>
            <a:picLocks noChangeAspect="1"/>
          </p:cNvPicPr>
          <p:nvPr/>
        </p:nvPicPr>
        <p:blipFill>
          <a:blip r:embed="rId2"/>
          <a:stretch>
            <a:fillRect/>
          </a:stretch>
        </p:blipFill>
        <p:spPr>
          <a:xfrm>
            <a:off x="6620027" y="1386445"/>
            <a:ext cx="4977613" cy="4977613"/>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9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370909"/>
            <a:ext cx="10698480" cy="646331"/>
          </a:xfrm>
          <a:prstGeom prst="rect">
            <a:avLst/>
          </a:prstGeom>
          <a:noFill/>
        </p:spPr>
        <p:txBody>
          <a:bodyPr wrap="square" tIns="91440" bIns="91440">
            <a:spAutoFit/>
          </a:bodyPr>
          <a:lstStyle/>
          <a:p>
            <a:pPr>
              <a:defRPr sz="3000" b="1">
                <a:solidFill>
                  <a:srgbClr val="173F35"/>
                </a:solidFill>
              </a:defRPr>
            </a:pPr>
            <a:r>
              <a:rPr dirty="0"/>
              <a:t>WHY GREENWASHING MATTERS TO </a:t>
            </a:r>
            <a:r>
              <a:rPr lang="en-US" dirty="0"/>
              <a:t>US ?</a:t>
            </a:r>
            <a:endParaRPr dirty="0"/>
          </a:p>
        </p:txBody>
      </p:sp>
      <p:sp>
        <p:nvSpPr>
          <p:cNvPr id="5" name="TextBox 4"/>
          <p:cNvSpPr txBox="1"/>
          <p:nvPr/>
        </p:nvSpPr>
        <p:spPr>
          <a:xfrm>
            <a:off x="731520" y="1067013"/>
            <a:ext cx="10698480" cy="457200"/>
          </a:xfrm>
          <a:prstGeom prst="rect">
            <a:avLst/>
          </a:prstGeom>
          <a:noFill/>
        </p:spPr>
        <p:txBody>
          <a:bodyPr wrap="square" tIns="91440" bIns="91440">
            <a:spAutoFit/>
          </a:bodyPr>
          <a:lstStyle/>
          <a:p>
            <a:pPr>
              <a:defRPr sz="1350" i="1">
                <a:solidFill>
                  <a:srgbClr val="505A55"/>
                </a:solidFill>
              </a:defRPr>
            </a:pPr>
            <a:r>
              <a:rPr dirty="0"/>
              <a:t>Greenwashing is not an abstract corporate crime—it directly exploits your personal goodwill, your wallet, and your family's future.</a:t>
            </a:r>
          </a:p>
        </p:txBody>
      </p:sp>
      <p:sp>
        <p:nvSpPr>
          <p:cNvPr id="6" name="Rounded Rectangle 5"/>
          <p:cNvSpPr/>
          <p:nvPr/>
        </p:nvSpPr>
        <p:spPr>
          <a:xfrm>
            <a:off x="731520" y="1737360"/>
            <a:ext cx="3383280" cy="3474720"/>
          </a:xfrm>
          <a:prstGeom prst="roundRect">
            <a:avLst/>
          </a:prstGeom>
          <a:solidFill>
            <a:srgbClr val="FFFFFF"/>
          </a:solidFill>
          <a:ln w="12700">
            <a:solidFill>
              <a:srgbClr val="B4D2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31520" y="1737360"/>
            <a:ext cx="3383280" cy="109728"/>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68680" y="1920240"/>
            <a:ext cx="3108960" cy="3200400"/>
          </a:xfrm>
          <a:prstGeom prst="rect">
            <a:avLst/>
          </a:prstGeom>
          <a:noFill/>
        </p:spPr>
        <p:txBody>
          <a:bodyPr wrap="square" tIns="91440" bIns="91440">
            <a:spAutoFit/>
          </a:bodyPr>
          <a:lstStyle/>
          <a:p>
            <a:pPr>
              <a:spcAft>
                <a:spcPts val="200"/>
              </a:spcAft>
              <a:defRPr sz="1700" b="1">
                <a:solidFill>
                  <a:srgbClr val="0E8A74"/>
                </a:solidFill>
              </a:defRPr>
            </a:pPr>
            <a:r>
              <a:t>💳  YOUR WALLET</a:t>
            </a:r>
          </a:p>
          <a:p>
            <a:pPr>
              <a:spcAft>
                <a:spcPts val="1000"/>
              </a:spcAft>
              <a:defRPr sz="1200" b="1" i="1">
                <a:solidFill>
                  <a:srgbClr val="505A55"/>
                </a:solidFill>
              </a:defRPr>
            </a:pPr>
            <a:r>
              <a:t>"The Premium You Pay"</a:t>
            </a:r>
          </a:p>
          <a:p>
            <a:pPr>
              <a:defRPr sz="1100">
                <a:solidFill>
                  <a:srgbClr val="1B1B2F"/>
                </a:solidFill>
              </a:defRPr>
            </a:pPr>
            <a:r>
              <a:t>When you deliberately choose the 'eco-friendly' or 'sustainable' option on store shelves and pay extra out of your own pocket, you act with genuine goodwill.</a:t>
            </a:r>
            <a:br/>
            <a:br/>
            <a:r>
              <a:t>Yet, your hard-earned money often ends up funding high-budget PR campaigns rather than any real environmental progress.</a:t>
            </a:r>
          </a:p>
        </p:txBody>
      </p:sp>
      <p:sp>
        <p:nvSpPr>
          <p:cNvPr id="9" name="Rounded Rectangle 8"/>
          <p:cNvSpPr/>
          <p:nvPr/>
        </p:nvSpPr>
        <p:spPr>
          <a:xfrm>
            <a:off x="4389120" y="1737360"/>
            <a:ext cx="3383280" cy="3474720"/>
          </a:xfrm>
          <a:prstGeom prst="roundRect">
            <a:avLst/>
          </a:prstGeom>
          <a:solidFill>
            <a:srgbClr val="FFFFFF"/>
          </a:solidFill>
          <a:ln w="12700">
            <a:solidFill>
              <a:srgbClr val="DCE1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389120" y="1737360"/>
            <a:ext cx="3383280" cy="10972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26280" y="1920240"/>
            <a:ext cx="3108960" cy="3200400"/>
          </a:xfrm>
          <a:prstGeom prst="rect">
            <a:avLst/>
          </a:prstGeom>
          <a:noFill/>
        </p:spPr>
        <p:txBody>
          <a:bodyPr wrap="square" tIns="91440" bIns="91440">
            <a:spAutoFit/>
          </a:bodyPr>
          <a:lstStyle/>
          <a:p>
            <a:pPr>
              <a:spcAft>
                <a:spcPts val="200"/>
              </a:spcAft>
              <a:defRPr sz="1700" b="1">
                <a:solidFill>
                  <a:srgbClr val="173F35"/>
                </a:solidFill>
              </a:defRPr>
            </a:pPr>
            <a:r>
              <a:t>🛡️  YOUR CHOICE</a:t>
            </a:r>
          </a:p>
          <a:p>
            <a:pPr>
              <a:spcAft>
                <a:spcPts val="1000"/>
              </a:spcAft>
              <a:defRPr sz="1200" b="1" i="1">
                <a:solidFill>
                  <a:srgbClr val="505A55"/>
                </a:solidFill>
              </a:defRPr>
            </a:pPr>
            <a:r>
              <a:t>"The Illusion of Effort"</a:t>
            </a:r>
          </a:p>
          <a:p>
            <a:pPr>
              <a:defRPr sz="1100">
                <a:solidFill>
                  <a:srgbClr val="1B1B2F"/>
                </a:solidFill>
              </a:defRPr>
            </a:pPr>
            <a:r>
              <a:t>You try your best in daily life—separating waste, carrying cloth bags, and choosing conscious brands.</a:t>
            </a:r>
            <a:br/>
            <a:br/>
            <a:r>
              <a:t>Deceptive corporate claims undermine your personal efforts, turning your ethical lifestyle choices into zero-impact gestures while industrial pollution continues unchecked.</a:t>
            </a:r>
          </a:p>
        </p:txBody>
      </p:sp>
      <p:sp>
        <p:nvSpPr>
          <p:cNvPr id="12" name="Rounded Rectangle 11"/>
          <p:cNvSpPr/>
          <p:nvPr/>
        </p:nvSpPr>
        <p:spPr>
          <a:xfrm>
            <a:off x="8046720" y="1737360"/>
            <a:ext cx="3383280" cy="3474720"/>
          </a:xfrm>
          <a:prstGeom prst="roundRect">
            <a:avLst/>
          </a:prstGeom>
          <a:solidFill>
            <a:srgbClr val="FFFFFF"/>
          </a:solidFill>
          <a:ln w="12700">
            <a:solidFill>
              <a:srgbClr val="E6BEB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8046720" y="1737360"/>
            <a:ext cx="3383280" cy="109728"/>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183880" y="1920240"/>
            <a:ext cx="3108960" cy="3200400"/>
          </a:xfrm>
          <a:prstGeom prst="rect">
            <a:avLst/>
          </a:prstGeom>
          <a:noFill/>
        </p:spPr>
        <p:txBody>
          <a:bodyPr wrap="square" tIns="91440" bIns="91440">
            <a:spAutoFit/>
          </a:bodyPr>
          <a:lstStyle/>
          <a:p>
            <a:pPr>
              <a:spcAft>
                <a:spcPts val="200"/>
              </a:spcAft>
              <a:defRPr sz="1700" b="1">
                <a:solidFill>
                  <a:srgbClr val="A23E2A"/>
                </a:solidFill>
              </a:defRPr>
            </a:pPr>
            <a:r>
              <a:t>🌍  YOUR FUTURE</a:t>
            </a:r>
          </a:p>
          <a:p>
            <a:pPr>
              <a:spcAft>
                <a:spcPts val="1000"/>
              </a:spcAft>
              <a:defRPr sz="1200" b="1" i="1">
                <a:solidFill>
                  <a:srgbClr val="505A55"/>
                </a:solidFill>
              </a:defRPr>
            </a:pPr>
            <a:r>
              <a:t>"The Stolen Time"</a:t>
            </a:r>
          </a:p>
          <a:p>
            <a:pPr>
              <a:defRPr sz="1100">
                <a:solidFill>
                  <a:srgbClr val="1B1B2F"/>
                </a:solidFill>
              </a:defRPr>
            </a:pPr>
            <a:r>
              <a:t>Corporate 'Net-Zero by 2050' slogans create a comforting illusion that someone else is solving the climate crisis.</a:t>
            </a:r>
            <a:br/>
            <a:br/>
            <a:r>
              <a:t>This false security lulls society into inaction, while extreme weather, toxic microplastics, and environmental loss fall directly back on you and your family.</a:t>
            </a:r>
          </a:p>
        </p:txBody>
      </p:sp>
      <p:sp>
        <p:nvSpPr>
          <p:cNvPr id="15" name="Rounded Rectangle 14"/>
          <p:cNvSpPr/>
          <p:nvPr/>
        </p:nvSpPr>
        <p:spPr>
          <a:xfrm>
            <a:off x="731520" y="5394960"/>
            <a:ext cx="10698480" cy="1005840"/>
          </a:xfrm>
          <a:prstGeom prst="round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wrap="square" lIns="274320" tIns="137160" rIns="274320" rtlCol="0" anchor="ctr"/>
          <a:lstStyle/>
          <a:p>
            <a:pPr algn="ctr">
              <a:spcAft>
                <a:spcPts val="400"/>
              </a:spcAft>
              <a:defRPr sz="1100" b="1">
                <a:solidFill>
                  <a:srgbClr val="F5C542"/>
                </a:solidFill>
              </a:defRPr>
            </a:pPr>
            <a:r>
              <a:t>THE CONUNDRUM BEFORE US:</a:t>
            </a:r>
          </a:p>
          <a:p>
            <a:pPr algn="ctr">
              <a:defRPr sz="1500" b="1" i="1">
                <a:solidFill>
                  <a:srgbClr val="FFFFFF"/>
                </a:solidFill>
              </a:defRPr>
            </a:pPr>
            <a:r>
              <a:t>“When every label claims to be 'green', how do you protect your wallet, your trust, and your family's future?”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chemeClr val="bg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55043" y="499309"/>
            <a:ext cx="10649302"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sz="2800"/>
              <a:t>What is Greenwashing and why it matters? </a:t>
            </a:r>
          </a:p>
        </p:txBody>
      </p:sp>
      <p:sp>
        <p:nvSpPr>
          <p:cNvPr id="7" name="Rounded Rectangle 6"/>
          <p:cNvSpPr/>
          <p:nvPr/>
        </p:nvSpPr>
        <p:spPr>
          <a:xfrm>
            <a:off x="566928" y="1783080"/>
            <a:ext cx="5623560" cy="3584448"/>
          </a:xfrm>
          <a:prstGeom prst="roundRect">
            <a:avLst/>
          </a:prstGeom>
          <a:solidFill>
            <a:srgbClr val="FFFDF8"/>
          </a:solidFill>
          <a:ln w="12700">
            <a:solidFill>
              <a:srgbClr val="D6C9B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22960" y="2029968"/>
            <a:ext cx="5120640" cy="830997"/>
          </a:xfrm>
          <a:prstGeom prst="rect">
            <a:avLst/>
          </a:prstGeom>
          <a:noFill/>
        </p:spPr>
        <p:txBody>
          <a:bodyPr wrap="square" lIns="91440" tIns="45720" rIns="91440" bIns="45720" anchor="t">
            <a:spAutoFit/>
          </a:bodyPr>
          <a:lstStyle/>
          <a:p>
            <a:pPr algn="l">
              <a:defRPr sz="2200" b="1">
                <a:solidFill>
                  <a:srgbClr val="173F35"/>
                </a:solidFill>
                <a:latin typeface="Georgia"/>
              </a:defRPr>
            </a:pPr>
            <a:r>
              <a:rPr sz="1600" dirty="0"/>
              <a:t>Greenwashing is any misleading, exaggerated, vague, or unsubstantiated environmental claim.</a:t>
            </a:r>
            <a:endParaRPr lang="en-US" sz="1600" dirty="0"/>
          </a:p>
        </p:txBody>
      </p:sp>
      <p:sp>
        <p:nvSpPr>
          <p:cNvPr id="9" name="TextBox 8"/>
          <p:cNvSpPr txBox="1"/>
          <p:nvPr/>
        </p:nvSpPr>
        <p:spPr>
          <a:xfrm>
            <a:off x="951924" y="2966421"/>
            <a:ext cx="4846320" cy="1846659"/>
          </a:xfrm>
          <a:prstGeom prst="rect">
            <a:avLst/>
          </a:prstGeom>
          <a:noFill/>
        </p:spPr>
        <p:txBody>
          <a:bodyPr wrap="square" lIns="91440" tIns="45720" rIns="91440" bIns="45720" anchor="t">
            <a:spAutoFit/>
          </a:bodyPr>
          <a:lstStyle/>
          <a:p>
            <a:pPr marL="285750" indent="-285750">
              <a:spcAft>
                <a:spcPts val="600"/>
              </a:spcAft>
              <a:buFont typeface="Arial"/>
              <a:buChar char="•"/>
              <a:defRPr sz="1300">
                <a:solidFill>
                  <a:srgbClr val="2A2A2A"/>
                </a:solidFill>
                <a:latin typeface="Avenir Next"/>
              </a:defRPr>
            </a:pPr>
            <a:r>
              <a:rPr dirty="0"/>
              <a:t>It appears across packaging, websites, advertisements, sustainability reports, BRSR filings, ESG ratings, green debt instruments, and net-zero </a:t>
            </a:r>
            <a:r>
              <a:rPr lang="en-US"/>
              <a:t>carbon emission claims</a:t>
            </a:r>
            <a:r>
              <a:rPr dirty="0"/>
              <a:t>.</a:t>
            </a:r>
            <a:endParaRPr lang="en-US" dirty="0"/>
          </a:p>
          <a:p>
            <a:pPr marL="285750" indent="-285750">
              <a:spcAft>
                <a:spcPts val="600"/>
              </a:spcAft>
              <a:buFont typeface="Arial"/>
              <a:buChar char="•"/>
              <a:defRPr sz="1300">
                <a:solidFill>
                  <a:srgbClr val="2A2A2A"/>
                </a:solidFill>
                <a:latin typeface="Avenir Next"/>
              </a:defRPr>
            </a:pPr>
            <a:r>
              <a:t>The harm is not limited to consumer deception. It also distorts capital allocation, weakens market integrity, and delays climate action.</a:t>
            </a:r>
          </a:p>
          <a:p>
            <a:pPr marL="285750" indent="-285750">
              <a:spcAft>
                <a:spcPts val="600"/>
              </a:spcAft>
              <a:buFont typeface="Arial"/>
              <a:buChar char="•"/>
              <a:defRPr sz="1300">
                <a:solidFill>
                  <a:srgbClr val="2A2A2A"/>
                </a:solidFill>
                <a:latin typeface="Avenir Next"/>
              </a:defRPr>
            </a:pPr>
            <a:r>
              <a:t>This thesis therefore treats greenwashing as a governance problem, not only a branding problem.</a:t>
            </a:r>
          </a:p>
        </p:txBody>
      </p:sp>
      <p:sp>
        <p:nvSpPr>
          <p:cNvPr id="10" name="Rounded Rectangle 9"/>
          <p:cNvSpPr/>
          <p:nvPr/>
        </p:nvSpPr>
        <p:spPr>
          <a:xfrm>
            <a:off x="6446520" y="1783080"/>
            <a:ext cx="5193792" cy="3584448"/>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640378" y="2095460"/>
            <a:ext cx="4572000" cy="353943"/>
          </a:xfrm>
          <a:prstGeom prst="rect">
            <a:avLst/>
          </a:prstGeom>
          <a:noFill/>
        </p:spPr>
        <p:txBody>
          <a:bodyPr wrap="square" lIns="91440" tIns="45720" rIns="91440" bIns="45720" anchor="t">
            <a:spAutoFit/>
          </a:bodyPr>
          <a:lstStyle/>
          <a:p>
            <a:pPr>
              <a:defRPr sz="1700" b="1">
                <a:solidFill>
                  <a:srgbClr val="173F35"/>
                </a:solidFill>
                <a:latin typeface="Avenir Next Demi Bold"/>
              </a:defRPr>
            </a:pPr>
            <a:r>
              <a:rPr>
                <a:solidFill>
                  <a:srgbClr val="173F35"/>
                </a:solidFill>
              </a:rPr>
              <a:t>Why it matters</a:t>
            </a:r>
            <a:r>
              <a:rPr lang="en-US">
                <a:solidFill>
                  <a:srgbClr val="173F35"/>
                </a:solidFill>
              </a:rPr>
              <a:t> ?</a:t>
            </a:r>
          </a:p>
        </p:txBody>
      </p:sp>
      <p:sp>
        <p:nvSpPr>
          <p:cNvPr id="12" name="TextBox 11"/>
          <p:cNvSpPr txBox="1"/>
          <p:nvPr/>
        </p:nvSpPr>
        <p:spPr>
          <a:xfrm>
            <a:off x="6492025" y="2615184"/>
            <a:ext cx="5151928" cy="2344616"/>
          </a:xfrm>
          <a:prstGeom prst="rect">
            <a:avLst/>
          </a:prstGeom>
          <a:noFill/>
        </p:spPr>
        <p:txBody>
          <a:bodyPr wrap="square" lIns="91440" tIns="45720" rIns="91440" bIns="45720" anchor="t">
            <a:spAutoFit/>
          </a:bodyPr>
          <a:lstStyle/>
          <a:p>
            <a:pPr>
              <a:lnSpc>
                <a:spcPct val="150000"/>
              </a:lnSpc>
              <a:defRPr sz="2100" b="0">
                <a:solidFill>
                  <a:srgbClr val="173F35"/>
                </a:solidFill>
                <a:latin typeface="Georgia"/>
              </a:defRPr>
            </a:pPr>
            <a:r>
              <a:rPr sz="2000" dirty="0"/>
              <a:t>When sustainability language is </a:t>
            </a:r>
            <a:r>
              <a:rPr sz="2000"/>
              <a:t>unverified</a:t>
            </a:r>
            <a:r>
              <a:rPr lang="en-US" sz="2000"/>
              <a:t>:</a:t>
            </a:r>
            <a:endParaRPr lang="en-US" sz="2000" dirty="0"/>
          </a:p>
          <a:p>
            <a:pPr marL="342900" indent="-342900">
              <a:lnSpc>
                <a:spcPct val="150000"/>
              </a:lnSpc>
              <a:buFont typeface="Arial"/>
              <a:buChar char="•"/>
              <a:defRPr sz="2100" b="0">
                <a:solidFill>
                  <a:srgbClr val="173F35"/>
                </a:solidFill>
                <a:latin typeface="Georgia"/>
              </a:defRPr>
            </a:pPr>
            <a:r>
              <a:rPr lang="en-US" sz="2000"/>
              <a:t>claims</a:t>
            </a:r>
            <a:r>
              <a:rPr sz="2000" dirty="0"/>
              <a:t> </a:t>
            </a:r>
            <a:r>
              <a:rPr lang="en-US" sz="2000" dirty="0"/>
              <a:t>lose</a:t>
            </a:r>
            <a:r>
              <a:rPr sz="2000" dirty="0"/>
              <a:t> credibility, </a:t>
            </a:r>
            <a:endParaRPr lang="en-US" sz="2000" dirty="0"/>
          </a:p>
          <a:p>
            <a:pPr marL="342900" indent="-342900">
              <a:lnSpc>
                <a:spcPct val="150000"/>
              </a:lnSpc>
              <a:buFont typeface="Arial"/>
              <a:buChar char="•"/>
              <a:defRPr sz="2100" b="0">
                <a:solidFill>
                  <a:srgbClr val="173F35"/>
                </a:solidFill>
                <a:latin typeface="Georgia"/>
              </a:defRPr>
            </a:pPr>
            <a:r>
              <a:rPr sz="2000"/>
              <a:t>investors </a:t>
            </a:r>
            <a:r>
              <a:rPr lang="en-US" sz="2000"/>
              <a:t>mis-allocate capital,</a:t>
            </a:r>
          </a:p>
          <a:p>
            <a:pPr marL="342900" indent="-342900">
              <a:lnSpc>
                <a:spcPct val="150000"/>
              </a:lnSpc>
              <a:buFont typeface="Arial"/>
              <a:buChar char="•"/>
              <a:defRPr sz="2100" b="0">
                <a:solidFill>
                  <a:srgbClr val="173F35"/>
                </a:solidFill>
                <a:latin typeface="Georgia"/>
              </a:defRPr>
            </a:pPr>
            <a:r>
              <a:rPr sz="2000"/>
              <a:t>environmental trust is converted into </a:t>
            </a:r>
            <a:r>
              <a:rPr sz="2000" dirty="0"/>
              <a:t>commercial advantage.</a:t>
            </a:r>
          </a:p>
        </p:txBody>
      </p:sp>
      <p:sp>
        <p:nvSpPr>
          <p:cNvPr id="13" name="TextBox 12"/>
          <p:cNvSpPr txBox="1"/>
          <p:nvPr/>
        </p:nvSpPr>
        <p:spPr>
          <a:xfrm>
            <a:off x="592541" y="6400800"/>
            <a:ext cx="4485523" cy="246221"/>
          </a:xfrm>
          <a:prstGeom prst="rect">
            <a:avLst/>
          </a:prstGeom>
          <a:noFill/>
        </p:spPr>
        <p:txBody>
          <a:bodyPr wrap="none" lIns="91440" tIns="45720" rIns="91440" bIns="45720" anchor="t">
            <a:spAutoFit/>
          </a:bodyPr>
          <a:lstStyle/>
          <a:p>
            <a:pPr>
              <a:defRPr sz="850">
                <a:solidFill>
                  <a:srgbClr val="6B6F6A"/>
                </a:solidFill>
                <a:latin typeface="Avenir Next"/>
              </a:defRPr>
            </a:pPr>
            <a:r>
              <a:rPr sz="1000" dirty="0"/>
              <a:t>Source base: Chapter 1 introduction; Chapter </a:t>
            </a:r>
            <a:r>
              <a:rPr lang="en-US" sz="1000" dirty="0"/>
              <a:t>2</a:t>
            </a:r>
            <a:r>
              <a:rPr sz="1000" dirty="0"/>
              <a:t>, </a:t>
            </a:r>
            <a:r>
              <a:rPr lang="en-US" sz="1000" dirty="0"/>
              <a:t>definitions and typology</a:t>
            </a:r>
            <a:r>
              <a:rPr sz="1000" dirty="0"/>
              <a:t>.</a:t>
            </a:r>
            <a:endParaRPr lang="en-US" sz="1000" dirty="0"/>
          </a:p>
        </p:txBody>
      </p:sp>
      <p:sp>
        <p:nvSpPr>
          <p:cNvPr id="16" name="Rectangle 15">
            <a:extLst>
              <a:ext uri="{FF2B5EF4-FFF2-40B4-BE49-F238E27FC236}">
                <a16:creationId xmlns:a16="http://schemas.microsoft.com/office/drawing/2014/main" id="{A5BE6044-8E3D-1D3E-FE8A-B8B8CD1BF15A}"/>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55043" y="1120000"/>
            <a:ext cx="11000000" cy="330000"/>
          </a:xfrm>
          <a:prstGeom prst="rect">
            <a:avLst/>
          </a:prstGeom>
          <a:noFill/>
        </p:spPr>
        <p:txBody>
          <a:bodyPr wrap="square" lIns="45720" tIns="22860" rIns="45720" bIns="22860" anchor="t">
            <a:spAutoFit/>
          </a:bodyPr>
          <a:lstStyle/>
          <a:p>
            <a:pPr algn="l"/>
            <a:r>
              <a:rPr sz="1100" b="0" i="0">
                <a:solidFill>
                  <a:srgbClr val="6B6F6A"/>
                </a:solidFill>
                <a:latin typeface="Avenir Next"/>
              </a:rPr>
              <a:t>Research Question 1: What exactly is greenwashing, how has it changed over time, and what harm does it cause?</a:t>
            </a:r>
          </a:p>
        </p:txBody>
      </p:sp>
      <p:sp>
        <p:nvSpPr>
          <p:cNvPr id="18" name="Rounded Rectangle 17"/>
          <p:cNvSpPr/>
          <p:nvPr/>
        </p:nvSpPr>
        <p:spPr>
          <a:xfrm>
            <a:off x="566928" y="5480000"/>
            <a:ext cx="11060000" cy="850000"/>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696928" y="5550000"/>
            <a:ext cx="10800000" cy="710000"/>
          </a:xfrm>
          <a:prstGeom prst="rect">
            <a:avLst/>
          </a:prstGeom>
          <a:noFill/>
        </p:spPr>
        <p:txBody>
          <a:bodyPr wrap="square" lIns="45720" tIns="22860" rIns="45720" bIns="22860" anchor="ctr">
            <a:spAutoFit/>
          </a:bodyPr>
          <a:lstStyle/>
          <a:p>
            <a:pPr algn="l">
              <a:spcAft>
                <a:spcPts val="400"/>
              </a:spcAft>
            </a:pPr>
            <a:r>
              <a:rPr sz="1000" b="1" i="0">
                <a:solidFill>
                  <a:srgbClr val="095E4F"/>
                </a:solidFill>
                <a:latin typeface="Calibri"/>
              </a:rPr>
              <a:t>How it has evolved:  </a:t>
            </a:r>
            <a:r>
              <a:rPr sz="1000" b="0" i="0">
                <a:solidFill>
                  <a:srgbClr val="3A3A4A"/>
                </a:solidFill>
                <a:latin typeface="Calibri"/>
              </a:rPr>
              <a:t>a 1986 hotel towel notice → 1990s green product advertising → TerraChoice names seven recurring ‘sins’ in 2007–10 → whole-company image management → today, ESG reports, green debt and long-dated net-zero promises (‘futurewashing’).</a:t>
            </a:r>
          </a:p>
          <a:p>
            <a:pPr algn="l"/>
            <a:r>
              <a:rPr sz="1000" b="1" i="0">
                <a:solidFill>
                  <a:srgbClr val="095E4F"/>
                </a:solidFill>
                <a:latin typeface="Calibri"/>
              </a:rPr>
              <a:t>Answer to RQ1:  </a:t>
            </a:r>
            <a:r>
              <a:rPr sz="1000" b="0" i="0">
                <a:solidFill>
                  <a:srgbClr val="3A3A4A"/>
                </a:solidFill>
                <a:latin typeface="Calibri"/>
              </a:rPr>
              <a:t>greenwashing has moved from the product label to the balance sheet. Its harm is no longer only a misled shopper — it is capital sent to the wrong place, weaker market integrity and delayed climate action. That is why this thesis treats it as a governance problem.</a:t>
            </a:r>
          </a:p>
        </p:txBody>
      </p:sp>
    </p:spTree>
    <p:extLst>
      <p:ext uri="{BB962C8B-B14F-4D97-AF65-F5344CB8AC3E}">
        <p14:creationId xmlns:p14="http://schemas.microsoft.com/office/powerpoint/2010/main" val="40122662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chemeClr val="bg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384048"/>
            <a:ext cx="7863840" cy="640080"/>
          </a:xfrm>
          <a:prstGeom prst="rect">
            <a:avLst/>
          </a:prstGeom>
          <a:noFill/>
        </p:spPr>
        <p:txBody>
          <a:bodyPr wrap="square">
            <a:spAutoFit/>
          </a:bodyPr>
          <a:lstStyle/>
          <a:p>
            <a:pPr>
              <a:defRPr sz="2200" b="1">
                <a:solidFill>
                  <a:srgbClr val="173F35"/>
                </a:solidFill>
                <a:latin typeface="Avenir Next Demi Bold"/>
              </a:defRPr>
            </a:pPr>
            <a:r>
              <a:t>The Scale of the Problem Is Already Visible in India</a:t>
            </a:r>
          </a:p>
        </p:txBody>
      </p:sp>
      <p:sp>
        <p:nvSpPr>
          <p:cNvPr id="8" name="Rounded Rectangle 7"/>
          <p:cNvSpPr/>
          <p:nvPr/>
        </p:nvSpPr>
        <p:spPr>
          <a:xfrm>
            <a:off x="783524" y="1831336"/>
            <a:ext cx="3166684" cy="2114772"/>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948116" y="1938096"/>
            <a:ext cx="2207454" cy="455365"/>
          </a:xfrm>
          <a:prstGeom prst="round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t>Consumer-facing deception</a:t>
            </a:r>
            <a:r>
              <a:rPr lang="en-US"/>
              <a:t> – ASCI Data</a:t>
            </a:r>
            <a:endParaRPr/>
          </a:p>
        </p:txBody>
      </p:sp>
      <p:sp>
        <p:nvSpPr>
          <p:cNvPr id="10" name="TextBox 9"/>
          <p:cNvSpPr txBox="1"/>
          <p:nvPr/>
        </p:nvSpPr>
        <p:spPr>
          <a:xfrm>
            <a:off x="987552" y="2340432"/>
            <a:ext cx="1554480" cy="475488"/>
          </a:xfrm>
          <a:prstGeom prst="rect">
            <a:avLst/>
          </a:prstGeom>
          <a:noFill/>
        </p:spPr>
        <p:txBody>
          <a:bodyPr wrap="square" anchor="t">
            <a:spAutoFit/>
          </a:bodyPr>
          <a:lstStyle/>
          <a:p>
            <a:pPr algn="l">
              <a:defRPr sz="2400" b="1">
                <a:solidFill>
                  <a:srgbClr val="173F35"/>
                </a:solidFill>
                <a:latin typeface="Georgia"/>
              </a:defRPr>
            </a:pPr>
            <a:r>
              <a:t>211 / 211</a:t>
            </a:r>
          </a:p>
        </p:txBody>
      </p:sp>
      <p:sp>
        <p:nvSpPr>
          <p:cNvPr id="11" name="TextBox 10"/>
          <p:cNvSpPr txBox="1"/>
          <p:nvPr/>
        </p:nvSpPr>
        <p:spPr>
          <a:xfrm>
            <a:off x="987552" y="2825064"/>
            <a:ext cx="2670048" cy="977191"/>
          </a:xfrm>
          <a:prstGeom prst="rect">
            <a:avLst/>
          </a:prstGeom>
          <a:noFill/>
        </p:spPr>
        <p:txBody>
          <a:bodyPr wrap="square" lIns="91440" tIns="45720" rIns="91440" bIns="45720" anchor="t">
            <a:spAutoFit/>
          </a:bodyPr>
          <a:lstStyle/>
          <a:p>
            <a:pPr>
              <a:defRPr sz="1150" b="0">
                <a:solidFill>
                  <a:srgbClr val="2A2A2A"/>
                </a:solidFill>
                <a:latin typeface="Avenir Next"/>
              </a:defRPr>
            </a:pPr>
            <a:r>
              <a:rPr dirty="0"/>
              <a:t>ASCI reviewed 211 environmental ads in </a:t>
            </a:r>
            <a:r>
              <a:rPr lang="en-US" dirty="0"/>
              <a:t>its 2024-25 Annual Report </a:t>
            </a:r>
            <a:r>
              <a:rPr dirty="0"/>
              <a:t>and every one </a:t>
            </a:r>
            <a:r>
              <a:rPr lang="en-US" dirty="0"/>
              <a:t>of them </a:t>
            </a:r>
            <a:r>
              <a:rPr dirty="0"/>
              <a:t>required modification for lack of substantiation.</a:t>
            </a:r>
          </a:p>
        </p:txBody>
      </p:sp>
      <p:sp>
        <p:nvSpPr>
          <p:cNvPr id="13" name="Rounded Rectangle 12"/>
          <p:cNvSpPr/>
          <p:nvPr/>
        </p:nvSpPr>
        <p:spPr>
          <a:xfrm>
            <a:off x="4133087" y="1831336"/>
            <a:ext cx="3127248" cy="2155232"/>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4315968" y="1938096"/>
            <a:ext cx="1737360" cy="347472"/>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dirty="0">
                <a:ea typeface="+mn-lt"/>
                <a:cs typeface="+mn-lt"/>
              </a:rPr>
              <a:t>Secondary </a:t>
            </a:r>
            <a:r>
              <a:rPr lang="en-US">
                <a:ea typeface="+mn-lt"/>
                <a:cs typeface="+mn-lt"/>
              </a:rPr>
              <a:t>Data from </a:t>
            </a:r>
            <a:r>
              <a:rPr lang="en-US" dirty="0"/>
              <a:t>Listed-company</a:t>
            </a:r>
            <a:r>
              <a:rPr dirty="0"/>
              <a:t> </a:t>
            </a:r>
            <a:r>
              <a:rPr lang="en-US" dirty="0"/>
              <a:t> studies</a:t>
            </a:r>
          </a:p>
        </p:txBody>
      </p:sp>
      <p:sp>
        <p:nvSpPr>
          <p:cNvPr id="15" name="TextBox 14"/>
          <p:cNvSpPr txBox="1"/>
          <p:nvPr/>
        </p:nvSpPr>
        <p:spPr>
          <a:xfrm>
            <a:off x="4407408" y="2371290"/>
            <a:ext cx="2542032" cy="415498"/>
          </a:xfrm>
          <a:prstGeom prst="rect">
            <a:avLst/>
          </a:prstGeom>
          <a:noFill/>
        </p:spPr>
        <p:txBody>
          <a:bodyPr wrap="square" lIns="91440" tIns="45720" rIns="91440" bIns="45720" anchor="t">
            <a:spAutoFit/>
          </a:bodyPr>
          <a:lstStyle/>
          <a:p>
            <a:pPr algn="l">
              <a:defRPr sz="1150" b="1">
                <a:solidFill>
                  <a:srgbClr val="2A2A2A"/>
                </a:solidFill>
                <a:latin typeface="Avenir Next"/>
              </a:defRPr>
            </a:pPr>
            <a:r>
              <a:rPr sz="1050"/>
              <a:t>54% of NSE-listed firms in one study engaged in greenwashing.</a:t>
            </a:r>
            <a:endParaRPr lang="en-US" sz="1050"/>
          </a:p>
        </p:txBody>
      </p:sp>
      <p:sp>
        <p:nvSpPr>
          <p:cNvPr id="16" name="TextBox 15"/>
          <p:cNvSpPr txBox="1"/>
          <p:nvPr/>
        </p:nvSpPr>
        <p:spPr>
          <a:xfrm>
            <a:off x="4407408" y="2815570"/>
            <a:ext cx="2542032" cy="415498"/>
          </a:xfrm>
          <a:prstGeom prst="rect">
            <a:avLst/>
          </a:prstGeom>
          <a:noFill/>
        </p:spPr>
        <p:txBody>
          <a:bodyPr wrap="square" lIns="91440" tIns="45720" rIns="91440" bIns="45720" anchor="t">
            <a:spAutoFit/>
          </a:bodyPr>
          <a:lstStyle/>
          <a:p>
            <a:pPr>
              <a:defRPr sz="1150" b="1">
                <a:solidFill>
                  <a:srgbClr val="2A2A2A"/>
                </a:solidFill>
                <a:latin typeface="Avenir Next"/>
              </a:defRPr>
            </a:pPr>
            <a:r>
              <a:rPr sz="1050" dirty="0"/>
              <a:t>47% of NIFTY 50 companies were flagged in </a:t>
            </a:r>
            <a:r>
              <a:rPr lang="en-US" sz="1050"/>
              <a:t>another research</a:t>
            </a:r>
            <a:r>
              <a:rPr sz="1050" dirty="0"/>
              <a:t>.</a:t>
            </a:r>
            <a:endParaRPr lang="en-US" sz="1050" dirty="0"/>
          </a:p>
        </p:txBody>
      </p:sp>
      <p:sp>
        <p:nvSpPr>
          <p:cNvPr id="17" name="TextBox 16"/>
          <p:cNvSpPr txBox="1"/>
          <p:nvPr/>
        </p:nvSpPr>
        <p:spPr>
          <a:xfrm>
            <a:off x="4407408" y="3259849"/>
            <a:ext cx="2542032" cy="411480"/>
          </a:xfrm>
          <a:prstGeom prst="rect">
            <a:avLst/>
          </a:prstGeom>
          <a:noFill/>
        </p:spPr>
        <p:txBody>
          <a:bodyPr wrap="square" anchor="t">
            <a:spAutoFit/>
          </a:bodyPr>
          <a:lstStyle/>
          <a:p>
            <a:pPr algn="l">
              <a:defRPr sz="1080" b="0">
                <a:solidFill>
                  <a:srgbClr val="2A2A2A"/>
                </a:solidFill>
                <a:latin typeface="Avenir Next"/>
              </a:defRPr>
            </a:pPr>
            <a:r>
              <a:t>CRISIL also found nearly 80% of 586 companies scored below average or weak on ESG parameters.</a:t>
            </a:r>
          </a:p>
        </p:txBody>
      </p:sp>
      <p:sp>
        <p:nvSpPr>
          <p:cNvPr id="18" name="Rounded Rectangle 17"/>
          <p:cNvSpPr/>
          <p:nvPr/>
        </p:nvSpPr>
        <p:spPr>
          <a:xfrm>
            <a:off x="7443216" y="1831336"/>
            <a:ext cx="4224528" cy="2757711"/>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644383" y="1938096"/>
            <a:ext cx="1572768" cy="347472"/>
          </a:xfrm>
          <a:prstGeom prst="round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173F35"/>
                </a:solidFill>
                <a:latin typeface="Avenir Next"/>
              </a:defRPr>
            </a:pPr>
            <a:r>
              <a:t>ESG market scale</a:t>
            </a:r>
          </a:p>
        </p:txBody>
      </p:sp>
      <p:sp>
        <p:nvSpPr>
          <p:cNvPr id="20" name="TextBox 19"/>
          <p:cNvSpPr txBox="1"/>
          <p:nvPr/>
        </p:nvSpPr>
        <p:spPr>
          <a:xfrm>
            <a:off x="7699248" y="2506157"/>
            <a:ext cx="1591056" cy="400110"/>
          </a:xfrm>
          <a:prstGeom prst="rect">
            <a:avLst/>
          </a:prstGeom>
          <a:noFill/>
        </p:spPr>
        <p:txBody>
          <a:bodyPr wrap="square" lIns="91440" tIns="45720" rIns="91440" bIns="45720" anchor="t">
            <a:spAutoFit/>
          </a:bodyPr>
          <a:lstStyle/>
          <a:p>
            <a:pPr algn="ctr">
              <a:defRPr sz="2400" b="1">
                <a:solidFill>
                  <a:srgbClr val="173F35"/>
                </a:solidFill>
                <a:latin typeface="Georgia"/>
              </a:defRPr>
            </a:pPr>
            <a:r>
              <a:rPr sz="2000"/>
              <a:t>USD 1.2B</a:t>
            </a:r>
            <a:endParaRPr lang="en-US" sz="2000"/>
          </a:p>
        </p:txBody>
      </p:sp>
      <p:sp>
        <p:nvSpPr>
          <p:cNvPr id="21" name="TextBox 20"/>
          <p:cNvSpPr txBox="1"/>
          <p:nvPr/>
        </p:nvSpPr>
        <p:spPr>
          <a:xfrm>
            <a:off x="7719478" y="3019246"/>
            <a:ext cx="1591056" cy="347472"/>
          </a:xfrm>
          <a:prstGeom prst="rect">
            <a:avLst/>
          </a:prstGeom>
          <a:noFill/>
        </p:spPr>
        <p:txBody>
          <a:bodyPr wrap="square" anchor="t">
            <a:spAutoFit/>
          </a:bodyPr>
          <a:lstStyle/>
          <a:p>
            <a:pPr algn="ctr">
              <a:defRPr sz="1050" b="0">
                <a:solidFill>
                  <a:srgbClr val="2A2A2A"/>
                </a:solidFill>
                <a:latin typeface="Avenir Next"/>
              </a:defRPr>
            </a:pPr>
            <a:r>
              <a:t>ESG fund assets by March 2024, up from about USD 331M in 2020.</a:t>
            </a:r>
          </a:p>
        </p:txBody>
      </p:sp>
      <p:sp>
        <p:nvSpPr>
          <p:cNvPr id="22" name="TextBox 21"/>
          <p:cNvSpPr txBox="1"/>
          <p:nvPr/>
        </p:nvSpPr>
        <p:spPr>
          <a:xfrm>
            <a:off x="9400032" y="2506157"/>
            <a:ext cx="1792224" cy="400110"/>
          </a:xfrm>
          <a:prstGeom prst="rect">
            <a:avLst/>
          </a:prstGeom>
          <a:noFill/>
        </p:spPr>
        <p:txBody>
          <a:bodyPr wrap="square" lIns="91440" tIns="45720" rIns="91440" bIns="45720" anchor="t">
            <a:spAutoFit/>
          </a:bodyPr>
          <a:lstStyle/>
          <a:p>
            <a:pPr algn="ctr">
              <a:defRPr sz="2400" b="1">
                <a:solidFill>
                  <a:srgbClr val="173F35"/>
                </a:solidFill>
                <a:latin typeface="Georgia"/>
              </a:defRPr>
            </a:pPr>
            <a:r>
              <a:rPr sz="2000"/>
              <a:t>USD 55.9B</a:t>
            </a:r>
            <a:endParaRPr lang="en-US" sz="2000"/>
          </a:p>
        </p:txBody>
      </p:sp>
      <p:sp>
        <p:nvSpPr>
          <p:cNvPr id="23" name="TextBox 22"/>
          <p:cNvSpPr txBox="1"/>
          <p:nvPr/>
        </p:nvSpPr>
        <p:spPr>
          <a:xfrm>
            <a:off x="9349052" y="3086680"/>
            <a:ext cx="1901952" cy="347472"/>
          </a:xfrm>
          <a:prstGeom prst="rect">
            <a:avLst/>
          </a:prstGeom>
          <a:noFill/>
        </p:spPr>
        <p:txBody>
          <a:bodyPr wrap="square" anchor="t">
            <a:spAutoFit/>
          </a:bodyPr>
          <a:lstStyle/>
          <a:p>
            <a:pPr algn="ctr">
              <a:defRPr sz="1050" b="0">
                <a:solidFill>
                  <a:srgbClr val="2A2A2A"/>
                </a:solidFill>
                <a:latin typeface="Avenir Next"/>
              </a:defRPr>
            </a:pPr>
            <a:r>
              <a:t>Cumulative green, social, and sustainability-linked debt by Dec 2024.</a:t>
            </a:r>
          </a:p>
        </p:txBody>
      </p:sp>
      <p:sp>
        <p:nvSpPr>
          <p:cNvPr id="24" name="TextBox 23"/>
          <p:cNvSpPr txBox="1"/>
          <p:nvPr/>
        </p:nvSpPr>
        <p:spPr>
          <a:xfrm>
            <a:off x="7702107" y="3801961"/>
            <a:ext cx="3657600" cy="738664"/>
          </a:xfrm>
          <a:prstGeom prst="rect">
            <a:avLst/>
          </a:prstGeom>
          <a:noFill/>
        </p:spPr>
        <p:txBody>
          <a:bodyPr wrap="square" lIns="91440" tIns="45720" rIns="91440" bIns="45720" anchor="t">
            <a:spAutoFit/>
          </a:bodyPr>
          <a:lstStyle/>
          <a:p>
            <a:pPr algn="ctr">
              <a:defRPr sz="1070" b="1">
                <a:solidFill>
                  <a:srgbClr val="A23E2A"/>
                </a:solidFill>
                <a:latin typeface="Avenir Next"/>
              </a:defRPr>
            </a:pPr>
            <a:r>
              <a:rPr sz="1050"/>
              <a:t>India is already the fourth-largest emerging-market source of sustainable debt globally, </a:t>
            </a:r>
            <a:endParaRPr lang="en-US" sz="1050"/>
          </a:p>
          <a:p>
            <a:pPr algn="ctr">
              <a:defRPr sz="1070" b="1">
                <a:solidFill>
                  <a:srgbClr val="A23E2A"/>
                </a:solidFill>
                <a:latin typeface="Avenir Next"/>
              </a:defRPr>
            </a:pPr>
            <a:r>
              <a:rPr lang="en-US" sz="1050" dirty="0"/>
              <a:t>And</a:t>
            </a:r>
            <a:r>
              <a:rPr sz="1050" dirty="0"/>
              <a:t> RBI research finds ESG </a:t>
            </a:r>
            <a:r>
              <a:rPr lang="en-US" sz="1050"/>
              <a:t>claim based stocks have returns</a:t>
            </a:r>
            <a:r>
              <a:rPr sz="1050"/>
              <a:t> above market </a:t>
            </a:r>
            <a:r>
              <a:rPr sz="1050" dirty="0"/>
              <a:t>predictions.</a:t>
            </a:r>
          </a:p>
        </p:txBody>
      </p:sp>
      <p:sp>
        <p:nvSpPr>
          <p:cNvPr id="25" name="Rounded Rectangle 24"/>
          <p:cNvSpPr/>
          <p:nvPr/>
        </p:nvSpPr>
        <p:spPr>
          <a:xfrm>
            <a:off x="770037" y="4404441"/>
            <a:ext cx="4931936" cy="1453652"/>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ounded Rectangle 25"/>
          <p:cNvSpPr/>
          <p:nvPr/>
        </p:nvSpPr>
        <p:spPr>
          <a:xfrm>
            <a:off x="948117" y="4533374"/>
            <a:ext cx="1847088" cy="347472"/>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dirty="0"/>
              <a:t>Compliance </a:t>
            </a:r>
            <a:r>
              <a:rPr lang="en-US" dirty="0"/>
              <a:t>infrastructure lacks </a:t>
            </a:r>
            <a:r>
              <a:rPr lang="en-US"/>
              <a:t>proper</a:t>
            </a:r>
            <a:r>
              <a:rPr lang="en-US" dirty="0"/>
              <a:t> Verification</a:t>
            </a:r>
            <a:endParaRPr dirty="0"/>
          </a:p>
        </p:txBody>
      </p:sp>
      <p:sp>
        <p:nvSpPr>
          <p:cNvPr id="27" name="TextBox 26"/>
          <p:cNvSpPr txBox="1"/>
          <p:nvPr/>
        </p:nvSpPr>
        <p:spPr>
          <a:xfrm>
            <a:off x="913375" y="4957882"/>
            <a:ext cx="4482502" cy="769441"/>
          </a:xfrm>
          <a:prstGeom prst="rect">
            <a:avLst/>
          </a:prstGeom>
          <a:noFill/>
        </p:spPr>
        <p:txBody>
          <a:bodyPr wrap="square" lIns="91440" tIns="45720" rIns="91440" bIns="45720" anchor="t">
            <a:spAutoFit/>
          </a:bodyPr>
          <a:lstStyle/>
          <a:p>
            <a:pPr algn="ctr">
              <a:defRPr sz="1100" b="0">
                <a:solidFill>
                  <a:srgbClr val="2A2A2A"/>
                </a:solidFill>
                <a:latin typeface="Avenir Next"/>
              </a:defRPr>
            </a:pPr>
            <a:r>
              <a:rPr dirty="0"/>
              <a:t>CPCB uncovered about 600,000 fake EPR certificates in 2024, </a:t>
            </a:r>
            <a:r>
              <a:rPr lang="en-US" dirty="0"/>
              <a:t>and NGT took </a:t>
            </a:r>
            <a:r>
              <a:rPr lang="en-US" dirty="0" err="1"/>
              <a:t>suo</a:t>
            </a:r>
            <a:r>
              <a:rPr lang="en-US" dirty="0"/>
              <a:t> moto cognizance of it; </a:t>
            </a:r>
          </a:p>
          <a:p>
            <a:pPr algn="ctr">
              <a:defRPr sz="1100" b="0">
                <a:solidFill>
                  <a:srgbClr val="2A2A2A"/>
                </a:solidFill>
                <a:latin typeface="Avenir Next"/>
              </a:defRPr>
            </a:pPr>
            <a:r>
              <a:rPr lang="en-US"/>
              <a:t>showing</a:t>
            </a:r>
            <a:r>
              <a:rPr dirty="0"/>
              <a:t> that the verification deficit reaches the infrastructure of environmental compliance itself.</a:t>
            </a:r>
            <a:endParaRPr/>
          </a:p>
        </p:txBody>
      </p:sp>
      <p:sp>
        <p:nvSpPr>
          <p:cNvPr id="28" name="Rounded Rectangle 27"/>
          <p:cNvSpPr/>
          <p:nvPr/>
        </p:nvSpPr>
        <p:spPr>
          <a:xfrm>
            <a:off x="5925312" y="4885648"/>
            <a:ext cx="5742432" cy="676656"/>
          </a:xfrm>
          <a:prstGeom prst="roundRect">
            <a:avLst/>
          </a:prstGeom>
          <a:solidFill>
            <a:srgbClr val="EFF5EA"/>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987728" y="4959150"/>
            <a:ext cx="5266944" cy="461665"/>
          </a:xfrm>
          <a:prstGeom prst="rect">
            <a:avLst/>
          </a:prstGeom>
          <a:noFill/>
        </p:spPr>
        <p:txBody>
          <a:bodyPr wrap="square" lIns="91440" tIns="45720" rIns="91440" bIns="45720" anchor="t">
            <a:spAutoFit/>
          </a:bodyPr>
          <a:lstStyle/>
          <a:p>
            <a:pPr algn="ctr">
              <a:defRPr sz="1350" b="1">
                <a:solidFill>
                  <a:srgbClr val="173F35"/>
                </a:solidFill>
                <a:latin typeface="Avenir Next Demi Bold"/>
              </a:defRPr>
            </a:pPr>
            <a:r>
              <a:rPr sz="1200"/>
              <a:t>Inference: at this scale, greenwashing is not a side issue </a:t>
            </a:r>
            <a:r>
              <a:rPr lang="en-US" sz="1200"/>
              <a:t>of </a:t>
            </a:r>
            <a:r>
              <a:rPr sz="1200"/>
              <a:t>branding. </a:t>
            </a:r>
            <a:endParaRPr lang="en-US" sz="1200" dirty="0"/>
          </a:p>
          <a:p>
            <a:pPr algn="ctr">
              <a:defRPr sz="1350" b="1">
                <a:solidFill>
                  <a:srgbClr val="173F35"/>
                </a:solidFill>
                <a:latin typeface="Avenir Next Demi Bold"/>
              </a:defRPr>
            </a:pPr>
            <a:r>
              <a:rPr sz="1200"/>
              <a:t>It distorts both consumer choice and capital allocation.</a:t>
            </a:r>
            <a:endParaRPr lang="en-US" sz="1200"/>
          </a:p>
        </p:txBody>
      </p:sp>
      <p:sp>
        <p:nvSpPr>
          <p:cNvPr id="30" name="TextBox 29"/>
          <p:cNvSpPr txBox="1"/>
          <p:nvPr/>
        </p:nvSpPr>
        <p:spPr>
          <a:xfrm>
            <a:off x="593901" y="6400800"/>
            <a:ext cx="6300123" cy="253916"/>
          </a:xfrm>
          <a:prstGeom prst="rect">
            <a:avLst/>
          </a:prstGeom>
          <a:noFill/>
        </p:spPr>
        <p:txBody>
          <a:bodyPr wrap="none" lIns="91440" tIns="45720" rIns="91440" bIns="45720" anchor="t">
            <a:spAutoFit/>
          </a:bodyPr>
          <a:lstStyle/>
          <a:p>
            <a:pPr>
              <a:defRPr sz="850">
                <a:solidFill>
                  <a:srgbClr val="6B6F6A"/>
                </a:solidFill>
                <a:latin typeface="Avenir Next"/>
              </a:defRPr>
            </a:pPr>
            <a:r>
              <a:rPr sz="1000" dirty="0"/>
              <a:t>Source base: </a:t>
            </a:r>
            <a:r>
              <a:rPr lang="en-US" sz="1000" dirty="0"/>
              <a:t>ASCI</a:t>
            </a:r>
            <a:r>
              <a:rPr sz="1000"/>
              <a:t>, CRISIL, RBI, CPCB figures</a:t>
            </a:r>
            <a:r>
              <a:rPr lang="en-US" sz="1000"/>
              <a:t> and </a:t>
            </a:r>
            <a:r>
              <a:rPr lang="en-US" sz="1050"/>
              <a:t>NSE/NIFTY peer-reviewed </a:t>
            </a:r>
            <a:r>
              <a:rPr lang="en-US" sz="1050" dirty="0"/>
              <a:t>studies, </a:t>
            </a:r>
            <a:r>
              <a:rPr sz="1000" dirty="0"/>
              <a:t>cited in the thesis.</a:t>
            </a:r>
          </a:p>
        </p:txBody>
      </p:sp>
      <p:sp>
        <p:nvSpPr>
          <p:cNvPr id="33" name="TextBox 32">
            <a:extLst>
              <a:ext uri="{FF2B5EF4-FFF2-40B4-BE49-F238E27FC236}">
                <a16:creationId xmlns:a16="http://schemas.microsoft.com/office/drawing/2014/main" id="{A12DB4F1-51A1-55FB-D748-743EFC05C2B5}"/>
              </a:ext>
            </a:extLst>
          </p:cNvPr>
          <p:cNvSpPr txBox="1"/>
          <p:nvPr/>
        </p:nvSpPr>
        <p:spPr>
          <a:xfrm>
            <a:off x="566928" y="960120"/>
            <a:ext cx="3978397" cy="276999"/>
          </a:xfrm>
          <a:prstGeom prst="rect">
            <a:avLst/>
          </a:prstGeom>
          <a:noFill/>
        </p:spPr>
        <p:txBody>
          <a:bodyPr wrap="none" lIns="91440" tIns="45720" rIns="91440" bIns="45720" anchor="t">
            <a:spAutoFit/>
          </a:bodyPr>
          <a:lstStyle/>
          <a:p>
            <a:pPr>
              <a:defRPr sz="1200">
                <a:solidFill>
                  <a:srgbClr val="6B6F6A"/>
                </a:solidFill>
                <a:latin typeface="Avenir Next"/>
              </a:defRPr>
            </a:pPr>
            <a:r>
              <a:rPr lang="en-US" dirty="0"/>
              <a:t>Based on available data from </a:t>
            </a:r>
            <a:r>
              <a:rPr lang="en-US"/>
              <a:t>authority-based sources</a:t>
            </a:r>
            <a:endParaRPr lang="en-US" dirty="0"/>
          </a:p>
        </p:txBody>
      </p:sp>
    </p:spTree>
    <p:extLst>
      <p:ext uri="{BB962C8B-B14F-4D97-AF65-F5344CB8AC3E}">
        <p14:creationId xmlns:p14="http://schemas.microsoft.com/office/powerpoint/2010/main" val="34884890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3" name="TextBox 2"/>
          <p:cNvSpPr txBox="1"/>
          <p:nvPr/>
        </p:nvSpPr>
        <p:spPr>
          <a:xfrm>
            <a:off x="751076" y="424508"/>
            <a:ext cx="10058400" cy="553998"/>
          </a:xfrm>
          <a:prstGeom prst="rect">
            <a:avLst/>
          </a:prstGeom>
          <a:noFill/>
        </p:spPr>
        <p:txBody>
          <a:bodyPr wrap="square" lIns="91440" tIns="45720" rIns="91440" bIns="45720" anchor="t">
            <a:spAutoFit/>
          </a:bodyPr>
          <a:lstStyle/>
          <a:p>
            <a:pPr algn="l">
              <a:spcAft>
                <a:spcPts val="600"/>
              </a:spcAft>
              <a:defRPr sz="3000" b="1">
                <a:solidFill>
                  <a:srgbClr val="1B1B2F"/>
                </a:solidFill>
                <a:latin typeface="Calibri Light"/>
              </a:defRPr>
            </a:pPr>
            <a:r>
              <a:rPr sz="3000" b="1">
                <a:solidFill>
                  <a:srgbClr val="1B1B2F"/>
                </a:solidFill>
                <a:latin typeface="Calibri Light"/>
              </a:rPr>
              <a:t>Hypotheses</a:t>
            </a:r>
          </a:p>
        </p:txBody>
      </p:sp>
      <p:sp>
        <p:nvSpPr>
          <p:cNvPr id="4" name="Rounded Rectangle 3"/>
          <p:cNvSpPr/>
          <p:nvPr/>
        </p:nvSpPr>
        <p:spPr>
          <a:xfrm>
            <a:off x="751750" y="1508760"/>
            <a:ext cx="3363050" cy="3236733"/>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76574" y="1645920"/>
            <a:ext cx="384048" cy="384048"/>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t>1</a:t>
            </a:r>
          </a:p>
        </p:txBody>
      </p:sp>
      <p:sp>
        <p:nvSpPr>
          <p:cNvPr id="6" name="TextBox 5"/>
          <p:cNvSpPr txBox="1"/>
          <p:nvPr/>
        </p:nvSpPr>
        <p:spPr>
          <a:xfrm>
            <a:off x="914400" y="2148840"/>
            <a:ext cx="3017520" cy="2364750"/>
          </a:xfrm>
          <a:prstGeom prst="rect">
            <a:avLst/>
          </a:prstGeom>
          <a:noFill/>
        </p:spPr>
        <p:txBody>
          <a:bodyPr wrap="square" lIns="91440" tIns="45720" rIns="91440" bIns="45720" anchor="t">
            <a:spAutoFit/>
          </a:bodyPr>
          <a:lstStyle/>
          <a:p>
            <a:pPr algn="l">
              <a:spcAft>
                <a:spcPts val="800"/>
              </a:spcAft>
              <a:defRPr sz="1500" b="1">
                <a:solidFill>
                  <a:srgbClr val="095E4F"/>
                </a:solidFill>
                <a:latin typeface="Calibri"/>
              </a:defRPr>
            </a:pPr>
            <a:r>
              <a:rPr sz="1500" dirty="0"/>
              <a:t>H₁  —  Accountability Failure</a:t>
            </a:r>
          </a:p>
          <a:p>
            <a:r>
              <a:rPr lang="en-IN">
                <a:ea typeface="+mn-lt"/>
                <a:cs typeface="+mn-lt"/>
              </a:rPr>
              <a:t>Greenwashing in India is primarily a consequence of weak corporate governance and the limited operationalisation of board-level environmental responsibility.</a:t>
            </a:r>
          </a:p>
        </p:txBody>
      </p:sp>
      <p:sp>
        <p:nvSpPr>
          <p:cNvPr id="7" name="Rounded Rectangle 6"/>
          <p:cNvSpPr/>
          <p:nvPr/>
        </p:nvSpPr>
        <p:spPr>
          <a:xfrm>
            <a:off x="4389120" y="1508759"/>
            <a:ext cx="3383280" cy="3425546"/>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4634174" y="1645920"/>
            <a:ext cx="384048" cy="384048"/>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t>2</a:t>
            </a:r>
          </a:p>
        </p:txBody>
      </p:sp>
      <p:sp>
        <p:nvSpPr>
          <p:cNvPr id="9" name="TextBox 8"/>
          <p:cNvSpPr txBox="1"/>
          <p:nvPr/>
        </p:nvSpPr>
        <p:spPr>
          <a:xfrm>
            <a:off x="4572000" y="2148840"/>
            <a:ext cx="3017520" cy="2641749"/>
          </a:xfrm>
          <a:prstGeom prst="rect">
            <a:avLst/>
          </a:prstGeom>
          <a:noFill/>
        </p:spPr>
        <p:txBody>
          <a:bodyPr wrap="square" lIns="91440" tIns="45720" rIns="91440" bIns="45720" anchor="t">
            <a:spAutoFit/>
          </a:bodyPr>
          <a:lstStyle/>
          <a:p>
            <a:pPr algn="l">
              <a:spcAft>
                <a:spcPts val="800"/>
              </a:spcAft>
              <a:defRPr sz="1500" b="1">
                <a:solidFill>
                  <a:srgbClr val="095E4F"/>
                </a:solidFill>
                <a:latin typeface="Calibri"/>
              </a:defRPr>
            </a:pPr>
            <a:r>
              <a:rPr dirty="0"/>
              <a:t>H₂  —  Liability Shield</a:t>
            </a:r>
          </a:p>
          <a:p>
            <a:r>
              <a:rPr lang="en-IN">
                <a:ea typeface="+mn-lt"/>
                <a:cs typeface="+mn-lt"/>
              </a:rPr>
              <a:t>The existing legal framework does not impose sufficiently clear, stringent, and deterrent liability for misleading environmental disclosures, thereby enabling corporations to avoid meaningful accountability.</a:t>
            </a:r>
          </a:p>
        </p:txBody>
      </p:sp>
      <p:sp>
        <p:nvSpPr>
          <p:cNvPr id="10" name="Rounded Rectangle 9"/>
          <p:cNvSpPr/>
          <p:nvPr/>
        </p:nvSpPr>
        <p:spPr>
          <a:xfrm>
            <a:off x="8046720" y="1508760"/>
            <a:ext cx="3383280" cy="2953510"/>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8291774" y="1645920"/>
            <a:ext cx="384048" cy="384048"/>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t>3</a:t>
            </a:r>
          </a:p>
        </p:txBody>
      </p:sp>
      <p:sp>
        <p:nvSpPr>
          <p:cNvPr id="12" name="TextBox 11"/>
          <p:cNvSpPr txBox="1"/>
          <p:nvPr/>
        </p:nvSpPr>
        <p:spPr>
          <a:xfrm>
            <a:off x="8229600" y="2148840"/>
            <a:ext cx="3017520" cy="1810752"/>
          </a:xfrm>
          <a:prstGeom prst="rect">
            <a:avLst/>
          </a:prstGeom>
          <a:noFill/>
        </p:spPr>
        <p:txBody>
          <a:bodyPr wrap="square">
            <a:spAutoFit/>
          </a:bodyPr>
          <a:lstStyle/>
          <a:p>
            <a:pPr algn="l">
              <a:spcAft>
                <a:spcPts val="800"/>
              </a:spcAft>
              <a:defRPr sz="1500" b="1">
                <a:solidFill>
                  <a:srgbClr val="095E4F"/>
                </a:solidFill>
                <a:latin typeface="Calibri"/>
              </a:defRPr>
            </a:pPr>
            <a:r>
              <a:rPr dirty="0"/>
              <a:t>H₃  —  Regulatory Inchoateness</a:t>
            </a:r>
          </a:p>
          <a:p>
            <a:r>
              <a:rPr lang="en-IN" dirty="0"/>
              <a:t>In addressing the issue of greenwashing, the present legal mechanism involving different regulatory bodies is inchoate and incomplete.</a:t>
            </a:r>
          </a:p>
        </p:txBody>
      </p:sp>
      <p:sp>
        <p:nvSpPr>
          <p:cNvPr id="13" name="TextBox 12"/>
          <p:cNvSpPr txBox="1"/>
          <p:nvPr/>
        </p:nvSpPr>
        <p:spPr>
          <a:xfrm>
            <a:off x="731520" y="5140642"/>
            <a:ext cx="10698480" cy="523220"/>
          </a:xfrm>
          <a:prstGeom prst="rect">
            <a:avLst/>
          </a:prstGeom>
          <a:noFill/>
        </p:spPr>
        <p:txBody>
          <a:bodyPr wrap="square" lIns="91440" tIns="45720" rIns="91440" bIns="45720" anchor="t">
            <a:spAutoFit/>
          </a:bodyPr>
          <a:lstStyle/>
          <a:p>
            <a:pPr algn="l">
              <a:spcAft>
                <a:spcPts val="600"/>
              </a:spcAft>
              <a:defRPr sz="1400" b="0">
                <a:solidFill>
                  <a:srgbClr val="6B6B7B"/>
                </a:solidFill>
                <a:latin typeface="Calibri"/>
              </a:defRPr>
            </a:pPr>
            <a:r>
              <a:rPr dirty="0"/>
              <a:t>These hypotheses are mutually </a:t>
            </a:r>
            <a:r>
              <a:rPr dirty="0" err="1"/>
              <a:t>reinforcing:</a:t>
            </a:r>
            <a:r>
              <a:rPr dirty="0"/>
              <a:t> governance-level gaps (H₁) are amplified by non-deterrent sanctions (H₂) and enabled by fragmented regulators (H₃).</a:t>
            </a:r>
            <a:endParaRPr lang="en-US" dirty="0">
              <a:ea typeface="Calibri"/>
              <a:cs typeface="Calibri"/>
            </a:endParaRPr>
          </a:p>
        </p:txBody>
      </p:sp>
      <p:sp>
        <p:nvSpPr>
          <p:cNvPr id="16" name="Rectangle 15">
            <a:extLst>
              <a:ext uri="{FF2B5EF4-FFF2-40B4-BE49-F238E27FC236}">
                <a16:creationId xmlns:a16="http://schemas.microsoft.com/office/drawing/2014/main" id="{AB595195-4E03-2970-9562-1758B7FEA633}"/>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3" name="TextBox 2"/>
          <p:cNvSpPr txBox="1"/>
          <p:nvPr/>
        </p:nvSpPr>
        <p:spPr>
          <a:xfrm>
            <a:off x="730846" y="357075"/>
            <a:ext cx="10058400" cy="830997"/>
          </a:xfrm>
          <a:prstGeom prst="rect">
            <a:avLst/>
          </a:prstGeom>
          <a:noFill/>
        </p:spPr>
        <p:txBody>
          <a:bodyPr wrap="square" lIns="91440" tIns="45720" rIns="91440" bIns="45720" anchor="t">
            <a:spAutoFit/>
          </a:bodyPr>
          <a:lstStyle/>
          <a:p>
            <a:pPr algn="l">
              <a:spcAft>
                <a:spcPts val="600"/>
              </a:spcAft>
              <a:defRPr sz="3000" b="1">
                <a:solidFill>
                  <a:srgbClr val="1B1B2F"/>
                </a:solidFill>
                <a:latin typeface="Calibri Light"/>
              </a:defRPr>
            </a:pPr>
            <a:r>
              <a:rPr dirty="0"/>
              <a:t>Research Methodology</a:t>
            </a:r>
          </a:p>
          <a:p>
            <a:pPr>
              <a:defRPr sz="1300" b="0">
                <a:solidFill>
                  <a:srgbClr val="6B6B7B"/>
                </a:solidFill>
                <a:latin typeface="Calibri"/>
              </a:defRPr>
            </a:pPr>
            <a:r>
              <a:rPr lang="en-US" dirty="0"/>
              <a:t>Comparative and Analytical </a:t>
            </a:r>
            <a:r>
              <a:rPr dirty="0"/>
              <a:t>Legal Research</a:t>
            </a:r>
            <a:endParaRPr dirty="0">
              <a:ea typeface="Calibri"/>
              <a:cs typeface="Calibri"/>
            </a:endParaRPr>
          </a:p>
        </p:txBody>
      </p:sp>
      <p:sp>
        <p:nvSpPr>
          <p:cNvPr id="4" name="Rounded Rectangle 3"/>
          <p:cNvSpPr/>
          <p:nvPr/>
        </p:nvSpPr>
        <p:spPr>
          <a:xfrm>
            <a:off x="731520" y="1508760"/>
            <a:ext cx="3383280" cy="1839993"/>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822960" y="1645920"/>
            <a:ext cx="54864" cy="347472"/>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05840" y="1600200"/>
            <a:ext cx="2926080" cy="1908215"/>
          </a:xfrm>
          <a:prstGeom prst="rect">
            <a:avLst/>
          </a:prstGeom>
          <a:noFill/>
        </p:spPr>
        <p:txBody>
          <a:bodyPr wrap="square" lIns="91440" tIns="45720" rIns="91440" bIns="45720" anchor="t">
            <a:spAutoFit/>
          </a:bodyPr>
          <a:lstStyle/>
          <a:p>
            <a:pPr>
              <a:spcAft>
                <a:spcPts val="600"/>
              </a:spcAft>
              <a:defRPr sz="1500" b="1">
                <a:solidFill>
                  <a:srgbClr val="095E4F"/>
                </a:solidFill>
                <a:latin typeface="Calibri"/>
              </a:defRPr>
            </a:pPr>
            <a:r>
              <a:rPr lang="en-IN" sz="1500" dirty="0"/>
              <a:t>Primary &amp; Secondary Sources</a:t>
            </a:r>
          </a:p>
          <a:p>
            <a:pPr>
              <a:defRPr sz="1200" b="0">
                <a:solidFill>
                  <a:srgbClr val="3A3A4A"/>
                </a:solidFill>
                <a:latin typeface="Calibri"/>
              </a:defRPr>
            </a:pPr>
            <a:r>
              <a:rPr lang="en-IN" sz="1400" dirty="0"/>
              <a:t>Indian statutes, judicial decisions (Supreme Court, NGT, foreign courts), regulatory instruments (SEBI BRSR, CCPA Guidelines, ASCI Guidelines, etc.), parliamentary reports, research papers.</a:t>
            </a:r>
            <a:endParaRPr lang="en-IN" sz="1400" dirty="0">
              <a:ea typeface="Calibri"/>
              <a:cs typeface="Calibri"/>
            </a:endParaRPr>
          </a:p>
          <a:p>
            <a:pPr algn="l">
              <a:spcAft>
                <a:spcPts val="0"/>
              </a:spcAft>
              <a:defRPr sz="1200" b="0">
                <a:solidFill>
                  <a:srgbClr val="3A3A4A"/>
                </a:solidFill>
                <a:latin typeface="Calibri"/>
              </a:defRPr>
            </a:pPr>
            <a:endParaRPr sz="1400" dirty="0"/>
          </a:p>
        </p:txBody>
      </p:sp>
      <p:sp>
        <p:nvSpPr>
          <p:cNvPr id="7" name="Rounded Rectangle 6"/>
          <p:cNvSpPr/>
          <p:nvPr/>
        </p:nvSpPr>
        <p:spPr>
          <a:xfrm>
            <a:off x="4389120" y="1508760"/>
            <a:ext cx="3383280" cy="181302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480560" y="1645920"/>
            <a:ext cx="54864" cy="347472"/>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663440" y="1600200"/>
            <a:ext cx="2926080" cy="1692771"/>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dirty="0"/>
              <a:t>Jurisprudential Analysis</a:t>
            </a:r>
          </a:p>
          <a:p>
            <a:pPr>
              <a:defRPr sz="1200" b="0">
                <a:solidFill>
                  <a:srgbClr val="3A3A4A"/>
                </a:solidFill>
                <a:latin typeface="Calibri"/>
              </a:defRPr>
            </a:pPr>
            <a:r>
              <a:rPr sz="1400" dirty="0" err="1"/>
              <a:t>Hohfeldian</a:t>
            </a:r>
            <a:r>
              <a:rPr sz="1400" dirty="0"/>
              <a:t> decomposition of corporate duties into precise legal relations. </a:t>
            </a:r>
            <a:endParaRPr lang="en-US" sz="1400" dirty="0"/>
          </a:p>
          <a:p>
            <a:pPr algn="l">
              <a:spcAft>
                <a:spcPts val="0"/>
              </a:spcAft>
              <a:defRPr sz="1200" b="0">
                <a:solidFill>
                  <a:srgbClr val="3A3A4A"/>
                </a:solidFill>
                <a:latin typeface="Calibri"/>
              </a:defRPr>
            </a:pPr>
            <a:r>
              <a:rPr lang="en-US" sz="1400" dirty="0"/>
              <a:t>Principal-agent, legitimacy, stakeholder, decoupling, and institutional theory frameworks.</a:t>
            </a:r>
            <a:endParaRPr lang="en-US" dirty="0"/>
          </a:p>
        </p:txBody>
      </p:sp>
      <p:sp>
        <p:nvSpPr>
          <p:cNvPr id="10" name="Rounded Rectangle 9"/>
          <p:cNvSpPr/>
          <p:nvPr/>
        </p:nvSpPr>
        <p:spPr>
          <a:xfrm>
            <a:off x="8046720" y="1508760"/>
            <a:ext cx="3383280" cy="169164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8138160" y="1645920"/>
            <a:ext cx="54864" cy="347472"/>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321040" y="1600200"/>
            <a:ext cx="2926080" cy="1508760"/>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dirty="0"/>
              <a:t>Comparative Legal Analysis</a:t>
            </a:r>
          </a:p>
          <a:p>
            <a:pPr>
              <a:defRPr sz="1200" b="0">
                <a:solidFill>
                  <a:srgbClr val="3A3A4A"/>
                </a:solidFill>
                <a:latin typeface="Calibri"/>
              </a:defRPr>
            </a:pPr>
            <a:r>
              <a:rPr sz="1400" dirty="0"/>
              <a:t>Cross-jurisdictional study of EU (CSRD, Green Claims Directive), US (SEC Rules, FTC Green Guides), UK (FCA Rule, CMA),</a:t>
            </a:r>
            <a:r>
              <a:rPr lang="en-US" sz="1400" dirty="0"/>
              <a:t> </a:t>
            </a:r>
            <a:r>
              <a:rPr sz="1400" dirty="0"/>
              <a:t>Australia, and others.</a:t>
            </a:r>
          </a:p>
        </p:txBody>
      </p:sp>
      <p:sp>
        <p:nvSpPr>
          <p:cNvPr id="13" name="Rounded Rectangle 12"/>
          <p:cNvSpPr/>
          <p:nvPr/>
        </p:nvSpPr>
        <p:spPr>
          <a:xfrm>
            <a:off x="731520" y="3383280"/>
            <a:ext cx="3383280" cy="169164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822960" y="3520440"/>
            <a:ext cx="54864" cy="347472"/>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4389120" y="3383280"/>
            <a:ext cx="3383280" cy="169164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4480560" y="3520440"/>
            <a:ext cx="54864" cy="347472"/>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60223" y="3520440"/>
            <a:ext cx="2926080" cy="1477328"/>
          </a:xfrm>
          <a:prstGeom prst="rect">
            <a:avLst/>
          </a:prstGeom>
          <a:noFill/>
        </p:spPr>
        <p:txBody>
          <a:bodyPr wrap="square" lIns="91440" tIns="45720" rIns="91440" bIns="45720" anchor="t">
            <a:spAutoFit/>
          </a:bodyPr>
          <a:lstStyle/>
          <a:p>
            <a:pPr>
              <a:spcAft>
                <a:spcPts val="600"/>
              </a:spcAft>
              <a:defRPr sz="1500" b="1">
                <a:solidFill>
                  <a:srgbClr val="095E4F"/>
                </a:solidFill>
                <a:latin typeface="Calibri"/>
              </a:defRPr>
            </a:pPr>
            <a:r>
              <a:rPr lang="en-IN" sz="1500" dirty="0"/>
              <a:t>Statutory Interpretation</a:t>
            </a:r>
          </a:p>
          <a:p>
            <a:pPr>
              <a:defRPr sz="1200" b="0">
                <a:solidFill>
                  <a:srgbClr val="3A3A4A"/>
                </a:solidFill>
                <a:latin typeface="Calibri"/>
              </a:defRPr>
            </a:pPr>
            <a:r>
              <a:rPr lang="en-IN" sz="1400" dirty="0"/>
              <a:t>Textual, contextual and purposive analysis of the Companies Act 2013, Consumer Protection Act 2019, Environment Protection Act 1986 (EPA), and SEBI LODR Regulations.</a:t>
            </a:r>
            <a:endParaRPr lang="en-IN" sz="1400" dirty="0">
              <a:ea typeface="Calibri"/>
              <a:cs typeface="Calibri"/>
            </a:endParaRPr>
          </a:p>
        </p:txBody>
      </p:sp>
      <p:sp>
        <p:nvSpPr>
          <p:cNvPr id="19" name="Rounded Rectangle 18"/>
          <p:cNvSpPr/>
          <p:nvPr/>
        </p:nvSpPr>
        <p:spPr>
          <a:xfrm>
            <a:off x="8046720" y="3383280"/>
            <a:ext cx="3383280" cy="169164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8138160" y="3520440"/>
            <a:ext cx="54864" cy="347472"/>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632807" y="3520440"/>
            <a:ext cx="2926080" cy="1261884"/>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dirty="0"/>
              <a:t>Lex Lata vs. Lex Ferenda</a:t>
            </a:r>
          </a:p>
          <a:p>
            <a:pPr algn="l">
              <a:spcAft>
                <a:spcPts val="0"/>
              </a:spcAft>
              <a:defRPr sz="1200" b="0">
                <a:solidFill>
                  <a:srgbClr val="3A3A4A"/>
                </a:solidFill>
                <a:latin typeface="Calibri"/>
              </a:defRPr>
            </a:pPr>
            <a:r>
              <a:rPr sz="1400" dirty="0"/>
              <a:t>Explicit distinction between what the law currently provides (analysis) and what it should provide (normative reform proposals).</a:t>
            </a:r>
          </a:p>
        </p:txBody>
      </p:sp>
      <p:sp>
        <p:nvSpPr>
          <p:cNvPr id="22" name="TextBox 21"/>
          <p:cNvSpPr txBox="1"/>
          <p:nvPr/>
        </p:nvSpPr>
        <p:spPr>
          <a:xfrm>
            <a:off x="731520" y="5349240"/>
            <a:ext cx="10698480" cy="292388"/>
          </a:xfrm>
          <a:prstGeom prst="rect">
            <a:avLst/>
          </a:prstGeom>
          <a:noFill/>
        </p:spPr>
        <p:txBody>
          <a:bodyPr wrap="square" lIns="91440" tIns="45720" rIns="91440" bIns="45720" anchor="t">
            <a:spAutoFit/>
          </a:bodyPr>
          <a:lstStyle/>
          <a:p>
            <a:pPr algn="l">
              <a:spcAft>
                <a:spcPts val="600"/>
              </a:spcAft>
              <a:defRPr sz="1300" b="0">
                <a:solidFill>
                  <a:srgbClr val="6B6B7B"/>
                </a:solidFill>
                <a:latin typeface="Calibri"/>
              </a:defRPr>
            </a:pPr>
            <a:r>
              <a:t>Nature of Study:  Qualitative, analytical, and comparative — focused on identification, analysis and synthesis of legal rules and standards.</a:t>
            </a:r>
          </a:p>
        </p:txBody>
      </p:sp>
      <p:sp>
        <p:nvSpPr>
          <p:cNvPr id="15" name="TextBox 14"/>
          <p:cNvSpPr txBox="1"/>
          <p:nvPr/>
        </p:nvSpPr>
        <p:spPr>
          <a:xfrm>
            <a:off x="8284464" y="3520440"/>
            <a:ext cx="2926080" cy="1477328"/>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dirty="0"/>
              <a:t>Critical Regulatory Assessment</a:t>
            </a:r>
          </a:p>
          <a:p>
            <a:pPr>
              <a:defRPr sz="1200" b="0">
                <a:solidFill>
                  <a:srgbClr val="3A3A4A"/>
                </a:solidFill>
                <a:latin typeface="Calibri"/>
              </a:defRPr>
            </a:pPr>
            <a:r>
              <a:rPr sz="1400" dirty="0"/>
              <a:t>Mapping </a:t>
            </a:r>
            <a:r>
              <a:rPr lang="en-US" sz="1400" dirty="0"/>
              <a:t>design issues and coordination issues </a:t>
            </a:r>
            <a:r>
              <a:rPr sz="1400" dirty="0"/>
              <a:t>between MCA, SEBI, CCPA, ASCI, FSSAI, NGT, and BIS — identifying gaps, penalty arbitrage, and regulatory backsliding.</a:t>
            </a:r>
          </a:p>
        </p:txBody>
      </p:sp>
      <p:sp>
        <p:nvSpPr>
          <p:cNvPr id="25" name="Rectangle 24">
            <a:extLst>
              <a:ext uri="{FF2B5EF4-FFF2-40B4-BE49-F238E27FC236}">
                <a16:creationId xmlns:a16="http://schemas.microsoft.com/office/drawing/2014/main" id="{F63913AA-4ABF-4507-4BA4-0FBD2CFFE5C4}"/>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2" name="Rectangle 1"/>
          <p:cNvSpPr/>
          <p:nvPr/>
        </p:nvSpPr>
        <p:spPr>
          <a:xfrm>
            <a:off x="731520" y="502920"/>
            <a:ext cx="64008" cy="457200"/>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428064"/>
            <a:ext cx="10058400" cy="685800"/>
          </a:xfrm>
          <a:prstGeom prst="rect">
            <a:avLst/>
          </a:prstGeom>
          <a:noFill/>
        </p:spPr>
        <p:txBody>
          <a:bodyPr wrap="square">
            <a:spAutoFit/>
          </a:bodyPr>
          <a:lstStyle/>
          <a:p>
            <a:pPr algn="l">
              <a:spcAft>
                <a:spcPts val="600"/>
              </a:spcAft>
              <a:defRPr sz="3000" b="1">
                <a:solidFill>
                  <a:srgbClr val="1B1B2F"/>
                </a:solidFill>
                <a:latin typeface="Calibri Light"/>
              </a:defRPr>
            </a:pPr>
            <a:r>
              <a:rPr dirty="0"/>
              <a:t>Research Gap</a:t>
            </a:r>
          </a:p>
        </p:txBody>
      </p:sp>
      <p:sp>
        <p:nvSpPr>
          <p:cNvPr id="4" name="TextBox 3"/>
          <p:cNvSpPr txBox="1"/>
          <p:nvPr/>
        </p:nvSpPr>
        <p:spPr>
          <a:xfrm>
            <a:off x="731520" y="1329068"/>
            <a:ext cx="10698480" cy="523220"/>
          </a:xfrm>
          <a:prstGeom prst="rect">
            <a:avLst/>
          </a:prstGeom>
          <a:noFill/>
        </p:spPr>
        <p:txBody>
          <a:bodyPr wrap="square" lIns="91440" tIns="45720" rIns="91440" bIns="45720" anchor="t">
            <a:spAutoFit/>
          </a:bodyPr>
          <a:lstStyle/>
          <a:p>
            <a:pPr>
              <a:defRPr sz="1400" b="0">
                <a:solidFill>
                  <a:srgbClr val="6B6B7B"/>
                </a:solidFill>
                <a:latin typeface="Calibri"/>
              </a:defRPr>
            </a:pPr>
            <a:r>
              <a:rPr dirty="0"/>
              <a:t>Existing scholarship treats greenwashing primarily as a marketing malpractice. </a:t>
            </a:r>
            <a:r>
              <a:rPr lang="en-US" dirty="0"/>
              <a:t>This </a:t>
            </a:r>
            <a:r>
              <a:rPr lang="en-US"/>
              <a:t>research analyses the legal architecture flaws from a comparative standpoint.</a:t>
            </a:r>
            <a:endParaRPr lang="en-US" dirty="0">
              <a:ea typeface="Calibri"/>
              <a:cs typeface="Calibri"/>
            </a:endParaRPr>
          </a:p>
        </p:txBody>
      </p:sp>
      <p:sp>
        <p:nvSpPr>
          <p:cNvPr id="5" name="Rounded Rectangle 4"/>
          <p:cNvSpPr/>
          <p:nvPr/>
        </p:nvSpPr>
        <p:spPr>
          <a:xfrm>
            <a:off x="731520" y="1965960"/>
            <a:ext cx="5212080" cy="914400"/>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822960" y="2103120"/>
            <a:ext cx="548640" cy="256032"/>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t>Gap 1</a:t>
            </a:r>
          </a:p>
        </p:txBody>
      </p:sp>
      <p:sp>
        <p:nvSpPr>
          <p:cNvPr id="7" name="TextBox 6"/>
          <p:cNvSpPr txBox="1"/>
          <p:nvPr/>
        </p:nvSpPr>
        <p:spPr>
          <a:xfrm>
            <a:off x="1463040" y="2020824"/>
            <a:ext cx="4343400" cy="872034"/>
          </a:xfrm>
          <a:prstGeom prst="rect">
            <a:avLst/>
          </a:prstGeom>
          <a:noFill/>
        </p:spPr>
        <p:txBody>
          <a:bodyPr wrap="square">
            <a:spAutoFit/>
          </a:bodyPr>
          <a:lstStyle/>
          <a:p>
            <a:pPr algn="l">
              <a:spcAft>
                <a:spcPts val="200"/>
              </a:spcAft>
              <a:defRPr sz="1300" b="1">
                <a:solidFill>
                  <a:srgbClr val="095E4F"/>
                </a:solidFill>
                <a:latin typeface="Calibri"/>
              </a:defRPr>
            </a:pPr>
            <a:r>
              <a:rPr dirty="0"/>
              <a:t>Board-Level Accountability</a:t>
            </a:r>
          </a:p>
          <a:p>
            <a:pPr algn="l">
              <a:spcAft>
                <a:spcPts val="0"/>
              </a:spcAft>
              <a:defRPr sz="1100" b="0">
                <a:solidFill>
                  <a:srgbClr val="3A3A4A"/>
                </a:solidFill>
                <a:latin typeface="Calibri"/>
              </a:defRPr>
            </a:pPr>
            <a:r>
              <a:rPr sz="1200" dirty="0"/>
              <a:t>Limited doctrinal work on invoking Section 166(2) for greenwashing-type conduct — misleading sustainability claims in annual reports, ESG disclosures, or corporate communications.</a:t>
            </a:r>
          </a:p>
        </p:txBody>
      </p:sp>
      <p:sp>
        <p:nvSpPr>
          <p:cNvPr id="8" name="Rounded Rectangle 7"/>
          <p:cNvSpPr/>
          <p:nvPr/>
        </p:nvSpPr>
        <p:spPr>
          <a:xfrm>
            <a:off x="731520" y="3059842"/>
            <a:ext cx="5212080" cy="914400"/>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822960" y="3197002"/>
            <a:ext cx="548640" cy="256032"/>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t>Gap 2</a:t>
            </a:r>
          </a:p>
        </p:txBody>
      </p:sp>
      <p:sp>
        <p:nvSpPr>
          <p:cNvPr id="10" name="TextBox 9"/>
          <p:cNvSpPr txBox="1"/>
          <p:nvPr/>
        </p:nvSpPr>
        <p:spPr>
          <a:xfrm>
            <a:off x="1463040" y="3114706"/>
            <a:ext cx="4343400" cy="872034"/>
          </a:xfrm>
          <a:prstGeom prst="rect">
            <a:avLst/>
          </a:prstGeom>
          <a:noFill/>
        </p:spPr>
        <p:txBody>
          <a:bodyPr wrap="square">
            <a:spAutoFit/>
          </a:bodyPr>
          <a:lstStyle/>
          <a:p>
            <a:pPr algn="l">
              <a:spcAft>
                <a:spcPts val="200"/>
              </a:spcAft>
              <a:defRPr sz="1300" b="1">
                <a:solidFill>
                  <a:srgbClr val="095E4F"/>
                </a:solidFill>
                <a:latin typeface="Calibri"/>
              </a:defRPr>
            </a:pPr>
            <a:r>
              <a:rPr dirty="0"/>
              <a:t>Regulatory Fragmentation as Structural Cause</a:t>
            </a:r>
          </a:p>
          <a:p>
            <a:pPr algn="l">
              <a:spcAft>
                <a:spcPts val="0"/>
              </a:spcAft>
              <a:defRPr sz="1100" b="0">
                <a:solidFill>
                  <a:srgbClr val="3A3A4A"/>
                </a:solidFill>
                <a:latin typeface="Calibri"/>
              </a:defRPr>
            </a:pPr>
            <a:r>
              <a:rPr sz="1200" dirty="0"/>
              <a:t>Environmental claims policed through overlapping but siloed regimes (MCA, SEBI, CCPA/ASCI) — creating jurisdictional uncertainty and the 'accountability vacuum.'</a:t>
            </a:r>
          </a:p>
        </p:txBody>
      </p:sp>
      <p:sp>
        <p:nvSpPr>
          <p:cNvPr id="11" name="Rounded Rectangle 10"/>
          <p:cNvSpPr/>
          <p:nvPr/>
        </p:nvSpPr>
        <p:spPr>
          <a:xfrm>
            <a:off x="731520" y="4111187"/>
            <a:ext cx="5212080" cy="914400"/>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822960" y="4248347"/>
            <a:ext cx="548640" cy="256032"/>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t>Gap 3</a:t>
            </a:r>
          </a:p>
        </p:txBody>
      </p:sp>
      <p:sp>
        <p:nvSpPr>
          <p:cNvPr id="13" name="TextBox 12"/>
          <p:cNvSpPr txBox="1"/>
          <p:nvPr/>
        </p:nvSpPr>
        <p:spPr>
          <a:xfrm>
            <a:off x="1463040" y="4166051"/>
            <a:ext cx="4343400" cy="872034"/>
          </a:xfrm>
          <a:prstGeom prst="rect">
            <a:avLst/>
          </a:prstGeom>
          <a:noFill/>
        </p:spPr>
        <p:txBody>
          <a:bodyPr wrap="square">
            <a:spAutoFit/>
          </a:bodyPr>
          <a:lstStyle/>
          <a:p>
            <a:pPr algn="l">
              <a:spcAft>
                <a:spcPts val="200"/>
              </a:spcAft>
              <a:defRPr sz="1300" b="1">
                <a:solidFill>
                  <a:srgbClr val="095E4F"/>
                </a:solidFill>
                <a:latin typeface="Calibri"/>
              </a:defRPr>
            </a:pPr>
            <a:r>
              <a:rPr dirty="0"/>
              <a:t>Verification Gap</a:t>
            </a:r>
          </a:p>
          <a:p>
            <a:pPr algn="l">
              <a:spcAft>
                <a:spcPts val="0"/>
              </a:spcAft>
              <a:defRPr sz="1100" b="0">
                <a:solidFill>
                  <a:srgbClr val="3A3A4A"/>
                </a:solidFill>
                <a:latin typeface="Calibri"/>
              </a:defRPr>
            </a:pPr>
            <a:r>
              <a:rPr sz="1200" dirty="0"/>
              <a:t>Move from voluntary CSR to mandatory ESG disclosure has not translated into reliable substantiation. Assurance models and evidentiary burdens remain insufficiently mapped.</a:t>
            </a:r>
          </a:p>
        </p:txBody>
      </p:sp>
      <p:sp>
        <p:nvSpPr>
          <p:cNvPr id="14" name="Rounded Rectangle 13"/>
          <p:cNvSpPr/>
          <p:nvPr/>
        </p:nvSpPr>
        <p:spPr>
          <a:xfrm>
            <a:off x="6217920" y="1965960"/>
            <a:ext cx="5212080" cy="914400"/>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6309360" y="2103120"/>
            <a:ext cx="548640" cy="256032"/>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t>Gap 4</a:t>
            </a:r>
          </a:p>
        </p:txBody>
      </p:sp>
      <p:sp>
        <p:nvSpPr>
          <p:cNvPr id="16" name="TextBox 15"/>
          <p:cNvSpPr txBox="1"/>
          <p:nvPr/>
        </p:nvSpPr>
        <p:spPr>
          <a:xfrm>
            <a:off x="6949440" y="2020824"/>
            <a:ext cx="4343400" cy="872034"/>
          </a:xfrm>
          <a:prstGeom prst="rect">
            <a:avLst/>
          </a:prstGeom>
          <a:noFill/>
        </p:spPr>
        <p:txBody>
          <a:bodyPr wrap="square">
            <a:spAutoFit/>
          </a:bodyPr>
          <a:lstStyle/>
          <a:p>
            <a:pPr algn="l">
              <a:spcAft>
                <a:spcPts val="200"/>
              </a:spcAft>
              <a:defRPr sz="1300" b="1">
                <a:solidFill>
                  <a:srgbClr val="095E4F"/>
                </a:solidFill>
                <a:latin typeface="Calibri"/>
              </a:defRPr>
            </a:pPr>
            <a:r>
              <a:rPr dirty="0"/>
              <a:t>Evolving Forms of Greenwashing</a:t>
            </a:r>
          </a:p>
          <a:p>
            <a:pPr algn="l">
              <a:spcAft>
                <a:spcPts val="0"/>
              </a:spcAft>
              <a:defRPr sz="1100" b="0">
                <a:solidFill>
                  <a:srgbClr val="3A3A4A"/>
                </a:solidFill>
                <a:latin typeface="Calibri"/>
              </a:defRPr>
            </a:pPr>
            <a:r>
              <a:rPr sz="1200" dirty="0"/>
              <a:t>'</a:t>
            </a:r>
            <a:r>
              <a:rPr sz="1200" dirty="0" err="1"/>
              <a:t>Futurewashing</a:t>
            </a:r>
            <a:r>
              <a:rPr sz="1200" dirty="0"/>
              <a:t>' through extended net-zero timelines (e.g. India's 2070 target) and carbon-offset-based claims are addressed only indirectly in current frameworks.</a:t>
            </a:r>
          </a:p>
        </p:txBody>
      </p:sp>
      <p:sp>
        <p:nvSpPr>
          <p:cNvPr id="17" name="Rounded Rectangle 16"/>
          <p:cNvSpPr/>
          <p:nvPr/>
        </p:nvSpPr>
        <p:spPr>
          <a:xfrm>
            <a:off x="6217920" y="3059842"/>
            <a:ext cx="5212080" cy="914400"/>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6309360" y="3197002"/>
            <a:ext cx="548640" cy="256032"/>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t>Gap 5</a:t>
            </a:r>
          </a:p>
        </p:txBody>
      </p:sp>
      <p:sp>
        <p:nvSpPr>
          <p:cNvPr id="19" name="TextBox 18"/>
          <p:cNvSpPr txBox="1"/>
          <p:nvPr/>
        </p:nvSpPr>
        <p:spPr>
          <a:xfrm>
            <a:off x="6949440" y="3114706"/>
            <a:ext cx="4343400" cy="872034"/>
          </a:xfrm>
          <a:prstGeom prst="rect">
            <a:avLst/>
          </a:prstGeom>
          <a:noFill/>
        </p:spPr>
        <p:txBody>
          <a:bodyPr wrap="square">
            <a:spAutoFit/>
          </a:bodyPr>
          <a:lstStyle/>
          <a:p>
            <a:pPr algn="l">
              <a:spcAft>
                <a:spcPts val="200"/>
              </a:spcAft>
              <a:defRPr sz="1300" b="1">
                <a:solidFill>
                  <a:srgbClr val="095E4F"/>
                </a:solidFill>
                <a:latin typeface="Calibri"/>
              </a:defRPr>
            </a:pPr>
            <a:r>
              <a:rPr dirty="0"/>
              <a:t>Enforcement Analysis</a:t>
            </a:r>
          </a:p>
          <a:p>
            <a:pPr algn="l">
              <a:spcAft>
                <a:spcPts val="0"/>
              </a:spcAft>
              <a:defRPr sz="1100" b="0">
                <a:solidFill>
                  <a:srgbClr val="3A3A4A"/>
                </a:solidFill>
                <a:latin typeface="Calibri"/>
              </a:defRPr>
            </a:pPr>
            <a:r>
              <a:rPr sz="1200" dirty="0"/>
              <a:t>Limited consolidated analysis of how regulators have acted (or failed to act) against greenwashing, including post-October 2024 CCPA actions and SEBI enforcement.</a:t>
            </a:r>
          </a:p>
        </p:txBody>
      </p:sp>
      <p:sp>
        <p:nvSpPr>
          <p:cNvPr id="20" name="Rounded Rectangle 19"/>
          <p:cNvSpPr/>
          <p:nvPr/>
        </p:nvSpPr>
        <p:spPr>
          <a:xfrm>
            <a:off x="731520" y="5240791"/>
            <a:ext cx="10698480" cy="777240"/>
          </a:xfrm>
          <a:prstGeom prst="roundRect">
            <a:avLst/>
          </a:prstGeom>
          <a:solidFill>
            <a:srgbClr val="E8F5F2"/>
          </a:solidFill>
          <a:ln w="12700">
            <a:solidFill>
              <a:srgbClr val="0E8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14400" y="5286511"/>
            <a:ext cx="10332720" cy="685800"/>
          </a:xfrm>
          <a:prstGeom prst="rect">
            <a:avLst/>
          </a:prstGeom>
          <a:noFill/>
        </p:spPr>
        <p:txBody>
          <a:bodyPr wrap="square">
            <a:spAutoFit/>
          </a:bodyPr>
          <a:lstStyle/>
          <a:p>
            <a:pPr algn="l">
              <a:spcAft>
                <a:spcPts val="400"/>
              </a:spcAft>
              <a:defRPr sz="1200" b="1">
                <a:solidFill>
                  <a:srgbClr val="095E4F"/>
                </a:solidFill>
                <a:latin typeface="Calibri"/>
              </a:defRPr>
            </a:pPr>
            <a:r>
              <a:rPr dirty="0"/>
              <a:t>THIS STUDY ADDRESSES THESE GAPS BY:</a:t>
            </a:r>
          </a:p>
          <a:p>
            <a:pPr algn="l">
              <a:spcAft>
                <a:spcPts val="0"/>
              </a:spcAft>
              <a:defRPr sz="1200" b="0">
                <a:solidFill>
                  <a:srgbClr val="3A3A4A"/>
                </a:solidFill>
                <a:latin typeface="Calibri"/>
              </a:defRPr>
            </a:pPr>
            <a:r>
              <a:rPr dirty="0"/>
              <a:t>Treating greenwashing as a corporate accountability problem at the intersection of company law, securities disclosure, and consumer protection — mapping duties, evaluating fragmentation &amp; assurance, and using comparative insights to propose an integrated liability framework.</a:t>
            </a:r>
          </a:p>
        </p:txBody>
      </p:sp>
      <p:sp>
        <p:nvSpPr>
          <p:cNvPr id="24" name="Rectangle 23">
            <a:extLst>
              <a:ext uri="{FF2B5EF4-FFF2-40B4-BE49-F238E27FC236}">
                <a16:creationId xmlns:a16="http://schemas.microsoft.com/office/drawing/2014/main" id="{65F00659-9CE2-A957-5E85-80F06183DC39}"/>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a:extLst>
            <a:ext uri="{FF2B5EF4-FFF2-40B4-BE49-F238E27FC236}">
              <a16:creationId xmlns:a16="http://schemas.microsoft.com/office/drawing/2014/main" id="{414D469F-7263-64C3-2E1A-70B9676F18A8}"/>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6F21EB9F-65DC-0F49-3673-A34C8E938742}"/>
              </a:ext>
            </a:extLst>
          </p:cNvPr>
          <p:cNvSpPr/>
          <p:nvPr/>
        </p:nvSpPr>
        <p:spPr>
          <a:xfrm>
            <a:off x="731520" y="502920"/>
            <a:ext cx="64008" cy="457200"/>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655C5FDB-15DA-9434-851A-9DCEEEC993A0}"/>
              </a:ext>
            </a:extLst>
          </p:cNvPr>
          <p:cNvSpPr txBox="1"/>
          <p:nvPr/>
        </p:nvSpPr>
        <p:spPr>
          <a:xfrm>
            <a:off x="903767" y="428064"/>
            <a:ext cx="10058400" cy="553998"/>
          </a:xfrm>
          <a:prstGeom prst="rect">
            <a:avLst/>
          </a:prstGeom>
          <a:noFill/>
        </p:spPr>
        <p:txBody>
          <a:bodyPr wrap="square" lIns="91440" tIns="45720" rIns="91440" bIns="45720" anchor="t">
            <a:spAutoFit/>
          </a:bodyPr>
          <a:lstStyle/>
          <a:p>
            <a:pPr>
              <a:spcAft>
                <a:spcPts val="600"/>
              </a:spcAft>
              <a:defRPr sz="3000" b="1">
                <a:solidFill>
                  <a:srgbClr val="1B1B2F"/>
                </a:solidFill>
                <a:latin typeface="Calibri Light"/>
              </a:defRPr>
            </a:pPr>
            <a:r>
              <a:rPr lang="en-US" sz="3000" b="1" dirty="0" err="1"/>
              <a:t>Chapterization</a:t>
            </a:r>
            <a:r>
              <a:rPr lang="en-US" sz="3000" b="1" dirty="0"/>
              <a:t> Scheme</a:t>
            </a:r>
            <a:r>
              <a:rPr lang="en-IN" sz="3000" b="1" dirty="0"/>
              <a:t> </a:t>
            </a:r>
            <a:endParaRPr dirty="0"/>
          </a:p>
        </p:txBody>
      </p:sp>
      <p:sp>
        <p:nvSpPr>
          <p:cNvPr id="20" name="Rounded Rectangle 19">
            <a:extLst>
              <a:ext uri="{FF2B5EF4-FFF2-40B4-BE49-F238E27FC236}">
                <a16:creationId xmlns:a16="http://schemas.microsoft.com/office/drawing/2014/main" id="{4BB8293B-4D33-088C-E1E0-5243AAA66B85}"/>
              </a:ext>
            </a:extLst>
          </p:cNvPr>
          <p:cNvSpPr/>
          <p:nvPr/>
        </p:nvSpPr>
        <p:spPr>
          <a:xfrm>
            <a:off x="731520" y="1233378"/>
            <a:ext cx="10698480" cy="4784654"/>
          </a:xfrm>
          <a:prstGeom prst="roundRect">
            <a:avLst/>
          </a:prstGeom>
          <a:solidFill>
            <a:srgbClr val="E8F5F2"/>
          </a:solidFill>
          <a:ln w="12700">
            <a:solidFill>
              <a:srgbClr val="0E8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a:extLst>
              <a:ext uri="{FF2B5EF4-FFF2-40B4-BE49-F238E27FC236}">
                <a16:creationId xmlns:a16="http://schemas.microsoft.com/office/drawing/2014/main" id="{ECC1D241-AE9B-9456-557F-8AA8C4E73E91}"/>
              </a:ext>
            </a:extLst>
          </p:cNvPr>
          <p:cNvSpPr txBox="1"/>
          <p:nvPr/>
        </p:nvSpPr>
        <p:spPr>
          <a:xfrm>
            <a:off x="1431317" y="1744935"/>
            <a:ext cx="7549117" cy="3365024"/>
          </a:xfrm>
          <a:prstGeom prst="rect">
            <a:avLst/>
          </a:prstGeom>
          <a:noFill/>
        </p:spPr>
        <p:txBody>
          <a:bodyPr wrap="square" lIns="91440" tIns="45720" rIns="91440" bIns="45720" anchor="t">
            <a:spAutoFit/>
          </a:bodyPr>
          <a:lstStyle/>
          <a:p>
            <a:pPr algn="l">
              <a:spcAft>
                <a:spcPts val="400"/>
              </a:spcAft>
              <a:defRPr sz="1200" b="1">
                <a:solidFill>
                  <a:srgbClr val="095E4F"/>
                </a:solidFill>
                <a:latin typeface="Calibri"/>
              </a:defRPr>
            </a:pPr>
            <a:r>
              <a:rPr sz="1400" dirty="0"/>
              <a:t>THIS STUDY</a:t>
            </a:r>
            <a:r>
              <a:rPr lang="en-US" sz="1400" dirty="0"/>
              <a:t> COMPRISES OF FOLLOWING SIX CHAPTERS-</a:t>
            </a:r>
          </a:p>
          <a:p>
            <a:pPr algn="l">
              <a:spcAft>
                <a:spcPts val="400"/>
              </a:spcAft>
              <a:defRPr sz="1200" b="1">
                <a:solidFill>
                  <a:srgbClr val="095E4F"/>
                </a:solidFill>
                <a:latin typeface="Calibri"/>
              </a:defRPr>
            </a:pPr>
            <a:endParaRPr lang="en-US" sz="1600" dirty="0"/>
          </a:p>
          <a:p>
            <a:pPr marL="228600" indent="-228600" algn="l">
              <a:lnSpc>
                <a:spcPct val="150000"/>
              </a:lnSpc>
              <a:spcAft>
                <a:spcPts val="400"/>
              </a:spcAft>
              <a:buAutoNum type="arabicPeriod"/>
              <a:defRPr sz="1200" b="1">
                <a:solidFill>
                  <a:srgbClr val="095E4F"/>
                </a:solidFill>
                <a:latin typeface="Calibri"/>
              </a:defRPr>
            </a:pPr>
            <a:r>
              <a:rPr lang="en-US" sz="1600" cap="small" dirty="0"/>
              <a:t>Introduction</a:t>
            </a:r>
            <a:endParaRPr lang="en-US" sz="1600" cap="small" dirty="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600" b="1" cap="small" dirty="0"/>
              <a:t>Conceptualizing Greenwashing And Corporate Governance Intervention</a:t>
            </a:r>
            <a:endParaRPr lang="en-US" sz="1600" b="1" cap="small" dirty="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600" b="1" cap="small" dirty="0"/>
              <a:t>Greenwashing: Corporate Responsibility And Accountability</a:t>
            </a:r>
            <a:endParaRPr lang="en-IN" sz="1600" b="1" cap="small" dirty="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600" b="1" cap="small" dirty="0"/>
              <a:t>Prevention Of Greenwashing: International Perspective</a:t>
            </a:r>
            <a:endParaRPr lang="en-IN" sz="1600" b="1" cap="small" dirty="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600" b="1" cap="small" dirty="0"/>
              <a:t>Indian Regulatory Ecosystem To Prevent Greenwashing</a:t>
            </a:r>
            <a:r>
              <a:rPr lang="en-IN" sz="1600" b="1" cap="small" dirty="0"/>
              <a:t> </a:t>
            </a:r>
            <a:endParaRPr lang="en-IN" sz="1600" b="1" cap="small" dirty="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600" b="1" cap="small"/>
              <a:t>Conclusion</a:t>
            </a:r>
            <a:endParaRPr lang="en-IN" sz="1600" b="1" cap="small" dirty="0">
              <a:ea typeface="Calibri"/>
              <a:cs typeface="Calibri"/>
            </a:endParaRPr>
          </a:p>
          <a:p>
            <a:pPr marL="228600" indent="-228600" algn="l">
              <a:spcAft>
                <a:spcPts val="400"/>
              </a:spcAft>
              <a:buAutoNum type="arabicPeriod"/>
              <a:defRPr sz="1200" b="1">
                <a:solidFill>
                  <a:srgbClr val="095E4F"/>
                </a:solidFill>
                <a:latin typeface="Calibri"/>
              </a:defRPr>
            </a:pPr>
            <a:endParaRPr lang="en-US" dirty="0"/>
          </a:p>
        </p:txBody>
      </p:sp>
      <p:sp>
        <p:nvSpPr>
          <p:cNvPr id="5" name="Rectangle 4">
            <a:extLst>
              <a:ext uri="{FF2B5EF4-FFF2-40B4-BE49-F238E27FC236}">
                <a16:creationId xmlns:a16="http://schemas.microsoft.com/office/drawing/2014/main" id="{45E7479F-A5BD-77D9-0954-558DE28C0DA5}"/>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1978392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440000" y="370000"/>
            <a:ext cx="11300000" cy="430000"/>
          </a:xfrm>
          <a:prstGeom prst="rect">
            <a:avLst/>
          </a:prstGeom>
          <a:noFill/>
        </p:spPr>
        <p:txBody>
          <a:bodyPr wrap="square" lIns="45720" tIns="22860" rIns="45720" bIns="22860" anchor="t">
            <a:spAutoFit/>
          </a:bodyPr>
          <a:lstStyle/>
          <a:p>
            <a:pPr algn="l"/>
            <a:r>
              <a:rPr sz="2200" b="1">
                <a:solidFill>
                  <a:srgbClr val="173F35"/>
                </a:solidFill>
                <a:latin typeface="Avenir Next Demi Bold"/>
              </a:rPr>
              <a:t>Why Greenwashing Is a Corporate Accountability Failure</a:t>
            </a:r>
          </a:p>
        </p:txBody>
      </p:sp>
      <p:sp>
        <p:nvSpPr>
          <p:cNvPr id="4" name="TextBox 3"/>
          <p:cNvSpPr txBox="1"/>
          <p:nvPr/>
        </p:nvSpPr>
        <p:spPr>
          <a:xfrm>
            <a:off x="440000" y="830000"/>
            <a:ext cx="11300000" cy="384721"/>
          </a:xfrm>
          <a:prstGeom prst="rect">
            <a:avLst/>
          </a:prstGeom>
          <a:noFill/>
        </p:spPr>
        <p:txBody>
          <a:bodyPr wrap="square" lIns="45720" tIns="22860" rIns="45720" bIns="22860" anchor="t">
            <a:spAutoFit/>
          </a:bodyPr>
          <a:lstStyle/>
          <a:p>
            <a:r>
              <a:rPr sz="1100" b="0" i="0" dirty="0">
                <a:solidFill>
                  <a:srgbClr val="6B6F6A"/>
                </a:solidFill>
                <a:latin typeface="Avenir Next"/>
              </a:rPr>
              <a:t>Research Question 3:</a:t>
            </a:r>
            <a:r>
              <a:rPr lang="en-US" sz="1100" b="0" i="0" dirty="0">
                <a:solidFill>
                  <a:srgbClr val="6B6F6A"/>
                </a:solidFill>
                <a:latin typeface="Avenir Next"/>
              </a:rPr>
              <a:t> </a:t>
            </a:r>
            <a:r>
              <a:rPr lang="en-IN" sz="1100" dirty="0">
                <a:ea typeface="+mn-lt"/>
                <a:cs typeface="+mn-lt"/>
              </a:rPr>
              <a:t>What are the jurisprudential foundations of corporate responsibility that justify treating greenwashing as a failure of corporate accountability?</a:t>
            </a:r>
            <a:endParaRPr lang="en-US" sz="1100" dirty="0">
              <a:ea typeface="+mn-lt"/>
              <a:cs typeface="+mn-lt"/>
            </a:endParaRPr>
          </a:p>
          <a:p>
            <a:pPr algn="l"/>
            <a:endParaRPr sz="1100" b="0" i="0" dirty="0">
              <a:solidFill>
                <a:srgbClr val="6B6F6A"/>
              </a:solidFill>
              <a:latin typeface="Avenir Next"/>
            </a:endParaRPr>
          </a:p>
        </p:txBody>
      </p:sp>
      <p:sp>
        <p:nvSpPr>
          <p:cNvPr id="5" name="Rounded Rectangle 4"/>
          <p:cNvSpPr/>
          <p:nvPr/>
        </p:nvSpPr>
        <p:spPr>
          <a:xfrm>
            <a:off x="500000" y="1360000"/>
            <a:ext cx="5496000" cy="1960000"/>
          </a:xfrm>
          <a:prstGeom prst="roundRect">
            <a:avLst>
              <a:gd name="adj" fmla="val 6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30000" y="1465000"/>
            <a:ext cx="5236000" cy="1750000"/>
          </a:xfrm>
          <a:prstGeom prst="rect">
            <a:avLst/>
          </a:prstGeom>
          <a:noFill/>
        </p:spPr>
        <p:txBody>
          <a:bodyPr wrap="square" lIns="45720" tIns="22860" rIns="45720" bIns="22860" anchor="t">
            <a:spAutoFit/>
          </a:bodyPr>
          <a:lstStyle/>
          <a:p>
            <a:pPr algn="l">
              <a:spcAft>
                <a:spcPts val="400"/>
              </a:spcAft>
            </a:pPr>
            <a:r>
              <a:rPr sz="1200" b="1" i="0">
                <a:solidFill>
                  <a:srgbClr val="095E4F"/>
                </a:solidFill>
                <a:latin typeface="Calibri"/>
              </a:rPr>
              <a:t>1.  What kind of thing is a company?</a:t>
            </a:r>
          </a:p>
          <a:p>
            <a:pPr algn="l">
              <a:spcAft>
                <a:spcPts val="300"/>
              </a:spcAft>
            </a:pPr>
            <a:r>
              <a:rPr sz="1000" b="0" i="0">
                <a:solidFill>
                  <a:srgbClr val="3A3A4A"/>
                </a:solidFill>
                <a:latin typeface="Calibri"/>
              </a:rPr>
              <a:t>•  The thesis tests five classic theories of corporate personality.</a:t>
            </a:r>
          </a:p>
          <a:p>
            <a:pPr algn="l">
              <a:spcAft>
                <a:spcPts val="300"/>
              </a:spcAft>
            </a:pPr>
            <a:r>
              <a:rPr sz="1000" b="0" i="0">
                <a:solidFill>
                  <a:srgbClr val="3A3A4A"/>
                </a:solidFill>
                <a:latin typeface="Calibri"/>
              </a:rPr>
              <a:t>•  Fiction and Purpose theory let the State attach environmental duties to the company it creates.</a:t>
            </a:r>
          </a:p>
          <a:p>
            <a:pPr algn="l">
              <a:spcAft>
                <a:spcPts val="300"/>
              </a:spcAft>
            </a:pPr>
            <a:r>
              <a:rPr sz="1000" b="0" i="0">
                <a:solidFill>
                  <a:srgbClr val="3A3A4A"/>
                </a:solidFill>
                <a:latin typeface="Calibri"/>
              </a:rPr>
              <a:t>•  Realist theory is the strongest fit: a company is a real social actor, so its green promises create real legal relations.</a:t>
            </a:r>
          </a:p>
          <a:p>
            <a:pPr algn="l">
              <a:spcAft>
                <a:spcPts val="300"/>
              </a:spcAft>
            </a:pPr>
            <a:r>
              <a:rPr sz="1000" b="0" i="0">
                <a:solidFill>
                  <a:srgbClr val="3A3A4A"/>
                </a:solidFill>
                <a:latin typeface="Calibri"/>
              </a:rPr>
              <a:t>•  Indian law sits closest to a Realist–Stakeholder position, so Section 166(2) is a natural fit, not an odd add-on.</a:t>
            </a:r>
          </a:p>
        </p:txBody>
      </p:sp>
      <p:sp>
        <p:nvSpPr>
          <p:cNvPr id="7" name="Rounded Rectangle 6"/>
          <p:cNvSpPr/>
          <p:nvPr/>
        </p:nvSpPr>
        <p:spPr>
          <a:xfrm>
            <a:off x="6196000" y="1360000"/>
            <a:ext cx="5496000" cy="1960000"/>
          </a:xfrm>
          <a:prstGeom prst="roundRect">
            <a:avLst>
              <a:gd name="adj" fmla="val 6000"/>
            </a:avLst>
          </a:prstGeom>
          <a:solidFill>
            <a:srgbClr val="E8EFE6"/>
          </a:solidFill>
          <a:ln w="12700">
            <a:solidFill>
              <a:srgbClr val="C2D3B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6326000" y="1465000"/>
            <a:ext cx="5236000" cy="1750000"/>
          </a:xfrm>
          <a:prstGeom prst="rect">
            <a:avLst/>
          </a:prstGeom>
          <a:noFill/>
        </p:spPr>
        <p:txBody>
          <a:bodyPr wrap="square" lIns="45720" tIns="22860" rIns="45720" bIns="22860" anchor="t">
            <a:spAutoFit/>
          </a:bodyPr>
          <a:lstStyle/>
          <a:p>
            <a:pPr algn="l">
              <a:spcAft>
                <a:spcPts val="400"/>
              </a:spcAft>
            </a:pPr>
            <a:r>
              <a:rPr sz="1200" b="1" i="0">
                <a:solidFill>
                  <a:srgbClr val="095E4F"/>
                </a:solidFill>
                <a:latin typeface="Calibri"/>
              </a:rPr>
              <a:t>2.  Hohfeld: turning a vague duty into precise legal relations</a:t>
            </a:r>
          </a:p>
          <a:p>
            <a:pPr algn="l">
              <a:spcAft>
                <a:spcPts val="300"/>
              </a:spcAft>
            </a:pPr>
            <a:r>
              <a:rPr sz="1000" b="0" i="0">
                <a:solidFill>
                  <a:srgbClr val="3A3A4A"/>
                </a:solidFill>
                <a:latin typeface="Calibri"/>
              </a:rPr>
              <a:t>•  Duty breached — the duty not to mislead, owed to the State and to investors.</a:t>
            </a:r>
          </a:p>
          <a:p>
            <a:pPr algn="l">
              <a:spcAft>
                <a:spcPts val="300"/>
              </a:spcAft>
            </a:pPr>
            <a:r>
              <a:rPr sz="1000" b="0" i="0">
                <a:solidFill>
                  <a:srgbClr val="3A3A4A"/>
                </a:solidFill>
                <a:latin typeface="Calibri"/>
              </a:rPr>
              <a:t>•  Privilege misused — managers may choose how to communicate, but that freedom stops at deception.</a:t>
            </a:r>
          </a:p>
          <a:p>
            <a:pPr algn="l">
              <a:spcAft>
                <a:spcPts val="300"/>
              </a:spcAft>
            </a:pPr>
            <a:r>
              <a:rPr sz="1000" b="0" i="0">
                <a:solidFill>
                  <a:srgbClr val="3A3A4A"/>
                </a:solidFill>
                <a:latin typeface="Calibri"/>
              </a:rPr>
              <a:t>•  Power held — companies control the ESG information that everyone else acts on.</a:t>
            </a:r>
          </a:p>
          <a:p>
            <a:pPr algn="l">
              <a:spcAft>
                <a:spcPts val="300"/>
              </a:spcAft>
            </a:pPr>
            <a:r>
              <a:rPr sz="1000" b="0" i="0">
                <a:solidFill>
                  <a:srgbClr val="3A3A4A"/>
                </a:solidFill>
                <a:latin typeface="Calibri"/>
              </a:rPr>
              <a:t>•  Immunity retained — limited liability insulates those who gain from a green reputation.</a:t>
            </a:r>
          </a:p>
        </p:txBody>
      </p:sp>
      <p:sp>
        <p:nvSpPr>
          <p:cNvPr id="9" name="Rounded Rectangle 8"/>
          <p:cNvSpPr/>
          <p:nvPr/>
        </p:nvSpPr>
        <p:spPr>
          <a:xfrm>
            <a:off x="500000" y="3400000"/>
            <a:ext cx="5496000" cy="1960000"/>
          </a:xfrm>
          <a:prstGeom prst="roundRect">
            <a:avLst>
              <a:gd name="adj" fmla="val 6000"/>
            </a:avLst>
          </a:prstGeom>
          <a:solidFill>
            <a:srgbClr val="E8EFE6"/>
          </a:solidFill>
          <a:ln w="12700">
            <a:solidFill>
              <a:srgbClr val="C2D3B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630000" y="3505000"/>
            <a:ext cx="5236000" cy="1750000"/>
          </a:xfrm>
          <a:prstGeom prst="rect">
            <a:avLst/>
          </a:prstGeom>
          <a:noFill/>
        </p:spPr>
        <p:txBody>
          <a:bodyPr wrap="square" lIns="45720" tIns="22860" rIns="45720" bIns="22860" anchor="t">
            <a:spAutoFit/>
          </a:bodyPr>
          <a:lstStyle/>
          <a:p>
            <a:pPr algn="l">
              <a:spcAft>
                <a:spcPts val="400"/>
              </a:spcAft>
            </a:pPr>
            <a:r>
              <a:rPr sz="1200" b="1" i="0">
                <a:solidFill>
                  <a:srgbClr val="095E4F"/>
                </a:solidFill>
                <a:latin typeface="Calibri"/>
              </a:rPr>
              <a:t>3.  Who holds the matching right?</a:t>
            </a:r>
          </a:p>
          <a:p>
            <a:pPr algn="l">
              <a:spcAft>
                <a:spcPts val="300"/>
              </a:spcAft>
            </a:pPr>
            <a:r>
              <a:rPr sz="1000" b="0" i="0">
                <a:solidFill>
                  <a:srgbClr val="3A3A4A"/>
                </a:solidFill>
                <a:latin typeface="Calibri"/>
              </a:rPr>
              <a:t>•  A duty only bites if somebody can enforce it.</a:t>
            </a:r>
          </a:p>
          <a:p>
            <a:pPr algn="l">
              <a:spcAft>
                <a:spcPts val="300"/>
              </a:spcAft>
            </a:pPr>
            <a:r>
              <a:rPr sz="1000" b="0" i="0">
                <a:solidFill>
                  <a:srgbClr val="3A3A4A"/>
                </a:solidFill>
                <a:latin typeface="Calibri"/>
              </a:rPr>
              <a:t>•  Duties owed to the State are strongest — the CCPA and SEBI can act on their own motion.</a:t>
            </a:r>
          </a:p>
          <a:p>
            <a:pPr algn="l">
              <a:spcAft>
                <a:spcPts val="300"/>
              </a:spcAft>
            </a:pPr>
            <a:r>
              <a:rPr sz="1000" b="0" i="0">
                <a:solidFill>
                  <a:srgbClr val="3A3A4A"/>
                </a:solidFill>
                <a:latin typeface="Calibri"/>
              </a:rPr>
              <a:t>•  Investor-facing duties are enforceable, but only through narrow disclosure channels.</a:t>
            </a:r>
          </a:p>
          <a:p>
            <a:pPr algn="l">
              <a:spcAft>
                <a:spcPts val="300"/>
              </a:spcAft>
            </a:pPr>
            <a:r>
              <a:rPr sz="1000" b="0" i="0">
                <a:solidFill>
                  <a:srgbClr val="3A3A4A"/>
                </a:solidFill>
                <a:latin typeface="Calibri"/>
              </a:rPr>
              <a:t>•  Section 166(2)'s environmental duty has no clear claimant, so it reads as aspiration rather than law. That is the gap this thesis targets.</a:t>
            </a:r>
          </a:p>
        </p:txBody>
      </p:sp>
      <p:sp>
        <p:nvSpPr>
          <p:cNvPr id="11" name="Rounded Rectangle 10"/>
          <p:cNvSpPr/>
          <p:nvPr/>
        </p:nvSpPr>
        <p:spPr>
          <a:xfrm>
            <a:off x="6196000" y="3400000"/>
            <a:ext cx="5496000" cy="1960000"/>
          </a:xfrm>
          <a:prstGeom prst="roundRect">
            <a:avLst>
              <a:gd name="adj" fmla="val 6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6326000" y="3505000"/>
            <a:ext cx="5236000" cy="1750000"/>
          </a:xfrm>
          <a:prstGeom prst="rect">
            <a:avLst/>
          </a:prstGeom>
          <a:noFill/>
        </p:spPr>
        <p:txBody>
          <a:bodyPr wrap="square" lIns="45720" tIns="22860" rIns="45720" bIns="22860" anchor="t">
            <a:spAutoFit/>
          </a:bodyPr>
          <a:lstStyle/>
          <a:p>
            <a:pPr algn="l">
              <a:spcAft>
                <a:spcPts val="400"/>
              </a:spcAft>
            </a:pPr>
            <a:r>
              <a:rPr sz="1200" b="1" i="0">
                <a:solidFill>
                  <a:srgbClr val="095E4F"/>
                </a:solidFill>
                <a:latin typeface="Calibri"/>
              </a:rPr>
              <a:t>4.  Why the duty still fails in practice</a:t>
            </a:r>
          </a:p>
          <a:p>
            <a:pPr algn="l">
              <a:spcAft>
                <a:spcPts val="300"/>
              </a:spcAft>
            </a:pPr>
            <a:r>
              <a:rPr sz="1000" b="0" i="0">
                <a:solidFill>
                  <a:srgbClr val="3A3A4A"/>
                </a:solidFill>
                <a:latin typeface="Calibri"/>
              </a:rPr>
              <a:t>•  Principal–agent theory: insiders know the real environmental performance, outsiders rely on what insiders choose to disclose.</a:t>
            </a:r>
          </a:p>
          <a:p>
            <a:pPr algn="l">
              <a:spcAft>
                <a:spcPts val="300"/>
              </a:spcAft>
            </a:pPr>
            <a:r>
              <a:rPr sz="1000" b="0" i="0">
                <a:solidFill>
                  <a:srgbClr val="3A3A4A"/>
                </a:solidFill>
                <a:latin typeface="Calibri"/>
              </a:rPr>
              <a:t>•  Checking a green claim needs carbon and lifecycle expertise that most stakeholders simply do not have.</a:t>
            </a:r>
          </a:p>
          <a:p>
            <a:pPr algn="l">
              <a:spcAft>
                <a:spcPts val="300"/>
              </a:spcAft>
            </a:pPr>
            <a:r>
              <a:rPr sz="1000" b="0" i="0">
                <a:solidFill>
                  <a:srgbClr val="3A3A4A"/>
                </a:solidFill>
                <a:latin typeface="Calibri"/>
              </a:rPr>
              <a:t>•  Sustainability reporting is easy to dress up, so it is a weak signal of alignment.</a:t>
            </a:r>
          </a:p>
          <a:p>
            <a:pPr algn="l">
              <a:spcAft>
                <a:spcPts val="300"/>
              </a:spcAft>
            </a:pPr>
            <a:r>
              <a:rPr sz="1000" b="0" i="0">
                <a:solidFill>
                  <a:srgbClr val="3A3A4A"/>
                </a:solidFill>
                <a:latin typeface="Calibri"/>
              </a:rPr>
              <a:t>•  Promoter-controlled ownership and thin independent assurance widen the gap further in India.</a:t>
            </a:r>
          </a:p>
        </p:txBody>
      </p:sp>
      <p:sp>
        <p:nvSpPr>
          <p:cNvPr id="13" name="Rounded Rectangle 12"/>
          <p:cNvSpPr/>
          <p:nvPr/>
        </p:nvSpPr>
        <p:spPr>
          <a:xfrm>
            <a:off x="500000" y="5470000"/>
            <a:ext cx="11192000" cy="790000"/>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640000" y="5540000"/>
            <a:ext cx="10912000" cy="650000"/>
          </a:xfrm>
          <a:prstGeom prst="rect">
            <a:avLst/>
          </a:prstGeom>
          <a:noFill/>
        </p:spPr>
        <p:txBody>
          <a:bodyPr wrap="square" lIns="45720" tIns="22860" rIns="45720" bIns="22860" anchor="ctr">
            <a:spAutoFit/>
          </a:bodyPr>
          <a:lstStyle/>
          <a:p>
            <a:pPr algn="ctr"/>
            <a:r>
              <a:rPr sz="1100" b="1" i="0">
                <a:solidFill>
                  <a:srgbClr val="095E4F"/>
                </a:solidFill>
                <a:latin typeface="Calibri"/>
              </a:rPr>
              <a:t>Answer to RQ3:  </a:t>
            </a:r>
            <a:r>
              <a:rPr sz="1100" b="0" i="0">
                <a:solidFill>
                  <a:srgbClr val="3A3A4A"/>
                </a:solidFill>
                <a:latin typeface="Calibri"/>
              </a:rPr>
              <a:t>once corporate responsibility is broken into precise legal relations, greenwashing stops looking like a public-relations lapse. It is a breached duty, a managerial freedom pushed past its legal limit, and an information advantage used against the people who depend on it — a corporate accountability failure that company law is the right place to answer.</a:t>
            </a:r>
          </a:p>
        </p:txBody>
      </p:sp>
      <p:sp>
        <p:nvSpPr>
          <p:cNvPr id="15" name="TextBox 14"/>
          <p:cNvSpPr txBox="1"/>
          <p:nvPr/>
        </p:nvSpPr>
        <p:spPr>
          <a:xfrm>
            <a:off x="566928" y="6400800"/>
            <a:ext cx="4000000" cy="246221"/>
          </a:xfrm>
          <a:prstGeom prst="rect">
            <a:avLst/>
          </a:prstGeom>
          <a:noFill/>
        </p:spPr>
        <p:txBody>
          <a:bodyPr wrap="square" lIns="45720" tIns="22860" rIns="45720" bIns="22860" anchor="t">
            <a:spAutoFit/>
          </a:bodyPr>
          <a:lstStyle/>
          <a:p>
            <a:pPr algn="l"/>
            <a:r>
              <a:rPr sz="900" b="0" i="0">
                <a:solidFill>
                  <a:srgbClr val="6B6F6A"/>
                </a:solidFill>
                <a:latin typeface="Calibri"/>
              </a:rPr>
              <a:t>Source base: Chapter 3, sections 3.1 to 3.4.</a:t>
            </a:r>
          </a:p>
        </p:txBody>
      </p:sp>
    </p:spTree>
    <p:extLst>
      <p:ext uri="{BB962C8B-B14F-4D97-AF65-F5344CB8AC3E}">
        <p14:creationId xmlns:p14="http://schemas.microsoft.com/office/powerpoint/2010/main" val="30479542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55383" y="397535"/>
            <a:ext cx="9623858" cy="677108"/>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dirty="0"/>
              <a:t>India's Legal Ecosystem</a:t>
            </a:r>
            <a:r>
              <a:rPr lang="en-US" dirty="0"/>
              <a:t> Tackling Misleading Environmental Claims</a:t>
            </a:r>
            <a:r>
              <a:rPr dirty="0"/>
              <a:t>: </a:t>
            </a:r>
            <a:endParaRPr lang="en-US" dirty="0"/>
          </a:p>
          <a:p>
            <a:pPr>
              <a:defRPr sz="2200" b="1">
                <a:solidFill>
                  <a:srgbClr val="173F35"/>
                </a:solidFill>
                <a:latin typeface="Avenir Next Demi Bold"/>
              </a:defRPr>
            </a:pPr>
            <a:r>
              <a:rPr sz="1600" dirty="0"/>
              <a:t>Many Rules, </a:t>
            </a:r>
            <a:r>
              <a:rPr lang="en-US" sz="1600" dirty="0"/>
              <a:t>But not a Functioning System</a:t>
            </a:r>
          </a:p>
        </p:txBody>
      </p:sp>
      <p:sp>
        <p:nvSpPr>
          <p:cNvPr id="6" name="Rounded Rectangle 5"/>
          <p:cNvSpPr/>
          <p:nvPr/>
        </p:nvSpPr>
        <p:spPr>
          <a:xfrm>
            <a:off x="1005840" y="1365881"/>
            <a:ext cx="10058400" cy="777240"/>
          </a:xfrm>
          <a:prstGeom prst="roundRect">
            <a:avLst/>
          </a:prstGeom>
          <a:solidFill>
            <a:srgbClr val="EFF5EA"/>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06317" y="1583395"/>
            <a:ext cx="9729323" cy="492443"/>
          </a:xfrm>
          <a:prstGeom prst="rect">
            <a:avLst/>
          </a:prstGeom>
          <a:noFill/>
        </p:spPr>
        <p:txBody>
          <a:bodyPr wrap="square" anchor="t">
            <a:spAutoFit/>
          </a:bodyPr>
          <a:lstStyle/>
          <a:p>
            <a:pPr algn="ctr">
              <a:defRPr sz="1300" b="1">
                <a:solidFill>
                  <a:srgbClr val="173F35"/>
                </a:solidFill>
                <a:latin typeface="Avenir Next"/>
              </a:defRPr>
            </a:pPr>
            <a:r>
              <a:t>Constitutional bedrock: Articles 21, 48A, 51A(g), environmental doctrines, and M.K. Ranjitsinh strengthen the duty to take environmental claims seriously.</a:t>
            </a:r>
          </a:p>
        </p:txBody>
      </p:sp>
      <p:sp>
        <p:nvSpPr>
          <p:cNvPr id="8" name="Rounded Rectangle 7"/>
          <p:cNvSpPr/>
          <p:nvPr/>
        </p:nvSpPr>
        <p:spPr>
          <a:xfrm>
            <a:off x="877824" y="2503622"/>
            <a:ext cx="3291840" cy="2084831"/>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877824" y="2436188"/>
            <a:ext cx="3291840" cy="7315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024128" y="2631638"/>
            <a:ext cx="2999232" cy="384048"/>
          </a:xfrm>
          <a:prstGeom prst="rect">
            <a:avLst/>
          </a:prstGeom>
          <a:noFill/>
        </p:spPr>
        <p:txBody>
          <a:bodyPr wrap="square" anchor="t">
            <a:spAutoFit/>
          </a:bodyPr>
          <a:lstStyle/>
          <a:p>
            <a:pPr algn="l">
              <a:defRPr sz="1600" b="1">
                <a:solidFill>
                  <a:srgbClr val="173F35"/>
                </a:solidFill>
                <a:latin typeface="Avenir Next Demi Bold"/>
              </a:defRPr>
            </a:pPr>
            <a:r>
              <a:t>Pillar 1: Consumer Protection</a:t>
            </a:r>
          </a:p>
        </p:txBody>
      </p:sp>
      <p:sp>
        <p:nvSpPr>
          <p:cNvPr id="11" name="TextBox 10"/>
          <p:cNvSpPr txBox="1"/>
          <p:nvPr/>
        </p:nvSpPr>
        <p:spPr>
          <a:xfrm>
            <a:off x="1024128" y="2997398"/>
            <a:ext cx="2999232" cy="1384995"/>
          </a:xfrm>
          <a:prstGeom prst="rect">
            <a:avLst/>
          </a:prstGeom>
          <a:noFill/>
        </p:spPr>
        <p:txBody>
          <a:bodyPr wrap="square" lIns="91440" tIns="45720" rIns="91440" bIns="45720" anchor="t">
            <a:spAutoFit/>
          </a:bodyPr>
          <a:lstStyle/>
          <a:p>
            <a:pPr>
              <a:defRPr sz="1200" b="0">
                <a:solidFill>
                  <a:srgbClr val="2A2A2A"/>
                </a:solidFill>
                <a:latin typeface="Avenir Next"/>
              </a:defRPr>
            </a:pPr>
            <a:r>
              <a:rPr dirty="0"/>
              <a:t>CPA 2019, CCPA, consumer commissions, and ASCI target misleading product and advertising claims. </a:t>
            </a:r>
            <a:endParaRPr lang="en-US" dirty="0"/>
          </a:p>
          <a:p>
            <a:pPr>
              <a:defRPr sz="1200" b="0">
                <a:solidFill>
                  <a:srgbClr val="2A2A2A"/>
                </a:solidFill>
                <a:latin typeface="Avenir Next"/>
              </a:defRPr>
            </a:pPr>
            <a:r>
              <a:rPr dirty="0"/>
              <a:t>Strength: </a:t>
            </a:r>
            <a:r>
              <a:rPr lang="en-US" dirty="0"/>
              <a:t>Aspirational</a:t>
            </a:r>
            <a:r>
              <a:rPr dirty="0"/>
              <a:t>. </a:t>
            </a:r>
            <a:endParaRPr lang="en-US" dirty="0"/>
          </a:p>
          <a:p>
            <a:pPr algn="l">
              <a:defRPr sz="1200" b="0">
                <a:solidFill>
                  <a:srgbClr val="2A2A2A"/>
                </a:solidFill>
                <a:latin typeface="Avenir Next"/>
              </a:defRPr>
            </a:pPr>
            <a:r>
              <a:rPr dirty="0"/>
              <a:t>Weakness: </a:t>
            </a:r>
            <a:r>
              <a:rPr lang="en-US" dirty="0"/>
              <a:t>primarily remedial</a:t>
            </a:r>
            <a:r>
              <a:rPr dirty="0"/>
              <a:t> and consumer-facing.</a:t>
            </a:r>
          </a:p>
        </p:txBody>
      </p:sp>
      <p:sp>
        <p:nvSpPr>
          <p:cNvPr id="12" name="Rounded Rectangle 11"/>
          <p:cNvSpPr/>
          <p:nvPr/>
        </p:nvSpPr>
        <p:spPr>
          <a:xfrm>
            <a:off x="4462272" y="2503622"/>
            <a:ext cx="3291840" cy="2084831"/>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462272" y="2436188"/>
            <a:ext cx="3291840" cy="73152"/>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608576" y="2631638"/>
            <a:ext cx="2999232" cy="384048"/>
          </a:xfrm>
          <a:prstGeom prst="rect">
            <a:avLst/>
          </a:prstGeom>
          <a:noFill/>
        </p:spPr>
        <p:txBody>
          <a:bodyPr wrap="square" anchor="t">
            <a:spAutoFit/>
          </a:bodyPr>
          <a:lstStyle/>
          <a:p>
            <a:pPr algn="l">
              <a:defRPr sz="1600" b="1">
                <a:solidFill>
                  <a:srgbClr val="173F35"/>
                </a:solidFill>
                <a:latin typeface="Avenir Next Demi Bold"/>
              </a:defRPr>
            </a:pPr>
            <a:r>
              <a:t>Pillar 2: Securities and Finance</a:t>
            </a:r>
          </a:p>
        </p:txBody>
      </p:sp>
      <p:sp>
        <p:nvSpPr>
          <p:cNvPr id="15" name="TextBox 14"/>
          <p:cNvSpPr txBox="1"/>
          <p:nvPr/>
        </p:nvSpPr>
        <p:spPr>
          <a:xfrm>
            <a:off x="4595089" y="3139010"/>
            <a:ext cx="2999232" cy="1200329"/>
          </a:xfrm>
          <a:prstGeom prst="rect">
            <a:avLst/>
          </a:prstGeom>
          <a:noFill/>
        </p:spPr>
        <p:txBody>
          <a:bodyPr wrap="square" lIns="91440" tIns="45720" rIns="91440" bIns="45720" anchor="t">
            <a:spAutoFit/>
          </a:bodyPr>
          <a:lstStyle/>
          <a:p>
            <a:pPr>
              <a:defRPr sz="1200" b="0">
                <a:solidFill>
                  <a:srgbClr val="2A2A2A"/>
                </a:solidFill>
                <a:latin typeface="Avenir Next"/>
              </a:defRPr>
            </a:pPr>
            <a:r>
              <a:t>SEBI, BRSR, BRSR Core, ESG debt rules, PFUTP, and ESG ratings address investor-facing claims. </a:t>
            </a:r>
            <a:endParaRPr lang="en-US"/>
          </a:p>
          <a:p>
            <a:pPr>
              <a:defRPr sz="1200" b="0">
                <a:solidFill>
                  <a:srgbClr val="2A2A2A"/>
                </a:solidFill>
                <a:latin typeface="Avenir Next"/>
              </a:defRPr>
            </a:pPr>
            <a:r>
              <a:t>Strength: formal disclosure architecture. </a:t>
            </a:r>
            <a:endParaRPr lang="en-US"/>
          </a:p>
          <a:p>
            <a:pPr>
              <a:defRPr sz="1200" b="0">
                <a:solidFill>
                  <a:srgbClr val="2A2A2A"/>
                </a:solidFill>
                <a:latin typeface="Avenir Next"/>
              </a:defRPr>
            </a:pPr>
            <a:r>
              <a:t>Weakness: </a:t>
            </a:r>
            <a:r>
              <a:rPr lang="en-US"/>
              <a:t>limited assurance</a:t>
            </a:r>
            <a:r>
              <a:t> and </a:t>
            </a:r>
            <a:r>
              <a:rPr dirty="0"/>
              <a:t>diluted verification.</a:t>
            </a:r>
          </a:p>
        </p:txBody>
      </p:sp>
      <p:sp>
        <p:nvSpPr>
          <p:cNvPr id="16" name="Rounded Rectangle 15"/>
          <p:cNvSpPr/>
          <p:nvPr/>
        </p:nvSpPr>
        <p:spPr>
          <a:xfrm>
            <a:off x="8046720" y="2503622"/>
            <a:ext cx="3291840" cy="2084831"/>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8046720" y="2436188"/>
            <a:ext cx="3291840" cy="73152"/>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193024" y="2631638"/>
            <a:ext cx="2999232" cy="384048"/>
          </a:xfrm>
          <a:prstGeom prst="rect">
            <a:avLst/>
          </a:prstGeom>
          <a:noFill/>
        </p:spPr>
        <p:txBody>
          <a:bodyPr wrap="square" anchor="t">
            <a:spAutoFit/>
          </a:bodyPr>
          <a:lstStyle/>
          <a:p>
            <a:pPr algn="l">
              <a:defRPr sz="1600" b="1">
                <a:solidFill>
                  <a:srgbClr val="173F35"/>
                </a:solidFill>
                <a:latin typeface="Avenir Next Demi Bold"/>
              </a:defRPr>
            </a:pPr>
            <a:r>
              <a:t>Pillar 3: Corporate Governance</a:t>
            </a:r>
          </a:p>
        </p:txBody>
      </p:sp>
      <p:sp>
        <p:nvSpPr>
          <p:cNvPr id="19" name="TextBox 18"/>
          <p:cNvSpPr txBox="1"/>
          <p:nvPr/>
        </p:nvSpPr>
        <p:spPr>
          <a:xfrm>
            <a:off x="8193024" y="3139010"/>
            <a:ext cx="2999232" cy="1384995"/>
          </a:xfrm>
          <a:prstGeom prst="rect">
            <a:avLst/>
          </a:prstGeom>
          <a:noFill/>
        </p:spPr>
        <p:txBody>
          <a:bodyPr wrap="square" lIns="91440" tIns="45720" rIns="91440" bIns="45720" anchor="t">
            <a:spAutoFit/>
          </a:bodyPr>
          <a:lstStyle/>
          <a:p>
            <a:pPr>
              <a:defRPr sz="1200" b="0">
                <a:solidFill>
                  <a:srgbClr val="2A2A2A"/>
                </a:solidFill>
                <a:latin typeface="Avenir Next"/>
              </a:defRPr>
            </a:pPr>
            <a:r>
              <a:t>MCA and the Companies Act place environmental protection inside directors' duties. </a:t>
            </a:r>
            <a:endParaRPr lang="en-US"/>
          </a:p>
          <a:p>
            <a:pPr>
              <a:defRPr sz="1200" b="0">
                <a:solidFill>
                  <a:srgbClr val="2A2A2A"/>
                </a:solidFill>
                <a:latin typeface="Avenir Next"/>
              </a:defRPr>
            </a:pPr>
            <a:r>
              <a:t>Strength: Section 166(2) is textually strong. </a:t>
            </a:r>
            <a:endParaRPr lang="en-US"/>
          </a:p>
          <a:p>
            <a:pPr algn="l">
              <a:defRPr sz="1200" b="0">
                <a:solidFill>
                  <a:srgbClr val="2A2A2A"/>
                </a:solidFill>
                <a:latin typeface="Avenir Next"/>
              </a:defRPr>
            </a:pPr>
            <a:r>
              <a:t>Weakness: standing, penalties, and enforcement route remain weak.</a:t>
            </a:r>
          </a:p>
        </p:txBody>
      </p:sp>
      <p:sp>
        <p:nvSpPr>
          <p:cNvPr id="20" name="Rounded Rectangle 19"/>
          <p:cNvSpPr/>
          <p:nvPr/>
        </p:nvSpPr>
        <p:spPr>
          <a:xfrm>
            <a:off x="1249519" y="4747414"/>
            <a:ext cx="9775867" cy="1504762"/>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405426" y="4828841"/>
            <a:ext cx="9576650" cy="1328569"/>
          </a:xfrm>
          <a:prstGeom prst="rect">
            <a:avLst/>
          </a:prstGeom>
          <a:noFill/>
        </p:spPr>
        <p:txBody>
          <a:bodyPr wrap="square" lIns="91440" tIns="45720" rIns="91440" bIns="45720" anchor="t">
            <a:spAutoFit/>
          </a:bodyPr>
          <a:lstStyle/>
          <a:p>
            <a:pPr marL="171450" indent="-171450">
              <a:spcAft>
                <a:spcPts val="200"/>
              </a:spcAft>
              <a:buFont typeface="Arial,Sans-Serif"/>
              <a:buChar char="•"/>
              <a:defRPr sz="1150" b="0">
                <a:solidFill>
                  <a:srgbClr val="2A2A2A"/>
                </a:solidFill>
                <a:latin typeface="Avenir Next"/>
              </a:defRPr>
            </a:pPr>
            <a:r>
              <a:rPr lang="en-IN" sz="1200" b="1" i="1" dirty="0">
                <a:solidFill>
                  <a:srgbClr val="3A3A4A"/>
                </a:solidFill>
                <a:latin typeface="Calibri"/>
                <a:ea typeface="Calibri"/>
                <a:cs typeface="Calibri"/>
              </a:rPr>
              <a:t>Other Complementary laws and bodies:</a:t>
            </a:r>
            <a:r>
              <a:rPr lang="en-IN" sz="1200" b="1" dirty="0">
                <a:solidFill>
                  <a:srgbClr val="3A3A4A"/>
                </a:solidFill>
                <a:latin typeface="Calibri"/>
                <a:ea typeface="Calibri"/>
                <a:cs typeface="Calibri"/>
              </a:rPr>
              <a:t> </a:t>
            </a:r>
            <a:endParaRPr lang="en-US" sz="1200" dirty="0">
              <a:latin typeface="Calibri"/>
              <a:ea typeface="Calibri"/>
              <a:cs typeface="Calibri"/>
            </a:endParaRPr>
          </a:p>
          <a:p>
            <a:pPr marL="628650" lvl="1" indent="-171450">
              <a:spcAft>
                <a:spcPts val="200"/>
              </a:spcAft>
              <a:buFont typeface="Arial,Sans-Serif"/>
              <a:buChar char="•"/>
              <a:defRPr sz="1150" b="0">
                <a:solidFill>
                  <a:srgbClr val="2A2A2A"/>
                </a:solidFill>
                <a:latin typeface="Avenir Next"/>
              </a:defRPr>
            </a:pPr>
            <a:r>
              <a:rPr lang="en-IN" sz="1200" dirty="0">
                <a:solidFill>
                  <a:srgbClr val="3A3A4A"/>
                </a:solidFill>
                <a:latin typeface="Calibri"/>
                <a:ea typeface="Calibri"/>
                <a:cs typeface="Calibri"/>
              </a:rPr>
              <a:t>EPA 1986 (provides environmental performance standards as objective benchmarks which can possibly be followed for greenwashing too), </a:t>
            </a:r>
            <a:endParaRPr lang="en-US" sz="1200" dirty="0">
              <a:latin typeface="Calibri"/>
              <a:ea typeface="Calibri"/>
              <a:cs typeface="Calibri"/>
            </a:endParaRPr>
          </a:p>
          <a:p>
            <a:pPr marL="628650" lvl="1" indent="-171450">
              <a:spcAft>
                <a:spcPts val="200"/>
              </a:spcAft>
              <a:buFont typeface="Arial,Sans-Serif"/>
              <a:buChar char="•"/>
              <a:defRPr sz="1150" b="0">
                <a:solidFill>
                  <a:srgbClr val="2A2A2A"/>
                </a:solidFill>
                <a:latin typeface="Avenir Next"/>
              </a:defRPr>
            </a:pPr>
            <a:r>
              <a:rPr lang="en-IN" sz="1200" dirty="0">
                <a:solidFill>
                  <a:srgbClr val="3A3A4A"/>
                </a:solidFill>
                <a:latin typeface="Calibri"/>
                <a:ea typeface="Calibri"/>
                <a:cs typeface="Calibri"/>
              </a:rPr>
              <a:t>NGT (broad remedial spectrum, </a:t>
            </a:r>
            <a:r>
              <a:rPr lang="en-IN" sz="1200" i="1" dirty="0" err="1">
                <a:solidFill>
                  <a:srgbClr val="3A3A4A"/>
                </a:solidFill>
                <a:latin typeface="Calibri"/>
                <a:ea typeface="Calibri"/>
                <a:cs typeface="Calibri"/>
              </a:rPr>
              <a:t>suo</a:t>
            </a:r>
            <a:r>
              <a:rPr lang="en-IN" sz="1200" i="1" dirty="0">
                <a:solidFill>
                  <a:srgbClr val="3A3A4A"/>
                </a:solidFill>
                <a:latin typeface="Calibri"/>
                <a:ea typeface="Calibri"/>
                <a:cs typeface="Calibri"/>
              </a:rPr>
              <a:t> motu</a:t>
            </a:r>
            <a:r>
              <a:rPr lang="en-IN" sz="1200" dirty="0">
                <a:solidFill>
                  <a:srgbClr val="3A3A4A"/>
                </a:solidFill>
                <a:latin typeface="Calibri"/>
                <a:ea typeface="Calibri"/>
                <a:cs typeface="Calibri"/>
              </a:rPr>
              <a:t> powers, proportionality-based penalties),</a:t>
            </a:r>
            <a:endParaRPr lang="en-US" sz="1200" dirty="0">
              <a:latin typeface="Calibri"/>
              <a:ea typeface="Calibri"/>
              <a:cs typeface="Calibri"/>
            </a:endParaRPr>
          </a:p>
          <a:p>
            <a:pPr marL="628650" lvl="1" indent="-171450">
              <a:spcAft>
                <a:spcPts val="200"/>
              </a:spcAft>
              <a:buFont typeface="Arial,Sans-Serif"/>
              <a:buChar char="•"/>
              <a:defRPr sz="1150" b="0">
                <a:solidFill>
                  <a:srgbClr val="2A2A2A"/>
                </a:solidFill>
                <a:latin typeface="Avenir Next"/>
              </a:defRPr>
            </a:pPr>
            <a:r>
              <a:rPr lang="en-IN" sz="1200" dirty="0">
                <a:solidFill>
                  <a:srgbClr val="3A3A4A"/>
                </a:solidFill>
                <a:latin typeface="Calibri"/>
                <a:ea typeface="Calibri"/>
                <a:cs typeface="Calibri"/>
              </a:rPr>
              <a:t>FSSAI (covers food-sector claims, has brought in mandatory scientific substantiation from Jan 2026 for new products), </a:t>
            </a:r>
            <a:endParaRPr lang="en-US" sz="1200" dirty="0">
              <a:latin typeface="Calibri"/>
              <a:ea typeface="Calibri"/>
              <a:cs typeface="Calibri"/>
            </a:endParaRPr>
          </a:p>
          <a:p>
            <a:pPr marL="628650" lvl="1" indent="-171450">
              <a:spcAft>
                <a:spcPts val="200"/>
              </a:spcAft>
              <a:buFont typeface="Arial,Sans-Serif"/>
              <a:buChar char="•"/>
              <a:defRPr sz="1150" b="0">
                <a:solidFill>
                  <a:srgbClr val="2A2A2A"/>
                </a:solidFill>
                <a:latin typeface="Avenir Next"/>
              </a:defRPr>
            </a:pPr>
            <a:r>
              <a:rPr lang="en-IN" sz="1200" dirty="0">
                <a:solidFill>
                  <a:srgbClr val="3A3A4A"/>
                </a:solidFill>
                <a:latin typeface="Calibri"/>
                <a:ea typeface="Calibri"/>
                <a:cs typeface="Calibri"/>
              </a:rPr>
              <a:t>BIS </a:t>
            </a:r>
            <a:r>
              <a:rPr lang="en-IN" sz="1200" dirty="0" err="1">
                <a:solidFill>
                  <a:srgbClr val="3A3A4A"/>
                </a:solidFill>
                <a:latin typeface="Calibri"/>
                <a:ea typeface="Calibri"/>
                <a:cs typeface="Calibri"/>
              </a:rPr>
              <a:t>Ecomark</a:t>
            </a:r>
            <a:r>
              <a:rPr lang="en-IN" sz="1200" dirty="0">
                <a:solidFill>
                  <a:srgbClr val="3A3A4A"/>
                </a:solidFill>
                <a:latin typeface="Calibri"/>
                <a:ea typeface="Calibri"/>
                <a:cs typeface="Calibri"/>
              </a:rPr>
              <a:t> (voluntary third-party certification can be obtained by anyone), </a:t>
            </a:r>
            <a:endParaRPr lang="en-US" sz="1200" dirty="0">
              <a:latin typeface="Calibri"/>
              <a:ea typeface="Calibri"/>
              <a:cs typeface="Calibri"/>
            </a:endParaRPr>
          </a:p>
          <a:p>
            <a:pPr marL="628650" lvl="1" indent="-171450">
              <a:spcAft>
                <a:spcPts val="200"/>
              </a:spcAft>
              <a:buFont typeface="Arial,Sans-Serif"/>
              <a:buChar char="•"/>
              <a:defRPr sz="1150" b="0">
                <a:solidFill>
                  <a:srgbClr val="2A2A2A"/>
                </a:solidFill>
                <a:latin typeface="Avenir Next"/>
              </a:defRPr>
            </a:pPr>
            <a:r>
              <a:rPr lang="en-IN" sz="1200" dirty="0">
                <a:solidFill>
                  <a:srgbClr val="3A3A4A"/>
                </a:solidFill>
                <a:latin typeface="Calibri"/>
                <a:ea typeface="Calibri"/>
                <a:cs typeface="Calibri"/>
              </a:rPr>
              <a:t>Trademark Act Section 9(1)(b) (provides indirect protection by refusing registration of deceptive 'green' marks)</a:t>
            </a:r>
            <a:endParaRPr dirty="0"/>
          </a:p>
        </p:txBody>
      </p:sp>
      <p:sp>
        <p:nvSpPr>
          <p:cNvPr id="24" name="TextBox 23"/>
          <p:cNvSpPr txBox="1"/>
          <p:nvPr/>
        </p:nvSpPr>
        <p:spPr>
          <a:xfrm>
            <a:off x="701795" y="6481720"/>
            <a:ext cx="1596912" cy="246221"/>
          </a:xfrm>
          <a:prstGeom prst="rect">
            <a:avLst/>
          </a:prstGeom>
          <a:noFill/>
        </p:spPr>
        <p:txBody>
          <a:bodyPr wrap="none" lIns="91440" tIns="45720" rIns="91440" bIns="45720" anchor="t">
            <a:spAutoFit/>
          </a:bodyPr>
          <a:lstStyle/>
          <a:p>
            <a:pPr>
              <a:defRPr sz="850">
                <a:solidFill>
                  <a:srgbClr val="6B6F6A"/>
                </a:solidFill>
                <a:latin typeface="Avenir Next"/>
              </a:defRPr>
            </a:pPr>
            <a:r>
              <a:rPr sz="1000"/>
              <a:t>Source base: Chapter 5.</a:t>
            </a:r>
          </a:p>
        </p:txBody>
      </p:sp>
    </p:spTree>
    <p:extLst>
      <p:ext uri="{BB962C8B-B14F-4D97-AF65-F5344CB8AC3E}">
        <p14:creationId xmlns:p14="http://schemas.microsoft.com/office/powerpoint/2010/main" val="25139195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55043" y="384048"/>
            <a:ext cx="11300000" cy="430887"/>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dirty="0"/>
              <a:t>Why Section 166(2) </a:t>
            </a:r>
            <a:r>
              <a:rPr lang="en-US"/>
              <a:t>of Companies Act </a:t>
            </a:r>
            <a:r>
              <a:rPr dirty="0"/>
              <a:t>Remains Weakly Enforced</a:t>
            </a:r>
          </a:p>
        </p:txBody>
      </p:sp>
      <p:sp>
        <p:nvSpPr>
          <p:cNvPr id="6" name="Rounded Rectangle 5"/>
          <p:cNvSpPr/>
          <p:nvPr/>
        </p:nvSpPr>
        <p:spPr>
          <a:xfrm>
            <a:off x="786384" y="1389888"/>
            <a:ext cx="10607040" cy="4412479"/>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153272" y="1840291"/>
            <a:ext cx="9289484" cy="3354765"/>
          </a:xfrm>
          <a:prstGeom prst="rect">
            <a:avLst/>
          </a:prstGeom>
          <a:noFill/>
        </p:spPr>
        <p:txBody>
          <a:bodyPr wrap="square" lIns="91440" tIns="45720" rIns="91440" bIns="45720" anchor="t">
            <a:spAutoFit/>
          </a:bodyPr>
          <a:lstStyle/>
          <a:p>
            <a:pPr marL="171450" indent="-171450">
              <a:spcAft>
                <a:spcPts val="600"/>
              </a:spcAft>
              <a:buFont typeface="Arial"/>
              <a:buChar char="•"/>
              <a:defRPr sz="1140">
                <a:solidFill>
                  <a:srgbClr val="2A2A2A"/>
                </a:solidFill>
                <a:latin typeface="Avenir Next"/>
              </a:defRPr>
            </a:pPr>
            <a:r>
              <a:rPr lang="en-US" sz="1400" dirty="0">
                <a:ea typeface="+mn-lt"/>
                <a:cs typeface="+mn-lt"/>
              </a:rPr>
              <a:t>Vague and Broad Scope: The terms "community," "environment," and "best interests of stakeholders" are broad and undefined.</a:t>
            </a:r>
          </a:p>
          <a:p>
            <a:pPr marL="171450" indent="-171450">
              <a:spcAft>
                <a:spcPts val="600"/>
              </a:spcAft>
              <a:buFont typeface="Arial"/>
              <a:buChar char="•"/>
              <a:defRPr sz="1140">
                <a:solidFill>
                  <a:srgbClr val="2A2A2A"/>
                </a:solidFill>
                <a:latin typeface="Avenir Next"/>
              </a:defRPr>
            </a:pPr>
            <a:r>
              <a:rPr lang="en-US" sz="1400" dirty="0">
                <a:ea typeface="+mn-lt"/>
                <a:cs typeface="+mn-lt"/>
              </a:rPr>
              <a:t>Challenge of Proving Mismanagement: It is difficult to distinguish between a bad business decision and a "breach of fiduciary duty," as courts generally avoid substituting their judgment for that of the board.</a:t>
            </a:r>
          </a:p>
          <a:p>
            <a:pPr marL="171450" indent="-171450">
              <a:spcAft>
                <a:spcPts val="600"/>
              </a:spcAft>
              <a:buFont typeface="Arial"/>
              <a:buChar char="•"/>
              <a:defRPr sz="1140">
                <a:solidFill>
                  <a:srgbClr val="2A2A2A"/>
                </a:solidFill>
                <a:latin typeface="Avenir Next"/>
              </a:defRPr>
            </a:pPr>
            <a:r>
              <a:rPr sz="1400" dirty="0"/>
              <a:t>Sections 241-244 and derivative-style pathways are narrow </a:t>
            </a:r>
            <a:r>
              <a:rPr lang="en-US" sz="1400" dirty="0"/>
              <a:t>in environmental cases </a:t>
            </a:r>
            <a:r>
              <a:rPr sz="1400" dirty="0"/>
              <a:t>and designed mainly for shareholder disputes.</a:t>
            </a:r>
          </a:p>
          <a:p>
            <a:pPr marL="171450" indent="-171450">
              <a:spcAft>
                <a:spcPts val="600"/>
              </a:spcAft>
              <a:buFont typeface="Arial"/>
              <a:buChar char="•"/>
              <a:defRPr sz="1140">
                <a:solidFill>
                  <a:srgbClr val="2A2A2A"/>
                </a:solidFill>
                <a:latin typeface="Avenir Next"/>
              </a:defRPr>
            </a:pPr>
            <a:r>
              <a:rPr sz="1400" dirty="0"/>
              <a:t>Section 166(7</a:t>
            </a:r>
            <a:r>
              <a:rPr lang="en-US" sz="1400" dirty="0"/>
              <a:t>):</a:t>
            </a:r>
            <a:r>
              <a:rPr sz="1400" dirty="0"/>
              <a:t> ₹1-5 lakh penalty is too small to deter board-level greenwashing in large companies.</a:t>
            </a:r>
          </a:p>
          <a:p>
            <a:pPr marL="171450" indent="-171450">
              <a:spcAft>
                <a:spcPts val="600"/>
              </a:spcAft>
              <a:buFont typeface="Arial"/>
              <a:buChar char="•"/>
              <a:defRPr sz="1140">
                <a:solidFill>
                  <a:srgbClr val="2A2A2A"/>
                </a:solidFill>
                <a:latin typeface="Avenir Next"/>
              </a:defRPr>
            </a:pPr>
            <a:r>
              <a:rPr lang="en-US" sz="1400" dirty="0">
                <a:ea typeface="+mn-lt"/>
                <a:cs typeface="+mn-lt"/>
              </a:rPr>
              <a:t>Conflict with Profit Maximization: Directors often prioritize short-term commercial goals over long-term environmental or community interests</a:t>
            </a:r>
          </a:p>
          <a:p>
            <a:pPr marL="171450" indent="-171450">
              <a:spcAft>
                <a:spcPts val="600"/>
              </a:spcAft>
              <a:buFont typeface="Arial"/>
              <a:buChar char="•"/>
              <a:defRPr sz="1140">
                <a:solidFill>
                  <a:srgbClr val="2A2A2A"/>
                </a:solidFill>
                <a:latin typeface="Avenir Next"/>
              </a:defRPr>
            </a:pPr>
            <a:r>
              <a:rPr lang="en-US" sz="1400" dirty="0"/>
              <a:t>No mandatory referral system moves a misleading claim from CCPA or SEBI into MCA action under Section 166(2).</a:t>
            </a:r>
          </a:p>
          <a:p>
            <a:pPr marL="171450" indent="-171450">
              <a:spcAft>
                <a:spcPts val="600"/>
              </a:spcAft>
              <a:buFont typeface="Arial"/>
              <a:buChar char="•"/>
              <a:defRPr sz="1140">
                <a:solidFill>
                  <a:srgbClr val="2A2A2A"/>
                </a:solidFill>
                <a:latin typeface="Avenir Next"/>
              </a:defRPr>
            </a:pPr>
            <a:r>
              <a:rPr lang="en-US" sz="1400" dirty="0"/>
              <a:t>"Protection of environment" needs judicial precedent linking with "environmental misrepresentation”, that’s the hurdle of enforcement.</a:t>
            </a:r>
          </a:p>
        </p:txBody>
      </p:sp>
      <p:sp>
        <p:nvSpPr>
          <p:cNvPr id="17" name="TextBox 16"/>
          <p:cNvSpPr txBox="1"/>
          <p:nvPr/>
        </p:nvSpPr>
        <p:spPr>
          <a:xfrm>
            <a:off x="789459" y="6259189"/>
            <a:ext cx="8367996" cy="246221"/>
          </a:xfrm>
          <a:prstGeom prst="rect">
            <a:avLst/>
          </a:prstGeom>
          <a:noFill/>
        </p:spPr>
        <p:txBody>
          <a:bodyPr wrap="none" lIns="91440" tIns="45720" rIns="91440" bIns="45720" anchor="t">
            <a:spAutoFit/>
          </a:bodyPr>
          <a:lstStyle/>
          <a:p>
            <a:pPr>
              <a:defRPr sz="850">
                <a:solidFill>
                  <a:srgbClr val="6B6F6A"/>
                </a:solidFill>
                <a:latin typeface="Avenir Next"/>
              </a:defRPr>
            </a:pPr>
            <a:r>
              <a:rPr sz="1000"/>
              <a:t>Source base: Chapter </a:t>
            </a:r>
            <a:r>
              <a:rPr lang="en-US" sz="1000"/>
              <a:t>3</a:t>
            </a:r>
            <a:r>
              <a:rPr sz="1000"/>
              <a:t> on Section 166(2)'s standing and enforcement deficit; Chapter 5 on MCA capacity, fragmentation, and referral gaps.</a:t>
            </a:r>
          </a:p>
        </p:txBody>
      </p:sp>
      <p:sp>
        <p:nvSpPr>
          <p:cNvPr id="18" name="TextBox 17"/>
          <p:cNvSpPr txBox="1"/>
          <p:nvPr/>
        </p:nvSpPr>
        <p:spPr>
          <a:xfrm>
            <a:off x="555043" y="900000"/>
            <a:ext cx="11000000" cy="553998"/>
          </a:xfrm>
          <a:prstGeom prst="rect">
            <a:avLst/>
          </a:prstGeom>
          <a:noFill/>
        </p:spPr>
        <p:txBody>
          <a:bodyPr wrap="square" lIns="45720" tIns="22860" rIns="45720" bIns="22860" anchor="t">
            <a:spAutoFit/>
          </a:bodyPr>
          <a:lstStyle/>
          <a:p>
            <a:r>
              <a:rPr sz="1100" b="0" i="0" dirty="0">
                <a:solidFill>
                  <a:srgbClr val="6B6F6A"/>
                </a:solidFill>
                <a:latin typeface="Avenir Next"/>
              </a:rPr>
              <a:t>Research Question 4 : </a:t>
            </a:r>
            <a:r>
              <a:rPr lang="en-IN" sz="1100" dirty="0">
                <a:ea typeface="+mn-lt"/>
                <a:cs typeface="+mn-lt"/>
              </a:rPr>
              <a:t>What duties of directors, disclosure obligations, and assurance requirements, under Indian company and securities law, can ground liability for misleading environmental claims?</a:t>
            </a:r>
            <a:endParaRPr lang="en-US" sz="1100" dirty="0">
              <a:ea typeface="+mn-lt"/>
              <a:cs typeface="+mn-lt"/>
            </a:endParaRPr>
          </a:p>
          <a:p>
            <a:pPr algn="l"/>
            <a:endParaRPr sz="1100" b="0" i="0" dirty="0">
              <a:solidFill>
                <a:srgbClr val="6B6F6A"/>
              </a:solidFill>
              <a:latin typeface="Avenir Next"/>
            </a:endParaRPr>
          </a:p>
        </p:txBody>
      </p:sp>
    </p:spTree>
    <p:extLst>
      <p:ext uri="{BB962C8B-B14F-4D97-AF65-F5344CB8AC3E}">
        <p14:creationId xmlns:p14="http://schemas.microsoft.com/office/powerpoint/2010/main" val="281526169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7850" y="480098"/>
            <a:ext cx="11300000" cy="430887"/>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t>SEBI's ESG Regime: Progress on Paper, </a:t>
            </a:r>
            <a:r>
              <a:rPr lang="en-US"/>
              <a:t>Backsliding in</a:t>
            </a:r>
            <a:r>
              <a:t> Practice</a:t>
            </a:r>
          </a:p>
        </p:txBody>
      </p:sp>
      <p:sp>
        <p:nvSpPr>
          <p:cNvPr id="5" name="TextBox 4"/>
          <p:cNvSpPr txBox="1"/>
          <p:nvPr/>
        </p:nvSpPr>
        <p:spPr>
          <a:xfrm>
            <a:off x="566928" y="1062574"/>
            <a:ext cx="9416424" cy="276999"/>
          </a:xfrm>
          <a:prstGeom prst="rect">
            <a:avLst/>
          </a:prstGeom>
          <a:noFill/>
        </p:spPr>
        <p:txBody>
          <a:bodyPr wrap="none" lIns="91440" tIns="45720" rIns="91440" bIns="45720" anchor="t">
            <a:spAutoFit/>
          </a:bodyPr>
          <a:lstStyle/>
          <a:p>
            <a:pPr>
              <a:defRPr sz="1200">
                <a:solidFill>
                  <a:srgbClr val="6B6F6A"/>
                </a:solidFill>
                <a:latin typeface="Avenir Next"/>
              </a:defRPr>
            </a:pPr>
            <a:r>
              <a:rPr lang="en-US"/>
              <a:t>SEBI's BRSR</a:t>
            </a:r>
            <a:r>
              <a:rPr dirty="0"/>
              <a:t> </a:t>
            </a:r>
            <a:r>
              <a:rPr lang="en-US"/>
              <a:t>has </a:t>
            </a:r>
            <a:r>
              <a:t>improved disclosure format, but scope, assurance, and enforcement remain too weak to make greenwashing costly.</a:t>
            </a:r>
          </a:p>
        </p:txBody>
      </p:sp>
      <p:sp>
        <p:nvSpPr>
          <p:cNvPr id="6" name="Rounded Rectangle 5"/>
          <p:cNvSpPr/>
          <p:nvPr/>
        </p:nvSpPr>
        <p:spPr>
          <a:xfrm>
            <a:off x="799190" y="1410019"/>
            <a:ext cx="10587831" cy="402235"/>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7115" y="1488602"/>
            <a:ext cx="10186416" cy="219456"/>
          </a:xfrm>
          <a:prstGeom prst="rect">
            <a:avLst/>
          </a:prstGeom>
          <a:noFill/>
        </p:spPr>
        <p:txBody>
          <a:bodyPr wrap="square" anchor="t">
            <a:spAutoFit/>
          </a:bodyPr>
          <a:lstStyle/>
          <a:p>
            <a:pPr algn="ctr">
              <a:defRPr sz="1300" b="1">
                <a:solidFill>
                  <a:srgbClr val="173F35"/>
                </a:solidFill>
                <a:latin typeface="Avenir Next Demi Bold"/>
              </a:defRPr>
            </a:pPr>
            <a:r>
              <a:t>SEBI has built an ESG architecture, but it still generates disclosure faster than it generates verification or deterrence.</a:t>
            </a:r>
          </a:p>
        </p:txBody>
      </p:sp>
      <p:sp>
        <p:nvSpPr>
          <p:cNvPr id="8" name="Rounded Rectangle 7"/>
          <p:cNvSpPr/>
          <p:nvPr/>
        </p:nvSpPr>
        <p:spPr>
          <a:xfrm>
            <a:off x="822960" y="1954869"/>
            <a:ext cx="2468880" cy="896112"/>
          </a:xfrm>
          <a:prstGeom prst="roundRect">
            <a:avLst/>
          </a:prstGeom>
          <a:solidFill>
            <a:srgbClr val="F5E7DE"/>
          </a:solidFill>
          <a:ln w="12700">
            <a:solidFill>
              <a:srgbClr val="F5E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dirty="0"/>
              <a:t>2021</a:t>
            </a:r>
          </a:p>
          <a:p>
            <a:pPr algn="ctr">
              <a:defRPr sz="1050">
                <a:solidFill>
                  <a:srgbClr val="2A2A2A"/>
                </a:solidFill>
                <a:latin typeface="Avenir Next"/>
              </a:defRPr>
            </a:pPr>
            <a:r>
              <a:rPr dirty="0"/>
              <a:t>BRSR becomes mandatory for the top 1000 listed entities</a:t>
            </a:r>
          </a:p>
        </p:txBody>
      </p:sp>
      <p:sp>
        <p:nvSpPr>
          <p:cNvPr id="9" name="Rounded Rectangle 8"/>
          <p:cNvSpPr/>
          <p:nvPr/>
        </p:nvSpPr>
        <p:spPr>
          <a:xfrm>
            <a:off x="3438144" y="1954869"/>
            <a:ext cx="2468880" cy="896112"/>
          </a:xfrm>
          <a:prstGeom prst="roundRect">
            <a:avLst/>
          </a:prstGeom>
          <a:solidFill>
            <a:srgbClr val="E8EFE6"/>
          </a:solidFill>
          <a:ln w="12700">
            <a:solidFill>
              <a:srgbClr val="E8EFE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t>2023</a:t>
            </a:r>
          </a:p>
          <a:p>
            <a:pPr algn="ctr">
              <a:defRPr sz="1050">
                <a:solidFill>
                  <a:srgbClr val="2A2A2A"/>
                </a:solidFill>
                <a:latin typeface="Avenir Next"/>
              </a:defRPr>
            </a:pPr>
            <a:r>
              <a:t>BRSR Core adds key KPIs, assurance track, and value-chain reporting</a:t>
            </a:r>
          </a:p>
        </p:txBody>
      </p:sp>
      <p:sp>
        <p:nvSpPr>
          <p:cNvPr id="10" name="Rounded Rectangle 9"/>
          <p:cNvSpPr/>
          <p:nvPr/>
        </p:nvSpPr>
        <p:spPr>
          <a:xfrm>
            <a:off x="6053328" y="1954869"/>
            <a:ext cx="2468880" cy="896112"/>
          </a:xfrm>
          <a:prstGeom prst="roundRect">
            <a:avLst/>
          </a:prstGeom>
          <a:solidFill>
            <a:srgbClr val="F7F0DE"/>
          </a:solidFill>
          <a:ln w="12700">
            <a:solidFill>
              <a:srgbClr val="F7F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dirty="0"/>
              <a:t>Dec 2024</a:t>
            </a:r>
          </a:p>
          <a:p>
            <a:pPr algn="ctr">
              <a:defRPr sz="1050">
                <a:solidFill>
                  <a:srgbClr val="2A2A2A"/>
                </a:solidFill>
                <a:latin typeface="Avenir Next"/>
              </a:defRPr>
            </a:pPr>
            <a:r>
              <a:rPr dirty="0"/>
              <a:t>assurance diluted and value-chain disclosure deferred and made voluntary</a:t>
            </a:r>
          </a:p>
        </p:txBody>
      </p:sp>
      <p:sp>
        <p:nvSpPr>
          <p:cNvPr id="11" name="Rounded Rectangle 10"/>
          <p:cNvSpPr/>
          <p:nvPr/>
        </p:nvSpPr>
        <p:spPr>
          <a:xfrm>
            <a:off x="8668512" y="1954869"/>
            <a:ext cx="2468880" cy="896112"/>
          </a:xfrm>
          <a:prstGeom prst="roundRect">
            <a:avLst/>
          </a:prstGeom>
          <a:solidFill>
            <a:srgbClr val="F5E7DE"/>
          </a:solidFill>
          <a:ln w="12700">
            <a:solidFill>
              <a:srgbClr val="F5E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t>2025</a:t>
            </a:r>
          </a:p>
          <a:p>
            <a:pPr algn="ctr">
              <a:defRPr sz="1050">
                <a:solidFill>
                  <a:srgbClr val="2A2A2A"/>
                </a:solidFill>
                <a:latin typeface="Avenir Next"/>
              </a:defRPr>
            </a:pPr>
            <a:r>
              <a:t>scope narrowed further even as the debt framework expands</a:t>
            </a:r>
          </a:p>
        </p:txBody>
      </p:sp>
      <p:sp>
        <p:nvSpPr>
          <p:cNvPr id="12" name="Rounded Rectangle 11"/>
          <p:cNvSpPr/>
          <p:nvPr/>
        </p:nvSpPr>
        <p:spPr>
          <a:xfrm>
            <a:off x="803750" y="3054864"/>
            <a:ext cx="3292762" cy="2317248"/>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972901" y="3134368"/>
            <a:ext cx="1389888" cy="360278"/>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venir Next"/>
              </a:defRPr>
            </a:pPr>
            <a:r>
              <a:t>Design limits</a:t>
            </a:r>
          </a:p>
        </p:txBody>
      </p:sp>
      <p:sp>
        <p:nvSpPr>
          <p:cNvPr id="14" name="TextBox 13"/>
          <p:cNvSpPr txBox="1"/>
          <p:nvPr/>
        </p:nvSpPr>
        <p:spPr>
          <a:xfrm>
            <a:off x="1009477" y="3554992"/>
            <a:ext cx="2761488" cy="1742015"/>
          </a:xfrm>
          <a:prstGeom prst="rect">
            <a:avLst/>
          </a:prstGeom>
          <a:noFill/>
        </p:spPr>
        <p:txBody>
          <a:bodyPr wrap="square" lIns="91440" tIns="45720" rIns="91440" bIns="45720" anchor="t">
            <a:spAutoFit/>
          </a:bodyPr>
          <a:lstStyle/>
          <a:p>
            <a:pPr marL="171450" indent="-171450">
              <a:spcAft>
                <a:spcPts val="600"/>
              </a:spcAft>
              <a:buFont typeface="Arial"/>
              <a:buChar char="•"/>
              <a:defRPr sz="1080">
                <a:solidFill>
                  <a:srgbClr val="2A2A2A"/>
                </a:solidFill>
                <a:latin typeface="Avenir Next"/>
              </a:defRPr>
            </a:pPr>
            <a:r>
              <a:t>BRSR still covers only the top 1000 listed entities, leaving major unlisted and lower-ranked emitters outside.</a:t>
            </a:r>
            <a:endParaRPr lang="en-US"/>
          </a:p>
          <a:p>
            <a:pPr marL="171450" indent="-171450">
              <a:spcAft>
                <a:spcPts val="600"/>
              </a:spcAft>
              <a:buFont typeface="Arial"/>
              <a:buChar char="•"/>
              <a:defRPr sz="1080">
                <a:solidFill>
                  <a:srgbClr val="2A2A2A"/>
                </a:solidFill>
                <a:latin typeface="Avenir Next"/>
              </a:defRPr>
            </a:pPr>
            <a:r>
              <a:t>The model is mostly single-materiality, so impact on people and environment can stay under-reported.</a:t>
            </a:r>
          </a:p>
          <a:p>
            <a:pPr marL="171450" indent="-171450">
              <a:spcAft>
                <a:spcPts val="600"/>
              </a:spcAft>
              <a:buFont typeface="Arial"/>
              <a:buChar char="•"/>
              <a:defRPr sz="1080">
                <a:solidFill>
                  <a:srgbClr val="2A2A2A"/>
                </a:solidFill>
                <a:latin typeface="Avenir Next"/>
              </a:defRPr>
            </a:pPr>
            <a:r>
              <a:rPr sz="1050"/>
              <a:t>No sector-specific metrics or mandatory GHG methodology means comparability remains weak.</a:t>
            </a:r>
          </a:p>
        </p:txBody>
      </p:sp>
      <p:sp>
        <p:nvSpPr>
          <p:cNvPr id="15" name="Rounded Rectangle 14"/>
          <p:cNvSpPr/>
          <p:nvPr/>
        </p:nvSpPr>
        <p:spPr>
          <a:xfrm>
            <a:off x="4468675" y="3048461"/>
            <a:ext cx="3267149" cy="229803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4612213" y="3134368"/>
            <a:ext cx="1719072" cy="360278"/>
          </a:xfrm>
          <a:prstGeom prst="round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173F35"/>
                </a:solidFill>
                <a:latin typeface="Avenir Next"/>
              </a:defRPr>
            </a:pPr>
            <a:r>
              <a:rPr lang="en-US"/>
              <a:t>Backsliding</a:t>
            </a:r>
            <a:endParaRPr lang="en-US" dirty="0"/>
          </a:p>
        </p:txBody>
      </p:sp>
      <p:sp>
        <p:nvSpPr>
          <p:cNvPr id="17" name="TextBox 16"/>
          <p:cNvSpPr txBox="1"/>
          <p:nvPr/>
        </p:nvSpPr>
        <p:spPr>
          <a:xfrm>
            <a:off x="4648789" y="3554992"/>
            <a:ext cx="2743200" cy="1575816"/>
          </a:xfrm>
          <a:prstGeom prst="rect">
            <a:avLst/>
          </a:prstGeom>
          <a:noFill/>
        </p:spPr>
        <p:txBody>
          <a:bodyPr wrap="square" lIns="91440" tIns="45720" rIns="91440" bIns="45720" anchor="t">
            <a:spAutoFit/>
          </a:bodyPr>
          <a:lstStyle/>
          <a:p>
            <a:pPr marL="171450" indent="-171450">
              <a:spcAft>
                <a:spcPts val="600"/>
              </a:spcAft>
              <a:buFont typeface="Arial"/>
              <a:buChar char="•"/>
              <a:defRPr sz="1080">
                <a:solidFill>
                  <a:srgbClr val="2A2A2A"/>
                </a:solidFill>
                <a:latin typeface="Avenir Next"/>
              </a:defRPr>
            </a:pPr>
            <a:r>
              <a:t>Reasonable assurance gave way to 'assessment or assurance', a much softer credibility signal.</a:t>
            </a:r>
            <a:endParaRPr lang="en-US"/>
          </a:p>
          <a:p>
            <a:pPr marL="171450" indent="-171450">
              <a:spcAft>
                <a:spcPts val="600"/>
              </a:spcAft>
              <a:buFont typeface="Arial"/>
              <a:buChar char="•"/>
              <a:defRPr sz="1080">
                <a:solidFill>
                  <a:srgbClr val="2A2A2A"/>
                </a:solidFill>
                <a:latin typeface="Avenir Next"/>
              </a:defRPr>
            </a:pPr>
            <a:r>
              <a:t>Phased rollout leaves most ESG data effectively self-certified for years.</a:t>
            </a:r>
          </a:p>
          <a:p>
            <a:pPr marL="171450" indent="-171450">
              <a:spcAft>
                <a:spcPts val="600"/>
              </a:spcAft>
              <a:buFont typeface="Arial"/>
              <a:buChar char="•"/>
              <a:defRPr sz="1080">
                <a:solidFill>
                  <a:srgbClr val="2A2A2A"/>
                </a:solidFill>
                <a:latin typeface="Avenir Next"/>
              </a:defRPr>
            </a:pPr>
            <a:r>
              <a:t>Value-chain reporting was deferred, shifted to voluntary, and narrowed by the 2% threshold plus 75% cap.</a:t>
            </a:r>
          </a:p>
        </p:txBody>
      </p:sp>
      <p:sp>
        <p:nvSpPr>
          <p:cNvPr id="18" name="Rounded Rectangle 17"/>
          <p:cNvSpPr/>
          <p:nvPr/>
        </p:nvSpPr>
        <p:spPr>
          <a:xfrm>
            <a:off x="8101583" y="3048461"/>
            <a:ext cx="3279955" cy="2618206"/>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8251525" y="3134368"/>
            <a:ext cx="1664208" cy="360278"/>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venir Next"/>
              </a:defRPr>
            </a:pPr>
            <a:r>
              <a:t>Enforcement reality</a:t>
            </a:r>
          </a:p>
        </p:txBody>
      </p:sp>
      <p:sp>
        <p:nvSpPr>
          <p:cNvPr id="20" name="TextBox 19"/>
          <p:cNvSpPr txBox="1"/>
          <p:nvPr/>
        </p:nvSpPr>
        <p:spPr>
          <a:xfrm>
            <a:off x="8288100" y="3554992"/>
            <a:ext cx="2743200" cy="2074414"/>
          </a:xfrm>
          <a:prstGeom prst="rect">
            <a:avLst/>
          </a:prstGeom>
          <a:noFill/>
        </p:spPr>
        <p:txBody>
          <a:bodyPr wrap="square" lIns="91440" tIns="45720" rIns="91440" bIns="45720" anchor="t">
            <a:spAutoFit/>
          </a:bodyPr>
          <a:lstStyle/>
          <a:p>
            <a:pPr marL="171450" indent="-171450">
              <a:spcAft>
                <a:spcPts val="600"/>
              </a:spcAft>
              <a:buFont typeface="Arial"/>
              <a:buChar char="•"/>
              <a:defRPr sz="1080">
                <a:solidFill>
                  <a:srgbClr val="2A2A2A"/>
                </a:solidFill>
                <a:latin typeface="Avenir Next"/>
              </a:defRPr>
            </a:pPr>
            <a:r>
              <a:rPr sz="1050" dirty="0" err="1"/>
              <a:t>Gensol-BluSmart</a:t>
            </a:r>
            <a:r>
              <a:rPr sz="1050" dirty="0"/>
              <a:t> shows SEBI can act, but the trigger was public scrutiny and whistleblowing, not routine ESG surveillance.</a:t>
            </a:r>
            <a:endParaRPr lang="en-US" sz="1050" dirty="0"/>
          </a:p>
          <a:p>
            <a:pPr marL="171450" indent="-171450">
              <a:spcAft>
                <a:spcPts val="600"/>
              </a:spcAft>
              <a:buFont typeface="Arial"/>
              <a:buChar char="•"/>
              <a:defRPr sz="1080">
                <a:solidFill>
                  <a:srgbClr val="2A2A2A"/>
                </a:solidFill>
                <a:latin typeface="Avenir Next"/>
              </a:defRPr>
            </a:pPr>
            <a:r>
              <a:t>SEBI's own Whole-Time Member publicly flagged false BRSR claims in January 2025.</a:t>
            </a:r>
          </a:p>
          <a:p>
            <a:pPr marL="171450" indent="-171450">
              <a:spcAft>
                <a:spcPts val="600"/>
              </a:spcAft>
              <a:buFont typeface="Arial"/>
              <a:buChar char="•"/>
              <a:defRPr sz="1080">
                <a:solidFill>
                  <a:srgbClr val="2A2A2A"/>
                </a:solidFill>
                <a:latin typeface="Avenir Next"/>
              </a:defRPr>
            </a:pPr>
            <a:r>
              <a:t>There is still no dedicated ESG enforcement vertical or systematic cross-check with pollution and compliance data.</a:t>
            </a:r>
          </a:p>
        </p:txBody>
      </p:sp>
      <p:sp>
        <p:nvSpPr>
          <p:cNvPr id="23" name="TextBox 22"/>
          <p:cNvSpPr txBox="1"/>
          <p:nvPr/>
        </p:nvSpPr>
        <p:spPr>
          <a:xfrm>
            <a:off x="887096" y="6503254"/>
            <a:ext cx="1351652" cy="223138"/>
          </a:xfrm>
          <a:prstGeom prst="rect">
            <a:avLst/>
          </a:prstGeom>
          <a:noFill/>
        </p:spPr>
        <p:txBody>
          <a:bodyPr wrap="none" lIns="91440" tIns="45720" rIns="91440" bIns="45720" anchor="t">
            <a:spAutoFit/>
          </a:bodyPr>
          <a:lstStyle/>
          <a:p>
            <a:pPr>
              <a:defRPr sz="850">
                <a:solidFill>
                  <a:srgbClr val="6B6F6A"/>
                </a:solidFill>
                <a:latin typeface="Avenir Next"/>
              </a:defRPr>
            </a:pPr>
            <a:r>
              <a:t>Source base: Chapter </a:t>
            </a:r>
            <a:r>
              <a:rPr lang="en-US"/>
              <a:t>5</a:t>
            </a:r>
          </a:p>
        </p:txBody>
      </p:sp>
      <p:sp>
        <p:nvSpPr>
          <p:cNvPr id="24" name="TextBox 23"/>
          <p:cNvSpPr txBox="1"/>
          <p:nvPr/>
        </p:nvSpPr>
        <p:spPr>
          <a:xfrm>
            <a:off x="10972800" y="6364224"/>
            <a:ext cx="548640" cy="228600"/>
          </a:xfrm>
          <a:prstGeom prst="rect">
            <a:avLst/>
          </a:prstGeom>
          <a:noFill/>
        </p:spPr>
        <p:txBody>
          <a:bodyPr wrap="none">
            <a:spAutoFit/>
          </a:bodyPr>
          <a:lstStyle/>
          <a:p>
            <a:pPr algn="r">
              <a:defRPr sz="900">
                <a:solidFill>
                  <a:srgbClr val="6B6F6A"/>
                </a:solidFill>
                <a:latin typeface="Avenir Next"/>
              </a:defRPr>
            </a:pPr>
            <a:r>
              <a:t>7</a:t>
            </a:r>
          </a:p>
        </p:txBody>
      </p:sp>
      <p:sp>
        <p:nvSpPr>
          <p:cNvPr id="25" name="Rounded Rectangle 24"/>
          <p:cNvSpPr/>
          <p:nvPr/>
        </p:nvSpPr>
        <p:spPr>
          <a:xfrm>
            <a:off x="799190" y="5760000"/>
            <a:ext cx="10587831" cy="620000"/>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929190" y="5830000"/>
            <a:ext cx="10327831" cy="480000"/>
          </a:xfrm>
          <a:prstGeom prst="rect">
            <a:avLst/>
          </a:prstGeom>
          <a:noFill/>
        </p:spPr>
        <p:txBody>
          <a:bodyPr wrap="square" lIns="45720" tIns="22860" rIns="45720" bIns="22860" anchor="ctr">
            <a:spAutoFit/>
          </a:bodyPr>
          <a:lstStyle/>
          <a:p>
            <a:pPr algn="ctr"/>
            <a:r>
              <a:rPr sz="1000" b="1" i="0">
                <a:solidFill>
                  <a:srgbClr val="095E4F"/>
                </a:solidFill>
                <a:latin typeface="Calibri"/>
              </a:rPr>
              <a:t>Answer to RQ4:  </a:t>
            </a:r>
            <a:r>
              <a:rPr sz="1000" b="0" i="0">
                <a:solidFill>
                  <a:srgbClr val="3A3A4A"/>
                </a:solidFill>
                <a:latin typeface="Calibri"/>
              </a:rPr>
              <a:t>the duties already exist. Section 166(2) places environmental protection inside a director’s job, and SEBI’s BRSR and BRSR Core create the disclosure and assurance obligations that could carry liability. What is missing is the trigger: narrow standing, ₹5 lakh penalties, softened assurance and no ESG enforcement vertical.</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52400" y="384048"/>
            <a:ext cx="11644435" cy="1107996"/>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dirty="0"/>
              <a:t>Greenwashing in India</a:t>
            </a:r>
            <a:r>
              <a:rPr lang="en-US" dirty="0"/>
              <a:t> Needs To Be Treated At Corporate Governance Level, Beyond Misleading Advertisements</a:t>
            </a:r>
          </a:p>
          <a:p>
            <a:pPr>
              <a:defRPr sz="2200" b="1">
                <a:solidFill>
                  <a:srgbClr val="173F35"/>
                </a:solidFill>
                <a:latin typeface="Avenir Next Demi Bold"/>
              </a:defRPr>
            </a:pPr>
            <a:endParaRPr dirty="0"/>
          </a:p>
        </p:txBody>
      </p:sp>
      <p:sp>
        <p:nvSpPr>
          <p:cNvPr id="5" name="TextBox 4"/>
          <p:cNvSpPr txBox="1"/>
          <p:nvPr/>
        </p:nvSpPr>
        <p:spPr>
          <a:xfrm>
            <a:off x="555043" y="1120000"/>
            <a:ext cx="11000000" cy="600164"/>
          </a:xfrm>
          <a:prstGeom prst="rect">
            <a:avLst/>
          </a:prstGeom>
          <a:noFill/>
        </p:spPr>
        <p:txBody>
          <a:bodyPr wrap="square" lIns="91440" tIns="45720" rIns="91440" bIns="45720" anchor="t">
            <a:spAutoFit/>
          </a:bodyPr>
          <a:lstStyle/>
          <a:p>
            <a:pPr>
              <a:defRPr sz="1200">
                <a:solidFill>
                  <a:srgbClr val="6B6F6A"/>
                </a:solidFill>
                <a:latin typeface="Avenir Next"/>
              </a:defRPr>
            </a:pPr>
            <a:r>
              <a:rPr sz="1100" b="0" dirty="0">
                <a:solidFill>
                  <a:srgbClr val="6B6F6A"/>
                </a:solidFill>
                <a:latin typeface="Avenir Next"/>
              </a:rPr>
              <a:t>Research Question 2: </a:t>
            </a:r>
            <a:r>
              <a:rPr lang="en-IN" sz="1100" dirty="0">
                <a:ea typeface="+mn-lt"/>
                <a:cs typeface="+mn-lt"/>
              </a:rPr>
              <a:t>What are the structural limitations of consumer protection and advertising law in addressing greenwashing, and what legal pathways exist through corporate governance?</a:t>
            </a:r>
            <a:endParaRPr lang="en-US" sz="1100" dirty="0">
              <a:ea typeface="+mn-lt"/>
              <a:cs typeface="+mn-lt"/>
            </a:endParaRPr>
          </a:p>
          <a:p>
            <a:pPr>
              <a:defRPr sz="1200">
                <a:solidFill>
                  <a:srgbClr val="6B6F6A"/>
                </a:solidFill>
                <a:latin typeface="Avenir Next"/>
              </a:defRPr>
            </a:pPr>
            <a:endParaRPr sz="1100" b="0" dirty="0">
              <a:solidFill>
                <a:srgbClr val="6B6F6A"/>
              </a:solidFill>
              <a:latin typeface="Avenir Next"/>
            </a:endParaRPr>
          </a:p>
        </p:txBody>
      </p:sp>
      <p:sp>
        <p:nvSpPr>
          <p:cNvPr id="6" name="Rounded Rectangle 5"/>
          <p:cNvSpPr/>
          <p:nvPr/>
        </p:nvSpPr>
        <p:spPr>
          <a:xfrm>
            <a:off x="786384" y="1552554"/>
            <a:ext cx="10607040" cy="658368"/>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36325" y="1661963"/>
            <a:ext cx="10222992" cy="492443"/>
          </a:xfrm>
          <a:prstGeom prst="rect">
            <a:avLst/>
          </a:prstGeom>
          <a:noFill/>
        </p:spPr>
        <p:txBody>
          <a:bodyPr wrap="square" lIns="91440" tIns="45720" rIns="91440" bIns="45720" anchor="t">
            <a:spAutoFit/>
          </a:bodyPr>
          <a:lstStyle/>
          <a:p>
            <a:pPr algn="ctr">
              <a:defRPr sz="1300" b="1">
                <a:solidFill>
                  <a:srgbClr val="173F35"/>
                </a:solidFill>
                <a:latin typeface="Avenir Next Demi Bold"/>
              </a:defRPr>
            </a:pPr>
            <a:r>
              <a:rPr lang="en-US" dirty="0"/>
              <a:t>A</a:t>
            </a:r>
            <a:r>
              <a:rPr dirty="0"/>
              <a:t> </a:t>
            </a:r>
            <a:r>
              <a:rPr lang="en-US" dirty="0"/>
              <a:t>consumer law and advertising</a:t>
            </a:r>
            <a:r>
              <a:rPr dirty="0"/>
              <a:t> </a:t>
            </a:r>
            <a:r>
              <a:rPr lang="en-US" dirty="0"/>
              <a:t>based </a:t>
            </a:r>
            <a:r>
              <a:rPr dirty="0"/>
              <a:t>framework can catch some claims, but it cannot control the </a:t>
            </a:r>
            <a:r>
              <a:rPr lang="en-US" dirty="0"/>
              <a:t>internal corporate</a:t>
            </a:r>
            <a:r>
              <a:rPr dirty="0"/>
              <a:t> systems that generate greenwashing.</a:t>
            </a:r>
          </a:p>
        </p:txBody>
      </p:sp>
      <p:sp>
        <p:nvSpPr>
          <p:cNvPr id="8" name="Chevron 7"/>
          <p:cNvSpPr/>
          <p:nvPr/>
        </p:nvSpPr>
        <p:spPr>
          <a:xfrm>
            <a:off x="1065366" y="5795042"/>
            <a:ext cx="190195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t>Product Labels</a:t>
            </a:r>
          </a:p>
        </p:txBody>
      </p:sp>
      <p:sp>
        <p:nvSpPr>
          <p:cNvPr id="9" name="Chevron 8"/>
          <p:cNvSpPr/>
          <p:nvPr/>
        </p:nvSpPr>
        <p:spPr>
          <a:xfrm>
            <a:off x="3022182" y="5795042"/>
            <a:ext cx="190195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t>Websites</a:t>
            </a:r>
          </a:p>
        </p:txBody>
      </p:sp>
      <p:sp>
        <p:nvSpPr>
          <p:cNvPr id="10" name="Chevron 9"/>
          <p:cNvSpPr/>
          <p:nvPr/>
        </p:nvSpPr>
        <p:spPr>
          <a:xfrm>
            <a:off x="4978998" y="5795042"/>
            <a:ext cx="190195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t>Sustainability Reports</a:t>
            </a:r>
          </a:p>
        </p:txBody>
      </p:sp>
      <p:sp>
        <p:nvSpPr>
          <p:cNvPr id="11" name="Chevron 10"/>
          <p:cNvSpPr/>
          <p:nvPr/>
        </p:nvSpPr>
        <p:spPr>
          <a:xfrm>
            <a:off x="6935814" y="5795042"/>
            <a:ext cx="190195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t>BRSR / ESG</a:t>
            </a:r>
          </a:p>
        </p:txBody>
      </p:sp>
      <p:sp>
        <p:nvSpPr>
          <p:cNvPr id="12" name="Chevron 11"/>
          <p:cNvSpPr/>
          <p:nvPr/>
        </p:nvSpPr>
        <p:spPr>
          <a:xfrm>
            <a:off x="8892630" y="5795042"/>
            <a:ext cx="2231136"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t>Green Debt / Net Zero</a:t>
            </a:r>
          </a:p>
        </p:txBody>
      </p:sp>
      <p:sp>
        <p:nvSpPr>
          <p:cNvPr id="19" name="Rounded Rectangle 18"/>
          <p:cNvSpPr/>
          <p:nvPr/>
        </p:nvSpPr>
        <p:spPr>
          <a:xfrm>
            <a:off x="6365299" y="2997695"/>
            <a:ext cx="5431536" cy="1636084"/>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485326" y="3282175"/>
            <a:ext cx="5189589" cy="1077218"/>
          </a:xfrm>
          <a:prstGeom prst="rect">
            <a:avLst/>
          </a:prstGeom>
          <a:noFill/>
        </p:spPr>
        <p:txBody>
          <a:bodyPr wrap="square" lIns="91440" tIns="45720" rIns="91440" bIns="45720" anchor="t">
            <a:spAutoFit/>
          </a:bodyPr>
          <a:lstStyle/>
          <a:p>
            <a:pPr algn="ctr">
              <a:defRPr sz="1600" b="0">
                <a:solidFill>
                  <a:srgbClr val="173F35"/>
                </a:solidFill>
                <a:latin typeface="Georgia"/>
              </a:defRPr>
            </a:pPr>
            <a:r>
              <a:rPr dirty="0"/>
              <a:t>Inference: </a:t>
            </a:r>
            <a:r>
              <a:rPr lang="en-US" dirty="0"/>
              <a:t>T</a:t>
            </a:r>
            <a:r>
              <a:rPr dirty="0"/>
              <a:t>he CCPA Guidelines are a useful first step, but they still operate inside a fragmented architecture with no lead regulator, no shared evidence protocol, and no integrated deterrence model.</a:t>
            </a:r>
          </a:p>
        </p:txBody>
      </p:sp>
      <p:sp>
        <p:nvSpPr>
          <p:cNvPr id="21" name="TextBox 20"/>
          <p:cNvSpPr txBox="1"/>
          <p:nvPr/>
        </p:nvSpPr>
        <p:spPr>
          <a:xfrm>
            <a:off x="566928" y="6400800"/>
            <a:ext cx="5663730" cy="246221"/>
          </a:xfrm>
          <a:prstGeom prst="rect">
            <a:avLst/>
          </a:prstGeom>
          <a:noFill/>
        </p:spPr>
        <p:txBody>
          <a:bodyPr wrap="none" lIns="91440" tIns="45720" rIns="91440" bIns="45720" anchor="t">
            <a:spAutoFit/>
          </a:bodyPr>
          <a:lstStyle/>
          <a:p>
            <a:pPr>
              <a:defRPr sz="850">
                <a:solidFill>
                  <a:srgbClr val="6B6F6A"/>
                </a:solidFill>
                <a:latin typeface="Avenir Next"/>
              </a:defRPr>
            </a:pPr>
            <a:r>
              <a:rPr sz="1000" dirty="0"/>
              <a:t>Source base: Chapter </a:t>
            </a:r>
            <a:r>
              <a:rPr lang="en-US" sz="1000" dirty="0"/>
              <a:t>2</a:t>
            </a:r>
            <a:r>
              <a:rPr sz="1000" dirty="0"/>
              <a:t> consumer-law analysis</a:t>
            </a:r>
            <a:r>
              <a:rPr lang="en-US" sz="1000" dirty="0"/>
              <a:t>;</a:t>
            </a:r>
            <a:r>
              <a:rPr sz="1000" dirty="0"/>
              <a:t> Chapter 5 on fragmentation and architecture.</a:t>
            </a:r>
          </a:p>
        </p:txBody>
      </p:sp>
      <p:sp>
        <p:nvSpPr>
          <p:cNvPr id="23" name="Rounded Rectangle 9">
            <a:extLst>
              <a:ext uri="{FF2B5EF4-FFF2-40B4-BE49-F238E27FC236}">
                <a16:creationId xmlns:a16="http://schemas.microsoft.com/office/drawing/2014/main" id="{0E653A44-3F67-9BCF-3AE1-8BC7E169994B}"/>
              </a:ext>
            </a:extLst>
          </p:cNvPr>
          <p:cNvSpPr/>
          <p:nvPr/>
        </p:nvSpPr>
        <p:spPr>
          <a:xfrm>
            <a:off x="646996" y="2390630"/>
            <a:ext cx="5212080" cy="3232991"/>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p>
        </p:txBody>
      </p:sp>
      <p:sp>
        <p:nvSpPr>
          <p:cNvPr id="24" name="TextBox 11">
            <a:extLst>
              <a:ext uri="{FF2B5EF4-FFF2-40B4-BE49-F238E27FC236}">
                <a16:creationId xmlns:a16="http://schemas.microsoft.com/office/drawing/2014/main" id="{2FA7C47A-7E34-1C32-1E36-4508B062D93C}"/>
              </a:ext>
            </a:extLst>
          </p:cNvPr>
          <p:cNvSpPr txBox="1"/>
          <p:nvPr/>
        </p:nvSpPr>
        <p:spPr>
          <a:xfrm>
            <a:off x="875596" y="2463783"/>
            <a:ext cx="4846320" cy="3159839"/>
          </a:xfrm>
          <a:prstGeom prst="rect">
            <a:avLst/>
          </a:prstGeom>
          <a:noFill/>
        </p:spPr>
        <p:txBody>
          <a:bodyPr wrap="square" lIns="91440" tIns="45720" rIns="91440" bIns="4572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spcAft>
                <a:spcPts val="300"/>
              </a:spcAft>
              <a:defRPr sz="1500" b="1">
                <a:solidFill>
                  <a:srgbClr val="095E4F"/>
                </a:solidFill>
                <a:latin typeface="Calibri"/>
              </a:defRPr>
            </a:pPr>
            <a:r>
              <a:rPr dirty="0"/>
              <a:t>CPA 2019 &amp; CCPA </a:t>
            </a:r>
            <a:r>
              <a:rPr lang="en-US" dirty="0"/>
              <a:t>Greenwashing Guidelines</a:t>
            </a:r>
            <a:r>
              <a:rPr dirty="0"/>
              <a:t> — </a:t>
            </a:r>
            <a:endParaRPr lang="en-US" dirty="0"/>
          </a:p>
          <a:p>
            <a:pPr>
              <a:spcAft>
                <a:spcPts val="300"/>
              </a:spcAft>
              <a:defRPr sz="1500" b="1">
                <a:solidFill>
                  <a:srgbClr val="095E4F"/>
                </a:solidFill>
                <a:latin typeface="Calibri"/>
              </a:defRPr>
            </a:pPr>
            <a:r>
              <a:rPr dirty="0"/>
              <a:t>Structural </a:t>
            </a:r>
            <a:r>
              <a:rPr lang="en-US" dirty="0"/>
              <a:t>Limitations</a:t>
            </a:r>
            <a:endParaRPr dirty="0"/>
          </a:p>
          <a:p>
            <a:pPr algn="l">
              <a:spcAft>
                <a:spcPts val="150"/>
              </a:spcAft>
              <a:defRPr sz="1050" b="0">
                <a:solidFill>
                  <a:srgbClr val="3A3A4A"/>
                </a:solidFill>
                <a:latin typeface="Calibri"/>
              </a:defRPr>
            </a:pPr>
            <a:r>
              <a:rPr sz="1200" dirty="0"/>
              <a:t>1. Reactive, complaint-driven architecture — intervention occurs after claims enter the market.</a:t>
            </a:r>
            <a:endParaRPr sz="1200" dirty="0">
              <a:ea typeface="Calibri"/>
              <a:cs typeface="Calibri"/>
            </a:endParaRPr>
          </a:p>
          <a:p>
            <a:pPr algn="l">
              <a:spcAft>
                <a:spcPts val="150"/>
              </a:spcAft>
              <a:defRPr sz="1050" b="0">
                <a:solidFill>
                  <a:srgbClr val="3A3A4A"/>
                </a:solidFill>
                <a:latin typeface="Calibri"/>
              </a:defRPr>
            </a:pPr>
            <a:r>
              <a:rPr sz="1200" dirty="0"/>
              <a:t>2. Transactional conception of harm — treats greenwashing as individual consumer deception, not systemic governance failure.</a:t>
            </a:r>
          </a:p>
          <a:p>
            <a:pPr algn="l">
              <a:spcAft>
                <a:spcPts val="150"/>
              </a:spcAft>
              <a:defRPr sz="1050" b="0">
                <a:solidFill>
                  <a:srgbClr val="3A3A4A"/>
                </a:solidFill>
                <a:latin typeface="Calibri"/>
              </a:defRPr>
            </a:pPr>
            <a:r>
              <a:rPr sz="1200" dirty="0"/>
              <a:t>3. Evidentiary asymmetry — burden on complainant; corporations control the information.</a:t>
            </a:r>
          </a:p>
          <a:p>
            <a:pPr algn="l">
              <a:spcAft>
                <a:spcPts val="150"/>
              </a:spcAft>
              <a:defRPr sz="1050" b="0">
                <a:solidFill>
                  <a:srgbClr val="3A3A4A"/>
                </a:solidFill>
                <a:latin typeface="Calibri"/>
              </a:defRPr>
            </a:pPr>
            <a:r>
              <a:rPr sz="1200" dirty="0"/>
              <a:t>4. No internal governance mandates — Guidelines regulate the claim, not the organizational conditions producing it.</a:t>
            </a:r>
          </a:p>
          <a:p>
            <a:pPr algn="l">
              <a:spcAft>
                <a:spcPts val="150"/>
              </a:spcAft>
              <a:defRPr sz="1050" b="0">
                <a:solidFill>
                  <a:srgbClr val="3A3A4A"/>
                </a:solidFill>
                <a:latin typeface="Calibri"/>
              </a:defRPr>
            </a:pPr>
            <a:r>
              <a:rPr sz="1200" dirty="0"/>
              <a:t>5. Puffery exception — 'obvious hyperboles' carve-out creates loopholes for vague environmental language.</a:t>
            </a:r>
          </a:p>
          <a:p>
            <a:pPr algn="l">
              <a:spcAft>
                <a:spcPts val="0"/>
              </a:spcAft>
              <a:defRPr sz="1050" b="0">
                <a:solidFill>
                  <a:srgbClr val="3A3A4A"/>
                </a:solidFill>
                <a:latin typeface="Calibri"/>
              </a:defRPr>
            </a:pPr>
            <a:r>
              <a:rPr sz="1200" dirty="0"/>
              <a:t>6. No director / board-level accountability — fines imposed on entities, not decision-makers.</a:t>
            </a:r>
          </a:p>
          <a:p>
            <a:pPr>
              <a:defRPr sz="1050" b="0">
                <a:solidFill>
                  <a:srgbClr val="3A3A4A"/>
                </a:solidFill>
                <a:latin typeface="Calibri"/>
              </a:defRPr>
            </a:pPr>
            <a:r>
              <a:rPr lang="en-US" sz="1200" dirty="0">
                <a:ea typeface="Calibri"/>
                <a:cs typeface="Calibri"/>
              </a:rPr>
              <a:t>7. Guidelines only: may not stand legal test</a:t>
            </a:r>
          </a:p>
        </p:txBody>
      </p:sp>
      <p:sp>
        <p:nvSpPr>
          <p:cNvPr id="25" name="Rounded Rectangle 24"/>
          <p:cNvSpPr/>
          <p:nvPr/>
        </p:nvSpPr>
        <p:spPr>
          <a:xfrm>
            <a:off x="6365299" y="4780000"/>
            <a:ext cx="5431536" cy="900000"/>
          </a:xfrm>
          <a:prstGeom prst="roundRect">
            <a:avLst>
              <a:gd name="adj" fmla="val 14000"/>
            </a:avLst>
          </a:prstGeom>
          <a:solidFill>
            <a:srgbClr val="E8EFE6"/>
          </a:solidFill>
          <a:ln w="12700">
            <a:solidFill>
              <a:srgbClr val="C2D3B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6495299" y="4850000"/>
            <a:ext cx="5171536" cy="760000"/>
          </a:xfrm>
          <a:prstGeom prst="rect">
            <a:avLst/>
          </a:prstGeom>
          <a:noFill/>
        </p:spPr>
        <p:txBody>
          <a:bodyPr wrap="square" lIns="45720" tIns="22860" rIns="45720" bIns="22860" anchor="ctr">
            <a:spAutoFit/>
          </a:bodyPr>
          <a:lstStyle/>
          <a:p>
            <a:pPr algn="l"/>
            <a:r>
              <a:rPr sz="1000" b="1" i="0">
                <a:solidFill>
                  <a:srgbClr val="095E4F"/>
                </a:solidFill>
                <a:latin typeface="Calibri"/>
              </a:rPr>
              <a:t>Answer to RQ2:  </a:t>
            </a:r>
            <a:r>
              <a:rPr sz="1000" b="0" i="0">
                <a:solidFill>
                  <a:srgbClr val="3A3A4A"/>
                </a:solidFill>
                <a:latin typeface="Calibri"/>
              </a:rPr>
              <a:t>consumer law can only reach the claim after it is published. The pathway that reaches the system behind the claim runs through company law — the director’s duty in Section 166(2), board-level ESG oversight, and SEBI’s disclosure and assurance rules.</a:t>
            </a:r>
          </a:p>
        </p:txBody>
      </p:sp>
    </p:spTree>
    <p:extLst>
      <p:ext uri="{BB962C8B-B14F-4D97-AF65-F5344CB8AC3E}">
        <p14:creationId xmlns:p14="http://schemas.microsoft.com/office/powerpoint/2010/main" val="30479542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2126" y="384048"/>
            <a:ext cx="10594902" cy="430887"/>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dirty="0"/>
              <a:t>India Has Legal </a:t>
            </a:r>
            <a:r>
              <a:rPr lang="en-US" dirty="0"/>
              <a:t>Grounds</a:t>
            </a:r>
            <a:r>
              <a:rPr dirty="0"/>
              <a:t>, but the </a:t>
            </a:r>
            <a:r>
              <a:rPr lang="en-US" dirty="0"/>
              <a:t>Enforcement Pathway</a:t>
            </a:r>
            <a:r>
              <a:rPr dirty="0"/>
              <a:t> Is Weak</a:t>
            </a:r>
          </a:p>
        </p:txBody>
      </p:sp>
      <p:sp>
        <p:nvSpPr>
          <p:cNvPr id="5" name="TextBox 4"/>
          <p:cNvSpPr txBox="1"/>
          <p:nvPr/>
        </p:nvSpPr>
        <p:spPr>
          <a:xfrm>
            <a:off x="566928" y="960120"/>
            <a:ext cx="7102265" cy="276999"/>
          </a:xfrm>
          <a:prstGeom prst="rect">
            <a:avLst/>
          </a:prstGeom>
          <a:noFill/>
        </p:spPr>
        <p:txBody>
          <a:bodyPr wrap="none" lIns="91440" tIns="45720" rIns="91440" bIns="45720" anchor="t">
            <a:spAutoFit/>
          </a:bodyPr>
          <a:lstStyle/>
          <a:p>
            <a:pPr>
              <a:defRPr sz="1200">
                <a:solidFill>
                  <a:srgbClr val="6B6F6A"/>
                </a:solidFill>
                <a:latin typeface="Avenir Next"/>
              </a:defRPr>
            </a:pPr>
            <a:r>
              <a:rPr lang="en-US"/>
              <a:t>There is </a:t>
            </a:r>
            <a:r>
              <a:t>doctrinal strength </a:t>
            </a:r>
            <a:r>
              <a:rPr lang="en-US"/>
              <a:t>in laws but has</a:t>
            </a:r>
            <a:r>
              <a:t> not yet been converted into visible, routine </a:t>
            </a:r>
            <a:r>
              <a:rPr lang="en-US"/>
              <a:t>enforcement</a:t>
            </a:r>
            <a:r>
              <a:t>.</a:t>
            </a:r>
          </a:p>
        </p:txBody>
      </p:sp>
      <p:sp>
        <p:nvSpPr>
          <p:cNvPr id="8" name="Rounded Rectangle 7"/>
          <p:cNvSpPr/>
          <p:nvPr/>
        </p:nvSpPr>
        <p:spPr>
          <a:xfrm>
            <a:off x="718950" y="1883232"/>
            <a:ext cx="4919472" cy="2743200"/>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920118" y="2084400"/>
            <a:ext cx="1719072" cy="347472"/>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a:t>Already</a:t>
            </a:r>
            <a:r>
              <a:t> in law</a:t>
            </a:r>
          </a:p>
        </p:txBody>
      </p:sp>
      <p:sp>
        <p:nvSpPr>
          <p:cNvPr id="10" name="TextBox 9"/>
          <p:cNvSpPr txBox="1"/>
          <p:nvPr/>
        </p:nvSpPr>
        <p:spPr>
          <a:xfrm>
            <a:off x="956694" y="2541600"/>
            <a:ext cx="4352544" cy="1825115"/>
          </a:xfrm>
          <a:prstGeom prst="rect">
            <a:avLst/>
          </a:prstGeom>
          <a:noFill/>
        </p:spPr>
        <p:txBody>
          <a:bodyPr wrap="square" lIns="91440" tIns="45720" rIns="91440" bIns="45720" anchor="t">
            <a:spAutoFit/>
          </a:bodyPr>
          <a:lstStyle/>
          <a:p>
            <a:pPr marL="171450" indent="-171450">
              <a:spcAft>
                <a:spcPts val="600"/>
              </a:spcAft>
              <a:buFont typeface="Arial"/>
              <a:buChar char="•"/>
              <a:defRPr sz="1220">
                <a:solidFill>
                  <a:srgbClr val="2A2A2A"/>
                </a:solidFill>
                <a:latin typeface="Avenir Next"/>
              </a:defRPr>
            </a:pPr>
            <a:r>
              <a:rPr dirty="0"/>
              <a:t>Section 166(2) expressly places environmental protection inside directors' duties.</a:t>
            </a:r>
            <a:endParaRPr lang="en-US" dirty="0"/>
          </a:p>
          <a:p>
            <a:pPr marL="171450" indent="-171450">
              <a:spcAft>
                <a:spcPts val="600"/>
              </a:spcAft>
              <a:buFont typeface="Arial"/>
              <a:buChar char="•"/>
              <a:defRPr sz="1220">
                <a:solidFill>
                  <a:srgbClr val="2A2A2A"/>
                </a:solidFill>
                <a:latin typeface="Avenir Next"/>
              </a:defRPr>
            </a:pPr>
            <a:r>
              <a:rPr dirty="0"/>
              <a:t>Tata-Mistry and M.K. Ranjitsinh strengthen the seriousness of environmental accountability.</a:t>
            </a:r>
          </a:p>
          <a:p>
            <a:pPr marL="171450" indent="-171450">
              <a:spcAft>
                <a:spcPts val="600"/>
              </a:spcAft>
              <a:buFont typeface="Arial"/>
              <a:buChar char="•"/>
              <a:defRPr sz="1220">
                <a:solidFill>
                  <a:srgbClr val="2A2A2A"/>
                </a:solidFill>
                <a:latin typeface="Avenir Next"/>
              </a:defRPr>
            </a:pPr>
            <a:r>
              <a:rPr sz="1200" dirty="0"/>
              <a:t>SEBI's BRSR and BRSR Core </a:t>
            </a:r>
            <a:r>
              <a:rPr sz="1200" dirty="0" err="1"/>
              <a:t>formalise</a:t>
            </a:r>
            <a:r>
              <a:rPr sz="1200" dirty="0"/>
              <a:t> sustainability disclosure obligations.</a:t>
            </a:r>
          </a:p>
          <a:p>
            <a:pPr marL="171450" indent="-171450">
              <a:spcAft>
                <a:spcPts val="600"/>
              </a:spcAft>
              <a:buFont typeface="Arial"/>
              <a:buChar char="•"/>
              <a:defRPr sz="1220">
                <a:solidFill>
                  <a:srgbClr val="2A2A2A"/>
                </a:solidFill>
                <a:latin typeface="Avenir Next"/>
              </a:defRPr>
            </a:pPr>
            <a:r>
              <a:rPr dirty="0"/>
              <a:t>Consumer law and CCPA guidelines already regulate misleading green claims.</a:t>
            </a:r>
          </a:p>
        </p:txBody>
      </p:sp>
      <p:sp>
        <p:nvSpPr>
          <p:cNvPr id="11" name="Rounded Rectangle 10"/>
          <p:cNvSpPr/>
          <p:nvPr/>
        </p:nvSpPr>
        <p:spPr>
          <a:xfrm>
            <a:off x="5839590" y="1883232"/>
            <a:ext cx="5468112" cy="2743200"/>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6059046" y="2084400"/>
            <a:ext cx="1883664" cy="347472"/>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dirty="0"/>
              <a:t>Lack of Case enforcement</a:t>
            </a:r>
            <a:endParaRPr dirty="0"/>
          </a:p>
        </p:txBody>
      </p:sp>
      <p:sp>
        <p:nvSpPr>
          <p:cNvPr id="13" name="TextBox 12"/>
          <p:cNvSpPr txBox="1"/>
          <p:nvPr/>
        </p:nvSpPr>
        <p:spPr>
          <a:xfrm>
            <a:off x="6095622" y="2541600"/>
            <a:ext cx="4846320" cy="1825115"/>
          </a:xfrm>
          <a:prstGeom prst="rect">
            <a:avLst/>
          </a:prstGeom>
          <a:noFill/>
        </p:spPr>
        <p:txBody>
          <a:bodyPr wrap="square" lIns="91440" tIns="45720" rIns="91440" bIns="45720" anchor="t">
            <a:spAutoFit/>
          </a:bodyPr>
          <a:lstStyle/>
          <a:p>
            <a:pPr marL="171450" indent="-171450">
              <a:spcAft>
                <a:spcPts val="600"/>
              </a:spcAft>
              <a:buFont typeface="Arial"/>
              <a:buChar char="•"/>
              <a:defRPr sz="1220">
                <a:solidFill>
                  <a:srgbClr val="2A2A2A"/>
                </a:solidFill>
                <a:latin typeface="Avenir Next"/>
              </a:defRPr>
            </a:pPr>
            <a:r>
              <a:t>No reported director liability under Section 166(2) for environmental misrepresentation.</a:t>
            </a:r>
            <a:endParaRPr lang="en-US"/>
          </a:p>
          <a:p>
            <a:pPr marL="171450" indent="-171450">
              <a:spcAft>
                <a:spcPts val="600"/>
              </a:spcAft>
              <a:buFont typeface="Arial"/>
              <a:buChar char="•"/>
              <a:defRPr sz="1220">
                <a:solidFill>
                  <a:srgbClr val="2A2A2A"/>
                </a:solidFill>
                <a:latin typeface="Avenir Next"/>
              </a:defRPr>
            </a:pPr>
            <a:r>
              <a:t>Standing is narrow, so affected stakeholders lack a clear direct route.</a:t>
            </a:r>
          </a:p>
          <a:p>
            <a:pPr marL="171450" indent="-171450">
              <a:spcAft>
                <a:spcPts val="600"/>
              </a:spcAft>
              <a:buFont typeface="Arial"/>
              <a:buChar char="•"/>
              <a:defRPr sz="1220">
                <a:solidFill>
                  <a:srgbClr val="2A2A2A"/>
                </a:solidFill>
                <a:latin typeface="Avenir Next"/>
              </a:defRPr>
            </a:pPr>
            <a:r>
              <a:rPr sz="1200" dirty="0"/>
              <a:t>Section 166(7) penalties remain commercially minor for large companies.</a:t>
            </a:r>
          </a:p>
          <a:p>
            <a:pPr marL="171450" indent="-171450">
              <a:spcAft>
                <a:spcPts val="600"/>
              </a:spcAft>
              <a:buFont typeface="Arial"/>
              <a:buChar char="•"/>
              <a:defRPr sz="1220">
                <a:solidFill>
                  <a:srgbClr val="2A2A2A"/>
                </a:solidFill>
                <a:latin typeface="Avenir Next"/>
              </a:defRPr>
            </a:pPr>
            <a:r>
              <a:t>BRSR assurance is partial and delayed, leaving much ESG data effectively self-certified.</a:t>
            </a:r>
          </a:p>
        </p:txBody>
      </p:sp>
      <p:sp>
        <p:nvSpPr>
          <p:cNvPr id="17" name="TextBox 16"/>
          <p:cNvSpPr txBox="1"/>
          <p:nvPr/>
        </p:nvSpPr>
        <p:spPr>
          <a:xfrm>
            <a:off x="566928" y="6252446"/>
            <a:ext cx="5062604" cy="246221"/>
          </a:xfrm>
          <a:prstGeom prst="rect">
            <a:avLst/>
          </a:prstGeom>
          <a:noFill/>
        </p:spPr>
        <p:txBody>
          <a:bodyPr wrap="none" lIns="91440" tIns="45720" rIns="91440" bIns="45720" anchor="t">
            <a:spAutoFit/>
          </a:bodyPr>
          <a:lstStyle/>
          <a:p>
            <a:pPr>
              <a:defRPr sz="850">
                <a:solidFill>
                  <a:srgbClr val="6B6F6A"/>
                </a:solidFill>
                <a:latin typeface="Avenir Next"/>
              </a:defRPr>
            </a:pPr>
            <a:r>
              <a:rPr sz="1000"/>
              <a:t>Source base: </a:t>
            </a:r>
            <a:r>
              <a:rPr lang="en-US" sz="1000"/>
              <a:t>Chapter</a:t>
            </a:r>
            <a:r>
              <a:rPr sz="1000"/>
              <a:t> 3 on Section 166 and Chapter 5 on BRSR design weaknesses.</a:t>
            </a:r>
          </a:p>
        </p:txBody>
      </p:sp>
      <p:sp>
        <p:nvSpPr>
          <p:cNvPr id="2" name="Rounded Rectangle 1">
            <a:extLst>
              <a:ext uri="{FF2B5EF4-FFF2-40B4-BE49-F238E27FC236}">
                <a16:creationId xmlns:a16="http://schemas.microsoft.com/office/drawing/2014/main" id="{31D2653C-AA1D-EB96-9FD8-1D9C12FA8911}"/>
              </a:ext>
            </a:extLst>
          </p:cNvPr>
          <p:cNvSpPr/>
          <p:nvPr/>
        </p:nvSpPr>
        <p:spPr>
          <a:xfrm>
            <a:off x="822960" y="4994656"/>
            <a:ext cx="2560320" cy="1152144"/>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a:extLst>
              <a:ext uri="{FF2B5EF4-FFF2-40B4-BE49-F238E27FC236}">
                <a16:creationId xmlns:a16="http://schemas.microsoft.com/office/drawing/2014/main" id="{EA45468F-BB4A-4C6B-D391-61D333C81DAF}"/>
              </a:ext>
            </a:extLst>
          </p:cNvPr>
          <p:cNvSpPr/>
          <p:nvPr/>
        </p:nvSpPr>
        <p:spPr>
          <a:xfrm>
            <a:off x="822960" y="4994656"/>
            <a:ext cx="2560320" cy="7315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a:extLst>
              <a:ext uri="{FF2B5EF4-FFF2-40B4-BE49-F238E27FC236}">
                <a16:creationId xmlns:a16="http://schemas.microsoft.com/office/drawing/2014/main" id="{E13F0F5A-3BB8-8B7E-7EA6-5EECBB00BD2C}"/>
              </a:ext>
            </a:extLst>
          </p:cNvPr>
          <p:cNvSpPr txBox="1"/>
          <p:nvPr/>
        </p:nvSpPr>
        <p:spPr>
          <a:xfrm>
            <a:off x="969264" y="5122672"/>
            <a:ext cx="2267712" cy="384048"/>
          </a:xfrm>
          <a:prstGeom prst="rect">
            <a:avLst/>
          </a:prstGeom>
          <a:noFill/>
        </p:spPr>
        <p:txBody>
          <a:bodyPr wrap="square" anchor="t">
            <a:spAutoFit/>
          </a:bodyPr>
          <a:lstStyle/>
          <a:p>
            <a:pPr algn="l">
              <a:defRPr sz="1600" b="1">
                <a:solidFill>
                  <a:srgbClr val="173F35"/>
                </a:solidFill>
                <a:latin typeface="Avenir Next Demi Bold"/>
              </a:defRPr>
            </a:pPr>
            <a:r>
              <a:rPr dirty="0"/>
              <a:t>Australia</a:t>
            </a:r>
          </a:p>
        </p:txBody>
      </p:sp>
      <p:sp>
        <p:nvSpPr>
          <p:cNvPr id="14" name="TextBox 13">
            <a:extLst>
              <a:ext uri="{FF2B5EF4-FFF2-40B4-BE49-F238E27FC236}">
                <a16:creationId xmlns:a16="http://schemas.microsoft.com/office/drawing/2014/main" id="{331775EE-D103-F149-F830-2F0D5D597336}"/>
              </a:ext>
            </a:extLst>
          </p:cNvPr>
          <p:cNvSpPr txBox="1"/>
          <p:nvPr/>
        </p:nvSpPr>
        <p:spPr>
          <a:xfrm>
            <a:off x="969264" y="5488432"/>
            <a:ext cx="2267712" cy="274320"/>
          </a:xfrm>
          <a:prstGeom prst="rect">
            <a:avLst/>
          </a:prstGeom>
          <a:noFill/>
        </p:spPr>
        <p:txBody>
          <a:bodyPr wrap="square" anchor="t">
            <a:spAutoFit/>
          </a:bodyPr>
          <a:lstStyle/>
          <a:p>
            <a:pPr algn="l">
              <a:defRPr sz="1200" b="0">
                <a:solidFill>
                  <a:srgbClr val="2A2A2A"/>
                </a:solidFill>
                <a:latin typeface="Avenir Next"/>
              </a:defRPr>
            </a:pPr>
            <a:r>
              <a:rPr dirty="0"/>
              <a:t>47 interventions in 15 months; AUD 11.3M penalty against Mercer.</a:t>
            </a:r>
          </a:p>
        </p:txBody>
      </p:sp>
      <p:sp>
        <p:nvSpPr>
          <p:cNvPr id="15" name="Rounded Rectangle 14">
            <a:extLst>
              <a:ext uri="{FF2B5EF4-FFF2-40B4-BE49-F238E27FC236}">
                <a16:creationId xmlns:a16="http://schemas.microsoft.com/office/drawing/2014/main" id="{9EEE3F2A-EEE2-7DC1-9ED6-9B10A4742DF4}"/>
              </a:ext>
            </a:extLst>
          </p:cNvPr>
          <p:cNvSpPr/>
          <p:nvPr/>
        </p:nvSpPr>
        <p:spPr>
          <a:xfrm>
            <a:off x="3611880" y="4994656"/>
            <a:ext cx="2560320" cy="1152144"/>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a:extLst>
              <a:ext uri="{FF2B5EF4-FFF2-40B4-BE49-F238E27FC236}">
                <a16:creationId xmlns:a16="http://schemas.microsoft.com/office/drawing/2014/main" id="{84F83AD5-B75A-FAFB-70F3-C09E32B80BAC}"/>
              </a:ext>
            </a:extLst>
          </p:cNvPr>
          <p:cNvSpPr/>
          <p:nvPr/>
        </p:nvSpPr>
        <p:spPr>
          <a:xfrm>
            <a:off x="3611880" y="4994656"/>
            <a:ext cx="2560320" cy="73152"/>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a:extLst>
              <a:ext uri="{FF2B5EF4-FFF2-40B4-BE49-F238E27FC236}">
                <a16:creationId xmlns:a16="http://schemas.microsoft.com/office/drawing/2014/main" id="{AFD4E64D-B14D-9396-911D-8FEAE51B63FA}"/>
              </a:ext>
            </a:extLst>
          </p:cNvPr>
          <p:cNvSpPr txBox="1"/>
          <p:nvPr/>
        </p:nvSpPr>
        <p:spPr>
          <a:xfrm>
            <a:off x="3758184" y="5122672"/>
            <a:ext cx="2267712" cy="338554"/>
          </a:xfrm>
          <a:prstGeom prst="rect">
            <a:avLst/>
          </a:prstGeom>
          <a:noFill/>
        </p:spPr>
        <p:txBody>
          <a:bodyPr wrap="square" anchor="t">
            <a:spAutoFit/>
          </a:bodyPr>
          <a:lstStyle/>
          <a:p>
            <a:pPr algn="l">
              <a:defRPr sz="1600" b="1">
                <a:solidFill>
                  <a:srgbClr val="173F35"/>
                </a:solidFill>
                <a:latin typeface="Avenir Next Demi Bold"/>
              </a:defRPr>
            </a:pPr>
            <a:r>
              <a:rPr dirty="0"/>
              <a:t>Uni</a:t>
            </a:r>
            <a:r>
              <a:rPr lang="en-US" dirty="0"/>
              <a:t>ted States</a:t>
            </a:r>
            <a:endParaRPr dirty="0"/>
          </a:p>
        </p:txBody>
      </p:sp>
      <p:sp>
        <p:nvSpPr>
          <p:cNvPr id="19" name="TextBox 18">
            <a:extLst>
              <a:ext uri="{FF2B5EF4-FFF2-40B4-BE49-F238E27FC236}">
                <a16:creationId xmlns:a16="http://schemas.microsoft.com/office/drawing/2014/main" id="{B4755C55-9279-EAC2-E8F1-D870948CA206}"/>
              </a:ext>
            </a:extLst>
          </p:cNvPr>
          <p:cNvSpPr txBox="1"/>
          <p:nvPr/>
        </p:nvSpPr>
        <p:spPr>
          <a:xfrm>
            <a:off x="3758184" y="5488432"/>
            <a:ext cx="2267712" cy="646331"/>
          </a:xfrm>
          <a:prstGeom prst="rect">
            <a:avLst/>
          </a:prstGeom>
          <a:noFill/>
        </p:spPr>
        <p:txBody>
          <a:bodyPr wrap="square" anchor="t">
            <a:spAutoFit/>
          </a:bodyPr>
          <a:lstStyle/>
          <a:p>
            <a:pPr algn="l">
              <a:defRPr sz="1200" b="0">
                <a:solidFill>
                  <a:srgbClr val="2A2A2A"/>
                </a:solidFill>
                <a:latin typeface="Avenir Next"/>
              </a:defRPr>
            </a:pPr>
            <a:r>
              <a:rPr lang="en-US" dirty="0"/>
              <a:t>US FTC brought 90 greenwashing enforcement actions between 2021-2023</a:t>
            </a:r>
            <a:endParaRPr dirty="0"/>
          </a:p>
        </p:txBody>
      </p:sp>
      <p:sp>
        <p:nvSpPr>
          <p:cNvPr id="20" name="Rounded Rectangle 19">
            <a:extLst>
              <a:ext uri="{FF2B5EF4-FFF2-40B4-BE49-F238E27FC236}">
                <a16:creationId xmlns:a16="http://schemas.microsoft.com/office/drawing/2014/main" id="{ECB1D669-893A-BBDD-652A-47D573EA4F54}"/>
              </a:ext>
            </a:extLst>
          </p:cNvPr>
          <p:cNvSpPr/>
          <p:nvPr/>
        </p:nvSpPr>
        <p:spPr>
          <a:xfrm>
            <a:off x="6400800" y="4994656"/>
            <a:ext cx="2560320" cy="1184638"/>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a:extLst>
              <a:ext uri="{FF2B5EF4-FFF2-40B4-BE49-F238E27FC236}">
                <a16:creationId xmlns:a16="http://schemas.microsoft.com/office/drawing/2014/main" id="{564762B8-CB94-4D6E-A9B7-FA824D421ACA}"/>
              </a:ext>
            </a:extLst>
          </p:cNvPr>
          <p:cNvSpPr/>
          <p:nvPr/>
        </p:nvSpPr>
        <p:spPr>
          <a:xfrm>
            <a:off x="6400800" y="4994656"/>
            <a:ext cx="2560320" cy="73152"/>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a:extLst>
              <a:ext uri="{FF2B5EF4-FFF2-40B4-BE49-F238E27FC236}">
                <a16:creationId xmlns:a16="http://schemas.microsoft.com/office/drawing/2014/main" id="{87D40DC7-91CB-FC5A-49FF-F2E491E28AA9}"/>
              </a:ext>
            </a:extLst>
          </p:cNvPr>
          <p:cNvSpPr txBox="1"/>
          <p:nvPr/>
        </p:nvSpPr>
        <p:spPr>
          <a:xfrm>
            <a:off x="6547104" y="5122672"/>
            <a:ext cx="2267712" cy="384048"/>
          </a:xfrm>
          <a:prstGeom prst="rect">
            <a:avLst/>
          </a:prstGeom>
          <a:noFill/>
        </p:spPr>
        <p:txBody>
          <a:bodyPr wrap="square" anchor="t">
            <a:spAutoFit/>
          </a:bodyPr>
          <a:lstStyle/>
          <a:p>
            <a:pPr algn="l">
              <a:defRPr sz="1600" b="1">
                <a:solidFill>
                  <a:srgbClr val="173F35"/>
                </a:solidFill>
                <a:latin typeface="Avenir Next Demi Bold"/>
              </a:defRPr>
            </a:pPr>
            <a:r>
              <a:t>European Union</a:t>
            </a:r>
          </a:p>
        </p:txBody>
      </p:sp>
      <p:sp>
        <p:nvSpPr>
          <p:cNvPr id="23" name="TextBox 22">
            <a:extLst>
              <a:ext uri="{FF2B5EF4-FFF2-40B4-BE49-F238E27FC236}">
                <a16:creationId xmlns:a16="http://schemas.microsoft.com/office/drawing/2014/main" id="{AC3EB8E3-E237-96A6-C5E0-5944B4A00204}"/>
              </a:ext>
            </a:extLst>
          </p:cNvPr>
          <p:cNvSpPr txBox="1"/>
          <p:nvPr/>
        </p:nvSpPr>
        <p:spPr>
          <a:xfrm>
            <a:off x="6481997" y="5461226"/>
            <a:ext cx="2414016" cy="707886"/>
          </a:xfrm>
          <a:prstGeom prst="rect">
            <a:avLst/>
          </a:prstGeom>
          <a:noFill/>
        </p:spPr>
        <p:txBody>
          <a:bodyPr wrap="square" anchor="t">
            <a:spAutoFit/>
          </a:bodyPr>
          <a:lstStyle/>
          <a:p>
            <a:pPr algn="l">
              <a:defRPr sz="1200" b="0">
                <a:solidFill>
                  <a:srgbClr val="2A2A2A"/>
                </a:solidFill>
                <a:latin typeface="Avenir Next"/>
              </a:defRPr>
            </a:pPr>
            <a:r>
              <a:rPr sz="1000" dirty="0"/>
              <a:t>Integrated reporting, claim controls, verification, and coordinated sweeps.</a:t>
            </a:r>
            <a:endParaRPr lang="en-US" sz="1000" dirty="0"/>
          </a:p>
          <a:p>
            <a:pPr algn="l">
              <a:defRPr sz="1200" b="0">
                <a:solidFill>
                  <a:srgbClr val="2A2A2A"/>
                </a:solidFill>
                <a:latin typeface="Avenir Next"/>
              </a:defRPr>
            </a:pPr>
            <a:r>
              <a:rPr lang="en-IN" sz="1000" dirty="0"/>
              <a:t>France alone issued 141 warnings &amp; 114 injunctions-misleading env claims</a:t>
            </a:r>
            <a:endParaRPr sz="1000" dirty="0"/>
          </a:p>
        </p:txBody>
      </p:sp>
      <p:sp>
        <p:nvSpPr>
          <p:cNvPr id="24" name="Rounded Rectangle 23">
            <a:extLst>
              <a:ext uri="{FF2B5EF4-FFF2-40B4-BE49-F238E27FC236}">
                <a16:creationId xmlns:a16="http://schemas.microsoft.com/office/drawing/2014/main" id="{DB524ECD-0D2D-5A1D-CF13-897C1810DCE3}"/>
              </a:ext>
            </a:extLst>
          </p:cNvPr>
          <p:cNvSpPr/>
          <p:nvPr/>
        </p:nvSpPr>
        <p:spPr>
          <a:xfrm>
            <a:off x="9189720" y="4994656"/>
            <a:ext cx="2103120" cy="1184638"/>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a:extLst>
              <a:ext uri="{FF2B5EF4-FFF2-40B4-BE49-F238E27FC236}">
                <a16:creationId xmlns:a16="http://schemas.microsoft.com/office/drawing/2014/main" id="{1ED3E6F9-37CC-3768-999F-3D30D75E9687}"/>
              </a:ext>
            </a:extLst>
          </p:cNvPr>
          <p:cNvSpPr/>
          <p:nvPr/>
        </p:nvSpPr>
        <p:spPr>
          <a:xfrm>
            <a:off x="9189720" y="4994656"/>
            <a:ext cx="2103120" cy="73152"/>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a:extLst>
              <a:ext uri="{FF2B5EF4-FFF2-40B4-BE49-F238E27FC236}">
                <a16:creationId xmlns:a16="http://schemas.microsoft.com/office/drawing/2014/main" id="{7EBBD021-C5EB-6F08-152C-EFC835203AA0}"/>
              </a:ext>
            </a:extLst>
          </p:cNvPr>
          <p:cNvSpPr txBox="1"/>
          <p:nvPr/>
        </p:nvSpPr>
        <p:spPr>
          <a:xfrm>
            <a:off x="9336024" y="5122672"/>
            <a:ext cx="1810512" cy="384048"/>
          </a:xfrm>
          <a:prstGeom prst="rect">
            <a:avLst/>
          </a:prstGeom>
          <a:noFill/>
        </p:spPr>
        <p:txBody>
          <a:bodyPr wrap="square" anchor="t">
            <a:spAutoFit/>
          </a:bodyPr>
          <a:lstStyle/>
          <a:p>
            <a:pPr algn="l">
              <a:defRPr sz="1600" b="1">
                <a:solidFill>
                  <a:srgbClr val="173F35"/>
                </a:solidFill>
                <a:latin typeface="Avenir Next Demi Bold"/>
              </a:defRPr>
            </a:pPr>
            <a:r>
              <a:t>India</a:t>
            </a:r>
          </a:p>
        </p:txBody>
      </p:sp>
      <p:sp>
        <p:nvSpPr>
          <p:cNvPr id="27" name="TextBox 26">
            <a:extLst>
              <a:ext uri="{FF2B5EF4-FFF2-40B4-BE49-F238E27FC236}">
                <a16:creationId xmlns:a16="http://schemas.microsoft.com/office/drawing/2014/main" id="{8EC782C2-B1A4-EC21-4F07-5D39E28F3BB5}"/>
              </a:ext>
            </a:extLst>
          </p:cNvPr>
          <p:cNvSpPr txBox="1"/>
          <p:nvPr/>
        </p:nvSpPr>
        <p:spPr>
          <a:xfrm>
            <a:off x="9336024" y="5488432"/>
            <a:ext cx="1810512" cy="646331"/>
          </a:xfrm>
          <a:prstGeom prst="rect">
            <a:avLst/>
          </a:prstGeom>
          <a:noFill/>
        </p:spPr>
        <p:txBody>
          <a:bodyPr wrap="square" anchor="t">
            <a:spAutoFit/>
          </a:bodyPr>
          <a:lstStyle/>
          <a:p>
            <a:pPr algn="l">
              <a:defRPr sz="1200" b="0">
                <a:solidFill>
                  <a:srgbClr val="2A2A2A"/>
                </a:solidFill>
                <a:latin typeface="Avenir Next"/>
              </a:defRPr>
            </a:pPr>
            <a:r>
              <a:rPr dirty="0"/>
              <a:t>Tools exist, but visible </a:t>
            </a:r>
            <a:r>
              <a:rPr lang="en-US" dirty="0"/>
              <a:t>reported </a:t>
            </a:r>
            <a:r>
              <a:rPr dirty="0"/>
              <a:t>deterrent </a:t>
            </a:r>
            <a:r>
              <a:rPr lang="en-US" dirty="0"/>
              <a:t>case</a:t>
            </a:r>
            <a:r>
              <a:rPr dirty="0"/>
              <a:t> is close to zero.</a:t>
            </a:r>
          </a:p>
        </p:txBody>
      </p:sp>
    </p:spTree>
    <p:extLst>
      <p:ext uri="{BB962C8B-B14F-4D97-AF65-F5344CB8AC3E}">
        <p14:creationId xmlns:p14="http://schemas.microsoft.com/office/powerpoint/2010/main" val="26625355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55383" y="384048"/>
            <a:ext cx="9880105" cy="430887"/>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dirty="0"/>
              <a:t>India's Enforcement Gap Is </a:t>
            </a:r>
            <a:r>
              <a:rPr lang="en-US" dirty="0"/>
              <a:t>Firstly</a:t>
            </a:r>
            <a:r>
              <a:rPr dirty="0"/>
              <a:t> a Design Problem</a:t>
            </a:r>
          </a:p>
        </p:txBody>
      </p:sp>
      <p:sp>
        <p:nvSpPr>
          <p:cNvPr id="8" name="Chevron 7"/>
          <p:cNvSpPr/>
          <p:nvPr/>
        </p:nvSpPr>
        <p:spPr>
          <a:xfrm>
            <a:off x="751642" y="1446365"/>
            <a:ext cx="199339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t>Board Responsibility</a:t>
            </a:r>
          </a:p>
        </p:txBody>
      </p:sp>
      <p:sp>
        <p:nvSpPr>
          <p:cNvPr id="9" name="Chevron 8"/>
          <p:cNvSpPr/>
          <p:nvPr/>
        </p:nvSpPr>
        <p:spPr>
          <a:xfrm>
            <a:off x="2799898" y="1446365"/>
            <a:ext cx="199339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t>Claim Substantiation</a:t>
            </a:r>
          </a:p>
        </p:txBody>
      </p:sp>
      <p:sp>
        <p:nvSpPr>
          <p:cNvPr id="10" name="Chevron 9"/>
          <p:cNvSpPr/>
          <p:nvPr/>
        </p:nvSpPr>
        <p:spPr>
          <a:xfrm>
            <a:off x="4848154" y="1446365"/>
            <a:ext cx="199339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t>Independent Assurance</a:t>
            </a:r>
          </a:p>
        </p:txBody>
      </p:sp>
      <p:sp>
        <p:nvSpPr>
          <p:cNvPr id="11" name="Chevron 10"/>
          <p:cNvSpPr/>
          <p:nvPr/>
        </p:nvSpPr>
        <p:spPr>
          <a:xfrm>
            <a:off x="6896410" y="1446365"/>
            <a:ext cx="199339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t>Regulator Coordination</a:t>
            </a:r>
          </a:p>
        </p:txBody>
      </p:sp>
      <p:sp>
        <p:nvSpPr>
          <p:cNvPr id="12" name="Chevron 11"/>
          <p:cNvSpPr/>
          <p:nvPr/>
        </p:nvSpPr>
        <p:spPr>
          <a:xfrm>
            <a:off x="8944666" y="1446365"/>
            <a:ext cx="199339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t>Visible Penalties</a:t>
            </a:r>
          </a:p>
        </p:txBody>
      </p:sp>
      <p:sp>
        <p:nvSpPr>
          <p:cNvPr id="13" name="Rounded Rectangle 12"/>
          <p:cNvSpPr/>
          <p:nvPr/>
        </p:nvSpPr>
        <p:spPr>
          <a:xfrm>
            <a:off x="735296" y="2251037"/>
            <a:ext cx="6709754" cy="2160033"/>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943207" y="2355856"/>
            <a:ext cx="3075296" cy="468852"/>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100" dirty="0">
                <a:ea typeface="+mn-lt"/>
                <a:cs typeface="+mn-lt"/>
              </a:rPr>
              <a:t>Stronger jurisdictions share common design features</a:t>
            </a:r>
            <a:endParaRPr lang="en-US" sz="1100"/>
          </a:p>
        </p:txBody>
      </p:sp>
      <p:sp>
        <p:nvSpPr>
          <p:cNvPr id="15" name="TextBox 14"/>
          <p:cNvSpPr txBox="1"/>
          <p:nvPr/>
        </p:nvSpPr>
        <p:spPr>
          <a:xfrm>
            <a:off x="1026987" y="2819798"/>
            <a:ext cx="6108192" cy="1446165"/>
          </a:xfrm>
          <a:prstGeom prst="rect">
            <a:avLst/>
          </a:prstGeom>
          <a:noFill/>
        </p:spPr>
        <p:txBody>
          <a:bodyPr wrap="square" lIns="91440" tIns="45720" rIns="91440" bIns="45720" anchor="t">
            <a:spAutoFit/>
          </a:bodyPr>
          <a:lstStyle/>
          <a:p>
            <a:pPr>
              <a:lnSpc>
                <a:spcPct val="150000"/>
              </a:lnSpc>
              <a:defRPr sz="1200">
                <a:solidFill>
                  <a:srgbClr val="2A2A2A"/>
                </a:solidFill>
                <a:latin typeface="Avenir Next"/>
              </a:defRPr>
            </a:pPr>
            <a:r>
              <a:rPr lang="en-US" sz="1200">
                <a:ea typeface="+mn-lt"/>
                <a:cs typeface="+mn-lt"/>
              </a:rPr>
              <a:t>- ex ante substantiation requirements</a:t>
            </a:r>
            <a:endParaRPr lang="en-US"/>
          </a:p>
          <a:p>
            <a:pPr>
              <a:lnSpc>
                <a:spcPct val="150000"/>
              </a:lnSpc>
              <a:defRPr sz="1200">
                <a:solidFill>
                  <a:srgbClr val="2A2A2A"/>
                </a:solidFill>
                <a:latin typeface="Avenir Next"/>
              </a:defRPr>
            </a:pPr>
            <a:r>
              <a:rPr lang="en-US" sz="1200">
                <a:ea typeface="+mn-lt"/>
                <a:cs typeface="+mn-lt"/>
              </a:rPr>
              <a:t>- stronger assurance / verification</a:t>
            </a:r>
            <a:endParaRPr lang="en-US"/>
          </a:p>
          <a:p>
            <a:pPr>
              <a:lnSpc>
                <a:spcPct val="150000"/>
              </a:lnSpc>
              <a:defRPr sz="1200">
                <a:solidFill>
                  <a:srgbClr val="2A2A2A"/>
                </a:solidFill>
                <a:latin typeface="Avenir Next"/>
              </a:defRPr>
            </a:pPr>
            <a:r>
              <a:rPr lang="en-US" sz="1200">
                <a:ea typeface="+mn-lt"/>
                <a:cs typeface="+mn-lt"/>
              </a:rPr>
              <a:t>- clear liability </a:t>
            </a:r>
            <a:r>
              <a:rPr lang="en-US">
                <a:ea typeface="+mn-lt"/>
                <a:cs typeface="+mn-lt"/>
              </a:rPr>
              <a:t>architecture</a:t>
            </a:r>
            <a:endParaRPr lang="en-US"/>
          </a:p>
          <a:p>
            <a:pPr>
              <a:lnSpc>
                <a:spcPct val="150000"/>
              </a:lnSpc>
              <a:defRPr sz="1200">
                <a:solidFill>
                  <a:srgbClr val="2A2A2A"/>
                </a:solidFill>
                <a:latin typeface="Avenir Next"/>
              </a:defRPr>
            </a:pPr>
            <a:r>
              <a:rPr lang="en-US">
                <a:ea typeface="+mn-lt"/>
                <a:cs typeface="+mn-lt"/>
              </a:rPr>
              <a:t>- credible </a:t>
            </a:r>
            <a:r>
              <a:rPr lang="en-US" sz="1200">
                <a:ea typeface="+mn-lt"/>
                <a:cs typeface="+mn-lt"/>
              </a:rPr>
              <a:t>and </a:t>
            </a:r>
            <a:r>
              <a:rPr lang="en-US">
                <a:ea typeface="+mn-lt"/>
                <a:cs typeface="+mn-lt"/>
              </a:rPr>
              <a:t>visible penalties</a:t>
            </a:r>
          </a:p>
          <a:p>
            <a:pPr>
              <a:lnSpc>
                <a:spcPct val="150000"/>
              </a:lnSpc>
              <a:spcAft>
                <a:spcPts val="600"/>
              </a:spcAft>
              <a:defRPr sz="1200">
                <a:solidFill>
                  <a:srgbClr val="2A2A2A"/>
                </a:solidFill>
                <a:latin typeface="Avenir Next"/>
              </a:defRPr>
            </a:pPr>
            <a:r>
              <a:rPr lang="en-US">
                <a:ea typeface="+mn-lt"/>
                <a:cs typeface="+mn-lt"/>
              </a:rPr>
              <a:t>- preventive design across the life cycle of the claim</a:t>
            </a:r>
            <a:endParaRPr/>
          </a:p>
        </p:txBody>
      </p:sp>
      <p:sp>
        <p:nvSpPr>
          <p:cNvPr id="16" name="Rounded Rectangle 15"/>
          <p:cNvSpPr/>
          <p:nvPr/>
        </p:nvSpPr>
        <p:spPr>
          <a:xfrm>
            <a:off x="7646218" y="2251037"/>
            <a:ext cx="3639312" cy="2011680"/>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7865674" y="2355856"/>
            <a:ext cx="1353312" cy="347472"/>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dirty="0"/>
              <a:t>Indian </a:t>
            </a:r>
            <a:r>
              <a:rPr lang="en-US" dirty="0" err="1"/>
              <a:t>Regularoty</a:t>
            </a:r>
            <a:r>
              <a:rPr lang="en-US" dirty="0"/>
              <a:t> Design</a:t>
            </a:r>
            <a:endParaRPr dirty="0"/>
          </a:p>
        </p:txBody>
      </p:sp>
      <p:sp>
        <p:nvSpPr>
          <p:cNvPr id="18" name="TextBox 17"/>
          <p:cNvSpPr txBox="1"/>
          <p:nvPr/>
        </p:nvSpPr>
        <p:spPr>
          <a:xfrm>
            <a:off x="7868534" y="2791656"/>
            <a:ext cx="3504983" cy="1446165"/>
          </a:xfrm>
          <a:prstGeom prst="rect">
            <a:avLst/>
          </a:prstGeom>
          <a:noFill/>
        </p:spPr>
        <p:txBody>
          <a:bodyPr wrap="square" lIns="91440" tIns="45720" rIns="91440" bIns="45720" anchor="t">
            <a:spAutoFit/>
          </a:bodyPr>
          <a:lstStyle/>
          <a:p>
            <a:pPr>
              <a:lnSpc>
                <a:spcPct val="150000"/>
              </a:lnSpc>
              <a:defRPr sz="1200">
                <a:solidFill>
                  <a:srgbClr val="2A2A2A"/>
                </a:solidFill>
                <a:latin typeface="Avenir Next"/>
              </a:defRPr>
            </a:pPr>
            <a:r>
              <a:rPr lang="en-US" dirty="0">
                <a:ea typeface="+mn-lt"/>
                <a:cs typeface="+mn-lt"/>
              </a:rPr>
              <a:t>- incomplete verification architecture</a:t>
            </a:r>
            <a:endParaRPr lang="en-US" dirty="0"/>
          </a:p>
          <a:p>
            <a:pPr>
              <a:lnSpc>
                <a:spcPct val="150000"/>
              </a:lnSpc>
              <a:defRPr sz="1200">
                <a:solidFill>
                  <a:srgbClr val="2A2A2A"/>
                </a:solidFill>
                <a:latin typeface="Avenir Next"/>
              </a:defRPr>
            </a:pPr>
            <a:r>
              <a:rPr lang="en-US" dirty="0">
                <a:ea typeface="+mn-lt"/>
                <a:cs typeface="+mn-lt"/>
              </a:rPr>
              <a:t>- weak assurance design</a:t>
            </a:r>
            <a:endParaRPr lang="en-US" dirty="0"/>
          </a:p>
          <a:p>
            <a:pPr>
              <a:lnSpc>
                <a:spcPct val="150000"/>
              </a:lnSpc>
              <a:defRPr sz="1200">
                <a:solidFill>
                  <a:srgbClr val="2A2A2A"/>
                </a:solidFill>
                <a:latin typeface="Avenir Next"/>
              </a:defRPr>
            </a:pPr>
            <a:r>
              <a:rPr lang="en-US" dirty="0">
                <a:ea typeface="+mn-lt"/>
                <a:cs typeface="+mn-lt"/>
              </a:rPr>
              <a:t>- no robust ex ante substantiation framework</a:t>
            </a:r>
            <a:endParaRPr lang="en-US" dirty="0"/>
          </a:p>
          <a:p>
            <a:pPr>
              <a:lnSpc>
                <a:spcPct val="150000"/>
              </a:lnSpc>
              <a:defRPr sz="1200">
                <a:solidFill>
                  <a:srgbClr val="2A2A2A"/>
                </a:solidFill>
                <a:latin typeface="Avenir Next"/>
              </a:defRPr>
            </a:pPr>
            <a:r>
              <a:rPr lang="en-US" dirty="0">
                <a:ea typeface="+mn-lt"/>
                <a:cs typeface="+mn-lt"/>
              </a:rPr>
              <a:t>- repeated regulatory relaxations / backsliding</a:t>
            </a:r>
            <a:endParaRPr dirty="0"/>
          </a:p>
          <a:p>
            <a:pPr>
              <a:lnSpc>
                <a:spcPct val="150000"/>
              </a:lnSpc>
              <a:spcAft>
                <a:spcPts val="600"/>
              </a:spcAft>
              <a:defRPr sz="1200">
                <a:solidFill>
                  <a:srgbClr val="2A2A2A"/>
                </a:solidFill>
                <a:latin typeface="Avenir Next"/>
              </a:defRPr>
            </a:pPr>
            <a:r>
              <a:rPr lang="en-US" dirty="0">
                <a:ea typeface="+mn-lt"/>
                <a:cs typeface="+mn-lt"/>
              </a:rPr>
              <a:t>- comparatively modest penalties</a:t>
            </a:r>
          </a:p>
        </p:txBody>
      </p:sp>
      <p:sp>
        <p:nvSpPr>
          <p:cNvPr id="19" name="Rounded Rectangle 18"/>
          <p:cNvSpPr/>
          <p:nvPr/>
        </p:nvSpPr>
        <p:spPr>
          <a:xfrm>
            <a:off x="767988" y="5094368"/>
            <a:ext cx="10508964" cy="743172"/>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07674" y="5290735"/>
            <a:ext cx="9948672" cy="492443"/>
          </a:xfrm>
          <a:prstGeom prst="rect">
            <a:avLst/>
          </a:prstGeom>
          <a:noFill/>
        </p:spPr>
        <p:txBody>
          <a:bodyPr wrap="square" lIns="91440" tIns="45720" rIns="91440" bIns="45720" anchor="t">
            <a:spAutoFit/>
          </a:bodyPr>
          <a:lstStyle/>
          <a:p>
            <a:pPr algn="ctr">
              <a:defRPr sz="1300" b="1">
                <a:solidFill>
                  <a:srgbClr val="173F35"/>
                </a:solidFill>
                <a:latin typeface="Avenir Next Demi Bold"/>
              </a:defRPr>
            </a:pPr>
            <a:r>
              <a:rPr lang="en-US" dirty="0"/>
              <a:t>This </a:t>
            </a:r>
            <a:r>
              <a:rPr dirty="0"/>
              <a:t>points to </a:t>
            </a:r>
            <a:r>
              <a:rPr lang="en-US" dirty="0">
                <a:ea typeface="+mn-lt"/>
                <a:cs typeface="+mn-lt"/>
              </a:rPr>
              <a:t>India's stark lack of anti-greenwashing enforcement</a:t>
            </a:r>
            <a:endParaRPr lang="en-US" dirty="0"/>
          </a:p>
          <a:p>
            <a:pPr algn="ctr">
              <a:defRPr sz="1300" b="1">
                <a:solidFill>
                  <a:srgbClr val="173F35"/>
                </a:solidFill>
                <a:latin typeface="Avenir Next Demi Bold"/>
              </a:defRPr>
            </a:pPr>
            <a:r>
              <a:rPr lang="en-US" dirty="0">
                <a:ea typeface="+mn-lt"/>
                <a:cs typeface="+mn-lt"/>
              </a:rPr>
              <a:t>as mainly a result of poor regulatory design</a:t>
            </a:r>
            <a:endParaRPr lang="en-US" dirty="0"/>
          </a:p>
        </p:txBody>
      </p:sp>
      <p:sp>
        <p:nvSpPr>
          <p:cNvPr id="21" name="TextBox 20"/>
          <p:cNvSpPr txBox="1"/>
          <p:nvPr/>
        </p:nvSpPr>
        <p:spPr>
          <a:xfrm>
            <a:off x="566928" y="6400800"/>
            <a:ext cx="2874505" cy="246221"/>
          </a:xfrm>
          <a:prstGeom prst="rect">
            <a:avLst/>
          </a:prstGeom>
          <a:noFill/>
        </p:spPr>
        <p:txBody>
          <a:bodyPr wrap="none" lIns="91440" tIns="45720" rIns="91440" bIns="45720" anchor="t">
            <a:spAutoFit/>
          </a:bodyPr>
          <a:lstStyle/>
          <a:p>
            <a:pPr>
              <a:defRPr sz="850">
                <a:solidFill>
                  <a:srgbClr val="6B6F6A"/>
                </a:solidFill>
                <a:latin typeface="Avenir Next"/>
              </a:defRPr>
            </a:pPr>
            <a:r>
              <a:rPr sz="1000"/>
              <a:t>Source base: </a:t>
            </a:r>
            <a:r>
              <a:rPr lang="en-US" sz="1000"/>
              <a:t>Comparative</a:t>
            </a:r>
            <a:r>
              <a:rPr sz="1000"/>
              <a:t> study in Chapter 4.</a:t>
            </a:r>
          </a:p>
        </p:txBody>
      </p:sp>
    </p:spTree>
    <p:extLst>
      <p:ext uri="{BB962C8B-B14F-4D97-AF65-F5344CB8AC3E}">
        <p14:creationId xmlns:p14="http://schemas.microsoft.com/office/powerpoint/2010/main" val="414729693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88556" y="330000"/>
            <a:ext cx="11400000" cy="43000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100" b="1" dirty="0">
                <a:solidFill>
                  <a:srgbClr val="173F35"/>
                </a:solidFill>
                <a:latin typeface="Avenir Next Demi Bold"/>
              </a:rPr>
              <a:t>More Faults Beyond Poor Regulatory Design</a:t>
            </a:r>
            <a:endParaRPr dirty="0"/>
          </a:p>
        </p:txBody>
      </p:sp>
      <p:sp>
        <p:nvSpPr>
          <p:cNvPr id="34" name="TextBox 33"/>
          <p:cNvSpPr txBox="1"/>
          <p:nvPr/>
        </p:nvSpPr>
        <p:spPr>
          <a:xfrm>
            <a:off x="566928" y="6400800"/>
            <a:ext cx="2241319" cy="246221"/>
          </a:xfrm>
          <a:prstGeom prst="rect">
            <a:avLst/>
          </a:prstGeom>
          <a:noFill/>
        </p:spPr>
        <p:txBody>
          <a:bodyPr wrap="none" lIns="91440" tIns="45720" rIns="91440" bIns="45720" anchor="t">
            <a:spAutoFit/>
          </a:bodyPr>
          <a:lstStyle/>
          <a:p>
            <a:pPr>
              <a:defRPr sz="850">
                <a:solidFill>
                  <a:srgbClr val="6B6F6A"/>
                </a:solidFill>
                <a:latin typeface="Avenir Next"/>
              </a:defRPr>
            </a:pPr>
            <a:r>
              <a:rPr sz="1000" dirty="0"/>
              <a:t>Source base: </a:t>
            </a:r>
            <a:r>
              <a:rPr lang="en-US" sz="1000"/>
              <a:t>Analysis</a:t>
            </a:r>
            <a:r>
              <a:rPr sz="1000" dirty="0"/>
              <a:t> in Chapter 5.</a:t>
            </a:r>
          </a:p>
        </p:txBody>
      </p:sp>
      <p:sp>
        <p:nvSpPr>
          <p:cNvPr id="37" name="Rounded Rectangle 3">
            <a:extLst>
              <a:ext uri="{FF2B5EF4-FFF2-40B4-BE49-F238E27FC236}">
                <a16:creationId xmlns:a16="http://schemas.microsoft.com/office/drawing/2014/main" id="{F86CDA7E-F0A4-7B79-A166-55010829BEB0}"/>
              </a:ext>
            </a:extLst>
          </p:cNvPr>
          <p:cNvSpPr/>
          <p:nvPr/>
        </p:nvSpPr>
        <p:spPr>
          <a:xfrm>
            <a:off x="568904" y="1337314"/>
            <a:ext cx="5291452" cy="2091433"/>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ounded Rectangle 4">
            <a:extLst>
              <a:ext uri="{FF2B5EF4-FFF2-40B4-BE49-F238E27FC236}">
                <a16:creationId xmlns:a16="http://schemas.microsoft.com/office/drawing/2014/main" id="{F813656E-E48A-6752-245E-8F12A23E2737}"/>
              </a:ext>
            </a:extLst>
          </p:cNvPr>
          <p:cNvSpPr/>
          <p:nvPr/>
        </p:nvSpPr>
        <p:spPr>
          <a:xfrm>
            <a:off x="35840" y="1425784"/>
            <a:ext cx="594360" cy="256032"/>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dirty="0">
                <a:solidFill>
                  <a:schemeClr val="tx1"/>
                </a:solidFill>
              </a:rPr>
              <a:t>Gap 1</a:t>
            </a:r>
          </a:p>
        </p:txBody>
      </p:sp>
      <p:sp>
        <p:nvSpPr>
          <p:cNvPr id="41" name="TextBox 40">
            <a:extLst>
              <a:ext uri="{FF2B5EF4-FFF2-40B4-BE49-F238E27FC236}">
                <a16:creationId xmlns:a16="http://schemas.microsoft.com/office/drawing/2014/main" id="{26B4721B-B3A7-881E-57B7-ED843E0D8783}"/>
              </a:ext>
            </a:extLst>
          </p:cNvPr>
          <p:cNvSpPr txBox="1"/>
          <p:nvPr/>
        </p:nvSpPr>
        <p:spPr>
          <a:xfrm>
            <a:off x="668123" y="1402817"/>
            <a:ext cx="5044439" cy="1977464"/>
          </a:xfrm>
          <a:prstGeom prst="rect">
            <a:avLst/>
          </a:prstGeom>
          <a:noFill/>
        </p:spPr>
        <p:txBody>
          <a:bodyPr wrap="square">
            <a:spAutoFit/>
          </a:bodyPr>
          <a:lstStyle/>
          <a:p>
            <a:pPr algn="l">
              <a:spcAft>
                <a:spcPts val="300"/>
              </a:spcAft>
              <a:defRPr sz="1400" b="1">
                <a:solidFill>
                  <a:srgbClr val="095E4F"/>
                </a:solidFill>
                <a:latin typeface="Calibri"/>
              </a:defRPr>
            </a:pPr>
            <a:r>
              <a:rPr sz="1600" dirty="0"/>
              <a:t>Definitional Fragmentation</a:t>
            </a:r>
          </a:p>
          <a:p>
            <a:pPr marL="171450" indent="-171450">
              <a:buFont typeface="Arial" panose="020B0604020202020204" pitchFamily="34" charset="0"/>
              <a:buChar char="•"/>
              <a:defRPr sz="1100" b="0">
                <a:solidFill>
                  <a:srgbClr val="3A3A4A"/>
                </a:solidFill>
                <a:latin typeface="Calibri"/>
              </a:defRPr>
            </a:pPr>
            <a:r>
              <a:rPr lang="en-IN" sz="1300" dirty="0"/>
              <a:t>CCPA, SEBI, ASCI each define greenwashing differently reflecting distinct mandates</a:t>
            </a:r>
          </a:p>
          <a:p>
            <a:pPr marL="171450" indent="-171450">
              <a:buFont typeface="Arial" panose="020B0604020202020204" pitchFamily="34" charset="0"/>
              <a:buChar char="•"/>
              <a:defRPr sz="1100" b="0">
                <a:solidFill>
                  <a:srgbClr val="3A3A4A"/>
                </a:solidFill>
                <a:latin typeface="Calibri"/>
              </a:defRPr>
            </a:pPr>
            <a:r>
              <a:rPr lang="en-IN" sz="1300" dirty="0"/>
              <a:t>Technical terms ("carbon neutral," "net zero") remain legally undefined</a:t>
            </a:r>
          </a:p>
          <a:p>
            <a:pPr marL="171450" indent="-171450">
              <a:buFont typeface="Arial" panose="020B0604020202020204" pitchFamily="34" charset="0"/>
              <a:buChar char="•"/>
              <a:defRPr sz="1100" b="0">
                <a:solidFill>
                  <a:srgbClr val="3A3A4A"/>
                </a:solidFill>
                <a:latin typeface="Calibri"/>
              </a:defRPr>
            </a:pPr>
            <a:r>
              <a:rPr lang="en-IN" sz="1300" dirty="0"/>
              <a:t>Different legal thresholds: misleading vs. fraudulent vs. good-faith breach</a:t>
            </a:r>
          </a:p>
          <a:p>
            <a:pPr marL="171450" indent="-171450">
              <a:buFont typeface="Arial" panose="020B0604020202020204" pitchFamily="34" charset="0"/>
              <a:buChar char="•"/>
              <a:defRPr sz="1100" b="0">
                <a:solidFill>
                  <a:srgbClr val="3A3A4A"/>
                </a:solidFill>
                <a:latin typeface="Calibri"/>
              </a:defRPr>
            </a:pPr>
            <a:r>
              <a:rPr lang="en-IN" sz="1300" dirty="0"/>
              <a:t>Firms invest in "defensible wording" rather than verifiable performance</a:t>
            </a:r>
            <a:endParaRPr sz="1300" dirty="0"/>
          </a:p>
        </p:txBody>
      </p:sp>
      <p:sp>
        <p:nvSpPr>
          <p:cNvPr id="43" name="Rounded Rectangle 6">
            <a:extLst>
              <a:ext uri="{FF2B5EF4-FFF2-40B4-BE49-F238E27FC236}">
                <a16:creationId xmlns:a16="http://schemas.microsoft.com/office/drawing/2014/main" id="{31F74835-6A59-B51C-3E82-E2C7E439ECBB}"/>
              </a:ext>
            </a:extLst>
          </p:cNvPr>
          <p:cNvSpPr/>
          <p:nvPr/>
        </p:nvSpPr>
        <p:spPr>
          <a:xfrm>
            <a:off x="568904" y="3623334"/>
            <a:ext cx="5175557" cy="2549894"/>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ounded Rectangle 7">
            <a:extLst>
              <a:ext uri="{FF2B5EF4-FFF2-40B4-BE49-F238E27FC236}">
                <a16:creationId xmlns:a16="http://schemas.microsoft.com/office/drawing/2014/main" id="{32E40E84-6032-A682-A8D9-8B1561127F99}"/>
              </a:ext>
            </a:extLst>
          </p:cNvPr>
          <p:cNvSpPr/>
          <p:nvPr/>
        </p:nvSpPr>
        <p:spPr>
          <a:xfrm>
            <a:off x="66143" y="3683100"/>
            <a:ext cx="594360" cy="256032"/>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dirty="0">
                <a:solidFill>
                  <a:schemeClr val="tx1"/>
                </a:solidFill>
              </a:rPr>
              <a:t>Gap 2</a:t>
            </a:r>
          </a:p>
        </p:txBody>
      </p:sp>
      <p:sp>
        <p:nvSpPr>
          <p:cNvPr id="47" name="TextBox 46">
            <a:extLst>
              <a:ext uri="{FF2B5EF4-FFF2-40B4-BE49-F238E27FC236}">
                <a16:creationId xmlns:a16="http://schemas.microsoft.com/office/drawing/2014/main" id="{03A43F78-A477-AC42-D5E9-73952486FF36}"/>
              </a:ext>
            </a:extLst>
          </p:cNvPr>
          <p:cNvSpPr txBox="1"/>
          <p:nvPr/>
        </p:nvSpPr>
        <p:spPr>
          <a:xfrm>
            <a:off x="689389" y="3678198"/>
            <a:ext cx="5033807" cy="2377574"/>
          </a:xfrm>
          <a:prstGeom prst="rect">
            <a:avLst/>
          </a:prstGeom>
          <a:noFill/>
        </p:spPr>
        <p:txBody>
          <a:bodyPr wrap="square">
            <a:spAutoFit/>
          </a:bodyPr>
          <a:lstStyle/>
          <a:p>
            <a:pPr algn="l">
              <a:spcAft>
                <a:spcPts val="300"/>
              </a:spcAft>
              <a:defRPr sz="1400" b="1">
                <a:solidFill>
                  <a:srgbClr val="095E4F"/>
                </a:solidFill>
                <a:latin typeface="Calibri"/>
              </a:defRPr>
            </a:pPr>
            <a:r>
              <a:rPr lang="en-US" sz="1600" dirty="0"/>
              <a:t>Regulatory Proliferation with Sustained Ambiguity</a:t>
            </a:r>
            <a:endParaRPr sz="1600" dirty="0"/>
          </a:p>
          <a:p>
            <a:pPr marL="171450" indent="-171450">
              <a:buFont typeface="Arial" panose="020B0604020202020204" pitchFamily="34" charset="0"/>
              <a:buChar char="•"/>
              <a:defRPr sz="1100" b="0">
                <a:solidFill>
                  <a:srgbClr val="3A3A4A"/>
                </a:solidFill>
                <a:latin typeface="Calibri"/>
              </a:defRPr>
            </a:pPr>
            <a:r>
              <a:rPr lang="en-IN" sz="1300" dirty="0"/>
              <a:t>A single "carbon neutral" claim simultaneously engages CCPA, SEBI, MCA, FSSAI, and </a:t>
            </a:r>
            <a:r>
              <a:rPr lang="en-IN" sz="1300" dirty="0" err="1"/>
              <a:t>MoEFCC</a:t>
            </a:r>
            <a:endParaRPr lang="en-IN" sz="1300" dirty="0"/>
          </a:p>
          <a:p>
            <a:pPr marL="171450" indent="-171450">
              <a:buFont typeface="Arial" panose="020B0604020202020204" pitchFamily="34" charset="0"/>
              <a:buChar char="•"/>
              <a:defRPr sz="1100" b="0">
                <a:solidFill>
                  <a:srgbClr val="3A3A4A"/>
                </a:solidFill>
                <a:latin typeface="Calibri"/>
              </a:defRPr>
            </a:pPr>
            <a:r>
              <a:rPr lang="en-IN" sz="1300" dirty="0"/>
              <a:t>Green Taxonomy Paradox: India's May 2025 Climate Finance Taxonomy added a </a:t>
            </a:r>
            <a:r>
              <a:rPr lang="en-IN" sz="1300" i="1" dirty="0"/>
              <a:t>new</a:t>
            </a:r>
            <a:r>
              <a:rPr lang="en-IN" sz="1300" dirty="0"/>
              <a:t> parallel framework without harmonising any— Finance-sector focused, voluntary, and unintegrated with enforcement.</a:t>
            </a:r>
          </a:p>
          <a:p>
            <a:pPr marL="171450" indent="-171450">
              <a:buFont typeface="Arial" panose="020B0604020202020204" pitchFamily="34" charset="0"/>
              <a:buChar char="•"/>
              <a:defRPr sz="1100" b="0">
                <a:solidFill>
                  <a:srgbClr val="3A3A4A"/>
                </a:solidFill>
                <a:latin typeface="Calibri"/>
              </a:defRPr>
            </a:pPr>
            <a:r>
              <a:rPr lang="en-IN" sz="1300" dirty="0"/>
              <a:t>No lead-regulator designation, no mandatory information-sharing, no joint investigative capacity</a:t>
            </a:r>
          </a:p>
          <a:p>
            <a:pPr marL="171450" indent="-171450">
              <a:buFont typeface="Arial" panose="020B0604020202020204" pitchFamily="34" charset="0"/>
              <a:buChar char="•"/>
              <a:defRPr sz="1100" b="0">
                <a:solidFill>
                  <a:srgbClr val="3A3A4A"/>
                </a:solidFill>
                <a:latin typeface="Calibri"/>
              </a:defRPr>
            </a:pPr>
            <a:r>
              <a:rPr lang="en-IN" sz="1300" dirty="0"/>
              <a:t>CCPA Guidelines' subordination clause ("in addition to and not in derogation of") creates ambiguity rather than resolving it.</a:t>
            </a:r>
            <a:endParaRPr sz="1300" dirty="0"/>
          </a:p>
        </p:txBody>
      </p:sp>
      <p:sp>
        <p:nvSpPr>
          <p:cNvPr id="49" name="Rounded Rectangle 9">
            <a:extLst>
              <a:ext uri="{FF2B5EF4-FFF2-40B4-BE49-F238E27FC236}">
                <a16:creationId xmlns:a16="http://schemas.microsoft.com/office/drawing/2014/main" id="{692C4E0B-F254-0100-FC2C-4780D07E16D5}"/>
              </a:ext>
            </a:extLst>
          </p:cNvPr>
          <p:cNvSpPr/>
          <p:nvPr/>
        </p:nvSpPr>
        <p:spPr>
          <a:xfrm>
            <a:off x="6547953" y="4582850"/>
            <a:ext cx="5212080" cy="1715614"/>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Rounded Rectangle 10">
            <a:extLst>
              <a:ext uri="{FF2B5EF4-FFF2-40B4-BE49-F238E27FC236}">
                <a16:creationId xmlns:a16="http://schemas.microsoft.com/office/drawing/2014/main" id="{76983213-AB3F-B2D6-4A49-5D4535B61986}"/>
              </a:ext>
            </a:extLst>
          </p:cNvPr>
          <p:cNvSpPr/>
          <p:nvPr/>
        </p:nvSpPr>
        <p:spPr>
          <a:xfrm>
            <a:off x="5953593" y="4848275"/>
            <a:ext cx="594360" cy="256032"/>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dirty="0">
                <a:solidFill>
                  <a:schemeClr val="tx1"/>
                </a:solidFill>
              </a:rPr>
              <a:t>Gap </a:t>
            </a:r>
            <a:r>
              <a:rPr lang="en-US" dirty="0">
                <a:solidFill>
                  <a:schemeClr val="tx1"/>
                </a:solidFill>
              </a:rPr>
              <a:t>5</a:t>
            </a:r>
            <a:endParaRPr dirty="0">
              <a:solidFill>
                <a:schemeClr val="tx1"/>
              </a:solidFill>
            </a:endParaRPr>
          </a:p>
        </p:txBody>
      </p:sp>
      <p:sp>
        <p:nvSpPr>
          <p:cNvPr id="53" name="TextBox 52">
            <a:extLst>
              <a:ext uri="{FF2B5EF4-FFF2-40B4-BE49-F238E27FC236}">
                <a16:creationId xmlns:a16="http://schemas.microsoft.com/office/drawing/2014/main" id="{9F4C8B64-1BD3-A8F2-92EC-CC23C73C5485}"/>
              </a:ext>
            </a:extLst>
          </p:cNvPr>
          <p:cNvSpPr txBox="1"/>
          <p:nvPr/>
        </p:nvSpPr>
        <p:spPr>
          <a:xfrm>
            <a:off x="6597551" y="4730253"/>
            <a:ext cx="5067118" cy="1577355"/>
          </a:xfrm>
          <a:prstGeom prst="rect">
            <a:avLst/>
          </a:prstGeom>
          <a:noFill/>
        </p:spPr>
        <p:txBody>
          <a:bodyPr wrap="square">
            <a:spAutoFit/>
          </a:bodyPr>
          <a:lstStyle/>
          <a:p>
            <a:pPr algn="l">
              <a:spcAft>
                <a:spcPts val="300"/>
              </a:spcAft>
              <a:defRPr sz="1400" b="1">
                <a:solidFill>
                  <a:srgbClr val="095E4F"/>
                </a:solidFill>
                <a:latin typeface="Calibri"/>
              </a:defRPr>
            </a:pPr>
            <a:r>
              <a:rPr sz="1600" dirty="0"/>
              <a:t>Penalty Arbitrage — Greenwashing as Rational Strategy</a:t>
            </a:r>
            <a:endParaRPr lang="en-IN" sz="1600" dirty="0"/>
          </a:p>
          <a:p>
            <a:pPr marL="171450" indent="-171450">
              <a:buFont typeface="Arial" panose="020B0604020202020204" pitchFamily="34" charset="0"/>
              <a:buChar char="•"/>
              <a:defRPr sz="1100" b="0">
                <a:solidFill>
                  <a:srgbClr val="3A3A4A"/>
                </a:solidFill>
                <a:latin typeface="Calibri"/>
              </a:defRPr>
            </a:pPr>
            <a:r>
              <a:rPr lang="en-IN" sz="1300" dirty="0"/>
              <a:t>Fixed nominal ceilings: CCPA ₹50 lakh, Section 166(7) ₹5 lakh, FSSAI ₹10 lakh</a:t>
            </a:r>
          </a:p>
          <a:p>
            <a:pPr marL="171450" indent="-171450">
              <a:buFont typeface="Arial" panose="020B0604020202020204" pitchFamily="34" charset="0"/>
              <a:buChar char="•"/>
              <a:defRPr sz="1100" b="0">
                <a:solidFill>
                  <a:srgbClr val="3A3A4A"/>
                </a:solidFill>
                <a:latin typeface="Calibri"/>
              </a:defRPr>
            </a:pPr>
            <a:r>
              <a:rPr lang="en-IN" sz="1300" dirty="0"/>
              <a:t>Orders of magnitude below international benchmarks (EU 10% turnover, UK CMA 10%, Australia 30%)</a:t>
            </a:r>
          </a:p>
          <a:p>
            <a:pPr marL="171450" indent="-171450">
              <a:buFont typeface="Arial" panose="020B0604020202020204" pitchFamily="34" charset="0"/>
              <a:buChar char="•"/>
              <a:defRPr sz="1100" b="0">
                <a:solidFill>
                  <a:srgbClr val="3A3A4A"/>
                </a:solidFill>
                <a:latin typeface="Calibri"/>
              </a:defRPr>
            </a:pPr>
            <a:r>
              <a:rPr lang="en-IN" sz="1300" dirty="0"/>
              <a:t>Penalties have practically become just another cost of doing business</a:t>
            </a:r>
          </a:p>
          <a:p>
            <a:pPr marL="171450" indent="-171450">
              <a:buFont typeface="Arial" panose="020B0604020202020204" pitchFamily="34" charset="0"/>
              <a:buChar char="•"/>
              <a:defRPr sz="1100" b="0">
                <a:solidFill>
                  <a:srgbClr val="3A3A4A"/>
                </a:solidFill>
                <a:latin typeface="Calibri"/>
              </a:defRPr>
            </a:pPr>
            <a:r>
              <a:rPr lang="en-IN" sz="1300" dirty="0"/>
              <a:t>Sole exception: NGT's proportionality-based model </a:t>
            </a:r>
          </a:p>
        </p:txBody>
      </p:sp>
      <p:sp>
        <p:nvSpPr>
          <p:cNvPr id="55" name="Rounded Rectangle 12">
            <a:extLst>
              <a:ext uri="{FF2B5EF4-FFF2-40B4-BE49-F238E27FC236}">
                <a16:creationId xmlns:a16="http://schemas.microsoft.com/office/drawing/2014/main" id="{DB62E08F-1B27-5F90-3E28-AE9882C800C6}"/>
              </a:ext>
            </a:extLst>
          </p:cNvPr>
          <p:cNvSpPr/>
          <p:nvPr/>
        </p:nvSpPr>
        <p:spPr>
          <a:xfrm>
            <a:off x="6469960" y="1316056"/>
            <a:ext cx="5196834" cy="1546577"/>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Rounded Rectangle 13">
            <a:extLst>
              <a:ext uri="{FF2B5EF4-FFF2-40B4-BE49-F238E27FC236}">
                <a16:creationId xmlns:a16="http://schemas.microsoft.com/office/drawing/2014/main" id="{9117E4A6-FBF2-60D8-7167-6C995847AB89}"/>
              </a:ext>
            </a:extLst>
          </p:cNvPr>
          <p:cNvSpPr/>
          <p:nvPr/>
        </p:nvSpPr>
        <p:spPr>
          <a:xfrm>
            <a:off x="5889244" y="1425784"/>
            <a:ext cx="594360" cy="256032"/>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dirty="0">
                <a:solidFill>
                  <a:schemeClr val="tx1"/>
                </a:solidFill>
              </a:rPr>
              <a:t>Gap </a:t>
            </a:r>
            <a:r>
              <a:rPr lang="en-US" dirty="0">
                <a:solidFill>
                  <a:schemeClr val="tx1"/>
                </a:solidFill>
              </a:rPr>
              <a:t>3</a:t>
            </a:r>
            <a:endParaRPr dirty="0">
              <a:solidFill>
                <a:schemeClr val="tx1"/>
              </a:solidFill>
            </a:endParaRPr>
          </a:p>
        </p:txBody>
      </p:sp>
      <p:sp>
        <p:nvSpPr>
          <p:cNvPr id="59" name="TextBox 58">
            <a:extLst>
              <a:ext uri="{FF2B5EF4-FFF2-40B4-BE49-F238E27FC236}">
                <a16:creationId xmlns:a16="http://schemas.microsoft.com/office/drawing/2014/main" id="{3E4BE53F-F7EA-E3DE-CA52-15E65F293897}"/>
              </a:ext>
            </a:extLst>
          </p:cNvPr>
          <p:cNvSpPr txBox="1"/>
          <p:nvPr/>
        </p:nvSpPr>
        <p:spPr>
          <a:xfrm>
            <a:off x="6521010" y="1370920"/>
            <a:ext cx="5145784" cy="1415772"/>
          </a:xfrm>
          <a:prstGeom prst="rect">
            <a:avLst/>
          </a:prstGeom>
          <a:noFill/>
        </p:spPr>
        <p:txBody>
          <a:bodyPr wrap="square">
            <a:spAutoFit/>
          </a:bodyPr>
          <a:lstStyle/>
          <a:p>
            <a:pPr algn="l">
              <a:spcAft>
                <a:spcPts val="300"/>
              </a:spcAft>
              <a:defRPr sz="1400" b="1">
                <a:solidFill>
                  <a:srgbClr val="095E4F"/>
                </a:solidFill>
                <a:latin typeface="Calibri"/>
              </a:defRPr>
            </a:pPr>
            <a:r>
              <a:rPr sz="1600" dirty="0"/>
              <a:t>Regulatory Backsliding</a:t>
            </a:r>
          </a:p>
          <a:p>
            <a:pPr marL="171450" indent="-171450" algn="l">
              <a:spcAft>
                <a:spcPts val="300"/>
              </a:spcAft>
              <a:buFont typeface="Arial" panose="020B0604020202020204" pitchFamily="34" charset="0"/>
              <a:buChar char="•"/>
              <a:defRPr sz="1100" b="0">
                <a:solidFill>
                  <a:srgbClr val="3A3A4A"/>
                </a:solidFill>
                <a:latin typeface="Calibri"/>
              </a:defRPr>
            </a:pPr>
            <a:r>
              <a:rPr sz="1300" dirty="0"/>
              <a:t>SEBI (active dilution): value-chain disclosure deferred &amp; narrowed; 'assessment or assurance’ </a:t>
            </a:r>
            <a:r>
              <a:rPr lang="en-US" sz="1300" dirty="0"/>
              <a:t>choice replaces earlier</a:t>
            </a:r>
            <a:r>
              <a:rPr sz="1300" dirty="0"/>
              <a:t> mandatory assurance.</a:t>
            </a:r>
            <a:endParaRPr lang="en-US" sz="1300" dirty="0"/>
          </a:p>
          <a:p>
            <a:pPr marL="171450" indent="-171450" algn="l">
              <a:spcAft>
                <a:spcPts val="300"/>
              </a:spcAft>
              <a:buFont typeface="Arial" panose="020B0604020202020204" pitchFamily="34" charset="0"/>
              <a:buChar char="•"/>
              <a:defRPr sz="1100" b="0">
                <a:solidFill>
                  <a:srgbClr val="3A3A4A"/>
                </a:solidFill>
                <a:latin typeface="Calibri"/>
              </a:defRPr>
            </a:pPr>
            <a:r>
              <a:rPr sz="1300" dirty="0"/>
              <a:t>MCA</a:t>
            </a:r>
            <a:r>
              <a:rPr lang="en-US" sz="1300" dirty="0"/>
              <a:t> </a:t>
            </a:r>
            <a:r>
              <a:rPr sz="1300" dirty="0"/>
              <a:t>Rejected all Parliamentary Standing Committee recommendations for ESG oversight body, turnover-based penalties</a:t>
            </a:r>
            <a:r>
              <a:rPr lang="en-US" sz="1300" dirty="0"/>
              <a:t>.</a:t>
            </a:r>
            <a:endParaRPr sz="1300" dirty="0"/>
          </a:p>
        </p:txBody>
      </p:sp>
      <p:sp>
        <p:nvSpPr>
          <p:cNvPr id="61" name="Rounded Rectangle 15">
            <a:extLst>
              <a:ext uri="{FF2B5EF4-FFF2-40B4-BE49-F238E27FC236}">
                <a16:creationId xmlns:a16="http://schemas.microsoft.com/office/drawing/2014/main" id="{808FF99C-D07F-5110-36C6-B657D1432D84}"/>
              </a:ext>
            </a:extLst>
          </p:cNvPr>
          <p:cNvSpPr/>
          <p:nvPr/>
        </p:nvSpPr>
        <p:spPr>
          <a:xfrm>
            <a:off x="6547953" y="3005544"/>
            <a:ext cx="5116716" cy="1465263"/>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Rounded Rectangle 16">
            <a:extLst>
              <a:ext uri="{FF2B5EF4-FFF2-40B4-BE49-F238E27FC236}">
                <a16:creationId xmlns:a16="http://schemas.microsoft.com/office/drawing/2014/main" id="{B21D5763-2C0D-7352-B501-5843DEDD9F5E}"/>
              </a:ext>
            </a:extLst>
          </p:cNvPr>
          <p:cNvSpPr/>
          <p:nvPr/>
        </p:nvSpPr>
        <p:spPr>
          <a:xfrm>
            <a:off x="5926651" y="3248605"/>
            <a:ext cx="594360" cy="256032"/>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dirty="0">
                <a:solidFill>
                  <a:schemeClr val="tx1"/>
                </a:solidFill>
              </a:rPr>
              <a:t>Gap </a:t>
            </a:r>
            <a:r>
              <a:rPr lang="en-US" dirty="0">
                <a:solidFill>
                  <a:schemeClr val="tx1"/>
                </a:solidFill>
              </a:rPr>
              <a:t>4</a:t>
            </a:r>
            <a:endParaRPr dirty="0">
              <a:solidFill>
                <a:schemeClr val="tx1"/>
              </a:solidFill>
            </a:endParaRPr>
          </a:p>
        </p:txBody>
      </p:sp>
      <p:sp>
        <p:nvSpPr>
          <p:cNvPr id="65" name="TextBox 64">
            <a:extLst>
              <a:ext uri="{FF2B5EF4-FFF2-40B4-BE49-F238E27FC236}">
                <a16:creationId xmlns:a16="http://schemas.microsoft.com/office/drawing/2014/main" id="{89820C0F-6DBD-53D7-B497-75BEB030986F}"/>
              </a:ext>
            </a:extLst>
          </p:cNvPr>
          <p:cNvSpPr txBox="1"/>
          <p:nvPr/>
        </p:nvSpPr>
        <p:spPr>
          <a:xfrm>
            <a:off x="6597551" y="3067141"/>
            <a:ext cx="5069243" cy="1546577"/>
          </a:xfrm>
          <a:prstGeom prst="rect">
            <a:avLst/>
          </a:prstGeom>
          <a:noFill/>
        </p:spPr>
        <p:txBody>
          <a:bodyPr wrap="square" lIns="91440" tIns="45720" rIns="91440" bIns="45720" anchor="t">
            <a:spAutoFit/>
          </a:bodyPr>
          <a:lstStyle/>
          <a:p>
            <a:pPr>
              <a:spcAft>
                <a:spcPts val="300"/>
              </a:spcAft>
              <a:defRPr sz="1400" b="1">
                <a:solidFill>
                  <a:srgbClr val="095E4F"/>
                </a:solidFill>
                <a:latin typeface="Calibri"/>
              </a:defRPr>
            </a:pPr>
            <a:r>
              <a:rPr lang="en-US" sz="1600">
                <a:ea typeface="+mn-lt"/>
                <a:cs typeface="+mn-lt"/>
              </a:rPr>
              <a:t>Reactive enforcement &amp;</a:t>
            </a:r>
            <a:r>
              <a:rPr lang="en-US" sz="1600"/>
              <a:t> </a:t>
            </a:r>
            <a:r>
              <a:rPr sz="1600"/>
              <a:t>Surveillance Limitations</a:t>
            </a:r>
            <a:endParaRPr lang="en-US"/>
          </a:p>
          <a:p>
            <a:pPr marL="171450" indent="-171450" algn="l">
              <a:spcAft>
                <a:spcPts val="0"/>
              </a:spcAft>
              <a:buFont typeface="Arial" panose="020B0604020202020204" pitchFamily="34" charset="0"/>
              <a:buChar char="•"/>
              <a:defRPr sz="1100" b="0">
                <a:solidFill>
                  <a:srgbClr val="3A3A4A"/>
                </a:solidFill>
                <a:latin typeface="Calibri"/>
              </a:defRPr>
            </a:pPr>
            <a:r>
              <a:rPr sz="1300" dirty="0"/>
              <a:t>Complaint-driven, reactive architecture — no proactive market scanning for environmental claims.</a:t>
            </a:r>
            <a:r>
              <a:rPr lang="en-US" sz="1300" dirty="0"/>
              <a:t> </a:t>
            </a:r>
          </a:p>
          <a:p>
            <a:pPr marL="171450" indent="-171450" algn="l">
              <a:spcAft>
                <a:spcPts val="0"/>
              </a:spcAft>
              <a:buFont typeface="Arial" panose="020B0604020202020204" pitchFamily="34" charset="0"/>
              <a:buChar char="•"/>
              <a:defRPr sz="1100" b="0">
                <a:solidFill>
                  <a:srgbClr val="3A3A4A"/>
                </a:solidFill>
                <a:latin typeface="Calibri"/>
              </a:defRPr>
            </a:pPr>
            <a:r>
              <a:rPr lang="en-US" sz="1300" dirty="0"/>
              <a:t>Consumer cases take 2–5 years for adjudication.</a:t>
            </a:r>
          </a:p>
          <a:p>
            <a:pPr marL="171450" indent="-171450">
              <a:buFont typeface="Arial" panose="020B0604020202020204" pitchFamily="34" charset="0"/>
              <a:buChar char="•"/>
              <a:defRPr sz="1100" b="0">
                <a:solidFill>
                  <a:srgbClr val="3A3A4A"/>
                </a:solidFill>
                <a:latin typeface="Calibri"/>
              </a:defRPr>
            </a:pPr>
            <a:r>
              <a:rPr lang="en-IN" sz="1300" dirty="0"/>
              <a:t>No specialised technical expertise in carbon accounting or lifecycle assessment</a:t>
            </a:r>
          </a:p>
          <a:p>
            <a:pPr marL="171450" indent="-171450" algn="l">
              <a:spcAft>
                <a:spcPts val="0"/>
              </a:spcAft>
              <a:buFont typeface="Arial" panose="020B0604020202020204" pitchFamily="34" charset="0"/>
              <a:buChar char="•"/>
              <a:defRPr sz="1100" b="0">
                <a:solidFill>
                  <a:srgbClr val="3A3A4A"/>
                </a:solidFill>
                <a:latin typeface="Calibri"/>
              </a:defRPr>
            </a:pPr>
            <a:endParaRPr lang="en-IN" sz="1100" dirty="0"/>
          </a:p>
        </p:txBody>
      </p:sp>
      <p:sp>
        <p:nvSpPr>
          <p:cNvPr id="66" name="TextBox 65"/>
          <p:cNvSpPr txBox="1"/>
          <p:nvPr/>
        </p:nvSpPr>
        <p:spPr>
          <a:xfrm>
            <a:off x="440000" y="830000"/>
            <a:ext cx="11400000" cy="207749"/>
          </a:xfrm>
          <a:prstGeom prst="rect">
            <a:avLst/>
          </a:prstGeom>
          <a:noFill/>
        </p:spPr>
        <p:txBody>
          <a:bodyPr wrap="square" lIns="45720" tIns="22860" rIns="45720" bIns="22860" anchor="t">
            <a:spAutoFit/>
          </a:bodyPr>
          <a:lstStyle/>
          <a:p>
            <a:r>
              <a:rPr sz="1050" b="0" i="0" dirty="0">
                <a:solidFill>
                  <a:srgbClr val="6B6F6A"/>
                </a:solidFill>
                <a:latin typeface="Avenir Next"/>
              </a:rPr>
              <a:t>Research Question 6: </a:t>
            </a:r>
            <a:r>
              <a:rPr lang="en-IN" sz="1050" dirty="0">
                <a:ea typeface="+mn-lt"/>
                <a:cs typeface="+mn-lt"/>
              </a:rPr>
              <a:t>How do fragmentation, overlap, weak coordination, and limited enforcement in India's regulatory ecosystem, impede accountability for greenwashing?</a:t>
            </a:r>
            <a:endParaRPr lang="en-US" sz="1050" dirty="0">
              <a:ea typeface="+mn-lt"/>
              <a:cs typeface="+mn-lt"/>
            </a:endParaRPr>
          </a:p>
        </p:txBody>
      </p:sp>
    </p:spTree>
    <p:extLst>
      <p:ext uri="{BB962C8B-B14F-4D97-AF65-F5344CB8AC3E}">
        <p14:creationId xmlns:p14="http://schemas.microsoft.com/office/powerpoint/2010/main" val="347738404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2357" y="0"/>
            <a:ext cx="12191695" cy="6858000"/>
          </a:xfrm>
          <a:prstGeom prst="rect">
            <a:avLst/>
          </a:prstGeom>
          <a:solidFill>
            <a:schemeClr val="bg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08357" y="450000"/>
            <a:ext cx="11200000" cy="43000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a:t>Comparative Study: What</a:t>
            </a:r>
            <a:r>
              <a:rPr dirty="0"/>
              <a:t> Stronger Jurisdictions Do Differently</a:t>
            </a:r>
          </a:p>
        </p:txBody>
      </p:sp>
      <p:graphicFrame>
        <p:nvGraphicFramePr>
          <p:cNvPr id="6" name="Table 5"/>
          <p:cNvGraphicFramePr>
            <a:graphicFrameLocks noGrp="1"/>
          </p:cNvGraphicFramePr>
          <p:nvPr>
            <p:extLst>
              <p:ext uri="{D42A27DB-BD31-4B8C-83A1-F6EECF244321}">
                <p14:modId xmlns:p14="http://schemas.microsoft.com/office/powerpoint/2010/main" val="2377605906"/>
              </p:ext>
            </p:extLst>
          </p:nvPr>
        </p:nvGraphicFramePr>
        <p:xfrm>
          <a:off x="679515" y="1373434"/>
          <a:ext cx="10835640" cy="3611880"/>
        </p:xfrm>
        <a:graphic>
          <a:graphicData uri="http://schemas.openxmlformats.org/drawingml/2006/table">
            <a:tbl>
              <a:tblPr firstRow="1" bandRow="1">
                <a:tableStyleId>{5C22544A-7EE6-4342-B048-85BDC9FD1C3A}</a:tableStyleId>
              </a:tblPr>
              <a:tblGrid>
                <a:gridCol w="297180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178308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gridCol w="2148840">
                  <a:extLst>
                    <a:ext uri="{9D8B030D-6E8A-4147-A177-3AD203B41FA5}">
                      <a16:colId xmlns:a16="http://schemas.microsoft.com/office/drawing/2014/main" val="20004"/>
                    </a:ext>
                  </a:extLst>
                </a:gridCol>
              </a:tblGrid>
              <a:tr h="601980">
                <a:tc>
                  <a:txBody>
                    <a:bodyPr/>
                    <a:lstStyle/>
                    <a:p>
                      <a:pPr algn="ctr">
                        <a:defRPr sz="1100" b="1">
                          <a:solidFill>
                            <a:srgbClr val="FFFFFF"/>
                          </a:solidFill>
                          <a:latin typeface="Avenir Next"/>
                        </a:defRPr>
                      </a:pPr>
                      <a:r>
                        <a:t>Design element</a:t>
                      </a:r>
                    </a:p>
                  </a:txBody>
                  <a:tcPr>
                    <a:solidFill>
                      <a:srgbClr val="173F35"/>
                    </a:solidFill>
                  </a:tcPr>
                </a:tc>
                <a:tc>
                  <a:txBody>
                    <a:bodyPr/>
                    <a:lstStyle/>
                    <a:p>
                      <a:pPr algn="ctr">
                        <a:defRPr sz="1100" b="1">
                          <a:solidFill>
                            <a:srgbClr val="FFFFFF"/>
                          </a:solidFill>
                          <a:latin typeface="Avenir Next"/>
                        </a:defRPr>
                      </a:pPr>
                      <a:r>
                        <a:t>European Union</a:t>
                      </a:r>
                    </a:p>
                  </a:txBody>
                  <a:tcPr>
                    <a:solidFill>
                      <a:srgbClr val="173F35"/>
                    </a:solidFill>
                  </a:tcPr>
                </a:tc>
                <a:tc>
                  <a:txBody>
                    <a:bodyPr/>
                    <a:lstStyle/>
                    <a:p>
                      <a:pPr algn="ctr">
                        <a:defRPr sz="1100" b="1">
                          <a:solidFill>
                            <a:srgbClr val="FFFFFF"/>
                          </a:solidFill>
                          <a:latin typeface="Avenir Next"/>
                        </a:defRPr>
                      </a:pPr>
                      <a:r>
                        <a:t>United Kingdom</a:t>
                      </a:r>
                    </a:p>
                  </a:txBody>
                  <a:tcPr>
                    <a:solidFill>
                      <a:srgbClr val="173F35"/>
                    </a:solidFill>
                  </a:tcPr>
                </a:tc>
                <a:tc>
                  <a:txBody>
                    <a:bodyPr/>
                    <a:lstStyle/>
                    <a:p>
                      <a:pPr algn="ctr">
                        <a:defRPr sz="1100" b="1">
                          <a:solidFill>
                            <a:srgbClr val="FFFFFF"/>
                          </a:solidFill>
                          <a:latin typeface="Avenir Next"/>
                        </a:defRPr>
                      </a:pPr>
                      <a:r>
                        <a:t>Australia</a:t>
                      </a:r>
                    </a:p>
                  </a:txBody>
                  <a:tcPr>
                    <a:solidFill>
                      <a:srgbClr val="173F35"/>
                    </a:solidFill>
                  </a:tcPr>
                </a:tc>
                <a:tc>
                  <a:txBody>
                    <a:bodyPr/>
                    <a:lstStyle/>
                    <a:p>
                      <a:pPr algn="ctr">
                        <a:defRPr sz="1100" b="1">
                          <a:solidFill>
                            <a:srgbClr val="FFFFFF"/>
                          </a:solidFill>
                          <a:latin typeface="Avenir Next"/>
                        </a:defRPr>
                      </a:pPr>
                      <a:r>
                        <a:t>India</a:t>
                      </a:r>
                    </a:p>
                  </a:txBody>
                  <a:tcPr>
                    <a:solidFill>
                      <a:srgbClr val="173F35"/>
                    </a:solidFill>
                  </a:tcPr>
                </a:tc>
                <a:extLst>
                  <a:ext uri="{0D108BD9-81ED-4DB2-BD59-A6C34878D82A}">
                    <a16:rowId xmlns:a16="http://schemas.microsoft.com/office/drawing/2014/main" val="10000"/>
                  </a:ext>
                </a:extLst>
              </a:tr>
              <a:tr h="601980">
                <a:tc>
                  <a:txBody>
                    <a:bodyPr/>
                    <a:lstStyle/>
                    <a:p>
                      <a:pPr algn="l">
                        <a:defRPr sz="1050" b="1">
                          <a:solidFill>
                            <a:srgbClr val="2A2A2A"/>
                          </a:solidFill>
                          <a:latin typeface="Avenir Next"/>
                        </a:defRPr>
                      </a:pPr>
                      <a:r>
                        <a:t>Board-level accountability</a:t>
                      </a:r>
                    </a:p>
                  </a:txBody>
                  <a:tcPr>
                    <a:solidFill>
                      <a:srgbClr val="FFFDF8"/>
                    </a:solidFill>
                  </a:tcPr>
                </a:tc>
                <a:tc>
                  <a:txBody>
                    <a:bodyPr/>
                    <a:lstStyle/>
                    <a:p>
                      <a:pPr algn="ctr">
                        <a:defRPr sz="1050" b="0">
                          <a:solidFill>
                            <a:srgbClr val="2A2A2A"/>
                          </a:solidFill>
                          <a:latin typeface="Avenir Next"/>
                        </a:defRPr>
                      </a:pPr>
                      <a:r>
                        <a:t>Strong</a:t>
                      </a:r>
                    </a:p>
                  </a:txBody>
                  <a:tcPr>
                    <a:solidFill>
                      <a:srgbClr val="FFFDF8"/>
                    </a:solidFill>
                  </a:tcPr>
                </a:tc>
                <a:tc>
                  <a:txBody>
                    <a:bodyPr/>
                    <a:lstStyle/>
                    <a:p>
                      <a:pPr algn="ctr">
                        <a:defRPr sz="1050" b="0">
                          <a:solidFill>
                            <a:srgbClr val="2A2A2A"/>
                          </a:solidFill>
                          <a:latin typeface="Avenir Next"/>
                        </a:defRPr>
                      </a:pPr>
                      <a:r>
                        <a:t>Strong</a:t>
                      </a:r>
                    </a:p>
                  </a:txBody>
                  <a:tcPr>
                    <a:solidFill>
                      <a:srgbClr val="FFFDF8"/>
                    </a:solidFill>
                  </a:tcPr>
                </a:tc>
                <a:tc>
                  <a:txBody>
                    <a:bodyPr/>
                    <a:lstStyle/>
                    <a:p>
                      <a:pPr algn="ctr">
                        <a:defRPr sz="1050" b="0">
                          <a:solidFill>
                            <a:srgbClr val="2A2A2A"/>
                          </a:solidFill>
                          <a:latin typeface="Avenir Next"/>
                        </a:defRPr>
                      </a:pPr>
                      <a:r>
                        <a:t>Partial but real</a:t>
                      </a:r>
                    </a:p>
                  </a:txBody>
                  <a:tcPr>
                    <a:solidFill>
                      <a:srgbClr val="FFFDF8"/>
                    </a:solidFill>
                  </a:tcPr>
                </a:tc>
                <a:tc>
                  <a:txBody>
                    <a:bodyPr/>
                    <a:lstStyle/>
                    <a:p>
                      <a:pPr algn="ctr">
                        <a:defRPr sz="1050" b="0">
                          <a:solidFill>
                            <a:srgbClr val="173F35"/>
                          </a:solidFill>
                          <a:latin typeface="Avenir Next"/>
                        </a:defRPr>
                      </a:pPr>
                      <a:r>
                        <a:t>Formal duty, rarely operational</a:t>
                      </a:r>
                    </a:p>
                  </a:txBody>
                  <a:tcPr>
                    <a:solidFill>
                      <a:srgbClr val="FFFDF8"/>
                    </a:solidFill>
                  </a:tcPr>
                </a:tc>
                <a:extLst>
                  <a:ext uri="{0D108BD9-81ED-4DB2-BD59-A6C34878D82A}">
                    <a16:rowId xmlns:a16="http://schemas.microsoft.com/office/drawing/2014/main" val="10001"/>
                  </a:ext>
                </a:extLst>
              </a:tr>
              <a:tr h="601980">
                <a:tc>
                  <a:txBody>
                    <a:bodyPr/>
                    <a:lstStyle/>
                    <a:p>
                      <a:pPr algn="l">
                        <a:defRPr sz="1050" b="1">
                          <a:solidFill>
                            <a:srgbClr val="2A2A2A"/>
                          </a:solidFill>
                          <a:latin typeface="Avenir Next"/>
                        </a:defRPr>
                      </a:pPr>
                      <a:r>
                        <a:t>Integrated architecture</a:t>
                      </a:r>
                    </a:p>
                  </a:txBody>
                  <a:tcPr>
                    <a:solidFill>
                      <a:srgbClr val="E8EFE6"/>
                    </a:solidFill>
                  </a:tcPr>
                </a:tc>
                <a:tc>
                  <a:txBody>
                    <a:bodyPr/>
                    <a:lstStyle/>
                    <a:p>
                      <a:pPr algn="ctr">
                        <a:defRPr sz="1050" b="0">
                          <a:solidFill>
                            <a:srgbClr val="2A2A2A"/>
                          </a:solidFill>
                          <a:latin typeface="Avenir Next"/>
                        </a:defRPr>
                      </a:pPr>
                      <a:r>
                        <a:t>Reporting + claims + enforcement</a:t>
                      </a:r>
                    </a:p>
                  </a:txBody>
                  <a:tcPr>
                    <a:solidFill>
                      <a:srgbClr val="E8EFE6"/>
                    </a:solidFill>
                  </a:tcPr>
                </a:tc>
                <a:tc>
                  <a:txBody>
                    <a:bodyPr/>
                    <a:lstStyle/>
                    <a:p>
                      <a:pPr algn="ctr">
                        <a:defRPr sz="1050" b="0">
                          <a:solidFill>
                            <a:srgbClr val="2A2A2A"/>
                          </a:solidFill>
                          <a:latin typeface="Avenir Next"/>
                        </a:defRPr>
                      </a:pPr>
                      <a:r>
                        <a:t>FCA + CMA + company law</a:t>
                      </a:r>
                    </a:p>
                  </a:txBody>
                  <a:tcPr>
                    <a:solidFill>
                      <a:srgbClr val="E8EFE6"/>
                    </a:solidFill>
                  </a:tcPr>
                </a:tc>
                <a:tc>
                  <a:txBody>
                    <a:bodyPr/>
                    <a:lstStyle/>
                    <a:p>
                      <a:pPr algn="ctr">
                        <a:defRPr sz="1050" b="0">
                          <a:solidFill>
                            <a:srgbClr val="2A2A2A"/>
                          </a:solidFill>
                          <a:latin typeface="Avenir Next"/>
                        </a:defRPr>
                      </a:pPr>
                      <a:r>
                        <a:t>Active regulator coordination</a:t>
                      </a:r>
                    </a:p>
                  </a:txBody>
                  <a:tcPr>
                    <a:solidFill>
                      <a:srgbClr val="E8EFE6"/>
                    </a:solidFill>
                  </a:tcPr>
                </a:tc>
                <a:tc>
                  <a:txBody>
                    <a:bodyPr/>
                    <a:lstStyle/>
                    <a:p>
                      <a:pPr algn="ctr">
                        <a:defRPr sz="1050" b="0">
                          <a:solidFill>
                            <a:srgbClr val="173F35"/>
                          </a:solidFill>
                          <a:latin typeface="Avenir Next"/>
                        </a:defRPr>
                      </a:pPr>
                      <a:r>
                        <a:t>SEBI / CCPA / MCA remain siloed</a:t>
                      </a:r>
                    </a:p>
                  </a:txBody>
                  <a:tcPr>
                    <a:solidFill>
                      <a:srgbClr val="E8EFE6"/>
                    </a:solidFill>
                  </a:tcPr>
                </a:tc>
                <a:extLst>
                  <a:ext uri="{0D108BD9-81ED-4DB2-BD59-A6C34878D82A}">
                    <a16:rowId xmlns:a16="http://schemas.microsoft.com/office/drawing/2014/main" val="10002"/>
                  </a:ext>
                </a:extLst>
              </a:tr>
              <a:tr h="601980">
                <a:tc>
                  <a:txBody>
                    <a:bodyPr/>
                    <a:lstStyle/>
                    <a:p>
                      <a:pPr algn="l">
                        <a:defRPr sz="1050" b="1">
                          <a:solidFill>
                            <a:srgbClr val="2A2A2A"/>
                          </a:solidFill>
                          <a:latin typeface="Avenir Next"/>
                        </a:defRPr>
                      </a:pPr>
                      <a:r>
                        <a:t>Third-party assurance</a:t>
                      </a:r>
                    </a:p>
                  </a:txBody>
                  <a:tcPr>
                    <a:solidFill>
                      <a:srgbClr val="FFFDF8"/>
                    </a:solidFill>
                  </a:tcPr>
                </a:tc>
                <a:tc>
                  <a:txBody>
                    <a:bodyPr/>
                    <a:lstStyle/>
                    <a:p>
                      <a:pPr algn="ctr">
                        <a:defRPr sz="1050" b="0">
                          <a:solidFill>
                            <a:srgbClr val="2A2A2A"/>
                          </a:solidFill>
                          <a:latin typeface="Avenir Next"/>
                        </a:defRPr>
                      </a:pPr>
                      <a:r>
                        <a:t>Phased toward stronger assurance</a:t>
                      </a:r>
                    </a:p>
                  </a:txBody>
                  <a:tcPr>
                    <a:solidFill>
                      <a:srgbClr val="FFFDF8"/>
                    </a:solidFill>
                  </a:tcPr>
                </a:tc>
                <a:tc>
                  <a:txBody>
                    <a:bodyPr/>
                    <a:lstStyle/>
                    <a:p>
                      <a:pPr algn="ctr">
                        <a:defRPr sz="1050" b="0">
                          <a:solidFill>
                            <a:srgbClr val="2A2A2A"/>
                          </a:solidFill>
                          <a:latin typeface="Avenir Next"/>
                        </a:defRPr>
                      </a:pPr>
                      <a:r>
                        <a:t>Developing</a:t>
                      </a:r>
                    </a:p>
                  </a:txBody>
                  <a:tcPr>
                    <a:solidFill>
                      <a:srgbClr val="FFFDF8"/>
                    </a:solidFill>
                  </a:tcPr>
                </a:tc>
                <a:tc>
                  <a:txBody>
                    <a:bodyPr/>
                    <a:lstStyle/>
                    <a:p>
                      <a:pPr algn="ctr">
                        <a:defRPr sz="1050" b="0">
                          <a:solidFill>
                            <a:srgbClr val="2A2A2A"/>
                          </a:solidFill>
                          <a:latin typeface="Avenir Next"/>
                        </a:defRPr>
                      </a:pPr>
                      <a:r>
                        <a:t>Building toward mandatory climate assurance</a:t>
                      </a:r>
                    </a:p>
                  </a:txBody>
                  <a:tcPr>
                    <a:solidFill>
                      <a:srgbClr val="FFFDF8"/>
                    </a:solidFill>
                  </a:tcPr>
                </a:tc>
                <a:tc>
                  <a:txBody>
                    <a:bodyPr/>
                    <a:lstStyle/>
                    <a:p>
                      <a:pPr algn="ctr">
                        <a:defRPr sz="1050" b="0">
                          <a:solidFill>
                            <a:srgbClr val="173F35"/>
                          </a:solidFill>
                          <a:latin typeface="Avenir Next"/>
                        </a:defRPr>
                      </a:pPr>
                      <a:r>
                        <a:t>Deferred or diluted</a:t>
                      </a:r>
                    </a:p>
                  </a:txBody>
                  <a:tcPr>
                    <a:solidFill>
                      <a:srgbClr val="FFFDF8"/>
                    </a:solidFill>
                  </a:tcPr>
                </a:tc>
                <a:extLst>
                  <a:ext uri="{0D108BD9-81ED-4DB2-BD59-A6C34878D82A}">
                    <a16:rowId xmlns:a16="http://schemas.microsoft.com/office/drawing/2014/main" val="10003"/>
                  </a:ext>
                </a:extLst>
              </a:tr>
              <a:tr h="601980">
                <a:tc>
                  <a:txBody>
                    <a:bodyPr/>
                    <a:lstStyle/>
                    <a:p>
                      <a:pPr algn="l">
                        <a:defRPr sz="1050" b="1">
                          <a:solidFill>
                            <a:srgbClr val="2A2A2A"/>
                          </a:solidFill>
                          <a:latin typeface="Avenir Next"/>
                        </a:defRPr>
                      </a:pPr>
                      <a:r>
                        <a:t>Forward-looking claim controls</a:t>
                      </a:r>
                    </a:p>
                  </a:txBody>
                  <a:tcPr>
                    <a:solidFill>
                      <a:srgbClr val="E8EFE6"/>
                    </a:solidFill>
                  </a:tcPr>
                </a:tc>
                <a:tc>
                  <a:txBody>
                    <a:bodyPr/>
                    <a:lstStyle/>
                    <a:p>
                      <a:pPr algn="ctr">
                        <a:defRPr sz="1050" b="0">
                          <a:solidFill>
                            <a:srgbClr val="2A2A2A"/>
                          </a:solidFill>
                          <a:latin typeface="Avenir Next"/>
                        </a:defRPr>
                      </a:pPr>
                      <a:r>
                        <a:t>Offsets and neutrality claims constrained</a:t>
                      </a:r>
                    </a:p>
                  </a:txBody>
                  <a:tcPr>
                    <a:solidFill>
                      <a:srgbClr val="E8EFE6"/>
                    </a:solidFill>
                  </a:tcPr>
                </a:tc>
                <a:tc>
                  <a:txBody>
                    <a:bodyPr/>
                    <a:lstStyle/>
                    <a:p>
                      <a:pPr algn="ctr">
                        <a:defRPr sz="1050" b="0">
                          <a:solidFill>
                            <a:srgbClr val="2A2A2A"/>
                          </a:solidFill>
                          <a:latin typeface="Avenir Next"/>
                        </a:defRPr>
                      </a:pPr>
                      <a:r>
                        <a:t>Partial</a:t>
                      </a:r>
                    </a:p>
                  </a:txBody>
                  <a:tcPr>
                    <a:solidFill>
                      <a:srgbClr val="E8EFE6"/>
                    </a:solidFill>
                  </a:tcPr>
                </a:tc>
                <a:tc>
                  <a:txBody>
                    <a:bodyPr/>
                    <a:lstStyle/>
                    <a:p>
                      <a:pPr algn="ctr">
                        <a:defRPr sz="1050" b="0">
                          <a:solidFill>
                            <a:srgbClr val="2A2A2A"/>
                          </a:solidFill>
                          <a:latin typeface="Avenir Next"/>
                        </a:defRPr>
                      </a:pPr>
                      <a:r>
                        <a:t>Emerging</a:t>
                      </a:r>
                    </a:p>
                  </a:txBody>
                  <a:tcPr>
                    <a:solidFill>
                      <a:srgbClr val="E8EFE6"/>
                    </a:solidFill>
                  </a:tcPr>
                </a:tc>
                <a:tc>
                  <a:txBody>
                    <a:bodyPr/>
                    <a:lstStyle/>
                    <a:p>
                      <a:pPr algn="ctr">
                        <a:defRPr sz="1050" b="0">
                          <a:solidFill>
                            <a:srgbClr val="173F35"/>
                          </a:solidFill>
                          <a:latin typeface="Avenir Next"/>
                        </a:defRPr>
                      </a:pPr>
                      <a:r>
                        <a:t>Weak</a:t>
                      </a:r>
                    </a:p>
                  </a:txBody>
                  <a:tcPr>
                    <a:solidFill>
                      <a:srgbClr val="E8EFE6"/>
                    </a:solidFill>
                  </a:tcPr>
                </a:tc>
                <a:extLst>
                  <a:ext uri="{0D108BD9-81ED-4DB2-BD59-A6C34878D82A}">
                    <a16:rowId xmlns:a16="http://schemas.microsoft.com/office/drawing/2014/main" val="10004"/>
                  </a:ext>
                </a:extLst>
              </a:tr>
              <a:tr h="601980">
                <a:tc>
                  <a:txBody>
                    <a:bodyPr/>
                    <a:lstStyle/>
                    <a:p>
                      <a:pPr algn="l">
                        <a:defRPr sz="1050" b="1">
                          <a:solidFill>
                            <a:srgbClr val="2A2A2A"/>
                          </a:solidFill>
                          <a:latin typeface="Avenir Next"/>
                        </a:defRPr>
                      </a:pPr>
                      <a:r>
                        <a:t>Proportionate penalties</a:t>
                      </a:r>
                    </a:p>
                  </a:txBody>
                  <a:tcPr>
                    <a:solidFill>
                      <a:srgbClr val="FFFDF8"/>
                    </a:solidFill>
                  </a:tcPr>
                </a:tc>
                <a:tc>
                  <a:txBody>
                    <a:bodyPr/>
                    <a:lstStyle/>
                    <a:p>
                      <a:pPr algn="ctr">
                        <a:defRPr sz="1050" b="0">
                          <a:solidFill>
                            <a:srgbClr val="2A2A2A"/>
                          </a:solidFill>
                          <a:latin typeface="Avenir Next"/>
                        </a:defRPr>
                      </a:pPr>
                      <a:r>
                        <a:t>Turnover-linked</a:t>
                      </a:r>
                    </a:p>
                  </a:txBody>
                  <a:tcPr>
                    <a:solidFill>
                      <a:srgbClr val="FFFDF8"/>
                    </a:solidFill>
                  </a:tcPr>
                </a:tc>
                <a:tc>
                  <a:txBody>
                    <a:bodyPr/>
                    <a:lstStyle/>
                    <a:p>
                      <a:pPr algn="ctr">
                        <a:defRPr sz="1050" b="0">
                          <a:solidFill>
                            <a:srgbClr val="2A2A2A"/>
                          </a:solidFill>
                          <a:latin typeface="Avenir Next"/>
                        </a:defRPr>
                      </a:pPr>
                      <a:r>
                        <a:t>Up to 10% global turnover</a:t>
                      </a:r>
                    </a:p>
                  </a:txBody>
                  <a:tcPr>
                    <a:solidFill>
                      <a:srgbClr val="FFFDF8"/>
                    </a:solidFill>
                  </a:tcPr>
                </a:tc>
                <a:tc>
                  <a:txBody>
                    <a:bodyPr/>
                    <a:lstStyle/>
                    <a:p>
                      <a:pPr algn="ctr">
                        <a:defRPr sz="1050" b="0">
                          <a:solidFill>
                            <a:srgbClr val="2A2A2A"/>
                          </a:solidFill>
                          <a:latin typeface="Avenir Next"/>
                        </a:defRPr>
                      </a:pPr>
                      <a:r>
                        <a:t>High civil penalty exposure</a:t>
                      </a:r>
                    </a:p>
                  </a:txBody>
                  <a:tcPr>
                    <a:solidFill>
                      <a:srgbClr val="FFFDF8"/>
                    </a:solidFill>
                  </a:tcPr>
                </a:tc>
                <a:tc>
                  <a:txBody>
                    <a:bodyPr/>
                    <a:lstStyle/>
                    <a:p>
                      <a:pPr algn="ctr">
                        <a:defRPr sz="1050" b="0">
                          <a:solidFill>
                            <a:srgbClr val="173F35"/>
                          </a:solidFill>
                          <a:latin typeface="Avenir Next"/>
                        </a:defRPr>
                      </a:pPr>
                      <a:r>
                        <a:t>Low fixed penalties dominate</a:t>
                      </a:r>
                    </a:p>
                  </a:txBody>
                  <a:tcPr>
                    <a:solidFill>
                      <a:srgbClr val="FFFDF8"/>
                    </a:solidFill>
                  </a:tcPr>
                </a:tc>
                <a:extLst>
                  <a:ext uri="{0D108BD9-81ED-4DB2-BD59-A6C34878D82A}">
                    <a16:rowId xmlns:a16="http://schemas.microsoft.com/office/drawing/2014/main" val="10005"/>
                  </a:ext>
                </a:extLst>
              </a:tr>
            </a:tbl>
          </a:graphicData>
        </a:graphic>
      </p:graphicFrame>
      <p:sp>
        <p:nvSpPr>
          <p:cNvPr id="9" name="TextBox 8"/>
          <p:cNvSpPr txBox="1"/>
          <p:nvPr/>
        </p:nvSpPr>
        <p:spPr>
          <a:xfrm>
            <a:off x="566928" y="6400800"/>
            <a:ext cx="4605748" cy="246221"/>
          </a:xfrm>
          <a:prstGeom prst="rect">
            <a:avLst/>
          </a:prstGeom>
          <a:noFill/>
        </p:spPr>
        <p:txBody>
          <a:bodyPr wrap="none" lIns="91440" tIns="45720" rIns="91440" bIns="45720" anchor="t">
            <a:spAutoFit/>
          </a:bodyPr>
          <a:lstStyle/>
          <a:p>
            <a:pPr>
              <a:defRPr sz="850">
                <a:solidFill>
                  <a:srgbClr val="6B6F6A"/>
                </a:solidFill>
                <a:latin typeface="Avenir Next"/>
              </a:defRPr>
            </a:pPr>
            <a:r>
              <a:rPr sz="1000" dirty="0"/>
              <a:t>Source base: Chapter 4 comparative </a:t>
            </a:r>
            <a:r>
              <a:rPr lang="en-US" sz="1000"/>
              <a:t> study and</a:t>
            </a:r>
            <a:r>
              <a:rPr sz="1000" dirty="0"/>
              <a:t> cross-jurisdictional analysis.</a:t>
            </a:r>
            <a:endParaRPr lang="en-US" sz="1000" dirty="0"/>
          </a:p>
        </p:txBody>
      </p:sp>
      <p:sp>
        <p:nvSpPr>
          <p:cNvPr id="10" name="TextBox 9"/>
          <p:cNvSpPr txBox="1"/>
          <p:nvPr/>
        </p:nvSpPr>
        <p:spPr>
          <a:xfrm>
            <a:off x="596000" y="980000"/>
            <a:ext cx="11200000" cy="384721"/>
          </a:xfrm>
          <a:prstGeom prst="rect">
            <a:avLst/>
          </a:prstGeom>
          <a:noFill/>
        </p:spPr>
        <p:txBody>
          <a:bodyPr wrap="square" lIns="45720" tIns="22860" rIns="45720" bIns="22860" anchor="t">
            <a:spAutoFit/>
          </a:bodyPr>
          <a:lstStyle/>
          <a:p>
            <a:r>
              <a:rPr sz="1100" b="0" i="0" dirty="0">
                <a:solidFill>
                  <a:srgbClr val="6B6F6A"/>
                </a:solidFill>
                <a:latin typeface="Avenir Next"/>
              </a:rPr>
              <a:t>Research Question 5:</a:t>
            </a:r>
            <a:r>
              <a:rPr lang="en-US" sz="1100" b="0" i="0" dirty="0">
                <a:solidFill>
                  <a:srgbClr val="6B6F6A"/>
                </a:solidFill>
                <a:latin typeface="Avenir Next"/>
              </a:rPr>
              <a:t> </a:t>
            </a:r>
            <a:r>
              <a:rPr lang="en-IN" sz="1100" dirty="0">
                <a:ea typeface="+mn-lt"/>
                <a:cs typeface="+mn-lt"/>
              </a:rPr>
              <a:t>What comparative regulatory models and enforcement techniques have emerged in other jurisdictions to control greenwashing, and what design lessons do they offer?</a:t>
            </a:r>
            <a:endParaRPr lang="en-US" sz="1100" dirty="0">
              <a:ea typeface="+mn-lt"/>
              <a:cs typeface="+mn-lt"/>
            </a:endParaRPr>
          </a:p>
          <a:p>
            <a:pPr algn="l"/>
            <a:endParaRPr sz="1100" b="0" i="0" dirty="0">
              <a:solidFill>
                <a:srgbClr val="6B6F6A"/>
              </a:solidFill>
              <a:latin typeface="Avenir Next"/>
            </a:endParaRPr>
          </a:p>
        </p:txBody>
      </p:sp>
      <p:sp>
        <p:nvSpPr>
          <p:cNvPr id="11" name="Rounded Rectangle 10"/>
          <p:cNvSpPr/>
          <p:nvPr/>
        </p:nvSpPr>
        <p:spPr>
          <a:xfrm>
            <a:off x="679515" y="5220000"/>
            <a:ext cx="10835640" cy="900000"/>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09515" y="5290000"/>
            <a:ext cx="10575640" cy="760000"/>
          </a:xfrm>
          <a:prstGeom prst="rect">
            <a:avLst/>
          </a:prstGeom>
          <a:noFill/>
        </p:spPr>
        <p:txBody>
          <a:bodyPr wrap="square" lIns="45720" tIns="22860" rIns="45720" bIns="22860" anchor="ctr">
            <a:spAutoFit/>
          </a:bodyPr>
          <a:lstStyle/>
          <a:p>
            <a:pPr algn="ctr"/>
            <a:r>
              <a:rPr sz="1000" b="1" i="0">
                <a:solidFill>
                  <a:srgbClr val="095E4F"/>
                </a:solidFill>
                <a:latin typeface="Calibri"/>
              </a:rPr>
              <a:t>Answer to RQ5:  </a:t>
            </a:r>
            <a:r>
              <a:rPr sz="1000" b="0" i="0">
                <a:solidFill>
                  <a:srgbClr val="3A3A4A"/>
                </a:solidFill>
                <a:latin typeface="Calibri"/>
              </a:rPr>
              <a:t>stronger systems are not stricter on paper, they are better sequenced. They ask for proof before the claim is published, add independent assurance, connect their regulators through automatic referral, and set penalties as a share of turnover so the claim never becomes cheaper than the truth. The next slide sets out the ten design features India can borrow.</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6" name="Rounded Rectangle 5"/>
          <p:cNvSpPr/>
          <p:nvPr/>
        </p:nvSpPr>
        <p:spPr>
          <a:xfrm>
            <a:off x="731520" y="1436130"/>
            <a:ext cx="5212080" cy="80467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822960" y="1573290"/>
            <a:ext cx="347472" cy="347472"/>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t>1</a:t>
            </a:r>
          </a:p>
        </p:txBody>
      </p:sp>
      <p:sp>
        <p:nvSpPr>
          <p:cNvPr id="8" name="TextBox 7"/>
          <p:cNvSpPr txBox="1"/>
          <p:nvPr/>
        </p:nvSpPr>
        <p:spPr>
          <a:xfrm>
            <a:off x="1261872" y="1500138"/>
            <a:ext cx="4553712" cy="713232"/>
          </a:xfrm>
          <a:prstGeom prst="rect">
            <a:avLst/>
          </a:prstGeom>
          <a:noFill/>
        </p:spPr>
        <p:txBody>
          <a:bodyPr wrap="square">
            <a:spAutoFit/>
          </a:bodyPr>
          <a:lstStyle/>
          <a:p>
            <a:pPr algn="l">
              <a:spcAft>
                <a:spcPts val="200"/>
              </a:spcAft>
              <a:defRPr sz="1100" b="1">
                <a:solidFill>
                  <a:srgbClr val="095E4F"/>
                </a:solidFill>
                <a:latin typeface="Calibri"/>
              </a:defRPr>
            </a:pPr>
            <a:r>
              <a:t>Ex ante claim approval</a:t>
            </a:r>
          </a:p>
          <a:p>
            <a:pPr algn="l">
              <a:spcAft>
                <a:spcPts val="0"/>
              </a:spcAft>
              <a:defRPr sz="950" b="0">
                <a:solidFill>
                  <a:srgbClr val="3A3A4A"/>
                </a:solidFill>
                <a:latin typeface="Calibri"/>
              </a:defRPr>
            </a:pPr>
            <a:r>
              <a:t>Independent 'Certificate of Conformity' before publication — EU GCD; Colombia Decree 1369.</a:t>
            </a:r>
          </a:p>
        </p:txBody>
      </p:sp>
      <p:sp>
        <p:nvSpPr>
          <p:cNvPr id="9" name="Rounded Rectangle 8"/>
          <p:cNvSpPr/>
          <p:nvPr/>
        </p:nvSpPr>
        <p:spPr>
          <a:xfrm>
            <a:off x="6217920" y="1436130"/>
            <a:ext cx="5212080" cy="80467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6309360" y="1573290"/>
            <a:ext cx="347472" cy="347472"/>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t>2</a:t>
            </a:r>
          </a:p>
        </p:txBody>
      </p:sp>
      <p:sp>
        <p:nvSpPr>
          <p:cNvPr id="11" name="TextBox 10"/>
          <p:cNvSpPr txBox="1"/>
          <p:nvPr/>
        </p:nvSpPr>
        <p:spPr>
          <a:xfrm>
            <a:off x="6748272" y="1500138"/>
            <a:ext cx="4553712" cy="713232"/>
          </a:xfrm>
          <a:prstGeom prst="rect">
            <a:avLst/>
          </a:prstGeom>
          <a:noFill/>
        </p:spPr>
        <p:txBody>
          <a:bodyPr wrap="square">
            <a:spAutoFit/>
          </a:bodyPr>
          <a:lstStyle/>
          <a:p>
            <a:pPr algn="l">
              <a:spcAft>
                <a:spcPts val="200"/>
              </a:spcAft>
              <a:defRPr sz="1100" b="1">
                <a:solidFill>
                  <a:srgbClr val="095E4F"/>
                </a:solidFill>
                <a:latin typeface="Calibri"/>
              </a:defRPr>
            </a:pPr>
            <a:r>
              <a:t>Mandatory third-party assurance</a:t>
            </a:r>
          </a:p>
          <a:p>
            <a:pPr algn="l">
              <a:spcAft>
                <a:spcPts val="0"/>
              </a:spcAft>
              <a:defRPr sz="950" b="0">
                <a:solidFill>
                  <a:srgbClr val="3A3A4A"/>
                </a:solidFill>
                <a:latin typeface="Calibri"/>
              </a:defRPr>
            </a:pPr>
            <a:r>
              <a:t>Limited assurance from Year 1; escalating to reasonable (audit) assurance — EU CSRD; Australia AASB S2.</a:t>
            </a:r>
          </a:p>
        </p:txBody>
      </p:sp>
      <p:sp>
        <p:nvSpPr>
          <p:cNvPr id="12" name="Rounded Rectangle 11"/>
          <p:cNvSpPr/>
          <p:nvPr/>
        </p:nvSpPr>
        <p:spPr>
          <a:xfrm>
            <a:off x="731520" y="2304810"/>
            <a:ext cx="5212080" cy="80467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822960" y="2441970"/>
            <a:ext cx="347472" cy="347472"/>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t>3</a:t>
            </a:r>
          </a:p>
        </p:txBody>
      </p:sp>
      <p:sp>
        <p:nvSpPr>
          <p:cNvPr id="14" name="TextBox 13"/>
          <p:cNvSpPr txBox="1"/>
          <p:nvPr/>
        </p:nvSpPr>
        <p:spPr>
          <a:xfrm>
            <a:off x="1261872" y="2368818"/>
            <a:ext cx="4553712" cy="713232"/>
          </a:xfrm>
          <a:prstGeom prst="rect">
            <a:avLst/>
          </a:prstGeom>
          <a:noFill/>
        </p:spPr>
        <p:txBody>
          <a:bodyPr wrap="square">
            <a:spAutoFit/>
          </a:bodyPr>
          <a:lstStyle/>
          <a:p>
            <a:pPr algn="l">
              <a:spcAft>
                <a:spcPts val="200"/>
              </a:spcAft>
              <a:defRPr sz="1100" b="1">
                <a:solidFill>
                  <a:srgbClr val="095E4F"/>
                </a:solidFill>
                <a:latin typeface="Calibri"/>
              </a:defRPr>
            </a:pPr>
            <a:r>
              <a:t>Double materiality</a:t>
            </a:r>
          </a:p>
          <a:p>
            <a:pPr algn="l">
              <a:spcAft>
                <a:spcPts val="0"/>
              </a:spcAft>
              <a:defRPr sz="950" b="0">
                <a:solidFill>
                  <a:srgbClr val="3A3A4A"/>
                </a:solidFill>
                <a:latin typeface="Calibri"/>
              </a:defRPr>
            </a:pPr>
            <a:r>
              <a:t>Disclose how sustainability affects the firm AND how the firm affects the environment — EU CSRD/ESRS. Single-direction materiality enables selective disclosure.</a:t>
            </a:r>
          </a:p>
        </p:txBody>
      </p:sp>
      <p:sp>
        <p:nvSpPr>
          <p:cNvPr id="15" name="Rounded Rectangle 14"/>
          <p:cNvSpPr/>
          <p:nvPr/>
        </p:nvSpPr>
        <p:spPr>
          <a:xfrm>
            <a:off x="6217920" y="2304810"/>
            <a:ext cx="5212080" cy="80467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6309360" y="2441970"/>
            <a:ext cx="347472" cy="347472"/>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t>4</a:t>
            </a:r>
          </a:p>
        </p:txBody>
      </p:sp>
      <p:sp>
        <p:nvSpPr>
          <p:cNvPr id="17" name="TextBox 16"/>
          <p:cNvSpPr txBox="1"/>
          <p:nvPr/>
        </p:nvSpPr>
        <p:spPr>
          <a:xfrm>
            <a:off x="6748272" y="2368818"/>
            <a:ext cx="4553712" cy="713232"/>
          </a:xfrm>
          <a:prstGeom prst="rect">
            <a:avLst/>
          </a:prstGeom>
          <a:noFill/>
        </p:spPr>
        <p:txBody>
          <a:bodyPr wrap="square">
            <a:spAutoFit/>
          </a:bodyPr>
          <a:lstStyle/>
          <a:p>
            <a:pPr algn="l">
              <a:spcAft>
                <a:spcPts val="200"/>
              </a:spcAft>
              <a:defRPr sz="1100" b="1">
                <a:solidFill>
                  <a:srgbClr val="095E4F"/>
                </a:solidFill>
                <a:latin typeface="Calibri"/>
              </a:defRPr>
            </a:pPr>
            <a:r>
              <a:t>Mandatory LCA for product claims</a:t>
            </a:r>
          </a:p>
          <a:p>
            <a:pPr algn="l">
              <a:spcAft>
                <a:spcPts val="0"/>
              </a:spcAft>
              <a:defRPr sz="950" b="0">
                <a:solidFill>
                  <a:srgbClr val="3A3A4A"/>
                </a:solidFill>
                <a:latin typeface="Calibri"/>
              </a:defRPr>
            </a:pPr>
            <a:r>
              <a:t>Full lifecycle assessment — raw materials to end-of-life — required for any environmental product claim. EU GCD; UK Green Claims Code.</a:t>
            </a:r>
          </a:p>
        </p:txBody>
      </p:sp>
      <p:sp>
        <p:nvSpPr>
          <p:cNvPr id="18" name="Rounded Rectangle 17"/>
          <p:cNvSpPr/>
          <p:nvPr/>
        </p:nvSpPr>
        <p:spPr>
          <a:xfrm>
            <a:off x="731520" y="3173490"/>
            <a:ext cx="5212080" cy="80467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822960" y="3310650"/>
            <a:ext cx="347472" cy="347472"/>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t>5</a:t>
            </a:r>
          </a:p>
        </p:txBody>
      </p:sp>
      <p:sp>
        <p:nvSpPr>
          <p:cNvPr id="20" name="TextBox 19"/>
          <p:cNvSpPr txBox="1"/>
          <p:nvPr/>
        </p:nvSpPr>
        <p:spPr>
          <a:xfrm>
            <a:off x="1261872" y="3237498"/>
            <a:ext cx="4553712" cy="713232"/>
          </a:xfrm>
          <a:prstGeom prst="rect">
            <a:avLst/>
          </a:prstGeom>
          <a:noFill/>
        </p:spPr>
        <p:txBody>
          <a:bodyPr wrap="square">
            <a:spAutoFit/>
          </a:bodyPr>
          <a:lstStyle/>
          <a:p>
            <a:pPr algn="l">
              <a:spcAft>
                <a:spcPts val="200"/>
              </a:spcAft>
              <a:defRPr sz="1100" b="1">
                <a:solidFill>
                  <a:srgbClr val="095E4F"/>
                </a:solidFill>
                <a:latin typeface="Calibri"/>
              </a:defRPr>
            </a:pPr>
            <a:r>
              <a:t>Mandatory Scope 3 reporting</a:t>
            </a:r>
          </a:p>
          <a:p>
            <a:pPr algn="l">
              <a:spcAft>
                <a:spcPts val="0"/>
              </a:spcAft>
              <a:defRPr sz="950" b="0">
                <a:solidFill>
                  <a:srgbClr val="3A3A4A"/>
                </a:solidFill>
                <a:latin typeface="Calibri"/>
              </a:defRPr>
            </a:pPr>
            <a:r>
              <a:t>Supply-chain emissions cannot be excluded — hiding Scope 3 allows 'climate progress' claims while concealing largest source. EU CSRD; Australia AASB S2.</a:t>
            </a:r>
          </a:p>
        </p:txBody>
      </p:sp>
      <p:sp>
        <p:nvSpPr>
          <p:cNvPr id="21" name="Rounded Rectangle 20"/>
          <p:cNvSpPr/>
          <p:nvPr/>
        </p:nvSpPr>
        <p:spPr>
          <a:xfrm>
            <a:off x="6217920" y="3173490"/>
            <a:ext cx="5212080" cy="80467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6309360" y="3310650"/>
            <a:ext cx="347472" cy="347472"/>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t>6</a:t>
            </a:r>
          </a:p>
        </p:txBody>
      </p:sp>
      <p:sp>
        <p:nvSpPr>
          <p:cNvPr id="23" name="TextBox 22"/>
          <p:cNvSpPr txBox="1"/>
          <p:nvPr/>
        </p:nvSpPr>
        <p:spPr>
          <a:xfrm>
            <a:off x="6748272" y="3237498"/>
            <a:ext cx="4553712" cy="713232"/>
          </a:xfrm>
          <a:prstGeom prst="rect">
            <a:avLst/>
          </a:prstGeom>
          <a:noFill/>
        </p:spPr>
        <p:txBody>
          <a:bodyPr wrap="square">
            <a:spAutoFit/>
          </a:bodyPr>
          <a:lstStyle/>
          <a:p>
            <a:pPr algn="l">
              <a:spcAft>
                <a:spcPts val="200"/>
              </a:spcAft>
              <a:defRPr sz="1100" b="1">
                <a:solidFill>
                  <a:srgbClr val="095E4F"/>
                </a:solidFill>
                <a:latin typeface="Calibri"/>
              </a:defRPr>
            </a:pPr>
            <a:r>
              <a:t>Reversed burden of proof</a:t>
            </a:r>
          </a:p>
          <a:p>
            <a:pPr algn="l">
              <a:spcAft>
                <a:spcPts val="0"/>
              </a:spcAft>
              <a:defRPr sz="950" b="0">
                <a:solidFill>
                  <a:srgbClr val="3A3A4A"/>
                </a:solidFill>
                <a:latin typeface="Calibri"/>
              </a:defRPr>
            </a:pPr>
            <a:r>
              <a:t>Company must affirmatively prove each claim — not the complainant. Canada Competition Act; Chile proposed bill; EU GCD.</a:t>
            </a:r>
          </a:p>
        </p:txBody>
      </p:sp>
      <p:sp>
        <p:nvSpPr>
          <p:cNvPr id="24" name="Rounded Rectangle 23"/>
          <p:cNvSpPr/>
          <p:nvPr/>
        </p:nvSpPr>
        <p:spPr>
          <a:xfrm>
            <a:off x="731520" y="4042170"/>
            <a:ext cx="5212080" cy="80467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822960" y="4179330"/>
            <a:ext cx="347472" cy="347472"/>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t>7</a:t>
            </a:r>
          </a:p>
        </p:txBody>
      </p:sp>
      <p:sp>
        <p:nvSpPr>
          <p:cNvPr id="26" name="TextBox 25"/>
          <p:cNvSpPr txBox="1"/>
          <p:nvPr/>
        </p:nvSpPr>
        <p:spPr>
          <a:xfrm>
            <a:off x="1261872" y="4106178"/>
            <a:ext cx="4553712" cy="713232"/>
          </a:xfrm>
          <a:prstGeom prst="rect">
            <a:avLst/>
          </a:prstGeom>
          <a:noFill/>
        </p:spPr>
        <p:txBody>
          <a:bodyPr wrap="square">
            <a:spAutoFit/>
          </a:bodyPr>
          <a:lstStyle/>
          <a:p>
            <a:pPr algn="l">
              <a:spcAft>
                <a:spcPts val="200"/>
              </a:spcAft>
              <a:defRPr sz="1100" b="1">
                <a:solidFill>
                  <a:srgbClr val="095E4F"/>
                </a:solidFill>
                <a:latin typeface="Calibri"/>
              </a:defRPr>
            </a:pPr>
            <a:r>
              <a:t>Claim-specific substantiation</a:t>
            </a:r>
          </a:p>
          <a:p>
            <a:pPr algn="l">
              <a:spcAft>
                <a:spcPts val="0"/>
              </a:spcAft>
              <a:defRPr sz="950" b="0">
                <a:solidFill>
                  <a:srgbClr val="3A3A4A"/>
                </a:solidFill>
                <a:latin typeface="Calibri"/>
              </a:defRPr>
            </a:pPr>
            <a:r>
              <a:t>'Carbon neutral' requires LCA + verified credit retirement + methodology disclosure. Generic standards are insufficient — FTC Green Guides; India CCPA 2024 (gap: no claim-specific detail).</a:t>
            </a:r>
          </a:p>
        </p:txBody>
      </p:sp>
      <p:sp>
        <p:nvSpPr>
          <p:cNvPr id="27" name="Rounded Rectangle 26"/>
          <p:cNvSpPr/>
          <p:nvPr/>
        </p:nvSpPr>
        <p:spPr>
          <a:xfrm>
            <a:off x="6217920" y="4042170"/>
            <a:ext cx="5212080" cy="80467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6309360" y="4179330"/>
            <a:ext cx="347472" cy="347472"/>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t>8</a:t>
            </a:r>
          </a:p>
        </p:txBody>
      </p:sp>
      <p:sp>
        <p:nvSpPr>
          <p:cNvPr id="29" name="TextBox 28"/>
          <p:cNvSpPr txBox="1"/>
          <p:nvPr/>
        </p:nvSpPr>
        <p:spPr>
          <a:xfrm>
            <a:off x="6748272" y="4106178"/>
            <a:ext cx="4553712" cy="713232"/>
          </a:xfrm>
          <a:prstGeom prst="rect">
            <a:avLst/>
          </a:prstGeom>
          <a:noFill/>
        </p:spPr>
        <p:txBody>
          <a:bodyPr wrap="square">
            <a:spAutoFit/>
          </a:bodyPr>
          <a:lstStyle/>
          <a:p>
            <a:pPr algn="l">
              <a:spcAft>
                <a:spcPts val="200"/>
              </a:spcAft>
              <a:defRPr sz="1100" b="1">
                <a:solidFill>
                  <a:srgbClr val="095E4F"/>
                </a:solidFill>
                <a:latin typeface="Calibri"/>
              </a:defRPr>
            </a:pPr>
            <a:r>
              <a:t>Ban on vague generic claims</a:t>
            </a:r>
          </a:p>
          <a:p>
            <a:pPr algn="l">
              <a:spcAft>
                <a:spcPts val="0"/>
              </a:spcAft>
              <a:defRPr sz="950" b="0">
                <a:solidFill>
                  <a:srgbClr val="3A3A4A"/>
                </a:solidFill>
                <a:latin typeface="Calibri"/>
              </a:defRPr>
            </a:pPr>
            <a:r>
              <a:t>'Eco-friendly,' 'sustainable,' 'green,' 'climate neutral' without evidence are prohibited — EU ECGT; UK CMA; FTC; CCPA 2024.</a:t>
            </a:r>
          </a:p>
        </p:txBody>
      </p:sp>
      <p:sp>
        <p:nvSpPr>
          <p:cNvPr id="30" name="Rounded Rectangle 29"/>
          <p:cNvSpPr/>
          <p:nvPr/>
        </p:nvSpPr>
        <p:spPr>
          <a:xfrm>
            <a:off x="731520" y="4910850"/>
            <a:ext cx="5212080" cy="80467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ounded Rectangle 30"/>
          <p:cNvSpPr/>
          <p:nvPr/>
        </p:nvSpPr>
        <p:spPr>
          <a:xfrm>
            <a:off x="822960" y="5048010"/>
            <a:ext cx="347472" cy="347472"/>
          </a:xfrm>
          <a:prstGeom prst="roundRect">
            <a:avLst/>
          </a:prstGeom>
          <a:solidFill>
            <a:srgbClr val="D953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t>9</a:t>
            </a:r>
          </a:p>
        </p:txBody>
      </p:sp>
      <p:sp>
        <p:nvSpPr>
          <p:cNvPr id="32" name="TextBox 31"/>
          <p:cNvSpPr txBox="1"/>
          <p:nvPr/>
        </p:nvSpPr>
        <p:spPr>
          <a:xfrm>
            <a:off x="1261872" y="4984002"/>
            <a:ext cx="4553712" cy="713232"/>
          </a:xfrm>
          <a:prstGeom prst="rect">
            <a:avLst/>
          </a:prstGeom>
          <a:noFill/>
        </p:spPr>
        <p:txBody>
          <a:bodyPr wrap="square">
            <a:spAutoFit/>
          </a:bodyPr>
          <a:lstStyle/>
          <a:p>
            <a:pPr algn="l">
              <a:spcAft>
                <a:spcPts val="200"/>
              </a:spcAft>
              <a:defRPr sz="1100" b="1">
                <a:solidFill>
                  <a:srgbClr val="095E4F"/>
                </a:solidFill>
                <a:latin typeface="Calibri"/>
              </a:defRPr>
            </a:pPr>
            <a:r>
              <a:t>Turnover-linked proportionate penalties</a:t>
            </a:r>
          </a:p>
          <a:p>
            <a:pPr algn="l">
              <a:spcAft>
                <a:spcPts val="0"/>
              </a:spcAft>
              <a:defRPr sz="950" b="0">
                <a:solidFill>
                  <a:srgbClr val="3A3A4A"/>
                </a:solidFill>
                <a:latin typeface="Calibri"/>
              </a:defRPr>
            </a:pPr>
            <a:r>
              <a:t>EU ≥4% | UK 10% | Canada 3% worldwide revenues. Fixed / low-cap penalties (India ₹5L) are insufficient deterrents.</a:t>
            </a:r>
          </a:p>
        </p:txBody>
      </p:sp>
      <p:sp>
        <p:nvSpPr>
          <p:cNvPr id="33" name="Rounded Rectangle 32"/>
          <p:cNvSpPr/>
          <p:nvPr/>
        </p:nvSpPr>
        <p:spPr>
          <a:xfrm>
            <a:off x="6217920" y="4910850"/>
            <a:ext cx="5212080" cy="80467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ounded Rectangle 33"/>
          <p:cNvSpPr/>
          <p:nvPr/>
        </p:nvSpPr>
        <p:spPr>
          <a:xfrm>
            <a:off x="6309360" y="5048010"/>
            <a:ext cx="347472" cy="347472"/>
          </a:xfrm>
          <a:prstGeom prst="roundRect">
            <a:avLst/>
          </a:prstGeom>
          <a:solidFill>
            <a:srgbClr val="D953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t>10</a:t>
            </a:r>
          </a:p>
        </p:txBody>
      </p:sp>
      <p:sp>
        <p:nvSpPr>
          <p:cNvPr id="35" name="TextBox 34"/>
          <p:cNvSpPr txBox="1"/>
          <p:nvPr/>
        </p:nvSpPr>
        <p:spPr>
          <a:xfrm>
            <a:off x="6748272" y="4974858"/>
            <a:ext cx="4553712" cy="713232"/>
          </a:xfrm>
          <a:prstGeom prst="rect">
            <a:avLst/>
          </a:prstGeom>
          <a:noFill/>
        </p:spPr>
        <p:txBody>
          <a:bodyPr wrap="square">
            <a:spAutoFit/>
          </a:bodyPr>
          <a:lstStyle/>
          <a:p>
            <a:pPr algn="l">
              <a:spcAft>
                <a:spcPts val="200"/>
              </a:spcAft>
              <a:defRPr sz="1100" b="1">
                <a:solidFill>
                  <a:srgbClr val="095E4F"/>
                </a:solidFill>
                <a:latin typeface="Calibri"/>
              </a:defRPr>
            </a:pPr>
            <a:r>
              <a:t>Coordinated multi-agency architecture</a:t>
            </a:r>
          </a:p>
          <a:p>
            <a:pPr algn="l">
              <a:spcAft>
                <a:spcPts val="0"/>
              </a:spcAft>
              <a:defRPr sz="950" b="0">
                <a:solidFill>
                  <a:srgbClr val="3A3A4A"/>
                </a:solidFill>
                <a:latin typeface="Calibri"/>
              </a:defRPr>
            </a:pPr>
            <a:r>
              <a:t>Greenwashing crosses consumer, securities, environmental, and company law — requires automatic referral between agencies. EU model vs. India (CCPA / SEBI / MCA / MoEFCC: no formal referral mechanism).</a:t>
            </a:r>
          </a:p>
        </p:txBody>
      </p:sp>
      <p:sp>
        <p:nvSpPr>
          <p:cNvPr id="40" name="Rectangle 39">
            <a:extLst>
              <a:ext uri="{FF2B5EF4-FFF2-40B4-BE49-F238E27FC236}">
                <a16:creationId xmlns:a16="http://schemas.microsoft.com/office/drawing/2014/main" id="{9B9EF730-E284-2563-2D14-B3A471F88163}"/>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a:extLst>
              <a:ext uri="{FF2B5EF4-FFF2-40B4-BE49-F238E27FC236}">
                <a16:creationId xmlns:a16="http://schemas.microsoft.com/office/drawing/2014/main" id="{A5CE48DE-9B9C-AA29-E91A-BF63EFFB3466}"/>
              </a:ext>
            </a:extLst>
          </p:cNvPr>
          <p:cNvSpPr txBox="1"/>
          <p:nvPr/>
        </p:nvSpPr>
        <p:spPr>
          <a:xfrm>
            <a:off x="717224" y="518915"/>
            <a:ext cx="9886849" cy="430887"/>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a:ea typeface="+mn-lt"/>
                <a:cs typeface="+mn-lt"/>
              </a:rPr>
              <a:t>Comparative Benchmark — International Best Practices </a:t>
            </a:r>
            <a:endParaRPr lang="en-US"/>
          </a:p>
        </p:txBody>
      </p:sp>
      <p:sp>
        <p:nvSpPr>
          <p:cNvPr id="2" name="TextBox 1">
            <a:extLst>
              <a:ext uri="{FF2B5EF4-FFF2-40B4-BE49-F238E27FC236}">
                <a16:creationId xmlns:a16="http://schemas.microsoft.com/office/drawing/2014/main" id="{73CA1F73-E102-BBCB-2FBA-B5E42CCEA779}"/>
              </a:ext>
            </a:extLst>
          </p:cNvPr>
          <p:cNvSpPr txBox="1"/>
          <p:nvPr/>
        </p:nvSpPr>
        <p:spPr>
          <a:xfrm>
            <a:off x="596000" y="980000"/>
            <a:ext cx="11200000" cy="384721"/>
          </a:xfrm>
          <a:prstGeom prst="rect">
            <a:avLst/>
          </a:prstGeom>
          <a:noFill/>
        </p:spPr>
        <p:txBody>
          <a:bodyPr wrap="square" lIns="45720" tIns="22860" rIns="45720" bIns="22860" anchor="t">
            <a:spAutoFit/>
          </a:bodyPr>
          <a:lstStyle/>
          <a:p>
            <a:r>
              <a:rPr sz="1100" b="0" i="0" dirty="0">
                <a:solidFill>
                  <a:srgbClr val="6B6F6A"/>
                </a:solidFill>
                <a:latin typeface="Avenir Next"/>
              </a:rPr>
              <a:t>Research Question 5:</a:t>
            </a:r>
            <a:r>
              <a:rPr lang="en-US" sz="1100" b="0" i="0" dirty="0">
                <a:solidFill>
                  <a:srgbClr val="6B6F6A"/>
                </a:solidFill>
                <a:latin typeface="Avenir Next"/>
              </a:rPr>
              <a:t> </a:t>
            </a:r>
            <a:r>
              <a:rPr lang="en-IN" sz="1100" dirty="0">
                <a:ea typeface="+mn-lt"/>
                <a:cs typeface="+mn-lt"/>
              </a:rPr>
              <a:t>What comparative regulatory models and enforcement techniques have emerged in other jurisdictions to control greenwashing, and what design lessons do they offer?</a:t>
            </a:r>
            <a:endParaRPr lang="en-US" sz="1100" dirty="0">
              <a:ea typeface="+mn-lt"/>
              <a:cs typeface="+mn-lt"/>
            </a:endParaRPr>
          </a:p>
          <a:p>
            <a:pPr algn="l"/>
            <a:endParaRPr sz="1100" b="0" i="0" dirty="0">
              <a:solidFill>
                <a:srgbClr val="6B6F6A"/>
              </a:solidFill>
              <a:latin typeface="Avenir Next"/>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596000" y="380000"/>
            <a:ext cx="11000000" cy="384721"/>
          </a:xfrm>
          <a:prstGeom prst="rect">
            <a:avLst/>
          </a:prstGeom>
          <a:noFill/>
        </p:spPr>
        <p:txBody>
          <a:bodyPr wrap="square" lIns="45720" tIns="22860" rIns="45720" bIns="22860" anchor="t">
            <a:spAutoFit/>
          </a:bodyPr>
          <a:lstStyle/>
          <a:p>
            <a:pPr algn="l"/>
            <a:r>
              <a:rPr sz="2200" b="1" i="0" dirty="0">
                <a:solidFill>
                  <a:srgbClr val="173F35"/>
                </a:solidFill>
                <a:latin typeface="Avenir Next Demi Bold"/>
              </a:rPr>
              <a:t>Research Question</a:t>
            </a:r>
            <a:r>
              <a:rPr lang="en-US" sz="2200" b="1" i="0" dirty="0">
                <a:solidFill>
                  <a:srgbClr val="173F35"/>
                </a:solidFill>
                <a:latin typeface="Avenir Next Demi Bold"/>
              </a:rPr>
              <a:t>s Decoded</a:t>
            </a:r>
            <a:endParaRPr sz="2200" b="1" i="0" dirty="0">
              <a:solidFill>
                <a:srgbClr val="173F35"/>
              </a:solidFill>
              <a:latin typeface="Avenir Next Demi Bold"/>
            </a:endParaRPr>
          </a:p>
        </p:txBody>
      </p:sp>
      <p:graphicFrame>
        <p:nvGraphicFramePr>
          <p:cNvPr id="5" name="Table 4"/>
          <p:cNvGraphicFramePr>
            <a:graphicFrameLocks noGrp="1"/>
          </p:cNvGraphicFramePr>
          <p:nvPr/>
        </p:nvGraphicFramePr>
        <p:xfrm>
          <a:off x="596000" y="1290000"/>
          <a:ext cx="11000000" cy="4950000"/>
        </p:xfrm>
        <a:graphic>
          <a:graphicData uri="http://schemas.openxmlformats.org/drawingml/2006/table">
            <a:tbl>
              <a:tblPr firstRow="1">
                <a:tableStyleId>{5C22544A-7EE6-4342-B048-85BDC9FD1C3A}</a:tableStyleId>
              </a:tblPr>
              <a:tblGrid>
                <a:gridCol w="520000">
                  <a:extLst>
                    <a:ext uri="{9D8B030D-6E8A-4147-A177-3AD203B41FA5}">
                      <a16:colId xmlns:a16="http://schemas.microsoft.com/office/drawing/2014/main" val="20000"/>
                    </a:ext>
                  </a:extLst>
                </a:gridCol>
                <a:gridCol w="3380000">
                  <a:extLst>
                    <a:ext uri="{9D8B030D-6E8A-4147-A177-3AD203B41FA5}">
                      <a16:colId xmlns:a16="http://schemas.microsoft.com/office/drawing/2014/main" val="20001"/>
                    </a:ext>
                  </a:extLst>
                </a:gridCol>
                <a:gridCol w="900000">
                  <a:extLst>
                    <a:ext uri="{9D8B030D-6E8A-4147-A177-3AD203B41FA5}">
                      <a16:colId xmlns:a16="http://schemas.microsoft.com/office/drawing/2014/main" val="20002"/>
                    </a:ext>
                  </a:extLst>
                </a:gridCol>
                <a:gridCol w="6200000">
                  <a:extLst>
                    <a:ext uri="{9D8B030D-6E8A-4147-A177-3AD203B41FA5}">
                      <a16:colId xmlns:a16="http://schemas.microsoft.com/office/drawing/2014/main" val="20003"/>
                    </a:ext>
                  </a:extLst>
                </a:gridCol>
              </a:tblGrid>
              <a:tr h="330000">
                <a:tc>
                  <a:txBody>
                    <a:bodyPr/>
                    <a:lstStyle/>
                    <a:p>
                      <a:pPr algn="ctr"/>
                      <a:r>
                        <a:rPr sz="950" b="1">
                          <a:solidFill>
                            <a:srgbClr val="FFFFFF"/>
                          </a:solidFill>
                          <a:latin typeface="Calibri"/>
                        </a:rPr>
                        <a:t>RQ</a:t>
                      </a:r>
                    </a:p>
                  </a:txBody>
                  <a:tcPr marL="82296" marR="82296" anchor="ctr">
                    <a:solidFill>
                      <a:srgbClr val="173F35"/>
                    </a:solidFill>
                  </a:tcPr>
                </a:tc>
                <a:tc>
                  <a:txBody>
                    <a:bodyPr/>
                    <a:lstStyle/>
                    <a:p>
                      <a:pPr algn="l"/>
                      <a:r>
                        <a:rPr sz="950" b="1">
                          <a:solidFill>
                            <a:srgbClr val="FFFFFF"/>
                          </a:solidFill>
                          <a:latin typeface="Calibri"/>
                        </a:rPr>
                        <a:t>The question, in plain words</a:t>
                      </a:r>
                    </a:p>
                  </a:txBody>
                  <a:tcPr marL="82296" marR="82296" anchor="ctr">
                    <a:solidFill>
                      <a:srgbClr val="173F35"/>
                    </a:solidFill>
                  </a:tcPr>
                </a:tc>
                <a:tc>
                  <a:txBody>
                    <a:bodyPr/>
                    <a:lstStyle/>
                    <a:p>
                      <a:pPr algn="ctr"/>
                      <a:r>
                        <a:rPr sz="950" b="1">
                          <a:solidFill>
                            <a:srgbClr val="FFFFFF"/>
                          </a:solidFill>
                          <a:latin typeface="Calibri"/>
                        </a:rPr>
                        <a:t>Slide</a:t>
                      </a:r>
                    </a:p>
                  </a:txBody>
                  <a:tcPr marL="82296" marR="82296" anchor="ctr">
                    <a:solidFill>
                      <a:srgbClr val="173F35"/>
                    </a:solidFill>
                  </a:tcPr>
                </a:tc>
                <a:tc>
                  <a:txBody>
                    <a:bodyPr/>
                    <a:lstStyle/>
                    <a:p>
                      <a:pPr algn="l"/>
                      <a:r>
                        <a:rPr sz="950" b="1">
                          <a:solidFill>
                            <a:srgbClr val="FFFFFF"/>
                          </a:solidFill>
                          <a:latin typeface="Calibri"/>
                        </a:rPr>
                        <a:t>The short answer</a:t>
                      </a:r>
                    </a:p>
                  </a:txBody>
                  <a:tcPr marL="82296" marR="82296" anchor="ctr">
                    <a:solidFill>
                      <a:srgbClr val="173F35"/>
                    </a:solidFill>
                  </a:tcPr>
                </a:tc>
                <a:extLst>
                  <a:ext uri="{0D108BD9-81ED-4DB2-BD59-A6C34878D82A}">
                    <a16:rowId xmlns:a16="http://schemas.microsoft.com/office/drawing/2014/main" val="10000"/>
                  </a:ext>
                </a:extLst>
              </a:tr>
              <a:tr h="660000">
                <a:tc>
                  <a:txBody>
                    <a:bodyPr/>
                    <a:lstStyle/>
                    <a:p>
                      <a:pPr algn="ctr"/>
                      <a:r>
                        <a:rPr sz="900" b="1">
                          <a:solidFill>
                            <a:srgbClr val="095E4F"/>
                          </a:solidFill>
                          <a:latin typeface="Calibri"/>
                        </a:rPr>
                        <a:t>1</a:t>
                      </a:r>
                    </a:p>
                  </a:txBody>
                  <a:tcPr marL="82296" marR="82296" anchor="ctr">
                    <a:solidFill>
                      <a:srgbClr val="FFF6EA"/>
                    </a:solidFill>
                  </a:tcPr>
                </a:tc>
                <a:tc>
                  <a:txBody>
                    <a:bodyPr/>
                    <a:lstStyle/>
                    <a:p>
                      <a:pPr algn="l"/>
                      <a:r>
                        <a:rPr sz="900" b="0">
                          <a:solidFill>
                            <a:srgbClr val="3A3A4A"/>
                          </a:solidFill>
                          <a:latin typeface="Calibri"/>
                        </a:rPr>
                        <a:t>What is greenwashing, how has it changed over time, and what harm does it do?</a:t>
                      </a:r>
                    </a:p>
                  </a:txBody>
                  <a:tcPr marL="82296" marR="82296" anchor="ctr">
                    <a:solidFill>
                      <a:srgbClr val="FFF6EA"/>
                    </a:solidFill>
                  </a:tcPr>
                </a:tc>
                <a:tc>
                  <a:txBody>
                    <a:bodyPr/>
                    <a:lstStyle/>
                    <a:p>
                      <a:pPr algn="ctr"/>
                      <a:r>
                        <a:rPr sz="900" b="0">
                          <a:solidFill>
                            <a:srgbClr val="095E4F"/>
                          </a:solidFill>
                          <a:latin typeface="Calibri"/>
                        </a:rPr>
                        <a:t>2–3</a:t>
                      </a:r>
                    </a:p>
                  </a:txBody>
                  <a:tcPr marL="82296" marR="82296" anchor="ctr">
                    <a:solidFill>
                      <a:srgbClr val="FFF6EA"/>
                    </a:solidFill>
                  </a:tcPr>
                </a:tc>
                <a:tc>
                  <a:txBody>
                    <a:bodyPr/>
                    <a:lstStyle/>
                    <a:p>
                      <a:pPr algn="l"/>
                      <a:r>
                        <a:rPr sz="900" b="0">
                          <a:solidFill>
                            <a:srgbClr val="3A3A4A"/>
                          </a:solidFill>
                          <a:latin typeface="Calibri"/>
                        </a:rPr>
                        <a:t>It has moved from the product label to the balance sheet. The harm is misdirected capital, weaker market integrity and delayed climate action, not only a misled shopper.</a:t>
                      </a:r>
                    </a:p>
                  </a:txBody>
                  <a:tcPr marL="82296" marR="82296" anchor="ctr">
                    <a:solidFill>
                      <a:srgbClr val="FFF6EA"/>
                    </a:solidFill>
                  </a:tcPr>
                </a:tc>
                <a:extLst>
                  <a:ext uri="{0D108BD9-81ED-4DB2-BD59-A6C34878D82A}">
                    <a16:rowId xmlns:a16="http://schemas.microsoft.com/office/drawing/2014/main" val="10001"/>
                  </a:ext>
                </a:extLst>
              </a:tr>
              <a:tr h="660000">
                <a:tc>
                  <a:txBody>
                    <a:bodyPr/>
                    <a:lstStyle/>
                    <a:p>
                      <a:pPr algn="ctr"/>
                      <a:r>
                        <a:rPr sz="900" b="1">
                          <a:solidFill>
                            <a:srgbClr val="095E4F"/>
                          </a:solidFill>
                          <a:latin typeface="Calibri"/>
                        </a:rPr>
                        <a:t>2</a:t>
                      </a:r>
                    </a:p>
                  </a:txBody>
                  <a:tcPr marL="82296" marR="82296" anchor="ctr">
                    <a:solidFill>
                      <a:srgbClr val="E8EFE6"/>
                    </a:solidFill>
                  </a:tcPr>
                </a:tc>
                <a:tc>
                  <a:txBody>
                    <a:bodyPr/>
                    <a:lstStyle/>
                    <a:p>
                      <a:pPr algn="l"/>
                      <a:r>
                        <a:rPr sz="900" b="0">
                          <a:solidFill>
                            <a:srgbClr val="3A3A4A"/>
                          </a:solidFill>
                          <a:latin typeface="Calibri"/>
                        </a:rPr>
                        <a:t>Why can consumer and advertising law not fix it on its own, and what else can?</a:t>
                      </a:r>
                    </a:p>
                  </a:txBody>
                  <a:tcPr marL="82296" marR="82296" anchor="ctr">
                    <a:solidFill>
                      <a:srgbClr val="E8EFE6"/>
                    </a:solidFill>
                  </a:tcPr>
                </a:tc>
                <a:tc>
                  <a:txBody>
                    <a:bodyPr/>
                    <a:lstStyle/>
                    <a:p>
                      <a:pPr algn="ctr"/>
                      <a:r>
                        <a:rPr sz="900" b="0">
                          <a:solidFill>
                            <a:srgbClr val="095E4F"/>
                          </a:solidFill>
                          <a:latin typeface="Calibri"/>
                        </a:rPr>
                        <a:t>13</a:t>
                      </a:r>
                    </a:p>
                  </a:txBody>
                  <a:tcPr marL="82296" marR="82296" anchor="ctr">
                    <a:solidFill>
                      <a:srgbClr val="E8EFE6"/>
                    </a:solidFill>
                  </a:tcPr>
                </a:tc>
                <a:tc>
                  <a:txBody>
                    <a:bodyPr/>
                    <a:lstStyle/>
                    <a:p>
                      <a:pPr algn="l"/>
                      <a:r>
                        <a:rPr sz="900" b="0">
                          <a:solidFill>
                            <a:srgbClr val="3A3A4A"/>
                          </a:solidFill>
                          <a:latin typeface="Calibri"/>
                        </a:rPr>
                        <a:t>That law only reaches the claim after it is published. Company law reaches the board, the disclosure and the assurance that produced the claim.</a:t>
                      </a:r>
                    </a:p>
                  </a:txBody>
                  <a:tcPr marL="82296" marR="82296" anchor="ctr">
                    <a:solidFill>
                      <a:srgbClr val="E8EFE6"/>
                    </a:solidFill>
                  </a:tcPr>
                </a:tc>
                <a:extLst>
                  <a:ext uri="{0D108BD9-81ED-4DB2-BD59-A6C34878D82A}">
                    <a16:rowId xmlns:a16="http://schemas.microsoft.com/office/drawing/2014/main" val="10002"/>
                  </a:ext>
                </a:extLst>
              </a:tr>
              <a:tr h="660000">
                <a:tc>
                  <a:txBody>
                    <a:bodyPr/>
                    <a:lstStyle/>
                    <a:p>
                      <a:pPr algn="ctr"/>
                      <a:r>
                        <a:rPr sz="900" b="1">
                          <a:solidFill>
                            <a:srgbClr val="095E4F"/>
                          </a:solidFill>
                          <a:latin typeface="Calibri"/>
                        </a:rPr>
                        <a:t>3</a:t>
                      </a:r>
                    </a:p>
                  </a:txBody>
                  <a:tcPr marL="82296" marR="82296" anchor="ctr">
                    <a:solidFill>
                      <a:srgbClr val="FFF6EA"/>
                    </a:solidFill>
                  </a:tcPr>
                </a:tc>
                <a:tc>
                  <a:txBody>
                    <a:bodyPr/>
                    <a:lstStyle/>
                    <a:p>
                      <a:pPr algn="l"/>
                      <a:r>
                        <a:rPr sz="900" b="0">
                          <a:solidFill>
                            <a:srgbClr val="3A3A4A"/>
                          </a:solidFill>
                          <a:latin typeface="Calibri"/>
                        </a:rPr>
                        <a:t>What legal thinking makes greenwashing an accountability failure rather than bad marketing?</a:t>
                      </a:r>
                    </a:p>
                  </a:txBody>
                  <a:tcPr marL="82296" marR="82296" anchor="ctr">
                    <a:solidFill>
                      <a:srgbClr val="FFF6EA"/>
                    </a:solidFill>
                  </a:tcPr>
                </a:tc>
                <a:tc>
                  <a:txBody>
                    <a:bodyPr/>
                    <a:lstStyle/>
                    <a:p>
                      <a:pPr algn="ctr"/>
                      <a:r>
                        <a:rPr sz="900" b="0">
                          <a:solidFill>
                            <a:srgbClr val="095E4F"/>
                          </a:solidFill>
                          <a:latin typeface="Calibri"/>
                        </a:rPr>
                        <a:t>9</a:t>
                      </a:r>
                    </a:p>
                  </a:txBody>
                  <a:tcPr marL="82296" marR="82296" anchor="ctr">
                    <a:solidFill>
                      <a:srgbClr val="FFF6EA"/>
                    </a:solidFill>
                  </a:tcPr>
                </a:tc>
                <a:tc>
                  <a:txBody>
                    <a:bodyPr/>
                    <a:lstStyle/>
                    <a:p>
                      <a:pPr algn="l"/>
                      <a:r>
                        <a:rPr sz="900" b="0">
                          <a:solidFill>
                            <a:srgbClr val="3A3A4A"/>
                          </a:solidFill>
                          <a:latin typeface="Calibri"/>
                        </a:rPr>
                        <a:t>Read through Hohfeld, greenwashing is a breached duty, a misused managerial freedom and an exploited information advantage.</a:t>
                      </a:r>
                    </a:p>
                  </a:txBody>
                  <a:tcPr marL="82296" marR="82296" anchor="ctr">
                    <a:solidFill>
                      <a:srgbClr val="FFF6EA"/>
                    </a:solidFill>
                  </a:tcPr>
                </a:tc>
                <a:extLst>
                  <a:ext uri="{0D108BD9-81ED-4DB2-BD59-A6C34878D82A}">
                    <a16:rowId xmlns:a16="http://schemas.microsoft.com/office/drawing/2014/main" val="10003"/>
                  </a:ext>
                </a:extLst>
              </a:tr>
              <a:tr h="660000">
                <a:tc>
                  <a:txBody>
                    <a:bodyPr/>
                    <a:lstStyle/>
                    <a:p>
                      <a:pPr algn="ctr"/>
                      <a:r>
                        <a:rPr sz="900" b="1">
                          <a:solidFill>
                            <a:srgbClr val="095E4F"/>
                          </a:solidFill>
                          <a:latin typeface="Calibri"/>
                        </a:rPr>
                        <a:t>4</a:t>
                      </a:r>
                    </a:p>
                  </a:txBody>
                  <a:tcPr marL="82296" marR="82296" anchor="ctr">
                    <a:solidFill>
                      <a:srgbClr val="E8EFE6"/>
                    </a:solidFill>
                  </a:tcPr>
                </a:tc>
                <a:tc>
                  <a:txBody>
                    <a:bodyPr/>
                    <a:lstStyle/>
                    <a:p>
                      <a:pPr algn="l"/>
                      <a:r>
                        <a:rPr sz="900" b="0">
                          <a:solidFill>
                            <a:srgbClr val="3A3A4A"/>
                          </a:solidFill>
                          <a:latin typeface="Calibri"/>
                        </a:rPr>
                        <a:t>Which director duties, disclosure duties and assurance rules can ground liability in India?</a:t>
                      </a:r>
                    </a:p>
                  </a:txBody>
                  <a:tcPr marL="82296" marR="82296" anchor="ctr">
                    <a:solidFill>
                      <a:srgbClr val="E8EFE6"/>
                    </a:solidFill>
                  </a:tcPr>
                </a:tc>
                <a:tc>
                  <a:txBody>
                    <a:bodyPr/>
                    <a:lstStyle/>
                    <a:p>
                      <a:pPr algn="ctr"/>
                      <a:r>
                        <a:rPr sz="900" b="0">
                          <a:solidFill>
                            <a:srgbClr val="095E4F"/>
                          </a:solidFill>
                          <a:latin typeface="Calibri"/>
                        </a:rPr>
                        <a:t>11–12</a:t>
                      </a:r>
                    </a:p>
                  </a:txBody>
                  <a:tcPr marL="82296" marR="82296" anchor="ctr">
                    <a:solidFill>
                      <a:srgbClr val="E8EFE6"/>
                    </a:solidFill>
                  </a:tcPr>
                </a:tc>
                <a:tc>
                  <a:txBody>
                    <a:bodyPr/>
                    <a:lstStyle/>
                    <a:p>
                      <a:pPr algn="l"/>
                      <a:r>
                        <a:rPr sz="900" b="0">
                          <a:solidFill>
                            <a:srgbClr val="3A3A4A"/>
                          </a:solidFill>
                          <a:latin typeface="Calibri"/>
                        </a:rPr>
                        <a:t>Section 166(2), SEBI's BRSR and BRSR Core, and PFUTP already exist. Narrow standing, small penalties and softened assurance stop them from being triggered.</a:t>
                      </a:r>
                    </a:p>
                  </a:txBody>
                  <a:tcPr marL="82296" marR="82296" anchor="ctr">
                    <a:solidFill>
                      <a:srgbClr val="E8EFE6"/>
                    </a:solidFill>
                  </a:tcPr>
                </a:tc>
                <a:extLst>
                  <a:ext uri="{0D108BD9-81ED-4DB2-BD59-A6C34878D82A}">
                    <a16:rowId xmlns:a16="http://schemas.microsoft.com/office/drawing/2014/main" val="10004"/>
                  </a:ext>
                </a:extLst>
              </a:tr>
              <a:tr h="660000">
                <a:tc>
                  <a:txBody>
                    <a:bodyPr/>
                    <a:lstStyle/>
                    <a:p>
                      <a:pPr algn="ctr"/>
                      <a:r>
                        <a:rPr sz="900" b="1">
                          <a:solidFill>
                            <a:srgbClr val="095E4F"/>
                          </a:solidFill>
                          <a:latin typeface="Calibri"/>
                        </a:rPr>
                        <a:t>5</a:t>
                      </a:r>
                    </a:p>
                  </a:txBody>
                  <a:tcPr marL="82296" marR="82296" anchor="ctr">
                    <a:solidFill>
                      <a:srgbClr val="FFF6EA"/>
                    </a:solidFill>
                  </a:tcPr>
                </a:tc>
                <a:tc>
                  <a:txBody>
                    <a:bodyPr/>
                    <a:lstStyle/>
                    <a:p>
                      <a:pPr algn="l"/>
                      <a:r>
                        <a:rPr sz="900" b="0">
                          <a:solidFill>
                            <a:srgbClr val="3A3A4A"/>
                          </a:solidFill>
                          <a:latin typeface="Calibri"/>
                        </a:rPr>
                        <a:t>What do stronger jurisdictions do, and what can India borrow from them?</a:t>
                      </a:r>
                    </a:p>
                  </a:txBody>
                  <a:tcPr marL="82296" marR="82296" anchor="ctr">
                    <a:solidFill>
                      <a:srgbClr val="FFF6EA"/>
                    </a:solidFill>
                  </a:tcPr>
                </a:tc>
                <a:tc>
                  <a:txBody>
                    <a:bodyPr/>
                    <a:lstStyle/>
                    <a:p>
                      <a:pPr algn="ctr"/>
                      <a:r>
                        <a:rPr sz="900" b="0">
                          <a:solidFill>
                            <a:srgbClr val="095E4F"/>
                          </a:solidFill>
                          <a:latin typeface="Calibri"/>
                        </a:rPr>
                        <a:t>15, 17–18</a:t>
                      </a:r>
                    </a:p>
                  </a:txBody>
                  <a:tcPr marL="82296" marR="82296" anchor="ctr">
                    <a:solidFill>
                      <a:srgbClr val="FFF6EA"/>
                    </a:solidFill>
                  </a:tcPr>
                </a:tc>
                <a:tc>
                  <a:txBody>
                    <a:bodyPr/>
                    <a:lstStyle/>
                    <a:p>
                      <a:pPr algn="l"/>
                      <a:r>
                        <a:rPr sz="900" b="0">
                          <a:solidFill>
                            <a:srgbClr val="3A3A4A"/>
                          </a:solidFill>
                          <a:latin typeface="Calibri"/>
                        </a:rPr>
                        <a:t>Ten design features, led by proof before publication, independent assurance, automatic referral between regulators and turnover-linked penalties.</a:t>
                      </a:r>
                    </a:p>
                  </a:txBody>
                  <a:tcPr marL="82296" marR="82296" anchor="ctr">
                    <a:solidFill>
                      <a:srgbClr val="FFF6EA"/>
                    </a:solidFill>
                  </a:tcPr>
                </a:tc>
                <a:extLst>
                  <a:ext uri="{0D108BD9-81ED-4DB2-BD59-A6C34878D82A}">
                    <a16:rowId xmlns:a16="http://schemas.microsoft.com/office/drawing/2014/main" val="10005"/>
                  </a:ext>
                </a:extLst>
              </a:tr>
              <a:tr h="660000">
                <a:tc>
                  <a:txBody>
                    <a:bodyPr/>
                    <a:lstStyle/>
                    <a:p>
                      <a:pPr algn="ctr"/>
                      <a:r>
                        <a:rPr sz="900" b="1">
                          <a:solidFill>
                            <a:srgbClr val="095E4F"/>
                          </a:solidFill>
                          <a:latin typeface="Calibri"/>
                        </a:rPr>
                        <a:t>6</a:t>
                      </a:r>
                    </a:p>
                  </a:txBody>
                  <a:tcPr marL="82296" marR="82296" anchor="ctr">
                    <a:solidFill>
                      <a:srgbClr val="E8EFE6"/>
                    </a:solidFill>
                  </a:tcPr>
                </a:tc>
                <a:tc>
                  <a:txBody>
                    <a:bodyPr/>
                    <a:lstStyle/>
                    <a:p>
                      <a:pPr algn="l"/>
                      <a:r>
                        <a:rPr sz="900" b="0">
                          <a:solidFill>
                            <a:srgbClr val="3A3A4A"/>
                          </a:solidFill>
                          <a:latin typeface="Calibri"/>
                        </a:rPr>
                        <a:t>How do overlap, weak coordination and thin enforcement block accountability here?</a:t>
                      </a:r>
                    </a:p>
                  </a:txBody>
                  <a:tcPr marL="82296" marR="82296" anchor="ctr">
                    <a:solidFill>
                      <a:srgbClr val="E8EFE6"/>
                    </a:solidFill>
                  </a:tcPr>
                </a:tc>
                <a:tc>
                  <a:txBody>
                    <a:bodyPr/>
                    <a:lstStyle/>
                    <a:p>
                      <a:pPr algn="ctr"/>
                      <a:r>
                        <a:rPr sz="900" b="0">
                          <a:solidFill>
                            <a:srgbClr val="095E4F"/>
                          </a:solidFill>
                          <a:latin typeface="Calibri"/>
                        </a:rPr>
                        <a:t>10, 16</a:t>
                      </a:r>
                    </a:p>
                  </a:txBody>
                  <a:tcPr marL="82296" marR="82296" anchor="ctr">
                    <a:solidFill>
                      <a:srgbClr val="E8EFE6"/>
                    </a:solidFill>
                  </a:tcPr>
                </a:tc>
                <a:tc>
                  <a:txBody>
                    <a:bodyPr/>
                    <a:lstStyle/>
                    <a:p>
                      <a:pPr algn="l"/>
                      <a:r>
                        <a:rPr sz="900" b="0">
                          <a:solidFill>
                            <a:srgbClr val="3A3A4A"/>
                          </a:solidFill>
                          <a:latin typeface="Calibri"/>
                        </a:rPr>
                        <a:t>Five structural gaps: fragmented definitions, unharmonised proliferation, active backsliding, reactive enforcement and penalty arbitrage.</a:t>
                      </a:r>
                    </a:p>
                  </a:txBody>
                  <a:tcPr marL="82296" marR="82296" anchor="ctr">
                    <a:solidFill>
                      <a:srgbClr val="E8EFE6"/>
                    </a:solidFill>
                  </a:tcPr>
                </a:tc>
                <a:extLst>
                  <a:ext uri="{0D108BD9-81ED-4DB2-BD59-A6C34878D82A}">
                    <a16:rowId xmlns:a16="http://schemas.microsoft.com/office/drawing/2014/main" val="10006"/>
                  </a:ext>
                </a:extLst>
              </a:tr>
              <a:tr h="660000">
                <a:tc>
                  <a:txBody>
                    <a:bodyPr/>
                    <a:lstStyle/>
                    <a:p>
                      <a:pPr algn="ctr"/>
                      <a:r>
                        <a:rPr sz="900" b="1">
                          <a:solidFill>
                            <a:srgbClr val="095E4F"/>
                          </a:solidFill>
                          <a:latin typeface="Calibri"/>
                        </a:rPr>
                        <a:t>7</a:t>
                      </a:r>
                    </a:p>
                  </a:txBody>
                  <a:tcPr marL="82296" marR="82296" anchor="ctr">
                    <a:solidFill>
                      <a:srgbClr val="FFF6EA"/>
                    </a:solidFill>
                  </a:tcPr>
                </a:tc>
                <a:tc>
                  <a:txBody>
                    <a:bodyPr/>
                    <a:lstStyle/>
                    <a:p>
                      <a:pPr algn="l"/>
                      <a:r>
                        <a:rPr sz="900" b="0">
                          <a:solidFill>
                            <a:srgbClr val="3A3A4A"/>
                          </a:solidFill>
                          <a:latin typeface="Calibri"/>
                        </a:rPr>
                        <a:t>What reforms would build an integrated liability framework?</a:t>
                      </a:r>
                    </a:p>
                  </a:txBody>
                  <a:tcPr marL="82296" marR="82296" anchor="ctr">
                    <a:solidFill>
                      <a:srgbClr val="FFF6EA"/>
                    </a:solidFill>
                  </a:tcPr>
                </a:tc>
                <a:tc>
                  <a:txBody>
                    <a:bodyPr/>
                    <a:lstStyle/>
                    <a:p>
                      <a:pPr algn="ctr"/>
                      <a:r>
                        <a:rPr sz="900" b="0">
                          <a:solidFill>
                            <a:srgbClr val="095E4F"/>
                          </a:solidFill>
                          <a:latin typeface="Calibri"/>
                        </a:rPr>
                        <a:t>19–20</a:t>
                      </a:r>
                    </a:p>
                  </a:txBody>
                  <a:tcPr marL="82296" marR="82296" anchor="ctr">
                    <a:solidFill>
                      <a:srgbClr val="FFF6EA"/>
                    </a:solidFill>
                  </a:tcPr>
                </a:tc>
                <a:tc>
                  <a:txBody>
                    <a:bodyPr/>
                    <a:lstStyle/>
                    <a:p>
                      <a:pPr algn="l"/>
                      <a:r>
                        <a:rPr sz="900" b="0">
                          <a:solidFill>
                            <a:srgbClr val="3A3A4A"/>
                          </a:solidFill>
                          <a:latin typeface="Calibri"/>
                        </a:rPr>
                        <a:t>Five system-level moves, plus specific levers inside the Companies Act, SEBI regulations and consumer law, shifting the law from reacting to preventing.</a:t>
                      </a:r>
                    </a:p>
                  </a:txBody>
                  <a:tcPr marL="82296" marR="82296" anchor="ctr">
                    <a:solidFill>
                      <a:srgbClr val="FFF6EA"/>
                    </a:solidFill>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0479542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384048"/>
            <a:ext cx="7863840" cy="430887"/>
          </a:xfrm>
          <a:prstGeom prst="rect">
            <a:avLst/>
          </a:prstGeom>
          <a:noFill/>
        </p:spPr>
        <p:txBody>
          <a:bodyPr wrap="square">
            <a:spAutoFit/>
          </a:bodyPr>
          <a:lstStyle/>
          <a:p>
            <a:pPr>
              <a:defRPr sz="2200" b="1">
                <a:solidFill>
                  <a:srgbClr val="173F35"/>
                </a:solidFill>
                <a:latin typeface="Avenir Next Demi Bold"/>
              </a:defRPr>
            </a:pPr>
            <a:r>
              <a:rPr lang="en-US" dirty="0"/>
              <a:t>General Suggestions</a:t>
            </a:r>
            <a:endParaRPr dirty="0"/>
          </a:p>
        </p:txBody>
      </p:sp>
      <p:sp>
        <p:nvSpPr>
          <p:cNvPr id="5" name="TextBox 4"/>
          <p:cNvSpPr txBox="1"/>
          <p:nvPr/>
        </p:nvSpPr>
        <p:spPr>
          <a:xfrm>
            <a:off x="566928" y="930000"/>
            <a:ext cx="11000000" cy="600164"/>
          </a:xfrm>
          <a:prstGeom prst="rect">
            <a:avLst/>
          </a:prstGeom>
          <a:noFill/>
        </p:spPr>
        <p:txBody>
          <a:bodyPr wrap="square">
            <a:spAutoFit/>
          </a:bodyPr>
          <a:lstStyle/>
          <a:p>
            <a:pPr>
              <a:defRPr sz="1200">
                <a:solidFill>
                  <a:srgbClr val="6B6F6A"/>
                </a:solidFill>
                <a:latin typeface="Avenir Next"/>
              </a:defRPr>
            </a:pPr>
            <a:r>
              <a:rPr sz="1100" b="0" dirty="0">
                <a:solidFill>
                  <a:srgbClr val="6B6F6A"/>
                </a:solidFill>
                <a:latin typeface="Avenir Next"/>
              </a:rPr>
              <a:t>Research Question 7 (part 1): </a:t>
            </a:r>
            <a:r>
              <a:rPr lang="en-IN" sz="1100" dirty="0">
                <a:ea typeface="+mn-lt"/>
                <a:cs typeface="+mn-lt"/>
              </a:rPr>
              <a:t>What legal and policy recommendations can create an integrated liability framework that holds corporations accountable for misleading environmental claims?</a:t>
            </a:r>
            <a:endParaRPr lang="en-US" sz="1100" dirty="0">
              <a:ea typeface="+mn-lt"/>
              <a:cs typeface="+mn-lt"/>
            </a:endParaRPr>
          </a:p>
          <a:p>
            <a:pPr>
              <a:defRPr sz="1200">
                <a:solidFill>
                  <a:srgbClr val="6B6F6A"/>
                </a:solidFill>
                <a:latin typeface="Avenir Next"/>
              </a:defRPr>
            </a:pPr>
            <a:endParaRPr sz="1100" b="0" dirty="0">
              <a:solidFill>
                <a:srgbClr val="6B6F6A"/>
              </a:solidFill>
              <a:latin typeface="Avenir Next"/>
            </a:endParaRPr>
          </a:p>
        </p:txBody>
      </p:sp>
      <p:sp>
        <p:nvSpPr>
          <p:cNvPr id="6" name="Rounded Rectangle 5"/>
          <p:cNvSpPr/>
          <p:nvPr/>
        </p:nvSpPr>
        <p:spPr>
          <a:xfrm>
            <a:off x="786384" y="1554480"/>
            <a:ext cx="2057400" cy="24231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86384" y="1554480"/>
            <a:ext cx="2057400" cy="7315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32688" y="1682496"/>
            <a:ext cx="1764792" cy="384048"/>
          </a:xfrm>
          <a:prstGeom prst="rect">
            <a:avLst/>
          </a:prstGeom>
          <a:noFill/>
        </p:spPr>
        <p:txBody>
          <a:bodyPr wrap="square" anchor="t">
            <a:spAutoFit/>
          </a:bodyPr>
          <a:lstStyle/>
          <a:p>
            <a:pPr algn="l">
              <a:defRPr sz="1600" b="1">
                <a:solidFill>
                  <a:srgbClr val="173F35"/>
                </a:solidFill>
                <a:latin typeface="Avenir Next Demi Bold"/>
              </a:defRPr>
            </a:pPr>
            <a:r>
              <a:t>1. Institutional integration</a:t>
            </a:r>
          </a:p>
        </p:txBody>
      </p:sp>
      <p:sp>
        <p:nvSpPr>
          <p:cNvPr id="9" name="TextBox 8"/>
          <p:cNvSpPr txBox="1"/>
          <p:nvPr/>
        </p:nvSpPr>
        <p:spPr>
          <a:xfrm>
            <a:off x="932688" y="2194560"/>
            <a:ext cx="1764792" cy="1783080"/>
          </a:xfrm>
          <a:prstGeom prst="rect">
            <a:avLst/>
          </a:prstGeom>
          <a:noFill/>
        </p:spPr>
        <p:txBody>
          <a:bodyPr wrap="square" anchor="t">
            <a:spAutoFit/>
          </a:bodyPr>
          <a:lstStyle/>
          <a:p>
            <a:pPr algn="l">
              <a:defRPr sz="1200" b="0">
                <a:solidFill>
                  <a:srgbClr val="2A2A2A"/>
                </a:solidFill>
                <a:latin typeface="Avenir Next"/>
              </a:defRPr>
            </a:pPr>
            <a:r>
              <a:rPr dirty="0"/>
              <a:t>Create a permanent inter-regulatory greenwashing mechanism linking MCA, SEBI, CCPA, </a:t>
            </a:r>
            <a:r>
              <a:rPr dirty="0" err="1"/>
              <a:t>MoEFCC</a:t>
            </a:r>
            <a:r>
              <a:rPr dirty="0"/>
              <a:t>, CPCB, BIS, FSSAI, and sectoral bodies.</a:t>
            </a:r>
          </a:p>
        </p:txBody>
      </p:sp>
      <p:sp>
        <p:nvSpPr>
          <p:cNvPr id="10" name="Rounded Rectangle 9"/>
          <p:cNvSpPr/>
          <p:nvPr/>
        </p:nvSpPr>
        <p:spPr>
          <a:xfrm>
            <a:off x="2926080" y="1554480"/>
            <a:ext cx="2057400" cy="24231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2926080" y="1554480"/>
            <a:ext cx="2057400" cy="73152"/>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072384" y="1682496"/>
            <a:ext cx="1764792" cy="384048"/>
          </a:xfrm>
          <a:prstGeom prst="rect">
            <a:avLst/>
          </a:prstGeom>
          <a:noFill/>
        </p:spPr>
        <p:txBody>
          <a:bodyPr wrap="square" anchor="t">
            <a:spAutoFit/>
          </a:bodyPr>
          <a:lstStyle/>
          <a:p>
            <a:pPr algn="l">
              <a:defRPr sz="1600" b="1">
                <a:solidFill>
                  <a:srgbClr val="173F35"/>
                </a:solidFill>
                <a:latin typeface="Avenir Next Demi Bold"/>
              </a:defRPr>
            </a:pPr>
            <a:r>
              <a:rPr dirty="0"/>
              <a:t>2. Lead regulator model</a:t>
            </a:r>
          </a:p>
        </p:txBody>
      </p:sp>
      <p:sp>
        <p:nvSpPr>
          <p:cNvPr id="13" name="TextBox 12"/>
          <p:cNvSpPr txBox="1"/>
          <p:nvPr/>
        </p:nvSpPr>
        <p:spPr>
          <a:xfrm>
            <a:off x="3072384" y="2194560"/>
            <a:ext cx="1764792" cy="1783080"/>
          </a:xfrm>
          <a:prstGeom prst="rect">
            <a:avLst/>
          </a:prstGeom>
          <a:noFill/>
        </p:spPr>
        <p:txBody>
          <a:bodyPr wrap="square" anchor="t">
            <a:spAutoFit/>
          </a:bodyPr>
          <a:lstStyle/>
          <a:p>
            <a:pPr algn="l">
              <a:defRPr sz="1200" b="0">
                <a:solidFill>
                  <a:srgbClr val="2A2A2A"/>
                </a:solidFill>
                <a:latin typeface="Avenir Next"/>
              </a:defRPr>
            </a:pPr>
            <a:r>
              <a:rPr dirty="0"/>
              <a:t>Use mandatory cross-referrals, shared evidence protocols, and a rule for who coordinates a claim that travels across the market.</a:t>
            </a:r>
          </a:p>
        </p:txBody>
      </p:sp>
      <p:sp>
        <p:nvSpPr>
          <p:cNvPr id="14" name="Rounded Rectangle 13"/>
          <p:cNvSpPr/>
          <p:nvPr/>
        </p:nvSpPr>
        <p:spPr>
          <a:xfrm>
            <a:off x="5065776" y="1554480"/>
            <a:ext cx="2057400" cy="24231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065776" y="1554480"/>
            <a:ext cx="2057400" cy="73152"/>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212080" y="1682496"/>
            <a:ext cx="1764792" cy="384048"/>
          </a:xfrm>
          <a:prstGeom prst="rect">
            <a:avLst/>
          </a:prstGeom>
          <a:noFill/>
        </p:spPr>
        <p:txBody>
          <a:bodyPr wrap="square" anchor="t">
            <a:spAutoFit/>
          </a:bodyPr>
          <a:lstStyle/>
          <a:p>
            <a:pPr algn="l">
              <a:defRPr sz="1600" b="1">
                <a:solidFill>
                  <a:srgbClr val="173F35"/>
                </a:solidFill>
                <a:latin typeface="Avenir Next Demi Bold"/>
              </a:defRPr>
            </a:pPr>
            <a:r>
              <a:t>3. Standardised substantiation</a:t>
            </a:r>
          </a:p>
        </p:txBody>
      </p:sp>
      <p:sp>
        <p:nvSpPr>
          <p:cNvPr id="17" name="TextBox 16"/>
          <p:cNvSpPr txBox="1"/>
          <p:nvPr/>
        </p:nvSpPr>
        <p:spPr>
          <a:xfrm>
            <a:off x="5212080" y="2221992"/>
            <a:ext cx="1764792" cy="1783080"/>
          </a:xfrm>
          <a:prstGeom prst="rect">
            <a:avLst/>
          </a:prstGeom>
          <a:noFill/>
        </p:spPr>
        <p:txBody>
          <a:bodyPr wrap="square" anchor="t">
            <a:spAutoFit/>
          </a:bodyPr>
          <a:lstStyle/>
          <a:p>
            <a:pPr algn="l">
              <a:defRPr sz="1200" b="0">
                <a:solidFill>
                  <a:srgbClr val="2A2A2A"/>
                </a:solidFill>
                <a:latin typeface="Avenir Next"/>
              </a:defRPr>
            </a:pPr>
            <a:r>
              <a:rPr dirty="0"/>
              <a:t>Move toward lifecycle-based verification, product-category rules, accredited verifiers, and common evidentiary standards.</a:t>
            </a:r>
          </a:p>
        </p:txBody>
      </p:sp>
      <p:sp>
        <p:nvSpPr>
          <p:cNvPr id="18" name="Rounded Rectangle 17"/>
          <p:cNvSpPr/>
          <p:nvPr/>
        </p:nvSpPr>
        <p:spPr>
          <a:xfrm>
            <a:off x="7205472" y="1554480"/>
            <a:ext cx="2057400" cy="24231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205472" y="1554480"/>
            <a:ext cx="2057400" cy="7315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351776" y="1682496"/>
            <a:ext cx="1764792" cy="384048"/>
          </a:xfrm>
          <a:prstGeom prst="rect">
            <a:avLst/>
          </a:prstGeom>
          <a:noFill/>
        </p:spPr>
        <p:txBody>
          <a:bodyPr wrap="square" anchor="t">
            <a:spAutoFit/>
          </a:bodyPr>
          <a:lstStyle/>
          <a:p>
            <a:pPr algn="l">
              <a:defRPr sz="1600" b="1">
                <a:solidFill>
                  <a:srgbClr val="173F35"/>
                </a:solidFill>
                <a:latin typeface="Avenir Next Demi Bold"/>
              </a:defRPr>
            </a:pPr>
            <a:r>
              <a:t>4. Proactive surveillance</a:t>
            </a:r>
          </a:p>
        </p:txBody>
      </p:sp>
      <p:sp>
        <p:nvSpPr>
          <p:cNvPr id="21" name="TextBox 20"/>
          <p:cNvSpPr txBox="1"/>
          <p:nvPr/>
        </p:nvSpPr>
        <p:spPr>
          <a:xfrm>
            <a:off x="7351776" y="2194560"/>
            <a:ext cx="1764792" cy="1783080"/>
          </a:xfrm>
          <a:prstGeom prst="rect">
            <a:avLst/>
          </a:prstGeom>
          <a:noFill/>
        </p:spPr>
        <p:txBody>
          <a:bodyPr wrap="square" anchor="t">
            <a:spAutoFit/>
          </a:bodyPr>
          <a:lstStyle/>
          <a:p>
            <a:pPr algn="l">
              <a:defRPr sz="1200" b="0">
                <a:solidFill>
                  <a:srgbClr val="2A2A2A"/>
                </a:solidFill>
                <a:latin typeface="Avenir Next"/>
              </a:defRPr>
            </a:pPr>
            <a:r>
              <a:rPr dirty="0"/>
              <a:t>Run market sweeps in high-risk sectors and cross-check sustainability claims against pollution, compliance, and finance records.</a:t>
            </a:r>
          </a:p>
        </p:txBody>
      </p:sp>
      <p:sp>
        <p:nvSpPr>
          <p:cNvPr id="22" name="Rounded Rectangle 21"/>
          <p:cNvSpPr/>
          <p:nvPr/>
        </p:nvSpPr>
        <p:spPr>
          <a:xfrm>
            <a:off x="9345168" y="1554480"/>
            <a:ext cx="2057400" cy="24231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9345168" y="1554480"/>
            <a:ext cx="2057400" cy="73152"/>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491472" y="1682496"/>
            <a:ext cx="1764792" cy="384048"/>
          </a:xfrm>
          <a:prstGeom prst="rect">
            <a:avLst/>
          </a:prstGeom>
          <a:noFill/>
        </p:spPr>
        <p:txBody>
          <a:bodyPr wrap="square" anchor="t">
            <a:spAutoFit/>
          </a:bodyPr>
          <a:lstStyle/>
          <a:p>
            <a:pPr algn="l">
              <a:defRPr sz="1600" b="1">
                <a:solidFill>
                  <a:srgbClr val="173F35"/>
                </a:solidFill>
                <a:latin typeface="Avenir Next Demi Bold"/>
              </a:defRPr>
            </a:pPr>
            <a:r>
              <a:t>5. Enforcement capacity</a:t>
            </a:r>
          </a:p>
        </p:txBody>
      </p:sp>
      <p:sp>
        <p:nvSpPr>
          <p:cNvPr id="25" name="TextBox 24"/>
          <p:cNvSpPr txBox="1"/>
          <p:nvPr/>
        </p:nvSpPr>
        <p:spPr>
          <a:xfrm>
            <a:off x="9491472" y="2221992"/>
            <a:ext cx="1764792" cy="1783080"/>
          </a:xfrm>
          <a:prstGeom prst="rect">
            <a:avLst/>
          </a:prstGeom>
          <a:noFill/>
        </p:spPr>
        <p:txBody>
          <a:bodyPr wrap="square" anchor="t">
            <a:spAutoFit/>
          </a:bodyPr>
          <a:lstStyle/>
          <a:p>
            <a:pPr algn="l">
              <a:defRPr sz="1200" b="0">
                <a:solidFill>
                  <a:srgbClr val="2A2A2A"/>
                </a:solidFill>
                <a:latin typeface="Avenir Next"/>
              </a:defRPr>
            </a:pPr>
            <a:r>
              <a:rPr dirty="0"/>
              <a:t>Build shared technical expertise on carbon accounting, offsets, lifecycle analysis, and ESG assurance.</a:t>
            </a:r>
          </a:p>
        </p:txBody>
      </p:sp>
      <p:sp>
        <p:nvSpPr>
          <p:cNvPr id="26" name="Rounded Rectangle 25"/>
          <p:cNvSpPr/>
          <p:nvPr/>
        </p:nvSpPr>
        <p:spPr>
          <a:xfrm>
            <a:off x="1097280" y="4407408"/>
            <a:ext cx="10012680" cy="914400"/>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353312" y="4645152"/>
            <a:ext cx="9509760" cy="402336"/>
          </a:xfrm>
          <a:prstGeom prst="rect">
            <a:avLst/>
          </a:prstGeom>
          <a:noFill/>
        </p:spPr>
        <p:txBody>
          <a:bodyPr wrap="square" anchor="t">
            <a:spAutoFit/>
          </a:bodyPr>
          <a:lstStyle/>
          <a:p>
            <a:pPr algn="ctr">
              <a:defRPr sz="1800" b="0">
                <a:solidFill>
                  <a:srgbClr val="173F35"/>
                </a:solidFill>
                <a:latin typeface="Georgia"/>
              </a:defRPr>
            </a:pPr>
            <a:r>
              <a:t>Narrative takeaway: credible anti-greenwashing law starts before the claim is published, not after the complaint is filed.</a:t>
            </a:r>
          </a:p>
        </p:txBody>
      </p:sp>
      <p:sp>
        <p:nvSpPr>
          <p:cNvPr id="28" name="TextBox 27"/>
          <p:cNvSpPr txBox="1"/>
          <p:nvPr/>
        </p:nvSpPr>
        <p:spPr>
          <a:xfrm>
            <a:off x="566928" y="6252446"/>
            <a:ext cx="5008102" cy="246221"/>
          </a:xfrm>
          <a:prstGeom prst="rect">
            <a:avLst/>
          </a:prstGeom>
          <a:noFill/>
        </p:spPr>
        <p:txBody>
          <a:bodyPr wrap="none">
            <a:spAutoFit/>
          </a:bodyPr>
          <a:lstStyle/>
          <a:p>
            <a:pPr>
              <a:defRPr sz="850">
                <a:solidFill>
                  <a:srgbClr val="6B6F6A"/>
                </a:solidFill>
                <a:latin typeface="Avenir Next"/>
              </a:defRPr>
            </a:pPr>
            <a:r>
              <a:rPr sz="1000"/>
              <a:t>Source base: Chapter 6 suggestions and comparative design lessons in Chapter 4.</a:t>
            </a:r>
          </a:p>
        </p:txBody>
      </p:sp>
    </p:spTree>
    <p:extLst>
      <p:ext uri="{BB962C8B-B14F-4D97-AF65-F5344CB8AC3E}">
        <p14:creationId xmlns:p14="http://schemas.microsoft.com/office/powerpoint/2010/main" val="91897188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384048"/>
            <a:ext cx="7863840" cy="640080"/>
          </a:xfrm>
          <a:prstGeom prst="rect">
            <a:avLst/>
          </a:prstGeom>
          <a:noFill/>
        </p:spPr>
        <p:txBody>
          <a:bodyPr wrap="square">
            <a:spAutoFit/>
          </a:bodyPr>
          <a:lstStyle/>
          <a:p>
            <a:pPr>
              <a:defRPr sz="2200" b="1">
                <a:solidFill>
                  <a:srgbClr val="173F35"/>
                </a:solidFill>
                <a:latin typeface="Avenir Next Demi Bold"/>
              </a:defRPr>
            </a:pPr>
            <a:r>
              <a:t>Recommendations: Legal Reform Levers</a:t>
            </a:r>
          </a:p>
        </p:txBody>
      </p:sp>
      <p:sp>
        <p:nvSpPr>
          <p:cNvPr id="5" name="TextBox 4"/>
          <p:cNvSpPr txBox="1"/>
          <p:nvPr/>
        </p:nvSpPr>
        <p:spPr>
          <a:xfrm>
            <a:off x="566928" y="930000"/>
            <a:ext cx="11000000" cy="600164"/>
          </a:xfrm>
          <a:prstGeom prst="rect">
            <a:avLst/>
          </a:prstGeom>
          <a:noFill/>
        </p:spPr>
        <p:txBody>
          <a:bodyPr wrap="square">
            <a:spAutoFit/>
          </a:bodyPr>
          <a:lstStyle/>
          <a:p>
            <a:pPr>
              <a:defRPr sz="1200">
                <a:solidFill>
                  <a:srgbClr val="6B6F6A"/>
                </a:solidFill>
                <a:latin typeface="Avenir Next"/>
              </a:defRPr>
            </a:pPr>
            <a:r>
              <a:rPr sz="1100" b="0" dirty="0">
                <a:solidFill>
                  <a:srgbClr val="6B6F6A"/>
                </a:solidFill>
                <a:latin typeface="Avenir Next"/>
              </a:rPr>
              <a:t>Research Question 7 (part 2): </a:t>
            </a:r>
            <a:r>
              <a:rPr lang="en-IN" sz="1100" dirty="0">
                <a:ea typeface="+mn-lt"/>
                <a:cs typeface="+mn-lt"/>
              </a:rPr>
              <a:t>What legal and policy recommendations can create an integrated liability framework that holds corporations accountable for misleading environmental claims?</a:t>
            </a:r>
            <a:endParaRPr lang="en-US" sz="1100" dirty="0">
              <a:ea typeface="+mn-lt"/>
              <a:cs typeface="+mn-lt"/>
            </a:endParaRPr>
          </a:p>
          <a:p>
            <a:pPr>
              <a:defRPr sz="1200">
                <a:solidFill>
                  <a:srgbClr val="6B6F6A"/>
                </a:solidFill>
                <a:latin typeface="Avenir Next"/>
              </a:defRPr>
            </a:pPr>
            <a:endParaRPr sz="1100" b="0" dirty="0">
              <a:solidFill>
                <a:srgbClr val="6B6F6A"/>
              </a:solidFill>
              <a:latin typeface="Avenir Next"/>
            </a:endParaRPr>
          </a:p>
        </p:txBody>
      </p:sp>
      <p:sp>
        <p:nvSpPr>
          <p:cNvPr id="6" name="Rounded Rectangle 5"/>
          <p:cNvSpPr/>
          <p:nvPr/>
        </p:nvSpPr>
        <p:spPr>
          <a:xfrm>
            <a:off x="731520" y="1572768"/>
            <a:ext cx="3547872"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31520" y="1572768"/>
            <a:ext cx="3547872" cy="7315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77824" y="1700784"/>
            <a:ext cx="3255264" cy="384048"/>
          </a:xfrm>
          <a:prstGeom prst="rect">
            <a:avLst/>
          </a:prstGeom>
          <a:noFill/>
        </p:spPr>
        <p:txBody>
          <a:bodyPr wrap="square" anchor="t">
            <a:spAutoFit/>
          </a:bodyPr>
          <a:lstStyle/>
          <a:p>
            <a:pPr algn="l">
              <a:defRPr sz="1600" b="1">
                <a:solidFill>
                  <a:srgbClr val="173F35"/>
                </a:solidFill>
                <a:latin typeface="Avenir Next Demi Bold"/>
              </a:defRPr>
            </a:pPr>
            <a:r>
              <a:t>Companies Act / MCA</a:t>
            </a:r>
          </a:p>
        </p:txBody>
      </p:sp>
      <p:sp>
        <p:nvSpPr>
          <p:cNvPr id="9" name="TextBox 8"/>
          <p:cNvSpPr txBox="1"/>
          <p:nvPr/>
        </p:nvSpPr>
        <p:spPr>
          <a:xfrm>
            <a:off x="841248" y="2267712"/>
            <a:ext cx="3255264" cy="3383280"/>
          </a:xfrm>
          <a:prstGeom prst="rect">
            <a:avLst/>
          </a:prstGeom>
          <a:noFill/>
        </p:spPr>
        <p:txBody>
          <a:bodyPr wrap="square" anchor="t">
            <a:spAutoFit/>
          </a:bodyPr>
          <a:lstStyle/>
          <a:p>
            <a:pPr algn="l">
              <a:defRPr sz="1200" b="0">
                <a:solidFill>
                  <a:srgbClr val="2A2A2A"/>
                </a:solidFill>
                <a:latin typeface="Avenir Next"/>
              </a:defRPr>
            </a:pPr>
            <a:r>
              <a:t>- Turnover-linked penalties for directors authorising misleading environmental claims.</a:t>
            </a:r>
            <a:br/>
            <a:br/>
            <a:r>
              <a:t>- Clear standing to enforce the environmental duty under Section 166(2).</a:t>
            </a:r>
            <a:br/>
            <a:br/>
            <a:r>
              <a:t>- Board-level ESG committee and stronger whistleblower pathways for environmental misrepresentation.</a:t>
            </a:r>
          </a:p>
        </p:txBody>
      </p:sp>
      <p:sp>
        <p:nvSpPr>
          <p:cNvPr id="10" name="Rounded Rectangle 9"/>
          <p:cNvSpPr/>
          <p:nvPr/>
        </p:nvSpPr>
        <p:spPr>
          <a:xfrm>
            <a:off x="4325112" y="1572768"/>
            <a:ext cx="3547872"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325112" y="1572768"/>
            <a:ext cx="3547872" cy="73152"/>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471416" y="1700784"/>
            <a:ext cx="3255264" cy="384048"/>
          </a:xfrm>
          <a:prstGeom prst="rect">
            <a:avLst/>
          </a:prstGeom>
          <a:noFill/>
        </p:spPr>
        <p:txBody>
          <a:bodyPr wrap="square" anchor="t">
            <a:spAutoFit/>
          </a:bodyPr>
          <a:lstStyle/>
          <a:p>
            <a:pPr algn="l">
              <a:defRPr sz="1600" b="1">
                <a:solidFill>
                  <a:srgbClr val="173F35"/>
                </a:solidFill>
                <a:latin typeface="Avenir Next Demi Bold"/>
              </a:defRPr>
            </a:pPr>
            <a:r>
              <a:t>SEBI / Securities law</a:t>
            </a:r>
          </a:p>
        </p:txBody>
      </p:sp>
      <p:sp>
        <p:nvSpPr>
          <p:cNvPr id="13" name="TextBox 12"/>
          <p:cNvSpPr txBox="1"/>
          <p:nvPr/>
        </p:nvSpPr>
        <p:spPr>
          <a:xfrm>
            <a:off x="4468215" y="2240280"/>
            <a:ext cx="3255264" cy="3383280"/>
          </a:xfrm>
          <a:prstGeom prst="rect">
            <a:avLst/>
          </a:prstGeom>
          <a:noFill/>
        </p:spPr>
        <p:txBody>
          <a:bodyPr wrap="square" anchor="t">
            <a:spAutoFit/>
          </a:bodyPr>
          <a:lstStyle/>
          <a:p>
            <a:pPr algn="l">
              <a:defRPr sz="1200" b="0">
                <a:solidFill>
                  <a:srgbClr val="2A2A2A"/>
                </a:solidFill>
                <a:latin typeface="Avenir Next"/>
              </a:defRPr>
            </a:pPr>
            <a:r>
              <a:rPr dirty="0"/>
              <a:t>- Fuller value-chain disclosure and mandatory reasonable assurance over time.</a:t>
            </a:r>
            <a:br>
              <a:rPr dirty="0"/>
            </a:br>
            <a:br>
              <a:rPr dirty="0"/>
            </a:br>
            <a:r>
              <a:rPr dirty="0"/>
              <a:t>- Explicit classification of ESG misrepresentation under PFUTP.</a:t>
            </a:r>
            <a:br>
              <a:rPr dirty="0"/>
            </a:br>
            <a:br>
              <a:rPr dirty="0"/>
            </a:br>
            <a:r>
              <a:rPr dirty="0"/>
              <a:t>- Stronger competence, transparency, and penalty rules for ESG rating providers; movement toward double materiality.</a:t>
            </a:r>
          </a:p>
        </p:txBody>
      </p:sp>
      <p:sp>
        <p:nvSpPr>
          <p:cNvPr id="14" name="Rounded Rectangle 13"/>
          <p:cNvSpPr/>
          <p:nvPr/>
        </p:nvSpPr>
        <p:spPr>
          <a:xfrm>
            <a:off x="7918704" y="1572768"/>
            <a:ext cx="3547872"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7918704" y="1572768"/>
            <a:ext cx="3547872" cy="73152"/>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065008" y="1700784"/>
            <a:ext cx="3255264" cy="384048"/>
          </a:xfrm>
          <a:prstGeom prst="rect">
            <a:avLst/>
          </a:prstGeom>
          <a:noFill/>
        </p:spPr>
        <p:txBody>
          <a:bodyPr wrap="square" anchor="t">
            <a:spAutoFit/>
          </a:bodyPr>
          <a:lstStyle/>
          <a:p>
            <a:pPr algn="l">
              <a:defRPr sz="1600" b="1">
                <a:solidFill>
                  <a:srgbClr val="173F35"/>
                </a:solidFill>
                <a:latin typeface="Avenir Next Demi Bold"/>
              </a:defRPr>
            </a:pPr>
            <a:r>
              <a:t>CCPA / Consumer law</a:t>
            </a:r>
          </a:p>
        </p:txBody>
      </p:sp>
      <p:sp>
        <p:nvSpPr>
          <p:cNvPr id="17" name="TextBox 16"/>
          <p:cNvSpPr txBox="1"/>
          <p:nvPr/>
        </p:nvSpPr>
        <p:spPr>
          <a:xfrm>
            <a:off x="8016087" y="2212848"/>
            <a:ext cx="3255264" cy="3383280"/>
          </a:xfrm>
          <a:prstGeom prst="rect">
            <a:avLst/>
          </a:prstGeom>
          <a:noFill/>
        </p:spPr>
        <p:txBody>
          <a:bodyPr wrap="square" anchor="t">
            <a:spAutoFit/>
          </a:bodyPr>
          <a:lstStyle/>
          <a:p>
            <a:pPr algn="l">
              <a:defRPr sz="1200" b="0">
                <a:solidFill>
                  <a:srgbClr val="2A2A2A"/>
                </a:solidFill>
                <a:latin typeface="Avenir Next"/>
              </a:defRPr>
            </a:pPr>
            <a:r>
              <a:rPr dirty="0"/>
              <a:t>- Convert the 2024 Greenwashing Guidelines into formal delegated legislation.</a:t>
            </a:r>
            <a:br>
              <a:rPr dirty="0"/>
            </a:br>
            <a:br>
              <a:rPr dirty="0"/>
            </a:br>
            <a:r>
              <a:rPr dirty="0"/>
              <a:t>- Use turnover-based penalties and corrective advertising for serious claims.</a:t>
            </a:r>
            <a:br>
              <a:rPr dirty="0"/>
            </a:br>
            <a:br>
              <a:rPr dirty="0"/>
            </a:br>
            <a:r>
              <a:rPr dirty="0"/>
              <a:t>- Narrow the puffery exception and adopt claim-specific substantiation standards.</a:t>
            </a:r>
          </a:p>
        </p:txBody>
      </p:sp>
      <p:sp>
        <p:nvSpPr>
          <p:cNvPr id="18" name="TextBox 17"/>
          <p:cNvSpPr txBox="1"/>
          <p:nvPr/>
        </p:nvSpPr>
        <p:spPr>
          <a:xfrm>
            <a:off x="566928" y="6400800"/>
            <a:ext cx="5328703" cy="246221"/>
          </a:xfrm>
          <a:prstGeom prst="rect">
            <a:avLst/>
          </a:prstGeom>
          <a:noFill/>
        </p:spPr>
        <p:txBody>
          <a:bodyPr wrap="none" lIns="91440" tIns="45720" rIns="91440" bIns="45720" anchor="t">
            <a:spAutoFit/>
          </a:bodyPr>
          <a:lstStyle/>
          <a:p>
            <a:pPr>
              <a:defRPr sz="850">
                <a:solidFill>
                  <a:srgbClr val="6B6F6A"/>
                </a:solidFill>
                <a:latin typeface="Avenir Next"/>
              </a:defRPr>
            </a:pPr>
            <a:r>
              <a:t>Source base: Chapter 6 recommendations under </a:t>
            </a:r>
            <a:r>
              <a:rPr sz="1000"/>
              <a:t>Companies</a:t>
            </a:r>
            <a:r>
              <a:t> Act, SEBI, and consumer protection law.</a:t>
            </a:r>
          </a:p>
        </p:txBody>
      </p:sp>
      <p:sp>
        <p:nvSpPr>
          <p:cNvPr id="19" name="Rounded Rectangle 18"/>
          <p:cNvSpPr/>
          <p:nvPr/>
        </p:nvSpPr>
        <p:spPr>
          <a:xfrm>
            <a:off x="731520" y="5720000"/>
            <a:ext cx="10735056" cy="600000"/>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861520" y="5790000"/>
            <a:ext cx="10475056" cy="460000"/>
          </a:xfrm>
          <a:prstGeom prst="rect">
            <a:avLst/>
          </a:prstGeom>
          <a:noFill/>
        </p:spPr>
        <p:txBody>
          <a:bodyPr wrap="square" lIns="45720" tIns="22860" rIns="45720" bIns="22860" anchor="ctr">
            <a:spAutoFit/>
          </a:bodyPr>
          <a:lstStyle/>
          <a:p>
            <a:pPr algn="ctr"/>
            <a:r>
              <a:rPr sz="1000" b="1" i="0">
                <a:solidFill>
                  <a:srgbClr val="095E4F"/>
                </a:solidFill>
                <a:latin typeface="Calibri"/>
              </a:rPr>
              <a:t>Answer to RQ7:  </a:t>
            </a:r>
            <a:r>
              <a:rPr sz="1000" b="0" i="0">
                <a:solidFill>
                  <a:srgbClr val="3A3A4A"/>
                </a:solidFill>
                <a:latin typeface="Calibri"/>
              </a:rPr>
              <a:t>one framework, three statutes, working in sequence — substantiate the claim before it is published, assure it independently, refer it automatically between regulators, and price the penalty to turnover so the board, not only the brand, carries the risk.</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444752"/>
            <a:ext cx="10607040" cy="1015663"/>
          </a:xfrm>
          <a:prstGeom prst="rect">
            <a:avLst/>
          </a:prstGeom>
          <a:noFill/>
        </p:spPr>
        <p:txBody>
          <a:bodyPr wrap="square" lIns="91440" tIns="45720" rIns="91440" bIns="45720" anchor="t">
            <a:spAutoFit/>
          </a:bodyPr>
          <a:lstStyle/>
          <a:p>
            <a:pPr algn="ctr">
              <a:defRPr sz="3000" b="1">
                <a:solidFill>
                  <a:srgbClr val="173F35"/>
                </a:solidFill>
                <a:latin typeface="Georgia"/>
              </a:defRPr>
            </a:pPr>
            <a:r>
              <a:rPr sz="6000"/>
              <a:t>Thank You</a:t>
            </a:r>
            <a:endParaRPr lang="en-US" sz="6000"/>
          </a:p>
        </p:txBody>
      </p:sp>
      <p:sp>
        <p:nvSpPr>
          <p:cNvPr id="19" name="TextBox 18"/>
          <p:cNvSpPr txBox="1"/>
          <p:nvPr/>
        </p:nvSpPr>
        <p:spPr>
          <a:xfrm>
            <a:off x="10972800" y="6364224"/>
            <a:ext cx="548640" cy="228600"/>
          </a:xfrm>
          <a:prstGeom prst="rect">
            <a:avLst/>
          </a:prstGeom>
          <a:noFill/>
        </p:spPr>
        <p:txBody>
          <a:bodyPr wrap="none">
            <a:spAutoFit/>
          </a:bodyPr>
          <a:lstStyle/>
          <a:p>
            <a:pPr algn="r">
              <a:defRPr sz="900">
                <a:solidFill>
                  <a:srgbClr val="6B6F6A"/>
                </a:solidFill>
                <a:latin typeface="Avenir Next"/>
              </a:defRPr>
            </a:pPr>
            <a:r>
              <a:t>13</a:t>
            </a:r>
          </a:p>
        </p:txBody>
      </p:sp>
      <p:sp>
        <p:nvSpPr>
          <p:cNvPr id="20" name="Rounded Rectangle 18">
            <a:extLst>
              <a:ext uri="{FF2B5EF4-FFF2-40B4-BE49-F238E27FC236}">
                <a16:creationId xmlns:a16="http://schemas.microsoft.com/office/drawing/2014/main" id="{E5FEC69F-BC87-C4FC-EB3C-912B120196EF}"/>
              </a:ext>
            </a:extLst>
          </p:cNvPr>
          <p:cNvSpPr/>
          <p:nvPr/>
        </p:nvSpPr>
        <p:spPr>
          <a:xfrm>
            <a:off x="3573332" y="3242048"/>
            <a:ext cx="5212080" cy="2014458"/>
          </a:xfrm>
          <a:prstGeom prst="roundRect">
            <a:avLst/>
          </a:prstGeom>
          <a:solidFill>
            <a:srgbClr val="E8F5F2"/>
          </a:solidFill>
          <a:ln w="15240">
            <a:solidFill>
              <a:srgbClr val="C48A10"/>
            </a:solid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p>
        </p:txBody>
      </p:sp>
      <p:sp>
        <p:nvSpPr>
          <p:cNvPr id="21" name="TextBox 20">
            <a:extLst>
              <a:ext uri="{FF2B5EF4-FFF2-40B4-BE49-F238E27FC236}">
                <a16:creationId xmlns:a16="http://schemas.microsoft.com/office/drawing/2014/main" id="{E6A07CEB-C350-7E55-A481-F92D3DF2BF71}"/>
              </a:ext>
            </a:extLst>
          </p:cNvPr>
          <p:cNvSpPr txBox="1"/>
          <p:nvPr/>
        </p:nvSpPr>
        <p:spPr>
          <a:xfrm>
            <a:off x="3801932" y="3534881"/>
            <a:ext cx="4846320" cy="1436291"/>
          </a:xfrm>
          <a:prstGeom prst="rect">
            <a:avLst/>
          </a:prstGeom>
          <a:noFill/>
        </p:spPr>
        <p:txBody>
          <a:bodyPr wrap="square" lIns="91440" tIns="45720" rIns="91440" bIns="4572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spcAft>
                <a:spcPts val="400"/>
              </a:spcAft>
              <a:defRPr sz="1400" b="1">
                <a:solidFill>
                  <a:srgbClr val="095E4F"/>
                </a:solidFill>
                <a:latin typeface="Calibri"/>
              </a:defRPr>
            </a:pPr>
            <a:r>
              <a:rPr dirty="0"/>
              <a:t>Concluding Imperative</a:t>
            </a:r>
          </a:p>
          <a:p>
            <a:pPr algn="l">
              <a:spcAft>
                <a:spcPts val="0"/>
              </a:spcAft>
              <a:defRPr sz="1100" b="0">
                <a:solidFill>
                  <a:srgbClr val="3A3A4A"/>
                </a:solidFill>
                <a:latin typeface="Calibri"/>
              </a:defRPr>
            </a:pPr>
            <a:r>
              <a:rPr sz="1400" dirty="0"/>
              <a:t>Without credible corporate environmental claims, capital cannot flow efficiently to genuine climate solutions and consumers cannot make informed sustainable choices</a:t>
            </a:r>
            <a:r>
              <a:rPr lang="en-US" sz="1400" dirty="0"/>
              <a:t>.</a:t>
            </a:r>
            <a:r>
              <a:rPr sz="1400" dirty="0"/>
              <a:t> Effective anti-greenwashing regulation is essential not only for market integrity but for environmental integrity.</a:t>
            </a:r>
          </a:p>
        </p:txBody>
      </p:sp>
    </p:spTree>
    <p:extLst>
      <p:ext uri="{BB962C8B-B14F-4D97-AF65-F5344CB8AC3E}">
        <p14:creationId xmlns:p14="http://schemas.microsoft.com/office/powerpoint/2010/main" val="354201540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1311</TotalTime>
  <Words>4989</Words>
  <Application>Microsoft Macintosh PowerPoint</Application>
  <PresentationFormat>Widescreen</PresentationFormat>
  <Paragraphs>438</Paragraphs>
  <Slides>23</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23</vt:i4>
      </vt:variant>
    </vt:vector>
  </HeadingPairs>
  <TitlesOfParts>
    <vt:vector size="31" baseType="lpstr">
      <vt:lpstr>Aptos</vt:lpstr>
      <vt:lpstr>Arial</vt:lpstr>
      <vt:lpstr>Arial,Sans-Serif</vt:lpstr>
      <vt:lpstr>Avenir Next</vt:lpstr>
      <vt:lpstr>Avenir Next Demi Bold</vt:lpstr>
      <vt:lpstr>Calibri</vt:lpstr>
      <vt:lpstr>Calibri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Saumya Singh</cp:lastModifiedBy>
  <cp:revision>905</cp:revision>
  <dcterms:created xsi:type="dcterms:W3CDTF">2013-01-27T09:14:16Z</dcterms:created>
  <dcterms:modified xsi:type="dcterms:W3CDTF">2026-08-13T13:25:04Z</dcterms:modified>
  <cp:category/>
</cp:coreProperties>
</file>