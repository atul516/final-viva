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79" r:id="rId2"/>
    <p:sldId id="297" r:id="rId3"/>
    <p:sldId id="298" r:id="rId4"/>
    <p:sldId id="281" r:id="rId5"/>
    <p:sldId id="283" r:id="rId6"/>
    <p:sldId id="260" r:id="rId7"/>
    <p:sldId id="261" r:id="rId8"/>
    <p:sldId id="265" r:id="rId9"/>
    <p:sldId id="280" r:id="rId10"/>
    <p:sldId id="295" r:id="rId11"/>
    <p:sldId id="284" r:id="rId12"/>
    <p:sldId id="293" r:id="rId13"/>
    <p:sldId id="294" r:id="rId14"/>
    <p:sldId id="290" r:id="rId15"/>
    <p:sldId id="287" r:id="rId16"/>
    <p:sldId id="288" r:id="rId17"/>
    <p:sldId id="289" r:id="rId18"/>
    <p:sldId id="262" r:id="rId19"/>
    <p:sldId id="272" r:id="rId20"/>
    <p:sldId id="296" r:id="rId21"/>
    <p:sldId id="299" r:id="rId22"/>
    <p:sldId id="291" r:id="rId23"/>
    <p:sldId id="266" r:id="rId24"/>
    <p:sldId id="292"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9B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D82549-73EC-4856-879A-C813D151772C}" v="3106" dt="2026-03-17T15:45:46.5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5725"/>
    <p:restoredTop sz="94629"/>
  </p:normalViewPr>
  <p:slideViewPr>
    <p:cSldViewPr snapToGrid="0" snapToObjects="1">
      <p:cViewPr varScale="1">
        <p:scale>
          <a:sx n="81" d="100"/>
          <a:sy n="81" d="100"/>
        </p:scale>
        <p:origin x="184" y="6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16D8C7-7ACE-0E43-ADC6-5E8A68AC397B}" type="datetimeFigureOut">
              <a:rPr lang="en-US" smtClean="0"/>
              <a:t>8/14/26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62F6BD-97DA-5F40-B046-A0BF2F554C1C}" type="slidenum">
              <a:rPr lang="en-US" smtClean="0"/>
              <a:t>‹#›</a:t>
            </a:fld>
            <a:endParaRPr lang="en-US"/>
          </a:p>
        </p:txBody>
      </p:sp>
    </p:spTree>
    <p:extLst>
      <p:ext uri="{BB962C8B-B14F-4D97-AF65-F5344CB8AC3E}">
        <p14:creationId xmlns:p14="http://schemas.microsoft.com/office/powerpoint/2010/main" val="3896740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698CBB9-5E50-2F14-2467-F5962F12EF2A}"/>
              </a:ext>
            </a:extLst>
          </p:cNvPr>
          <p:cNvSpPr>
            <a:spLocks noChangeArrowheads="1"/>
          </p:cNvSpPr>
          <p:nvPr/>
        </p:nvSpPr>
        <p:spPr bwMode="auto">
          <a:xfrm>
            <a:off x="1468193" y="2384770"/>
            <a:ext cx="919551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CORPORATE RESPONSIBILITY REGARDING THE CONCERN OF GREENWASHING, POLICY AND LEGAL INITIATIVES: A CRITICAL STUDY</a:t>
            </a:r>
            <a:endParaRPr kumimoji="0" lang="en-US" altLang="en-US" sz="1000" b="0" i="0" strike="noStrike" cap="none" normalizeH="0" baseline="0" dirty="0">
              <a:ln>
                <a:noFill/>
              </a:ln>
              <a:solidFill>
                <a:schemeClr val="tx1"/>
              </a:solidFill>
              <a:effectLst/>
              <a:latin typeface="Avenir Next" panose="020B0503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strike="noStrike" cap="none" normalizeH="0" baseline="0" dirty="0">
              <a:ln>
                <a:noFill/>
              </a:ln>
              <a:solidFill>
                <a:schemeClr val="tx1"/>
              </a:solidFill>
              <a:effectLst/>
              <a:latin typeface="Avenir Next" panose="020B0503020202020204" pitchFamily="34" charset="0"/>
            </a:endParaRPr>
          </a:p>
        </p:txBody>
      </p:sp>
      <p:pic>
        <p:nvPicPr>
          <p:cNvPr id="1025" name="Picture 1" descr="https://upload.wikimedia.org/wikipedia/en/2/29/Chanakya_National_Law_University_Logo.png">
            <a:extLst>
              <a:ext uri="{FF2B5EF4-FFF2-40B4-BE49-F238E27FC236}">
                <a16:creationId xmlns:a16="http://schemas.microsoft.com/office/drawing/2014/main" id="{2B95BC30-4621-E5CA-BBC4-3F45D7ACEC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4750" y="121898"/>
            <a:ext cx="1493949" cy="137677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377CE1B1-81AF-B124-8E50-A278D3AA36D9}"/>
              </a:ext>
            </a:extLst>
          </p:cNvPr>
          <p:cNvSpPr>
            <a:spLocks noChangeArrowheads="1"/>
          </p:cNvSpPr>
          <p:nvPr/>
        </p:nvSpPr>
        <p:spPr bwMode="auto">
          <a:xfrm>
            <a:off x="2349796" y="3350157"/>
            <a:ext cx="6060558" cy="3585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457200"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1pPr>
            <a:lvl2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2pPr>
            <a:lvl3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3pPr>
            <a:lvl4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4pPr>
            <a:lvl5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5pPr>
            <a:lvl6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6pPr>
            <a:lvl7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7pPr>
            <a:lvl8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8pPr>
            <a:lvl9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chemeClr val="tx1"/>
                </a:solidFill>
                <a:latin typeface="Arial" panose="020B0604020202020204" pitchFamily="34" charset="0"/>
              </a:defRPr>
            </a:lvl9pPr>
          </a:lstStyle>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altLang="en-US"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Submitte</a:t>
            </a:r>
            <a:r>
              <a:rPr lang="en-US" altLang="en-US" b="1" dirty="0">
                <a:latin typeface="Avenir Next" panose="020B0503020202020204" pitchFamily="34" charset="0"/>
                <a:ea typeface="Aptos" panose="020B0004020202020204" pitchFamily="34" charset="0"/>
                <a:cs typeface="Times New Roman" panose="02020603050405020304" pitchFamily="18" charset="0"/>
              </a:rPr>
              <a:t>d To</a:t>
            </a:r>
            <a:endParaRPr kumimoji="0" lang="en-US" altLang="en-US"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altLang="en-US"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Chanakya National Law University</a:t>
            </a:r>
            <a:endParaRPr kumimoji="0" lang="en-US" altLang="en-US" b="1" i="0" u="none" strike="noStrike" cap="none" normalizeH="0" baseline="0" dirty="0">
              <a:ln>
                <a:noFill/>
              </a:ln>
              <a:solidFill>
                <a:schemeClr val="tx1"/>
              </a:solidFill>
              <a:effectLst/>
              <a:latin typeface="Avenir Next" panose="020B0503020202020204" pitchFamily="34"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US" altLang="en-US"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Nyaya Nagar, Patna 800001</a:t>
            </a:r>
            <a:endParaRPr lang="en-US" altLang="en-US" sz="1600" b="1" dirty="0">
              <a:latin typeface="Avenir Next" panose="020B0503020202020204" pitchFamily="34"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endParaRPr kumimoji="0" lang="en-US" altLang="en-US" sz="8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endParaRPr kumimoji="0" lang="en-US" altLang="en-US" sz="16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GB" altLang="en-US" sz="16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Under The Supervision Of</a:t>
            </a:r>
          </a:p>
          <a:p>
            <a:pPr marL="0" marR="0" lvl="0" indent="457200" algn="ctr" defTabSz="914400" rtl="0" eaLnBrk="0" fontAlgn="base" latinLnBrk="0" hangingPunct="0">
              <a:lnSpc>
                <a:spcPct val="100000"/>
              </a:lnSpc>
              <a:spcBef>
                <a:spcPct val="0"/>
              </a:spcBef>
              <a:spcAft>
                <a:spcPct val="0"/>
              </a:spcAft>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kumimoji="0" lang="en-GB" altLang="en-US" sz="16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DR. P. P. RAO</a:t>
            </a:r>
          </a:p>
          <a:p>
            <a:pPr lvl="0" algn="ctr" defTabSz="914400"/>
            <a:r>
              <a:rPr lang="en-GB" altLang="en-US" sz="1600" b="1" dirty="0">
                <a:latin typeface="Avenir Next" panose="020B0503020202020204" pitchFamily="34" charset="0"/>
                <a:ea typeface="Aptos" panose="020B0004020202020204" pitchFamily="34" charset="0"/>
                <a:cs typeface="Times New Roman" panose="02020603050405020304" pitchFamily="18" charset="0"/>
              </a:rPr>
              <a:t>ASSOCIATE PROFESSOR</a:t>
            </a:r>
          </a:p>
          <a:p>
            <a:pPr lvl="0" algn="ctr" defTabSz="914400"/>
            <a:endParaRPr lang="en-GB" altLang="en-US" sz="500" b="1" dirty="0">
              <a:latin typeface="Avenir Next" panose="020B0503020202020204" pitchFamily="34" charset="0"/>
              <a:ea typeface="Aptos" panose="020B0004020202020204" pitchFamily="34" charset="0"/>
              <a:cs typeface="Times New Roman" panose="02020603050405020304" pitchFamily="18" charset="0"/>
            </a:endParaRPr>
          </a:p>
          <a:p>
            <a:pPr lvl="0" algn="ctr" defTabSz="914400"/>
            <a:endParaRPr lang="en-GB" altLang="en-US" sz="1600" b="1" dirty="0">
              <a:latin typeface="Avenir Next" panose="020B0503020202020204" pitchFamily="34" charset="0"/>
              <a:ea typeface="Aptos" panose="020B0004020202020204" pitchFamily="34" charset="0"/>
              <a:cs typeface="Times New Roman" panose="02020603050405020304" pitchFamily="18" charset="0"/>
            </a:endParaRPr>
          </a:p>
          <a:p>
            <a:pPr lvl="0" algn="ctr" defTabSz="914400"/>
            <a:r>
              <a:rPr lang="en-GB" altLang="en-US" sz="1600" b="1" dirty="0">
                <a:latin typeface="Avenir Next" panose="020B0503020202020204" pitchFamily="34" charset="0"/>
                <a:cs typeface="Times New Roman" panose="02020603050405020304" pitchFamily="18" charset="0"/>
              </a:rPr>
              <a:t>Submitted by</a:t>
            </a:r>
          </a:p>
          <a:p>
            <a:pPr lvl="0" algn="ctr" defTabSz="914400"/>
            <a:r>
              <a:rPr kumimoji="0" lang="en-GB" altLang="en-US" sz="16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SAUMYA SINGH</a:t>
            </a:r>
          </a:p>
          <a:p>
            <a:pPr lvl="0" algn="ctr" defTabSz="914400"/>
            <a:r>
              <a:rPr lang="en-GB" altLang="en-US" sz="1600" b="1" dirty="0">
                <a:latin typeface="Avenir Next" panose="020B0503020202020204" pitchFamily="34" charset="0"/>
                <a:ea typeface="Aptos" panose="020B0004020202020204" pitchFamily="34" charset="0"/>
                <a:cs typeface="Times New Roman" panose="02020603050405020304" pitchFamily="18" charset="0"/>
              </a:rPr>
              <a:t>Roll No- PL-2121</a:t>
            </a:r>
          </a:p>
          <a:p>
            <a:pPr algn="ctr" defTabSz="914400"/>
            <a:r>
              <a:rPr lang="en-GB" altLang="en-US" sz="1600" b="1" dirty="0">
                <a:latin typeface="Avenir Next" panose="020B0503020202020204" pitchFamily="34" charset="0"/>
                <a:ea typeface="Aptos" panose="020B0004020202020204" pitchFamily="34" charset="0"/>
                <a:cs typeface="Times New Roman" panose="02020603050405020304" pitchFamily="18" charset="0"/>
              </a:rPr>
              <a:t>Ph.D. (Batch- 2021)</a:t>
            </a:r>
            <a:endParaRPr kumimoji="0" lang="en-GB" altLang="en-US" sz="16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endParaRPr>
          </a:p>
          <a:p>
            <a:pPr lvl="0" algn="ctr" defTabSz="914400"/>
            <a:r>
              <a:rPr kumimoji="0" lang="en-GB" altLang="en-US" sz="1600" b="1" i="0" u="none" strike="noStrike" cap="none" normalizeH="0" baseline="0" dirty="0">
                <a:ln>
                  <a:noFill/>
                </a:ln>
                <a:solidFill>
                  <a:schemeClr val="tx1"/>
                </a:solidFill>
                <a:effectLst/>
                <a:latin typeface="Avenir Next" panose="020B0503020202020204" pitchFamily="34" charset="0"/>
                <a:ea typeface="Aptos" panose="020B0004020202020204" pitchFamily="34" charset="0"/>
                <a:cs typeface="Times New Roman" panose="02020603050405020304" pitchFamily="18" charset="0"/>
              </a:rPr>
              <a:t>	</a:t>
            </a:r>
            <a:endParaRPr kumimoji="0" lang="en-GB" altLang="en-US" sz="1600" b="1" i="0" u="none" strike="noStrike" cap="none" normalizeH="0" baseline="0" dirty="0">
              <a:ln>
                <a:noFill/>
              </a:ln>
              <a:solidFill>
                <a:schemeClr val="tx1"/>
              </a:solidFill>
              <a:effectLst/>
              <a:latin typeface="Avenir Next" panose="020B0503020202020204" pitchFamily="34" charset="0"/>
            </a:endParaRPr>
          </a:p>
        </p:txBody>
      </p:sp>
      <p:sp>
        <p:nvSpPr>
          <p:cNvPr id="4" name="TextBox 3">
            <a:extLst>
              <a:ext uri="{FF2B5EF4-FFF2-40B4-BE49-F238E27FC236}">
                <a16:creationId xmlns:a16="http://schemas.microsoft.com/office/drawing/2014/main" id="{D04EECE9-C3B3-47D6-98DA-6D47961BFCE5}"/>
              </a:ext>
            </a:extLst>
          </p:cNvPr>
          <p:cNvSpPr txBox="1"/>
          <p:nvPr/>
        </p:nvSpPr>
        <p:spPr>
          <a:xfrm>
            <a:off x="3820110" y="1498674"/>
            <a:ext cx="3603230" cy="707886"/>
          </a:xfrm>
          <a:prstGeom prst="rect">
            <a:avLst/>
          </a:prstGeom>
          <a:noFill/>
        </p:spPr>
        <p:txBody>
          <a:bodyPr wrap="none" rtlCol="0">
            <a:spAutoFit/>
          </a:bodyPr>
          <a:lstStyle/>
          <a:p>
            <a:pPr algn="ctr"/>
            <a:r>
              <a:rPr lang="en-US" sz="2400" b="1" dirty="0"/>
              <a:t>Final Defense Presentation</a:t>
            </a:r>
          </a:p>
          <a:p>
            <a:pPr algn="ctr"/>
            <a:endParaRPr lang="en-US" sz="200" b="1" dirty="0"/>
          </a:p>
          <a:p>
            <a:pPr algn="ctr"/>
            <a:r>
              <a:rPr lang="en-US" sz="1400" b="1" dirty="0"/>
              <a:t>On the Topic of</a:t>
            </a:r>
          </a:p>
        </p:txBody>
      </p:sp>
    </p:spTree>
    <p:extLst>
      <p:ext uri="{BB962C8B-B14F-4D97-AF65-F5344CB8AC3E}">
        <p14:creationId xmlns:p14="http://schemas.microsoft.com/office/powerpoint/2010/main" val="1519613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31520" y="396667"/>
            <a:ext cx="10698480" cy="677108"/>
          </a:xfrm>
          <a:prstGeom prst="rect">
            <a:avLst/>
          </a:prstGeom>
          <a:noFill/>
        </p:spPr>
        <p:txBody>
          <a:bodyPr wrap="square" tIns="91440" bIns="91440">
            <a:spAutoFit/>
          </a:bodyPr>
          <a:lstStyle/>
          <a:p>
            <a:pPr>
              <a:defRPr sz="3000" b="1">
                <a:solidFill>
                  <a:srgbClr val="173F35"/>
                </a:solidFill>
              </a:defRPr>
            </a:pPr>
            <a:r>
              <a:rPr sz="3200" b="1" dirty="0">
                <a:solidFill>
                  <a:srgbClr val="173F35"/>
                </a:solidFill>
                <a:latin typeface="Avenir Next Demi Bold"/>
              </a:rPr>
              <a:t>W</a:t>
            </a:r>
            <a:r>
              <a:rPr lang="en-US" sz="3200" b="1" dirty="0">
                <a:solidFill>
                  <a:srgbClr val="173F35"/>
                </a:solidFill>
                <a:latin typeface="Avenir Next Demi Bold"/>
              </a:rPr>
              <a:t>hat</a:t>
            </a:r>
            <a:r>
              <a:rPr sz="3200" b="1" dirty="0">
                <a:solidFill>
                  <a:srgbClr val="173F35"/>
                </a:solidFill>
                <a:latin typeface="Avenir Next Demi Bold"/>
              </a:rPr>
              <a:t> I</a:t>
            </a:r>
            <a:r>
              <a:rPr lang="en-US" sz="3200" b="1" dirty="0">
                <a:solidFill>
                  <a:srgbClr val="173F35"/>
                </a:solidFill>
                <a:latin typeface="Avenir Next Demi Bold"/>
              </a:rPr>
              <a:t>s</a:t>
            </a:r>
            <a:r>
              <a:rPr sz="3200" b="1" dirty="0">
                <a:solidFill>
                  <a:srgbClr val="173F35"/>
                </a:solidFill>
                <a:latin typeface="Avenir Next Demi Bold"/>
              </a:rPr>
              <a:t> G</a:t>
            </a:r>
            <a:r>
              <a:rPr lang="en-US" sz="3200" b="1" dirty="0">
                <a:solidFill>
                  <a:srgbClr val="173F35"/>
                </a:solidFill>
                <a:latin typeface="Avenir Next Demi Bold"/>
              </a:rPr>
              <a:t>reenwashing</a:t>
            </a:r>
            <a:r>
              <a:rPr sz="3200" b="1" dirty="0">
                <a:solidFill>
                  <a:srgbClr val="173F35"/>
                </a:solidFill>
                <a:latin typeface="Avenir Next Demi Bold"/>
              </a:rPr>
              <a:t>?</a:t>
            </a:r>
          </a:p>
        </p:txBody>
      </p:sp>
      <p:sp>
        <p:nvSpPr>
          <p:cNvPr id="6" name="Rounded Rectangle 5"/>
          <p:cNvSpPr/>
          <p:nvPr/>
        </p:nvSpPr>
        <p:spPr>
          <a:xfrm>
            <a:off x="594360" y="1936340"/>
            <a:ext cx="5760720" cy="4524993"/>
          </a:xfrm>
          <a:prstGeom prst="roundRect">
            <a:avLst/>
          </a:prstGeom>
          <a:solidFill>
            <a:srgbClr val="FFFFFF"/>
          </a:solidFill>
          <a:ln w="12700">
            <a:solidFill>
              <a:srgbClr val="B4D2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02730" y="1884825"/>
            <a:ext cx="5760720" cy="10972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029067"/>
            <a:ext cx="5486400" cy="4208844"/>
          </a:xfrm>
          <a:prstGeom prst="rect">
            <a:avLst/>
          </a:prstGeom>
          <a:noFill/>
        </p:spPr>
        <p:txBody>
          <a:bodyPr wrap="square" tIns="91440" bIns="91440">
            <a:spAutoFit/>
          </a:bodyPr>
          <a:lstStyle/>
          <a:p>
            <a:pPr>
              <a:spcAft>
                <a:spcPts val="600"/>
              </a:spcAft>
              <a:defRPr sz="1450" b="1">
                <a:solidFill>
                  <a:srgbClr val="173F35"/>
                </a:solidFill>
              </a:defRPr>
            </a:pPr>
            <a:r>
              <a:rPr sz="1400" dirty="0">
                <a:latin typeface="Avenir Next" panose="020B0503020202020204" pitchFamily="34" charset="0"/>
              </a:rPr>
              <a:t>The Eco-Facade  (What Companies Show You)</a:t>
            </a:r>
          </a:p>
          <a:p>
            <a:pPr>
              <a:spcAft>
                <a:spcPts val="500"/>
              </a:spcAft>
            </a:pPr>
            <a:r>
              <a:rPr sz="1400" b="1" dirty="0">
                <a:solidFill>
                  <a:srgbClr val="0E8A74"/>
                </a:solidFill>
                <a:latin typeface="Avenir Next" panose="020B0503020202020204" pitchFamily="34" charset="0"/>
              </a:rPr>
              <a:t>• Visual &amp; Textual Trickery: </a:t>
            </a:r>
            <a:r>
              <a:rPr sz="1400" dirty="0">
                <a:solidFill>
                  <a:srgbClr val="1B1B2F"/>
                </a:solidFill>
                <a:latin typeface="Avenir Next" panose="020B0503020202020204" pitchFamily="34" charset="0"/>
              </a:rPr>
              <a:t>Earthy brown packaging, green leaves, and unverified buzzwords ("100% Eco", "Natural", "Conscious", "Clean").</a:t>
            </a:r>
          </a:p>
          <a:p>
            <a:pPr>
              <a:spcAft>
                <a:spcPts val="500"/>
              </a:spcAft>
            </a:pPr>
            <a:r>
              <a:rPr sz="1400" b="1" dirty="0">
                <a:solidFill>
                  <a:srgbClr val="0E8A74"/>
                </a:solidFill>
                <a:latin typeface="Avenir Next" panose="020B0503020202020204" pitchFamily="34" charset="0"/>
              </a:rPr>
              <a:t>• Self-Awarded Seals: </a:t>
            </a:r>
            <a:r>
              <a:rPr sz="1400" dirty="0">
                <a:solidFill>
                  <a:srgbClr val="1B1B2F"/>
                </a:solidFill>
                <a:latin typeface="Avenir Next" panose="020B0503020202020204" pitchFamily="34" charset="0"/>
              </a:rPr>
              <a:t>Inventing custom green stamps &amp; badges that imitate official third-party certifications.</a:t>
            </a:r>
          </a:p>
          <a:p>
            <a:pPr>
              <a:spcAft>
                <a:spcPts val="500"/>
              </a:spcAft>
            </a:pPr>
            <a:r>
              <a:rPr sz="1400" b="1" dirty="0">
                <a:solidFill>
                  <a:srgbClr val="0E8A74"/>
                </a:solidFill>
                <a:latin typeface="Avenir Next" panose="020B0503020202020204" pitchFamily="34" charset="0"/>
              </a:rPr>
              <a:t>• Halo Marketing: </a:t>
            </a:r>
            <a:r>
              <a:rPr sz="1400" dirty="0">
                <a:solidFill>
                  <a:srgbClr val="1B1B2F"/>
                </a:solidFill>
                <a:latin typeface="Avenir Next" panose="020B0503020202020204" pitchFamily="34" charset="0"/>
              </a:rPr>
              <a:t>High-budget PR highlighting 1 minor eco-feature while masking 99% polluting core operations.</a:t>
            </a:r>
          </a:p>
          <a:p>
            <a:pPr>
              <a:spcBef>
                <a:spcPts val="800"/>
              </a:spcBef>
              <a:spcAft>
                <a:spcPts val="600"/>
              </a:spcAft>
              <a:defRPr sz="1450" b="1">
                <a:solidFill>
                  <a:srgbClr val="A23E2A"/>
                </a:solidFill>
              </a:defRPr>
            </a:pPr>
            <a:r>
              <a:rPr sz="1400" dirty="0">
                <a:latin typeface="Avenir Next" panose="020B0503020202020204" pitchFamily="34" charset="0"/>
              </a:rPr>
              <a:t>The Hidden Reality  (What Stays Concealed)</a:t>
            </a:r>
          </a:p>
          <a:p>
            <a:pPr>
              <a:spcAft>
                <a:spcPts val="500"/>
              </a:spcAft>
            </a:pPr>
            <a:r>
              <a:rPr sz="1400" b="1" dirty="0">
                <a:solidFill>
                  <a:srgbClr val="A23E2A"/>
                </a:solidFill>
                <a:latin typeface="Avenir Next" panose="020B0503020202020204" pitchFamily="34" charset="0"/>
              </a:rPr>
              <a:t>• Unchanged Operations: </a:t>
            </a:r>
            <a:r>
              <a:rPr sz="1400" dirty="0">
                <a:solidFill>
                  <a:srgbClr val="1B1B2F"/>
                </a:solidFill>
                <a:latin typeface="Avenir Next" panose="020B0503020202020204" pitchFamily="34" charset="0"/>
              </a:rPr>
              <a:t>Core supply chains remain heavily dependent on fossil fuels, toxic emissions, and plastic waste.</a:t>
            </a:r>
          </a:p>
          <a:p>
            <a:pPr>
              <a:spcAft>
                <a:spcPts val="500"/>
              </a:spcAft>
            </a:pPr>
            <a:r>
              <a:rPr sz="1400" b="1" dirty="0">
                <a:solidFill>
                  <a:srgbClr val="A23E2A"/>
                </a:solidFill>
                <a:latin typeface="Avenir Next" panose="020B0503020202020204" pitchFamily="34" charset="0"/>
              </a:rPr>
              <a:t>• Verification Deficit: </a:t>
            </a:r>
            <a:r>
              <a:rPr sz="1400" dirty="0">
                <a:solidFill>
                  <a:srgbClr val="1B1B2F"/>
                </a:solidFill>
                <a:latin typeface="Avenir Next" panose="020B0503020202020204" pitchFamily="34" charset="0"/>
              </a:rPr>
              <a:t>Zero scientific proof, independent third-party audits, or regulatory substantiation behind claims.</a:t>
            </a:r>
          </a:p>
          <a:p>
            <a:pPr>
              <a:spcAft>
                <a:spcPts val="500"/>
              </a:spcAft>
            </a:pPr>
            <a:r>
              <a:rPr sz="1400" b="1" dirty="0">
                <a:solidFill>
                  <a:srgbClr val="A23E2A"/>
                </a:solidFill>
                <a:latin typeface="Avenir Next" panose="020B0503020202020204" pitchFamily="34" charset="0"/>
              </a:rPr>
              <a:t>• Decoupled Governance: </a:t>
            </a:r>
            <a:r>
              <a:rPr sz="1400" dirty="0">
                <a:solidFill>
                  <a:srgbClr val="1B1B2F"/>
                </a:solidFill>
                <a:latin typeface="Avenir Next" panose="020B0503020202020204" pitchFamily="34" charset="0"/>
              </a:rPr>
              <a:t>PR &amp; marketing operate independently from board-level environmental duties and oversight.</a:t>
            </a:r>
          </a:p>
        </p:txBody>
      </p:sp>
      <p:pic>
        <p:nvPicPr>
          <p:cNvPr id="11" name="Picture 10">
            <a:extLst>
              <a:ext uri="{FF2B5EF4-FFF2-40B4-BE49-F238E27FC236}">
                <a16:creationId xmlns:a16="http://schemas.microsoft.com/office/drawing/2014/main" id="{16A96FB4-60E9-C6D9-B0FD-C931CEDC2A8D}"/>
              </a:ext>
            </a:extLst>
          </p:cNvPr>
          <p:cNvPicPr>
            <a:picLocks noChangeAspect="1"/>
          </p:cNvPicPr>
          <p:nvPr/>
        </p:nvPicPr>
        <p:blipFill>
          <a:blip r:embed="rId2"/>
          <a:stretch>
            <a:fillRect/>
          </a:stretch>
        </p:blipFill>
        <p:spPr>
          <a:xfrm>
            <a:off x="6620027" y="489397"/>
            <a:ext cx="5395961" cy="5874661"/>
          </a:xfrm>
          <a:prstGeom prst="rect">
            <a:avLst/>
          </a:prstGeom>
        </p:spPr>
      </p:pic>
      <p:sp>
        <p:nvSpPr>
          <p:cNvPr id="5" name="TextBox 4"/>
          <p:cNvSpPr txBox="1"/>
          <p:nvPr/>
        </p:nvSpPr>
        <p:spPr>
          <a:xfrm>
            <a:off x="731520" y="1041256"/>
            <a:ext cx="7717021" cy="677108"/>
          </a:xfrm>
          <a:prstGeom prst="rect">
            <a:avLst/>
          </a:prstGeom>
          <a:noFill/>
        </p:spPr>
        <p:txBody>
          <a:bodyPr wrap="square" tIns="91440" bIns="91440">
            <a:spAutoFit/>
          </a:bodyPr>
          <a:lstStyle/>
          <a:p>
            <a:pPr>
              <a:defRPr sz="2200" b="1">
                <a:solidFill>
                  <a:srgbClr val="173F35"/>
                </a:solidFill>
                <a:latin typeface="Georgia"/>
              </a:defRPr>
            </a:pPr>
            <a:r>
              <a:rPr lang="en-IN" sz="1600" dirty="0">
                <a:latin typeface="Avenir Next" panose="020B0503020202020204" pitchFamily="34" charset="0"/>
              </a:rPr>
              <a:t>Greenwashing is defined as any misleading, exaggerated, vague, or unsubstantiated environmental claim made by an entity.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31520" y="370909"/>
            <a:ext cx="10698480" cy="677108"/>
          </a:xfrm>
          <a:prstGeom prst="rect">
            <a:avLst/>
          </a:prstGeom>
          <a:noFill/>
        </p:spPr>
        <p:txBody>
          <a:bodyPr wrap="square" tIns="91440" bIns="91440">
            <a:spAutoFit/>
          </a:bodyPr>
          <a:lstStyle/>
          <a:p>
            <a:pPr>
              <a:defRPr sz="3000" b="1">
                <a:solidFill>
                  <a:srgbClr val="173F35"/>
                </a:solidFill>
              </a:defRPr>
            </a:pPr>
            <a:r>
              <a:rPr lang="en-US" sz="3200" b="1" dirty="0">
                <a:solidFill>
                  <a:srgbClr val="173F35"/>
                </a:solidFill>
                <a:latin typeface="Avenir Next Demi Bold"/>
              </a:rPr>
              <a:t>Why Greenwashing Matters To Us ?</a:t>
            </a:r>
            <a:endParaRPr sz="3200" b="1" dirty="0">
              <a:solidFill>
                <a:srgbClr val="173F35"/>
              </a:solidFill>
              <a:latin typeface="Avenir Next Demi Bold"/>
            </a:endParaRPr>
          </a:p>
        </p:txBody>
      </p:sp>
      <p:sp>
        <p:nvSpPr>
          <p:cNvPr id="5" name="TextBox 4"/>
          <p:cNvSpPr txBox="1"/>
          <p:nvPr/>
        </p:nvSpPr>
        <p:spPr>
          <a:xfrm>
            <a:off x="731520" y="1067013"/>
            <a:ext cx="10698480" cy="415498"/>
          </a:xfrm>
          <a:prstGeom prst="rect">
            <a:avLst/>
          </a:prstGeom>
          <a:noFill/>
        </p:spPr>
        <p:txBody>
          <a:bodyPr wrap="square" tIns="91440" bIns="91440">
            <a:spAutoFit/>
          </a:bodyPr>
          <a:lstStyle/>
          <a:p>
            <a:pPr>
              <a:defRPr sz="1350" i="1">
                <a:solidFill>
                  <a:srgbClr val="505A55"/>
                </a:solidFill>
              </a:defRPr>
            </a:pPr>
            <a:r>
              <a:rPr sz="1500" b="1" dirty="0"/>
              <a:t>Greenwashing is not an abstract corporate crime—it directly exploits </a:t>
            </a:r>
            <a:r>
              <a:rPr lang="en-US" sz="1500" b="1" dirty="0"/>
              <a:t>our</a:t>
            </a:r>
            <a:r>
              <a:rPr sz="1500" b="1" dirty="0"/>
              <a:t> personal goodwill, our wallet, and our family's future.</a:t>
            </a:r>
          </a:p>
        </p:txBody>
      </p:sp>
      <p:sp>
        <p:nvSpPr>
          <p:cNvPr id="6" name="Rounded Rectangle 5"/>
          <p:cNvSpPr/>
          <p:nvPr/>
        </p:nvSpPr>
        <p:spPr>
          <a:xfrm>
            <a:off x="731520" y="1737360"/>
            <a:ext cx="3383280" cy="3474720"/>
          </a:xfrm>
          <a:prstGeom prst="roundRect">
            <a:avLst/>
          </a:prstGeom>
          <a:solidFill>
            <a:srgbClr val="FFFFFF"/>
          </a:solidFill>
          <a:ln w="12700">
            <a:solidFill>
              <a:srgbClr val="B4D2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737360"/>
            <a:ext cx="3383280" cy="109728"/>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920240"/>
            <a:ext cx="3108960" cy="3000821"/>
          </a:xfrm>
          <a:prstGeom prst="rect">
            <a:avLst/>
          </a:prstGeom>
          <a:noFill/>
        </p:spPr>
        <p:txBody>
          <a:bodyPr wrap="square" tIns="91440" bIns="91440">
            <a:spAutoFit/>
          </a:bodyPr>
          <a:lstStyle/>
          <a:p>
            <a:pPr>
              <a:spcAft>
                <a:spcPts val="200"/>
              </a:spcAft>
              <a:defRPr sz="1700" b="1">
                <a:solidFill>
                  <a:srgbClr val="0E8A74"/>
                </a:solidFill>
              </a:defRPr>
            </a:pPr>
            <a:r>
              <a:rPr lang="en-US" dirty="0">
                <a:latin typeface="Avenir Next" panose="020B0503020202020204" pitchFamily="34" charset="0"/>
              </a:rPr>
              <a:t>OUR</a:t>
            </a:r>
            <a:r>
              <a:rPr dirty="0">
                <a:latin typeface="Avenir Next" panose="020B0503020202020204" pitchFamily="34" charset="0"/>
              </a:rPr>
              <a:t> WALLET</a:t>
            </a:r>
          </a:p>
          <a:p>
            <a:pPr>
              <a:spcAft>
                <a:spcPts val="1000"/>
              </a:spcAft>
              <a:defRPr sz="1200" b="1" i="1">
                <a:solidFill>
                  <a:srgbClr val="505A55"/>
                </a:solidFill>
              </a:defRPr>
            </a:pPr>
            <a:r>
              <a:rPr sz="1600" dirty="0">
                <a:latin typeface="Avenir Next" panose="020B0503020202020204" pitchFamily="34" charset="0"/>
              </a:rPr>
              <a:t>"The Premium </a:t>
            </a:r>
            <a:r>
              <a:rPr lang="en-US" sz="1600" dirty="0">
                <a:latin typeface="Avenir Next" panose="020B0503020202020204" pitchFamily="34" charset="0"/>
              </a:rPr>
              <a:t>we</a:t>
            </a:r>
            <a:r>
              <a:rPr sz="1600" dirty="0">
                <a:latin typeface="Avenir Next" panose="020B0503020202020204" pitchFamily="34" charset="0"/>
              </a:rPr>
              <a:t> Pay"</a:t>
            </a:r>
          </a:p>
          <a:p>
            <a:pPr>
              <a:defRPr sz="1100">
                <a:solidFill>
                  <a:srgbClr val="1B1B2F"/>
                </a:solidFill>
              </a:defRPr>
            </a:pPr>
            <a:r>
              <a:rPr sz="1400" dirty="0">
                <a:latin typeface="Avenir Next" panose="020B0503020202020204" pitchFamily="34" charset="0"/>
              </a:rPr>
              <a:t>When </a:t>
            </a:r>
            <a:r>
              <a:rPr lang="en-US" sz="1400" dirty="0">
                <a:latin typeface="Avenir Next" panose="020B0503020202020204" pitchFamily="34" charset="0"/>
              </a:rPr>
              <a:t>we</a:t>
            </a:r>
            <a:r>
              <a:rPr sz="1400" dirty="0">
                <a:latin typeface="Avenir Next" panose="020B0503020202020204" pitchFamily="34" charset="0"/>
              </a:rPr>
              <a:t> deliberately choose the 'eco-friendly' or 'sustainable' option on store shelves and pay extra out of </a:t>
            </a:r>
            <a:r>
              <a:rPr lang="en-US" sz="1400" dirty="0">
                <a:latin typeface="Avenir Next" panose="020B0503020202020204" pitchFamily="34" charset="0"/>
              </a:rPr>
              <a:t>o</a:t>
            </a:r>
            <a:r>
              <a:rPr sz="1400" dirty="0">
                <a:latin typeface="Avenir Next" panose="020B0503020202020204" pitchFamily="34" charset="0"/>
              </a:rPr>
              <a:t>ur own pocket, </a:t>
            </a:r>
            <a:r>
              <a:rPr lang="en-US" sz="1400" dirty="0">
                <a:latin typeface="Avenir Next" panose="020B0503020202020204" pitchFamily="34" charset="0"/>
              </a:rPr>
              <a:t>we</a:t>
            </a:r>
            <a:r>
              <a:rPr sz="1400" dirty="0">
                <a:latin typeface="Avenir Next" panose="020B0503020202020204" pitchFamily="34" charset="0"/>
              </a:rPr>
              <a:t> act with genuine goodwill.</a:t>
            </a:r>
            <a:br>
              <a:rPr sz="1400" dirty="0">
                <a:latin typeface="Avenir Next" panose="020B0503020202020204" pitchFamily="34" charset="0"/>
              </a:rPr>
            </a:br>
            <a:br>
              <a:rPr sz="1400" dirty="0">
                <a:latin typeface="Avenir Next" panose="020B0503020202020204" pitchFamily="34" charset="0"/>
              </a:rPr>
            </a:br>
            <a:r>
              <a:rPr sz="1400" dirty="0">
                <a:latin typeface="Avenir Next" panose="020B0503020202020204" pitchFamily="34" charset="0"/>
              </a:rPr>
              <a:t>Yet, our hard-earned money often ends up funding high-budget PR campaigns rather than any real environmental progress.</a:t>
            </a:r>
          </a:p>
        </p:txBody>
      </p:sp>
      <p:sp>
        <p:nvSpPr>
          <p:cNvPr id="9" name="Rounded Rectangle 8"/>
          <p:cNvSpPr/>
          <p:nvPr/>
        </p:nvSpPr>
        <p:spPr>
          <a:xfrm>
            <a:off x="4389120" y="1737360"/>
            <a:ext cx="3383280" cy="3474720"/>
          </a:xfrm>
          <a:prstGeom prst="roundRect">
            <a:avLst/>
          </a:prstGeom>
          <a:solidFill>
            <a:srgbClr val="FFFFFF"/>
          </a:solidFill>
          <a:ln w="12700">
            <a:solidFill>
              <a:srgbClr val="DC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89120" y="1737360"/>
            <a:ext cx="3383280" cy="10972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26280" y="1920240"/>
            <a:ext cx="3108960" cy="3216265"/>
          </a:xfrm>
          <a:prstGeom prst="rect">
            <a:avLst/>
          </a:prstGeom>
          <a:noFill/>
        </p:spPr>
        <p:txBody>
          <a:bodyPr wrap="square" tIns="91440" bIns="91440">
            <a:spAutoFit/>
          </a:bodyPr>
          <a:lstStyle/>
          <a:p>
            <a:pPr>
              <a:spcAft>
                <a:spcPts val="200"/>
              </a:spcAft>
              <a:defRPr sz="1700" b="1">
                <a:solidFill>
                  <a:srgbClr val="173F35"/>
                </a:solidFill>
              </a:defRPr>
            </a:pPr>
            <a:r>
              <a:rPr lang="en-US" dirty="0">
                <a:latin typeface="Avenir Next" panose="020B0503020202020204" pitchFamily="34" charset="0"/>
              </a:rPr>
              <a:t>OUR</a:t>
            </a:r>
            <a:r>
              <a:rPr dirty="0">
                <a:latin typeface="Avenir Next" panose="020B0503020202020204" pitchFamily="34" charset="0"/>
              </a:rPr>
              <a:t> CHOICE</a:t>
            </a:r>
          </a:p>
          <a:p>
            <a:pPr>
              <a:spcAft>
                <a:spcPts val="1000"/>
              </a:spcAft>
              <a:defRPr sz="1200" b="1" i="1">
                <a:solidFill>
                  <a:srgbClr val="505A55"/>
                </a:solidFill>
              </a:defRPr>
            </a:pPr>
            <a:r>
              <a:rPr lang="en-IN" sz="1600" dirty="0">
                <a:latin typeface="Avenir Next" panose="020B0503020202020204" pitchFamily="34" charset="0"/>
              </a:rPr>
              <a:t>"The Illusion of Choice"</a:t>
            </a:r>
          </a:p>
          <a:p>
            <a:pPr>
              <a:defRPr sz="1100">
                <a:solidFill>
                  <a:srgbClr val="1B1B2F"/>
                </a:solidFill>
              </a:defRPr>
            </a:pPr>
            <a:r>
              <a:rPr lang="en-US" sz="1400" dirty="0">
                <a:latin typeface="Avenir Next" panose="020B0503020202020204" pitchFamily="34" charset="0"/>
              </a:rPr>
              <a:t>We</a:t>
            </a:r>
            <a:r>
              <a:rPr sz="1400" dirty="0">
                <a:latin typeface="Avenir Next" panose="020B0503020202020204" pitchFamily="34" charset="0"/>
              </a:rPr>
              <a:t> try our best in daily life—separating waste, carrying cloth bags, and choosing conscious brands.</a:t>
            </a:r>
            <a:br>
              <a:rPr sz="1400" dirty="0">
                <a:latin typeface="Avenir Next" panose="020B0503020202020204" pitchFamily="34" charset="0"/>
              </a:rPr>
            </a:br>
            <a:br>
              <a:rPr sz="1400" dirty="0">
                <a:latin typeface="Avenir Next" panose="020B0503020202020204" pitchFamily="34" charset="0"/>
              </a:rPr>
            </a:br>
            <a:r>
              <a:rPr sz="1400" dirty="0">
                <a:latin typeface="Avenir Next" panose="020B0503020202020204" pitchFamily="34" charset="0"/>
              </a:rPr>
              <a:t>Deceptive corporate claims undermine our personal efforts, turning our ethical lifestyle choices into zero-impact gestures while industrial pollution continues unchecked.</a:t>
            </a:r>
          </a:p>
        </p:txBody>
      </p:sp>
      <p:sp>
        <p:nvSpPr>
          <p:cNvPr id="12" name="Rounded Rectangle 11"/>
          <p:cNvSpPr/>
          <p:nvPr/>
        </p:nvSpPr>
        <p:spPr>
          <a:xfrm>
            <a:off x="8046720" y="1737360"/>
            <a:ext cx="3383280" cy="3474720"/>
          </a:xfrm>
          <a:prstGeom prst="roundRect">
            <a:avLst/>
          </a:prstGeom>
          <a:solidFill>
            <a:srgbClr val="FFFFFF"/>
          </a:solidFill>
          <a:ln w="12700">
            <a:solidFill>
              <a:srgbClr val="E6BE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46720" y="1737360"/>
            <a:ext cx="3383280" cy="109728"/>
          </a:xfrm>
          <a:prstGeom prst="rect">
            <a:avLst/>
          </a:prstGeom>
          <a:solidFill>
            <a:srgbClr val="A2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83880" y="1920240"/>
            <a:ext cx="3108960" cy="2841804"/>
          </a:xfrm>
          <a:prstGeom prst="rect">
            <a:avLst/>
          </a:prstGeom>
          <a:noFill/>
        </p:spPr>
        <p:txBody>
          <a:bodyPr wrap="square" tIns="91440" bIns="91440">
            <a:spAutoFit/>
          </a:bodyPr>
          <a:lstStyle/>
          <a:p>
            <a:pPr>
              <a:spcAft>
                <a:spcPts val="200"/>
              </a:spcAft>
              <a:defRPr sz="1700" b="1">
                <a:solidFill>
                  <a:srgbClr val="A23E2A"/>
                </a:solidFill>
              </a:defRPr>
            </a:pPr>
            <a:r>
              <a:rPr dirty="0">
                <a:latin typeface="Avenir Next" panose="020B0503020202020204" pitchFamily="34" charset="0"/>
              </a:rPr>
              <a:t>OUR FUTURE</a:t>
            </a:r>
          </a:p>
          <a:p>
            <a:pPr>
              <a:defRPr sz="1100">
                <a:solidFill>
                  <a:srgbClr val="1B1B2F"/>
                </a:solidFill>
              </a:defRPr>
            </a:pPr>
            <a:endParaRPr lang="en-US" sz="1400" dirty="0">
              <a:latin typeface="Avenir Next" panose="020B0503020202020204" pitchFamily="34" charset="0"/>
            </a:endParaRPr>
          </a:p>
          <a:p>
            <a:pPr>
              <a:defRPr sz="1100">
                <a:solidFill>
                  <a:srgbClr val="1B1B2F"/>
                </a:solidFill>
              </a:defRPr>
            </a:pPr>
            <a:r>
              <a:rPr sz="1400" dirty="0">
                <a:latin typeface="Avenir Next" panose="020B0503020202020204" pitchFamily="34" charset="0"/>
              </a:rPr>
              <a:t>Corporate 'Net-Zero by 2050' slogans create a comforting illusion that someone else is solving the climate crisis.</a:t>
            </a:r>
            <a:br>
              <a:rPr sz="1400" dirty="0">
                <a:latin typeface="Avenir Next" panose="020B0503020202020204" pitchFamily="34" charset="0"/>
              </a:rPr>
            </a:br>
            <a:br>
              <a:rPr sz="1400" dirty="0">
                <a:latin typeface="Avenir Next" panose="020B0503020202020204" pitchFamily="34" charset="0"/>
              </a:rPr>
            </a:br>
            <a:r>
              <a:rPr sz="1400" dirty="0">
                <a:latin typeface="Avenir Next" panose="020B0503020202020204" pitchFamily="34" charset="0"/>
              </a:rPr>
              <a:t>This false security lulls society into inaction, while extreme weather, toxic microplastics, and environmental loss directly </a:t>
            </a:r>
            <a:r>
              <a:rPr lang="en-US" sz="1400" dirty="0">
                <a:latin typeface="Avenir Next" panose="020B0503020202020204" pitchFamily="34" charset="0"/>
              </a:rPr>
              <a:t>affect our</a:t>
            </a:r>
            <a:r>
              <a:rPr sz="1400" dirty="0">
                <a:latin typeface="Avenir Next" panose="020B0503020202020204" pitchFamily="34" charset="0"/>
              </a:rPr>
              <a:t> famil</a:t>
            </a:r>
            <a:r>
              <a:rPr lang="en-US" sz="1400" dirty="0">
                <a:latin typeface="Avenir Next" panose="020B0503020202020204" pitchFamily="34" charset="0"/>
              </a:rPr>
              <a:t>ies and society</a:t>
            </a:r>
            <a:r>
              <a:rPr sz="1400" dirty="0">
                <a:latin typeface="Avenir Next" panose="020B0503020202020204" pitchFamily="34" charset="0"/>
              </a:rPr>
              <a:t>.</a:t>
            </a:r>
          </a:p>
        </p:txBody>
      </p:sp>
      <p:sp>
        <p:nvSpPr>
          <p:cNvPr id="15" name="Rounded Rectangle 14"/>
          <p:cNvSpPr/>
          <p:nvPr/>
        </p:nvSpPr>
        <p:spPr>
          <a:xfrm>
            <a:off x="731520" y="5394960"/>
            <a:ext cx="10698480" cy="1005840"/>
          </a:xfrm>
          <a:prstGeom prst="round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wrap="square" lIns="274320" tIns="137160" rIns="274320" rtlCol="0" anchor="ctr"/>
          <a:lstStyle/>
          <a:p>
            <a:pPr algn="ctr">
              <a:spcAft>
                <a:spcPts val="400"/>
              </a:spcAft>
              <a:defRPr sz="1100" b="1">
                <a:solidFill>
                  <a:srgbClr val="F5C542"/>
                </a:solidFill>
              </a:defRPr>
            </a:pPr>
            <a:r>
              <a:rPr dirty="0"/>
              <a:t>THE </a:t>
            </a:r>
            <a:r>
              <a:rPr lang="en-US" dirty="0"/>
              <a:t>PROBLEM</a:t>
            </a:r>
            <a:r>
              <a:rPr dirty="0"/>
              <a:t> </a:t>
            </a:r>
            <a:r>
              <a:rPr lang="en-US" dirty="0"/>
              <a:t>IN FRONT OF</a:t>
            </a:r>
            <a:r>
              <a:rPr dirty="0"/>
              <a:t> US:</a:t>
            </a:r>
          </a:p>
          <a:p>
            <a:pPr algn="ctr">
              <a:defRPr sz="1500" b="1" i="1">
                <a:solidFill>
                  <a:srgbClr val="FFFFFF"/>
                </a:solidFill>
              </a:defRPr>
            </a:pPr>
            <a:r>
              <a:rPr dirty="0"/>
              <a:t>“When every label claims to be 'green', how do </a:t>
            </a:r>
            <a:r>
              <a:rPr lang="en-US" dirty="0"/>
              <a:t>we</a:t>
            </a:r>
            <a:r>
              <a:rPr dirty="0"/>
              <a:t> protect our wallet, our trust and our family's future?”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57784" y="347472"/>
            <a:ext cx="10972800" cy="584775"/>
          </a:xfrm>
          <a:prstGeom prst="rect">
            <a:avLst/>
          </a:prstGeom>
          <a:noFill/>
        </p:spPr>
        <p:txBody>
          <a:bodyPr wrap="square">
            <a:spAutoFit/>
          </a:bodyPr>
          <a:lstStyle/>
          <a:p>
            <a:pPr>
              <a:spcAft>
                <a:spcPts val="600"/>
              </a:spcAft>
              <a:defRPr sz="3000" b="1">
                <a:solidFill>
                  <a:srgbClr val="1B1B2F"/>
                </a:solidFill>
                <a:latin typeface="Calibri Light"/>
              </a:defRPr>
            </a:pPr>
            <a:r>
              <a:rPr sz="3200" b="1" dirty="0">
                <a:solidFill>
                  <a:srgbClr val="173F35"/>
                </a:solidFill>
                <a:latin typeface="Avenir Next Demi Bold"/>
              </a:rPr>
              <a:t>How Greenwashing evolved and why it matters?</a:t>
            </a:r>
          </a:p>
        </p:txBody>
      </p:sp>
      <p:sp>
        <p:nvSpPr>
          <p:cNvPr id="5" name="Rounded Rectangle 4"/>
          <p:cNvSpPr/>
          <p:nvPr/>
        </p:nvSpPr>
        <p:spPr>
          <a:xfrm>
            <a:off x="557784" y="1056067"/>
            <a:ext cx="3557016" cy="4043967"/>
          </a:xfrm>
          <a:prstGeom prst="roundRect">
            <a:avLst/>
          </a:prstGeom>
          <a:solidFill>
            <a:srgbClr val="FFFDF8"/>
          </a:solidFill>
          <a:ln w="15240">
            <a:solidFill>
              <a:srgbClr val="D6C9B8"/>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defRPr sz="1400" b="1">
                <a:solidFill>
                  <a:srgbClr val="173F35"/>
                </a:solidFill>
                <a:latin typeface="Calibri"/>
              </a:defRPr>
            </a:pPr>
            <a:r>
              <a:rPr sz="1400" dirty="0">
                <a:latin typeface="Avenir Next" panose="020B0503020202020204" pitchFamily="34" charset="0"/>
              </a:rPr>
              <a:t>1. Definition &amp; Mechanism</a:t>
            </a:r>
          </a:p>
          <a:p>
            <a:pPr>
              <a:spcBef>
                <a:spcPts val="800"/>
              </a:spcBef>
            </a:pPr>
            <a:r>
              <a:rPr sz="1200" b="1" dirty="0">
                <a:solidFill>
                  <a:srgbClr val="1A1A1A"/>
                </a:solidFill>
                <a:latin typeface="Avenir Next" panose="020B0503020202020204" pitchFamily="34" charset="0"/>
              </a:rPr>
              <a:t>• CCPA 2024 Definition: </a:t>
            </a:r>
            <a:r>
              <a:rPr sz="1100" dirty="0">
                <a:solidFill>
                  <a:srgbClr val="4A4A4A"/>
                </a:solidFill>
                <a:latin typeface="Avenir Next" panose="020B0503020202020204" pitchFamily="34" charset="0"/>
              </a:rPr>
              <a:t>India’s CCPA Guidelines define greenwashing as "any deceptive or misleading practice" involving: (</a:t>
            </a:r>
            <a:r>
              <a:rPr sz="1100" dirty="0" err="1">
                <a:solidFill>
                  <a:srgbClr val="4A4A4A"/>
                </a:solidFill>
                <a:latin typeface="Avenir Next" panose="020B0503020202020204" pitchFamily="34" charset="0"/>
              </a:rPr>
              <a:t>i</a:t>
            </a:r>
            <a:r>
              <a:rPr sz="1100" dirty="0">
                <a:solidFill>
                  <a:srgbClr val="4A4A4A"/>
                </a:solidFill>
                <a:latin typeface="Avenir Next" panose="020B0503020202020204" pitchFamily="34" charset="0"/>
              </a:rPr>
              <a:t>) concealing or omitting info; (ii) making vague, false, or unsubstantiated claims; or (iii) using misleading words/imagery emphasizing positive aspects while downplaying harmful attributes.</a:t>
            </a:r>
          </a:p>
          <a:p>
            <a:pPr>
              <a:spcBef>
                <a:spcPts val="800"/>
              </a:spcBef>
            </a:pPr>
            <a:r>
              <a:rPr sz="1200" b="1" dirty="0">
                <a:solidFill>
                  <a:srgbClr val="1A1A1A"/>
                </a:solidFill>
                <a:latin typeface="Avenir Next" panose="020B0503020202020204" pitchFamily="34" charset="0"/>
              </a:rPr>
              <a:t>• International &amp; ESMA Scope: </a:t>
            </a:r>
            <a:r>
              <a:rPr sz="1100" dirty="0">
                <a:solidFill>
                  <a:srgbClr val="4A4A4A"/>
                </a:solidFill>
                <a:latin typeface="Avenir Next" panose="020B0503020202020204" pitchFamily="34" charset="0"/>
              </a:rPr>
              <a:t>ESMA &amp; Greenpeace view it as sustainability communications that fail to fairly reflect the true environmental profile of an entity, product, or financial service.</a:t>
            </a:r>
          </a:p>
          <a:p>
            <a:pPr>
              <a:spcBef>
                <a:spcPts val="800"/>
              </a:spcBef>
            </a:pPr>
            <a:r>
              <a:rPr sz="1200" b="1" dirty="0">
                <a:solidFill>
                  <a:srgbClr val="1A1A1A"/>
                </a:solidFill>
                <a:latin typeface="Avenir Next" panose="020B0503020202020204" pitchFamily="34" charset="0"/>
              </a:rPr>
              <a:t>• Mechanism — Decoupling: </a:t>
            </a:r>
            <a:r>
              <a:rPr sz="1100" dirty="0">
                <a:solidFill>
                  <a:srgbClr val="4A4A4A"/>
                </a:solidFill>
                <a:latin typeface="Avenir Next" panose="020B0503020202020204" pitchFamily="34" charset="0"/>
              </a:rPr>
              <a:t>Root mechanism: Organizational Decoupling—the execution–claim gap where public green commitments &amp; PR operate detached from operational realities.</a:t>
            </a:r>
          </a:p>
        </p:txBody>
      </p:sp>
      <p:sp>
        <p:nvSpPr>
          <p:cNvPr id="6" name="Rounded Rectangle 5"/>
          <p:cNvSpPr/>
          <p:nvPr/>
        </p:nvSpPr>
        <p:spPr>
          <a:xfrm>
            <a:off x="4315968" y="1056067"/>
            <a:ext cx="3557016" cy="4043967"/>
          </a:xfrm>
          <a:prstGeom prst="roundRect">
            <a:avLst/>
          </a:prstGeom>
          <a:solidFill>
            <a:srgbClr val="EEF4ED"/>
          </a:solidFill>
          <a:ln w="15240">
            <a:solidFill>
              <a:srgbClr val="9EB89D"/>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defRPr sz="1400" b="1">
                <a:solidFill>
                  <a:srgbClr val="173F35"/>
                </a:solidFill>
                <a:latin typeface="Calibri"/>
              </a:defRPr>
            </a:pPr>
            <a:r>
              <a:rPr sz="1600" dirty="0">
                <a:latin typeface="Avenir Next" panose="020B0503020202020204" pitchFamily="34" charset="0"/>
              </a:rPr>
              <a:t>2. Evolutionary Typology</a:t>
            </a:r>
          </a:p>
          <a:p>
            <a:pPr>
              <a:spcBef>
                <a:spcPts val="800"/>
              </a:spcBef>
            </a:pPr>
            <a:r>
              <a:rPr sz="1400" b="1" dirty="0">
                <a:solidFill>
                  <a:srgbClr val="1A1A1A"/>
                </a:solidFill>
                <a:latin typeface="Avenir Next" panose="020B0503020202020204" pitchFamily="34" charset="0"/>
              </a:rPr>
              <a:t>• Product-Level (1986–): </a:t>
            </a:r>
            <a:r>
              <a:rPr sz="1200" dirty="0" err="1">
                <a:solidFill>
                  <a:srgbClr val="4A4A4A"/>
                </a:solidFill>
                <a:latin typeface="Avenir Next" panose="020B0503020202020204" pitchFamily="34" charset="0"/>
              </a:rPr>
              <a:t>TerraChoice</a:t>
            </a:r>
            <a:r>
              <a:rPr sz="1200" dirty="0">
                <a:solidFill>
                  <a:srgbClr val="4A4A4A"/>
                </a:solidFill>
                <a:latin typeface="Avenir Next" panose="020B0503020202020204" pitchFamily="34" charset="0"/>
              </a:rPr>
              <a:t> "7 Sins": vagueness, hidden trade-offs, false seals, irrelevance, lesser of two evils, plus nature imagery &amp; color trickery.</a:t>
            </a:r>
          </a:p>
          <a:p>
            <a:pPr>
              <a:spcBef>
                <a:spcPts val="800"/>
              </a:spcBef>
            </a:pPr>
            <a:r>
              <a:rPr sz="1400" b="1" dirty="0">
                <a:solidFill>
                  <a:srgbClr val="1A1A1A"/>
                </a:solidFill>
                <a:latin typeface="Avenir Next" panose="020B0503020202020204" pitchFamily="34" charset="0"/>
              </a:rPr>
              <a:t>• Corporate-Level (1990s–): </a:t>
            </a:r>
            <a:r>
              <a:rPr sz="1200" dirty="0">
                <a:solidFill>
                  <a:srgbClr val="4A4A4A"/>
                </a:solidFill>
                <a:latin typeface="Avenir Next" panose="020B0503020202020204" pitchFamily="34" charset="0"/>
              </a:rPr>
              <a:t>Organizational image management &amp; halo marketing deflecting attention from core polluting operations.</a:t>
            </a:r>
          </a:p>
          <a:p>
            <a:pPr>
              <a:spcBef>
                <a:spcPts val="800"/>
              </a:spcBef>
            </a:pPr>
            <a:r>
              <a:rPr sz="1400" b="1" dirty="0">
                <a:solidFill>
                  <a:srgbClr val="1A1A1A"/>
                </a:solidFill>
                <a:latin typeface="Avenir Next" panose="020B0503020202020204" pitchFamily="34" charset="0"/>
              </a:rPr>
              <a:t>• ESG &amp; Financial-Level (Today): </a:t>
            </a:r>
            <a:r>
              <a:rPr sz="1200" dirty="0" err="1">
                <a:solidFill>
                  <a:srgbClr val="4A4A4A"/>
                </a:solidFill>
                <a:latin typeface="Avenir Next" panose="020B0503020202020204" pitchFamily="34" charset="0"/>
              </a:rPr>
              <a:t>Crosswashing</a:t>
            </a:r>
            <a:r>
              <a:rPr sz="1200" dirty="0">
                <a:solidFill>
                  <a:srgbClr val="4A4A4A"/>
                </a:solidFill>
                <a:latin typeface="Avenir Next" panose="020B0503020202020204" pitchFamily="34" charset="0"/>
              </a:rPr>
              <a:t> (selective ESG PR), Reporting Manipulation (omitting Scope 3 value-chain emissions), &amp; </a:t>
            </a:r>
            <a:r>
              <a:rPr sz="1200" dirty="0" err="1">
                <a:solidFill>
                  <a:srgbClr val="4A4A4A"/>
                </a:solidFill>
                <a:latin typeface="Avenir Next" panose="020B0503020202020204" pitchFamily="34" charset="0"/>
              </a:rPr>
              <a:t>Futurewashing</a:t>
            </a:r>
            <a:r>
              <a:rPr sz="1200" dirty="0">
                <a:solidFill>
                  <a:srgbClr val="4A4A4A"/>
                </a:solidFill>
                <a:latin typeface="Avenir Next" panose="020B0503020202020204" pitchFamily="34" charset="0"/>
              </a:rPr>
              <a:t> (unverified net-zero pledges lacking interim milestones).</a:t>
            </a:r>
          </a:p>
        </p:txBody>
      </p:sp>
      <p:sp>
        <p:nvSpPr>
          <p:cNvPr id="7" name="Rounded Rectangle 6"/>
          <p:cNvSpPr/>
          <p:nvPr/>
        </p:nvSpPr>
        <p:spPr>
          <a:xfrm>
            <a:off x="8074152" y="1056067"/>
            <a:ext cx="3557016" cy="4043967"/>
          </a:xfrm>
          <a:prstGeom prst="roundRect">
            <a:avLst/>
          </a:prstGeom>
          <a:solidFill>
            <a:srgbClr val="FDF6EE"/>
          </a:solidFill>
          <a:ln w="15240">
            <a:solidFill>
              <a:srgbClr val="E5C494"/>
            </a:solidFill>
          </a:ln>
        </p:spPr>
        <p:style>
          <a:lnRef idx="1">
            <a:schemeClr val="accent1"/>
          </a:lnRef>
          <a:fillRef idx="3">
            <a:schemeClr val="accent1"/>
          </a:fillRef>
          <a:effectRef idx="2">
            <a:schemeClr val="accent1"/>
          </a:effectRef>
          <a:fontRef idx="minor">
            <a:schemeClr val="lt1"/>
          </a:fontRef>
        </p:style>
        <p:txBody>
          <a:bodyPr wrap="square" lIns="164592" tIns="164592" rIns="164592" bIns="164592" rtlCol="0" anchor="ctr"/>
          <a:lstStyle/>
          <a:p>
            <a:pPr algn="ctr">
              <a:defRPr sz="1400" b="1">
                <a:solidFill>
                  <a:srgbClr val="173F35"/>
                </a:solidFill>
                <a:latin typeface="Calibri"/>
              </a:defRPr>
            </a:pPr>
            <a:r>
              <a:rPr sz="1600" dirty="0">
                <a:latin typeface="Avenir Next" panose="020B0503020202020204" pitchFamily="34" charset="0"/>
              </a:rPr>
              <a:t>3. Multi-Dimensional Harms</a:t>
            </a:r>
          </a:p>
          <a:p>
            <a:pPr>
              <a:spcBef>
                <a:spcPts val="800"/>
              </a:spcBef>
            </a:pPr>
            <a:r>
              <a:rPr sz="1400" b="1" dirty="0">
                <a:solidFill>
                  <a:srgbClr val="1A1A1A"/>
                </a:solidFill>
                <a:latin typeface="Avenir Next" panose="020B0503020202020204" pitchFamily="34" charset="0"/>
              </a:rPr>
              <a:t>• Climate &amp; Environmental: </a:t>
            </a:r>
            <a:r>
              <a:rPr sz="1200" dirty="0">
                <a:solidFill>
                  <a:srgbClr val="4A4A4A"/>
                </a:solidFill>
                <a:latin typeface="Avenir Next" panose="020B0503020202020204" pitchFamily="34" charset="0"/>
              </a:rPr>
              <a:t>Delays real decarbonization, creates false comfort, and keeps high-emission business models alive under transition language.</a:t>
            </a:r>
          </a:p>
          <a:p>
            <a:pPr>
              <a:spcBef>
                <a:spcPts val="800"/>
              </a:spcBef>
            </a:pPr>
            <a:r>
              <a:rPr sz="1400" b="1" dirty="0">
                <a:solidFill>
                  <a:srgbClr val="1A1A1A"/>
                </a:solidFill>
                <a:latin typeface="Avenir Next" panose="020B0503020202020204" pitchFamily="34" charset="0"/>
              </a:rPr>
              <a:t>• Economic &amp; Financial: </a:t>
            </a:r>
            <a:r>
              <a:rPr sz="1200" dirty="0">
                <a:solidFill>
                  <a:srgbClr val="4A4A4A"/>
                </a:solidFill>
                <a:latin typeface="Avenir Next" panose="020B0503020202020204" pitchFamily="34" charset="0"/>
              </a:rPr>
              <a:t>Distorts capital allocation in ESG debt ($55.9B in India) &amp; causes Gresham’s Law in ESG where bad claims drive out genuine green capital.</a:t>
            </a:r>
          </a:p>
          <a:p>
            <a:pPr>
              <a:spcBef>
                <a:spcPts val="800"/>
              </a:spcBef>
            </a:pPr>
            <a:r>
              <a:rPr sz="1400" b="1" dirty="0">
                <a:solidFill>
                  <a:srgbClr val="1A1A1A"/>
                </a:solidFill>
                <a:latin typeface="Avenir Next" panose="020B0503020202020204" pitchFamily="34" charset="0"/>
              </a:rPr>
              <a:t>• Penalty Arbitrage &amp; Trust: </a:t>
            </a:r>
            <a:r>
              <a:rPr sz="1200" dirty="0">
                <a:solidFill>
                  <a:srgbClr val="4A4A4A"/>
                </a:solidFill>
                <a:latin typeface="Avenir Next" panose="020B0503020202020204" pitchFamily="34" charset="0"/>
              </a:rPr>
              <a:t>Low fixed fines make greenwashing a cheap business strategy; erodes investor/consumer trust &amp; induces green fatigue.</a:t>
            </a:r>
          </a:p>
        </p:txBody>
      </p:sp>
      <p:sp>
        <p:nvSpPr>
          <p:cNvPr id="8" name="TextBox 7"/>
          <p:cNvSpPr txBox="1"/>
          <p:nvPr/>
        </p:nvSpPr>
        <p:spPr>
          <a:xfrm>
            <a:off x="557784" y="6432741"/>
            <a:ext cx="1540806" cy="261610"/>
          </a:xfrm>
          <a:prstGeom prst="rect">
            <a:avLst/>
          </a:prstGeom>
          <a:noFill/>
        </p:spPr>
        <p:txBody>
          <a:bodyPr wrap="none">
            <a:spAutoFit/>
          </a:bodyPr>
          <a:lstStyle/>
          <a:p>
            <a:pPr>
              <a:defRPr sz="950">
                <a:solidFill>
                  <a:srgbClr val="4A4A4A"/>
                </a:solidFill>
                <a:latin typeface="Calibri"/>
              </a:defRPr>
            </a:pPr>
            <a:r>
              <a:rPr sz="1100" dirty="0"/>
              <a:t>Source base: Chapter </a:t>
            </a:r>
            <a:r>
              <a:rPr lang="en-US" sz="1100" dirty="0"/>
              <a:t>2.</a:t>
            </a:r>
            <a:endParaRPr sz="1100" dirty="0"/>
          </a:p>
        </p:txBody>
      </p:sp>
      <p:sp>
        <p:nvSpPr>
          <p:cNvPr id="9" name="Rounded Rectangle 8">
            <a:extLst>
              <a:ext uri="{FF2B5EF4-FFF2-40B4-BE49-F238E27FC236}">
                <a16:creationId xmlns:a16="http://schemas.microsoft.com/office/drawing/2014/main" id="{3828D458-2210-BD31-6238-1A5B8AA11B3C}"/>
              </a:ext>
            </a:extLst>
          </p:cNvPr>
          <p:cNvSpPr/>
          <p:nvPr/>
        </p:nvSpPr>
        <p:spPr>
          <a:xfrm>
            <a:off x="557784" y="5442933"/>
            <a:ext cx="11073384" cy="804672"/>
          </a:xfrm>
          <a:prstGeom prst="roundRect">
            <a:avLst/>
          </a:prstGeom>
          <a:solidFill>
            <a:srgbClr val="FFF6EA"/>
          </a:solidFill>
          <a:ln w="19050">
            <a:solidFill>
              <a:srgbClr val="E7C894"/>
            </a:solidFill>
          </a:ln>
        </p:spPr>
        <p:style>
          <a:lnRef idx="1">
            <a:schemeClr val="accent1"/>
          </a:lnRef>
          <a:fillRef idx="3">
            <a:schemeClr val="accent1"/>
          </a:fillRef>
          <a:effectRef idx="2">
            <a:schemeClr val="accent1"/>
          </a:effectRef>
          <a:fontRef idx="minor">
            <a:schemeClr val="lt1"/>
          </a:fontRef>
        </p:style>
        <p:txBody>
          <a:bodyPr wrap="square" lIns="182880" tIns="73152" rIns="182880" bIns="73152" rtlCol="0" anchor="ctr"/>
          <a:lstStyle/>
          <a:p>
            <a:pPr>
              <a:defRPr sz="1300" b="1">
                <a:solidFill>
                  <a:srgbClr val="173F35"/>
                </a:solidFill>
                <a:latin typeface="Calibri"/>
              </a:defRPr>
            </a:pPr>
            <a:r>
              <a:rPr dirty="0"/>
              <a:t>Research Question 1: What is greenwashing, how has it evolved, and what are its consequences?</a:t>
            </a:r>
          </a:p>
          <a:p>
            <a:pPr>
              <a:defRPr sz="1150" i="1">
                <a:solidFill>
                  <a:srgbClr val="4A4A4A"/>
                </a:solidFill>
                <a:latin typeface="Calibri"/>
              </a:defRPr>
            </a:pPr>
            <a:r>
              <a:rPr dirty="0"/>
              <a:t>Answer to RQ1: Greenwashing has shifted from product labels to corporate disclosures and balance sheets. Its harm extends beyond consumer deception to capital misallocation, market distortion, and delayed climate action.</a:t>
            </a:r>
          </a:p>
        </p:txBody>
      </p:sp>
    </p:spTree>
    <p:extLst>
      <p:ext uri="{BB962C8B-B14F-4D97-AF65-F5344CB8AC3E}">
        <p14:creationId xmlns:p14="http://schemas.microsoft.com/office/powerpoint/2010/main" val="4012266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39" y="384048"/>
            <a:ext cx="9612791" cy="584775"/>
          </a:xfrm>
          <a:prstGeom prst="rect">
            <a:avLst/>
          </a:prstGeom>
          <a:noFill/>
        </p:spPr>
        <p:txBody>
          <a:bodyPr wrap="square">
            <a:spAutoFit/>
          </a:bodyPr>
          <a:lstStyle/>
          <a:p>
            <a:pPr>
              <a:spcAft>
                <a:spcPts val="600"/>
              </a:spcAft>
              <a:defRPr sz="3000" b="1">
                <a:solidFill>
                  <a:srgbClr val="1B1B2F"/>
                </a:solidFill>
                <a:latin typeface="Calibri Light"/>
              </a:defRPr>
            </a:pPr>
            <a:r>
              <a:rPr sz="3200" b="1" dirty="0">
                <a:solidFill>
                  <a:srgbClr val="173F35"/>
                </a:solidFill>
                <a:latin typeface="Avenir Next Demi Bold"/>
              </a:rPr>
              <a:t>The Scale of the Problem</a:t>
            </a:r>
            <a:r>
              <a:rPr lang="en-US" sz="3200" b="1" dirty="0">
                <a:solidFill>
                  <a:srgbClr val="173F35"/>
                </a:solidFill>
                <a:latin typeface="Avenir Next Demi Bold"/>
              </a:rPr>
              <a:t>: As </a:t>
            </a:r>
            <a:r>
              <a:rPr sz="3200" b="1" dirty="0">
                <a:solidFill>
                  <a:srgbClr val="173F35"/>
                </a:solidFill>
                <a:latin typeface="Avenir Next Demi Bold"/>
              </a:rPr>
              <a:t>Visible in India</a:t>
            </a:r>
          </a:p>
        </p:txBody>
      </p:sp>
      <p:sp>
        <p:nvSpPr>
          <p:cNvPr id="8" name="Rounded Rectangle 7"/>
          <p:cNvSpPr/>
          <p:nvPr/>
        </p:nvSpPr>
        <p:spPr>
          <a:xfrm>
            <a:off x="783524" y="1831336"/>
            <a:ext cx="3166684" cy="2114772"/>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48116" y="1938096"/>
            <a:ext cx="2207454" cy="455365"/>
          </a:xfrm>
          <a:prstGeom prst="round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FFFFFF"/>
                </a:solidFill>
                <a:latin typeface="Avenir Next"/>
              </a:defRPr>
            </a:pPr>
            <a:r>
              <a:t>Consumer-facing deception</a:t>
            </a:r>
            <a:r>
              <a:rPr lang="en-US"/>
              <a:t> – ASCI Data</a:t>
            </a:r>
            <a:endParaRPr/>
          </a:p>
        </p:txBody>
      </p:sp>
      <p:sp>
        <p:nvSpPr>
          <p:cNvPr id="10" name="TextBox 9"/>
          <p:cNvSpPr txBox="1"/>
          <p:nvPr/>
        </p:nvSpPr>
        <p:spPr>
          <a:xfrm>
            <a:off x="987552" y="2340432"/>
            <a:ext cx="1554480" cy="475488"/>
          </a:xfrm>
          <a:prstGeom prst="rect">
            <a:avLst/>
          </a:prstGeom>
          <a:noFill/>
        </p:spPr>
        <p:txBody>
          <a:bodyPr wrap="square" anchor="t">
            <a:spAutoFit/>
          </a:bodyPr>
          <a:lstStyle/>
          <a:p>
            <a:pPr algn="l">
              <a:defRPr sz="2400" b="1">
                <a:solidFill>
                  <a:srgbClr val="173F35"/>
                </a:solidFill>
                <a:latin typeface="Georgia"/>
              </a:defRPr>
            </a:pPr>
            <a:r>
              <a:t>211 / 211</a:t>
            </a:r>
          </a:p>
        </p:txBody>
      </p:sp>
      <p:sp>
        <p:nvSpPr>
          <p:cNvPr id="11" name="TextBox 10"/>
          <p:cNvSpPr txBox="1"/>
          <p:nvPr/>
        </p:nvSpPr>
        <p:spPr>
          <a:xfrm>
            <a:off x="987552" y="2825064"/>
            <a:ext cx="2670048" cy="977191"/>
          </a:xfrm>
          <a:prstGeom prst="rect">
            <a:avLst/>
          </a:prstGeom>
          <a:noFill/>
        </p:spPr>
        <p:txBody>
          <a:bodyPr wrap="square" lIns="91440" tIns="45720" rIns="91440" bIns="45720" anchor="t">
            <a:spAutoFit/>
          </a:bodyPr>
          <a:lstStyle/>
          <a:p>
            <a:pPr>
              <a:defRPr sz="1150" b="0">
                <a:solidFill>
                  <a:srgbClr val="2A2A2A"/>
                </a:solidFill>
                <a:latin typeface="Avenir Next"/>
              </a:defRPr>
            </a:pPr>
            <a:r>
              <a:rPr dirty="0"/>
              <a:t>ASCI reviewed 211 environmental ads in </a:t>
            </a:r>
            <a:r>
              <a:rPr lang="en-US" dirty="0"/>
              <a:t>its 2024-25 Annual Report </a:t>
            </a:r>
            <a:r>
              <a:rPr dirty="0"/>
              <a:t>and every one </a:t>
            </a:r>
            <a:r>
              <a:rPr lang="en-US" dirty="0"/>
              <a:t>of them </a:t>
            </a:r>
            <a:r>
              <a:rPr dirty="0"/>
              <a:t>required modification for lack of substantiation.</a:t>
            </a:r>
          </a:p>
        </p:txBody>
      </p:sp>
      <p:sp>
        <p:nvSpPr>
          <p:cNvPr id="13" name="Rounded Rectangle 12"/>
          <p:cNvSpPr/>
          <p:nvPr/>
        </p:nvSpPr>
        <p:spPr>
          <a:xfrm>
            <a:off x="4133087" y="1831336"/>
            <a:ext cx="3127248" cy="2155232"/>
          </a:xfrm>
          <a:prstGeom prst="roundRect">
            <a:avLst/>
          </a:prstGeom>
          <a:solidFill>
            <a:srgbClr val="E8EFE6"/>
          </a:solidFill>
          <a:ln w="12700">
            <a:solidFill>
              <a:srgbClr val="6A8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315968" y="1938096"/>
            <a:ext cx="1737360" cy="347472"/>
          </a:xfrm>
          <a:prstGeom prst="round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FFFFFF"/>
                </a:solidFill>
                <a:latin typeface="Avenir Next"/>
              </a:defRPr>
            </a:pPr>
            <a:r>
              <a:rPr lang="en-US" dirty="0">
                <a:ea typeface="+mn-lt"/>
                <a:cs typeface="+mn-lt"/>
              </a:rPr>
              <a:t>Secondary </a:t>
            </a:r>
            <a:r>
              <a:rPr lang="en-US">
                <a:ea typeface="+mn-lt"/>
                <a:cs typeface="+mn-lt"/>
              </a:rPr>
              <a:t>Data from </a:t>
            </a:r>
            <a:r>
              <a:rPr lang="en-US" dirty="0"/>
              <a:t>Listed-company</a:t>
            </a:r>
            <a:r>
              <a:rPr dirty="0"/>
              <a:t> </a:t>
            </a:r>
            <a:r>
              <a:rPr lang="en-US" dirty="0"/>
              <a:t> studies</a:t>
            </a:r>
          </a:p>
        </p:txBody>
      </p:sp>
      <p:sp>
        <p:nvSpPr>
          <p:cNvPr id="15" name="TextBox 14"/>
          <p:cNvSpPr txBox="1"/>
          <p:nvPr/>
        </p:nvSpPr>
        <p:spPr>
          <a:xfrm>
            <a:off x="4407408" y="2371290"/>
            <a:ext cx="2542032" cy="415498"/>
          </a:xfrm>
          <a:prstGeom prst="rect">
            <a:avLst/>
          </a:prstGeom>
          <a:noFill/>
        </p:spPr>
        <p:txBody>
          <a:bodyPr wrap="square" lIns="91440" tIns="45720" rIns="91440" bIns="45720" anchor="t">
            <a:spAutoFit/>
          </a:bodyPr>
          <a:lstStyle/>
          <a:p>
            <a:pPr algn="l">
              <a:defRPr sz="1150" b="1">
                <a:solidFill>
                  <a:srgbClr val="2A2A2A"/>
                </a:solidFill>
                <a:latin typeface="Avenir Next"/>
              </a:defRPr>
            </a:pPr>
            <a:r>
              <a:rPr sz="1050"/>
              <a:t>54% of NSE-listed firms in one study engaged in greenwashing.</a:t>
            </a:r>
            <a:endParaRPr lang="en-US" sz="1050"/>
          </a:p>
        </p:txBody>
      </p:sp>
      <p:sp>
        <p:nvSpPr>
          <p:cNvPr id="16" name="TextBox 15"/>
          <p:cNvSpPr txBox="1"/>
          <p:nvPr/>
        </p:nvSpPr>
        <p:spPr>
          <a:xfrm>
            <a:off x="4407408" y="2815570"/>
            <a:ext cx="2542032" cy="415498"/>
          </a:xfrm>
          <a:prstGeom prst="rect">
            <a:avLst/>
          </a:prstGeom>
          <a:noFill/>
        </p:spPr>
        <p:txBody>
          <a:bodyPr wrap="square" lIns="91440" tIns="45720" rIns="91440" bIns="45720" anchor="t">
            <a:spAutoFit/>
          </a:bodyPr>
          <a:lstStyle/>
          <a:p>
            <a:pPr>
              <a:defRPr sz="1150" b="1">
                <a:solidFill>
                  <a:srgbClr val="2A2A2A"/>
                </a:solidFill>
                <a:latin typeface="Avenir Next"/>
              </a:defRPr>
            </a:pPr>
            <a:r>
              <a:rPr sz="1050" dirty="0"/>
              <a:t>47% of NIFTY 50 companies were flagged in </a:t>
            </a:r>
            <a:r>
              <a:rPr lang="en-US" sz="1050" dirty="0"/>
              <a:t>another research</a:t>
            </a:r>
            <a:r>
              <a:rPr sz="1050" dirty="0"/>
              <a:t>.</a:t>
            </a:r>
            <a:endParaRPr lang="en-US" sz="1050" dirty="0"/>
          </a:p>
        </p:txBody>
      </p:sp>
      <p:sp>
        <p:nvSpPr>
          <p:cNvPr id="17" name="TextBox 16"/>
          <p:cNvSpPr txBox="1"/>
          <p:nvPr/>
        </p:nvSpPr>
        <p:spPr>
          <a:xfrm>
            <a:off x="4407408" y="3259849"/>
            <a:ext cx="2542032" cy="411480"/>
          </a:xfrm>
          <a:prstGeom prst="rect">
            <a:avLst/>
          </a:prstGeom>
          <a:noFill/>
        </p:spPr>
        <p:txBody>
          <a:bodyPr wrap="square" anchor="t">
            <a:spAutoFit/>
          </a:bodyPr>
          <a:lstStyle/>
          <a:p>
            <a:pPr algn="l">
              <a:defRPr sz="1080" b="0">
                <a:solidFill>
                  <a:srgbClr val="2A2A2A"/>
                </a:solidFill>
                <a:latin typeface="Avenir Next"/>
              </a:defRPr>
            </a:pPr>
            <a:r>
              <a:t>CRISIL also found nearly 80% of 586 companies scored below average or weak on ESG parameters.</a:t>
            </a:r>
          </a:p>
        </p:txBody>
      </p:sp>
      <p:sp>
        <p:nvSpPr>
          <p:cNvPr id="18" name="Rounded Rectangle 17"/>
          <p:cNvSpPr/>
          <p:nvPr/>
        </p:nvSpPr>
        <p:spPr>
          <a:xfrm>
            <a:off x="7443216" y="1831336"/>
            <a:ext cx="4224528" cy="2757711"/>
          </a:xfrm>
          <a:prstGeom prst="roundRect">
            <a:avLst/>
          </a:prstGeom>
          <a:solidFill>
            <a:srgbClr val="FFF3F0"/>
          </a:solidFill>
          <a:ln w="12700">
            <a:solidFill>
              <a:srgbClr val="E7B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644383" y="1938096"/>
            <a:ext cx="1572768" cy="347472"/>
          </a:xfrm>
          <a:prstGeom prst="round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73F35"/>
                </a:solidFill>
                <a:latin typeface="Avenir Next"/>
              </a:defRPr>
            </a:pPr>
            <a:r>
              <a:t>ESG market scale</a:t>
            </a:r>
          </a:p>
        </p:txBody>
      </p:sp>
      <p:sp>
        <p:nvSpPr>
          <p:cNvPr id="20" name="TextBox 19"/>
          <p:cNvSpPr txBox="1"/>
          <p:nvPr/>
        </p:nvSpPr>
        <p:spPr>
          <a:xfrm>
            <a:off x="7699248" y="2506157"/>
            <a:ext cx="1591056" cy="400110"/>
          </a:xfrm>
          <a:prstGeom prst="rect">
            <a:avLst/>
          </a:prstGeom>
          <a:noFill/>
        </p:spPr>
        <p:txBody>
          <a:bodyPr wrap="square" lIns="91440" tIns="45720" rIns="91440" bIns="45720" anchor="t">
            <a:spAutoFit/>
          </a:bodyPr>
          <a:lstStyle/>
          <a:p>
            <a:pPr algn="ctr">
              <a:defRPr sz="2400" b="1">
                <a:solidFill>
                  <a:srgbClr val="173F35"/>
                </a:solidFill>
                <a:latin typeface="Georgia"/>
              </a:defRPr>
            </a:pPr>
            <a:r>
              <a:rPr sz="2000"/>
              <a:t>USD 1.2B</a:t>
            </a:r>
            <a:endParaRPr lang="en-US" sz="2000"/>
          </a:p>
        </p:txBody>
      </p:sp>
      <p:sp>
        <p:nvSpPr>
          <p:cNvPr id="21" name="TextBox 20"/>
          <p:cNvSpPr txBox="1"/>
          <p:nvPr/>
        </p:nvSpPr>
        <p:spPr>
          <a:xfrm>
            <a:off x="7719478" y="3019246"/>
            <a:ext cx="1591056" cy="347472"/>
          </a:xfrm>
          <a:prstGeom prst="rect">
            <a:avLst/>
          </a:prstGeom>
          <a:noFill/>
        </p:spPr>
        <p:txBody>
          <a:bodyPr wrap="square" anchor="t">
            <a:spAutoFit/>
          </a:bodyPr>
          <a:lstStyle/>
          <a:p>
            <a:pPr algn="ctr">
              <a:defRPr sz="1050" b="0">
                <a:solidFill>
                  <a:srgbClr val="2A2A2A"/>
                </a:solidFill>
                <a:latin typeface="Avenir Next"/>
              </a:defRPr>
            </a:pPr>
            <a:r>
              <a:t>ESG fund assets by March 2024, up from about USD 331M in 2020.</a:t>
            </a:r>
          </a:p>
        </p:txBody>
      </p:sp>
      <p:sp>
        <p:nvSpPr>
          <p:cNvPr id="22" name="TextBox 21"/>
          <p:cNvSpPr txBox="1"/>
          <p:nvPr/>
        </p:nvSpPr>
        <p:spPr>
          <a:xfrm>
            <a:off x="9400032" y="2506157"/>
            <a:ext cx="1792224" cy="400110"/>
          </a:xfrm>
          <a:prstGeom prst="rect">
            <a:avLst/>
          </a:prstGeom>
          <a:noFill/>
        </p:spPr>
        <p:txBody>
          <a:bodyPr wrap="square" lIns="91440" tIns="45720" rIns="91440" bIns="45720" anchor="t">
            <a:spAutoFit/>
          </a:bodyPr>
          <a:lstStyle/>
          <a:p>
            <a:pPr algn="ctr">
              <a:defRPr sz="2400" b="1">
                <a:solidFill>
                  <a:srgbClr val="173F35"/>
                </a:solidFill>
                <a:latin typeface="Georgia"/>
              </a:defRPr>
            </a:pPr>
            <a:r>
              <a:rPr sz="2000"/>
              <a:t>USD 55.9B</a:t>
            </a:r>
            <a:endParaRPr lang="en-US" sz="2000"/>
          </a:p>
        </p:txBody>
      </p:sp>
      <p:sp>
        <p:nvSpPr>
          <p:cNvPr id="23" name="TextBox 22"/>
          <p:cNvSpPr txBox="1"/>
          <p:nvPr/>
        </p:nvSpPr>
        <p:spPr>
          <a:xfrm>
            <a:off x="9349052" y="3086680"/>
            <a:ext cx="1901952" cy="347472"/>
          </a:xfrm>
          <a:prstGeom prst="rect">
            <a:avLst/>
          </a:prstGeom>
          <a:noFill/>
        </p:spPr>
        <p:txBody>
          <a:bodyPr wrap="square" anchor="t">
            <a:spAutoFit/>
          </a:bodyPr>
          <a:lstStyle/>
          <a:p>
            <a:pPr algn="ctr">
              <a:defRPr sz="1050" b="0">
                <a:solidFill>
                  <a:srgbClr val="2A2A2A"/>
                </a:solidFill>
                <a:latin typeface="Avenir Next"/>
              </a:defRPr>
            </a:pPr>
            <a:r>
              <a:rPr dirty="0"/>
              <a:t>Cumulative green, social, and sustainability-linked debt by Dec 2024.</a:t>
            </a:r>
          </a:p>
        </p:txBody>
      </p:sp>
      <p:sp>
        <p:nvSpPr>
          <p:cNvPr id="24" name="TextBox 23"/>
          <p:cNvSpPr txBox="1"/>
          <p:nvPr/>
        </p:nvSpPr>
        <p:spPr>
          <a:xfrm>
            <a:off x="7702107" y="3801961"/>
            <a:ext cx="3657600" cy="738664"/>
          </a:xfrm>
          <a:prstGeom prst="rect">
            <a:avLst/>
          </a:prstGeom>
          <a:noFill/>
        </p:spPr>
        <p:txBody>
          <a:bodyPr wrap="square" lIns="91440" tIns="45720" rIns="91440" bIns="45720" anchor="t">
            <a:spAutoFit/>
          </a:bodyPr>
          <a:lstStyle/>
          <a:p>
            <a:pPr algn="ctr">
              <a:defRPr sz="1070" b="1">
                <a:solidFill>
                  <a:srgbClr val="A23E2A"/>
                </a:solidFill>
                <a:latin typeface="Avenir Next"/>
              </a:defRPr>
            </a:pPr>
            <a:r>
              <a:rPr sz="1050"/>
              <a:t>India is already the fourth-largest emerging-market source of sustainable debt globally, </a:t>
            </a:r>
            <a:endParaRPr lang="en-US" sz="1050"/>
          </a:p>
          <a:p>
            <a:pPr algn="ctr">
              <a:defRPr sz="1070" b="1">
                <a:solidFill>
                  <a:srgbClr val="A23E2A"/>
                </a:solidFill>
                <a:latin typeface="Avenir Next"/>
              </a:defRPr>
            </a:pPr>
            <a:r>
              <a:rPr lang="en-US" sz="1050" dirty="0"/>
              <a:t>And</a:t>
            </a:r>
            <a:r>
              <a:rPr sz="1050" dirty="0"/>
              <a:t> RBI research finds ESG </a:t>
            </a:r>
            <a:r>
              <a:rPr lang="en-US" sz="1050"/>
              <a:t>claim based stocks have returns</a:t>
            </a:r>
            <a:r>
              <a:rPr sz="1050"/>
              <a:t> above market </a:t>
            </a:r>
            <a:r>
              <a:rPr sz="1050" dirty="0"/>
              <a:t>predictions.</a:t>
            </a:r>
          </a:p>
        </p:txBody>
      </p:sp>
      <p:sp>
        <p:nvSpPr>
          <p:cNvPr id="25" name="Rounded Rectangle 24"/>
          <p:cNvSpPr/>
          <p:nvPr/>
        </p:nvSpPr>
        <p:spPr>
          <a:xfrm>
            <a:off x="770037" y="4404441"/>
            <a:ext cx="4931936" cy="1453652"/>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948117" y="4533374"/>
            <a:ext cx="1847088" cy="347472"/>
          </a:xfrm>
          <a:prstGeom prst="roundRect">
            <a:avLst/>
          </a:prstGeom>
          <a:solidFill>
            <a:srgbClr val="A23E2A"/>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FFFFFF"/>
                </a:solidFill>
                <a:latin typeface="Avenir Next"/>
              </a:defRPr>
            </a:pPr>
            <a:r>
              <a:rPr dirty="0"/>
              <a:t>Compliance </a:t>
            </a:r>
            <a:r>
              <a:rPr lang="en-US" dirty="0"/>
              <a:t>infrastructure lacks </a:t>
            </a:r>
            <a:r>
              <a:rPr lang="en-US"/>
              <a:t>proper</a:t>
            </a:r>
            <a:r>
              <a:rPr lang="en-US" dirty="0"/>
              <a:t> Verification</a:t>
            </a:r>
            <a:endParaRPr dirty="0"/>
          </a:p>
        </p:txBody>
      </p:sp>
      <p:sp>
        <p:nvSpPr>
          <p:cNvPr id="27" name="TextBox 26"/>
          <p:cNvSpPr txBox="1"/>
          <p:nvPr/>
        </p:nvSpPr>
        <p:spPr>
          <a:xfrm>
            <a:off x="913375" y="4957882"/>
            <a:ext cx="4482502" cy="769441"/>
          </a:xfrm>
          <a:prstGeom prst="rect">
            <a:avLst/>
          </a:prstGeom>
          <a:noFill/>
        </p:spPr>
        <p:txBody>
          <a:bodyPr wrap="square" lIns="91440" tIns="45720" rIns="91440" bIns="45720" anchor="t">
            <a:spAutoFit/>
          </a:bodyPr>
          <a:lstStyle/>
          <a:p>
            <a:pPr algn="ctr">
              <a:defRPr sz="1100" b="0">
                <a:solidFill>
                  <a:srgbClr val="2A2A2A"/>
                </a:solidFill>
                <a:latin typeface="Avenir Next"/>
              </a:defRPr>
            </a:pPr>
            <a:r>
              <a:rPr dirty="0"/>
              <a:t>CPCB uncovered about 600,000 fake EPR certificates in 2024, </a:t>
            </a:r>
            <a:r>
              <a:rPr lang="en-US" dirty="0"/>
              <a:t>and NGT took </a:t>
            </a:r>
            <a:r>
              <a:rPr lang="en-US" dirty="0" err="1"/>
              <a:t>suo</a:t>
            </a:r>
            <a:r>
              <a:rPr lang="en-US" dirty="0"/>
              <a:t> moto cognizance of it; </a:t>
            </a:r>
          </a:p>
          <a:p>
            <a:pPr algn="ctr">
              <a:defRPr sz="1100" b="0">
                <a:solidFill>
                  <a:srgbClr val="2A2A2A"/>
                </a:solidFill>
                <a:latin typeface="Avenir Next"/>
              </a:defRPr>
            </a:pPr>
            <a:r>
              <a:rPr lang="en-US"/>
              <a:t>showing</a:t>
            </a:r>
            <a:r>
              <a:rPr dirty="0"/>
              <a:t> that the verification deficit reaches the infrastructure of environmental compliance itself.</a:t>
            </a:r>
            <a:endParaRPr/>
          </a:p>
        </p:txBody>
      </p:sp>
      <p:sp>
        <p:nvSpPr>
          <p:cNvPr id="28" name="Rounded Rectangle 27"/>
          <p:cNvSpPr/>
          <p:nvPr/>
        </p:nvSpPr>
        <p:spPr>
          <a:xfrm>
            <a:off x="5925312" y="4885648"/>
            <a:ext cx="5742432" cy="676656"/>
          </a:xfrm>
          <a:prstGeom prst="roundRect">
            <a:avLst/>
          </a:prstGeom>
          <a:solidFill>
            <a:srgbClr val="EFF5EA"/>
          </a:solidFill>
          <a:ln w="12700">
            <a:solidFill>
              <a:srgbClr val="6A8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87728" y="4959150"/>
            <a:ext cx="5266944" cy="461665"/>
          </a:xfrm>
          <a:prstGeom prst="rect">
            <a:avLst/>
          </a:prstGeom>
          <a:noFill/>
        </p:spPr>
        <p:txBody>
          <a:bodyPr wrap="square" lIns="91440" tIns="45720" rIns="91440" bIns="45720" anchor="t">
            <a:spAutoFit/>
          </a:bodyPr>
          <a:lstStyle/>
          <a:p>
            <a:pPr algn="ctr">
              <a:defRPr sz="1350" b="1">
                <a:solidFill>
                  <a:srgbClr val="173F35"/>
                </a:solidFill>
                <a:latin typeface="Avenir Next Demi Bold"/>
              </a:defRPr>
            </a:pPr>
            <a:r>
              <a:rPr sz="1200"/>
              <a:t>Inference: at this scale, greenwashing is not a side issue </a:t>
            </a:r>
            <a:r>
              <a:rPr lang="en-US" sz="1200"/>
              <a:t>of </a:t>
            </a:r>
            <a:r>
              <a:rPr sz="1200"/>
              <a:t>branding. </a:t>
            </a:r>
            <a:endParaRPr lang="en-US" sz="1200" dirty="0"/>
          </a:p>
          <a:p>
            <a:pPr algn="ctr">
              <a:defRPr sz="1350" b="1">
                <a:solidFill>
                  <a:srgbClr val="173F35"/>
                </a:solidFill>
                <a:latin typeface="Avenir Next Demi Bold"/>
              </a:defRPr>
            </a:pPr>
            <a:r>
              <a:rPr sz="1200"/>
              <a:t>It distorts both consumer choice and capital allocation.</a:t>
            </a:r>
            <a:endParaRPr lang="en-US" sz="1200"/>
          </a:p>
        </p:txBody>
      </p:sp>
      <p:sp>
        <p:nvSpPr>
          <p:cNvPr id="30" name="TextBox 29"/>
          <p:cNvSpPr txBox="1"/>
          <p:nvPr/>
        </p:nvSpPr>
        <p:spPr>
          <a:xfrm>
            <a:off x="593901" y="6400800"/>
            <a:ext cx="6784230" cy="261610"/>
          </a:xfrm>
          <a:prstGeom prst="rect">
            <a:avLst/>
          </a:prstGeom>
          <a:noFill/>
        </p:spPr>
        <p:txBody>
          <a:bodyPr wrap="none" lIns="91440" tIns="45720" rIns="91440" bIns="45720" anchor="t">
            <a:spAutoFit/>
          </a:bodyPr>
          <a:lstStyle/>
          <a:p>
            <a:pPr>
              <a:defRPr sz="850">
                <a:solidFill>
                  <a:srgbClr val="6B6F6A"/>
                </a:solidFill>
                <a:latin typeface="Avenir Next"/>
              </a:defRPr>
            </a:pPr>
            <a:r>
              <a:rPr sz="1100" dirty="0"/>
              <a:t>Source base: </a:t>
            </a:r>
            <a:r>
              <a:rPr lang="en-US" sz="1100" dirty="0"/>
              <a:t>ASCI</a:t>
            </a:r>
            <a:r>
              <a:rPr sz="1100" dirty="0"/>
              <a:t>, CRISIL, RBI, CPCB figures</a:t>
            </a:r>
            <a:r>
              <a:rPr lang="en-US" sz="1100" dirty="0"/>
              <a:t> and NSE/NIFTY peer-reviewed studies, </a:t>
            </a:r>
            <a:r>
              <a:rPr sz="1100" dirty="0"/>
              <a:t>cited in the thesis.</a:t>
            </a:r>
          </a:p>
        </p:txBody>
      </p:sp>
      <p:sp>
        <p:nvSpPr>
          <p:cNvPr id="33" name="TextBox 32">
            <a:extLst>
              <a:ext uri="{FF2B5EF4-FFF2-40B4-BE49-F238E27FC236}">
                <a16:creationId xmlns:a16="http://schemas.microsoft.com/office/drawing/2014/main" id="{A12DB4F1-51A1-55FB-D748-743EFC05C2B5}"/>
              </a:ext>
            </a:extLst>
          </p:cNvPr>
          <p:cNvSpPr txBox="1"/>
          <p:nvPr/>
        </p:nvSpPr>
        <p:spPr>
          <a:xfrm>
            <a:off x="695718" y="1088910"/>
            <a:ext cx="4844596" cy="307777"/>
          </a:xfrm>
          <a:prstGeom prst="rect">
            <a:avLst/>
          </a:prstGeom>
          <a:noFill/>
        </p:spPr>
        <p:txBody>
          <a:bodyPr wrap="none" lIns="91440" tIns="45720" rIns="91440" bIns="45720" anchor="t">
            <a:spAutoFit/>
          </a:bodyPr>
          <a:lstStyle/>
          <a:p>
            <a:pPr>
              <a:defRPr sz="1200">
                <a:solidFill>
                  <a:srgbClr val="6B6F6A"/>
                </a:solidFill>
                <a:latin typeface="Avenir Next"/>
              </a:defRPr>
            </a:pPr>
            <a:r>
              <a:rPr lang="en-US" sz="1400" b="1" dirty="0"/>
              <a:t>Based on available data from authority-based sources</a:t>
            </a:r>
          </a:p>
        </p:txBody>
      </p:sp>
    </p:spTree>
    <p:extLst>
      <p:ext uri="{BB962C8B-B14F-4D97-AF65-F5344CB8AC3E}">
        <p14:creationId xmlns:p14="http://schemas.microsoft.com/office/powerpoint/2010/main" val="3488489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3" name="TextBox 2"/>
          <p:cNvSpPr txBox="1"/>
          <p:nvPr/>
        </p:nvSpPr>
        <p:spPr>
          <a:xfrm>
            <a:off x="751076" y="424508"/>
            <a:ext cx="10058400" cy="584775"/>
          </a:xfrm>
          <a:prstGeom prst="rect">
            <a:avLst/>
          </a:prstGeom>
          <a:noFill/>
        </p:spPr>
        <p:txBody>
          <a:bodyPr wrap="square" lIns="91440" tIns="45720" rIns="91440" bIns="45720" anchor="t">
            <a:spAutoFit/>
          </a:bodyPr>
          <a:lstStyle/>
          <a:p>
            <a:pPr>
              <a:spcAft>
                <a:spcPts val="600"/>
              </a:spcAft>
              <a:defRPr sz="3000" b="1">
                <a:solidFill>
                  <a:srgbClr val="1B1B2F"/>
                </a:solidFill>
                <a:latin typeface="Calibri Light"/>
              </a:defRPr>
            </a:pPr>
            <a:r>
              <a:rPr sz="3200" b="1" dirty="0">
                <a:solidFill>
                  <a:srgbClr val="173F35"/>
                </a:solidFill>
                <a:latin typeface="Avenir Next Demi Bold"/>
              </a:rPr>
              <a:t>Hypotheses</a:t>
            </a:r>
          </a:p>
        </p:txBody>
      </p:sp>
      <p:sp>
        <p:nvSpPr>
          <p:cNvPr id="4" name="Rounded Rectangle 3"/>
          <p:cNvSpPr/>
          <p:nvPr/>
        </p:nvSpPr>
        <p:spPr>
          <a:xfrm>
            <a:off x="728707" y="1508760"/>
            <a:ext cx="3386093" cy="3527186"/>
          </a:xfrm>
          <a:prstGeom prst="roundRect">
            <a:avLst/>
          </a:prstGeom>
          <a:solidFill>
            <a:srgbClr val="FFFFFF"/>
          </a:solidFill>
          <a:ln w="1524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5" name="Oval 4"/>
          <p:cNvSpPr/>
          <p:nvPr/>
        </p:nvSpPr>
        <p:spPr>
          <a:xfrm>
            <a:off x="973943" y="1645919"/>
            <a:ext cx="386679" cy="418511"/>
          </a:xfrm>
          <a:prstGeom prst="ellipse">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rPr>
                <a:latin typeface="Avenir Next" panose="020B0503020202020204" pitchFamily="34" charset="0"/>
              </a:rPr>
              <a:t>1</a:t>
            </a:r>
          </a:p>
        </p:txBody>
      </p:sp>
      <p:sp>
        <p:nvSpPr>
          <p:cNvPr id="6" name="TextBox 5"/>
          <p:cNvSpPr txBox="1"/>
          <p:nvPr/>
        </p:nvSpPr>
        <p:spPr>
          <a:xfrm>
            <a:off x="893724" y="2148840"/>
            <a:ext cx="3038196" cy="2641749"/>
          </a:xfrm>
          <a:prstGeom prst="rect">
            <a:avLst/>
          </a:prstGeom>
          <a:noFill/>
        </p:spPr>
        <p:txBody>
          <a:bodyPr wrap="square" lIns="91440" tIns="45720" rIns="91440" bIns="45720" anchor="t">
            <a:spAutoFit/>
          </a:bodyPr>
          <a:lstStyle/>
          <a:p>
            <a:pPr algn="l">
              <a:spcAft>
                <a:spcPts val="800"/>
              </a:spcAft>
              <a:defRPr sz="1500" b="1">
                <a:solidFill>
                  <a:srgbClr val="095E4F"/>
                </a:solidFill>
                <a:latin typeface="Calibri"/>
              </a:defRPr>
            </a:pPr>
            <a:r>
              <a:rPr sz="1500" dirty="0">
                <a:latin typeface="Avenir Next" panose="020B0503020202020204" pitchFamily="34" charset="0"/>
              </a:rPr>
              <a:t>H₁  —  Accountability Failure</a:t>
            </a:r>
          </a:p>
          <a:p>
            <a:r>
              <a:rPr lang="en-IN" dirty="0">
                <a:latin typeface="Avenir Next" panose="020B0503020202020204" pitchFamily="34" charset="0"/>
                <a:ea typeface="+mn-lt"/>
                <a:cs typeface="+mn-lt"/>
              </a:rPr>
              <a:t>Greenwashing in India is primarily a consequence of weak corporate governance and the limited operationalisation of board-level environmental responsibility.</a:t>
            </a:r>
          </a:p>
        </p:txBody>
      </p:sp>
      <p:sp>
        <p:nvSpPr>
          <p:cNvPr id="7" name="Rounded Rectangle 6"/>
          <p:cNvSpPr/>
          <p:nvPr/>
        </p:nvSpPr>
        <p:spPr>
          <a:xfrm>
            <a:off x="4365938" y="1508759"/>
            <a:ext cx="3406462" cy="3732942"/>
          </a:xfrm>
          <a:prstGeom prst="roundRect">
            <a:avLst/>
          </a:prstGeom>
          <a:solidFill>
            <a:srgbClr val="FFFFFF"/>
          </a:solidFill>
          <a:ln w="1524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8" name="Oval 7"/>
          <p:cNvSpPr/>
          <p:nvPr/>
        </p:nvSpPr>
        <p:spPr>
          <a:xfrm>
            <a:off x="4631543" y="1645919"/>
            <a:ext cx="386679" cy="418511"/>
          </a:xfrm>
          <a:prstGeom prst="ellipse">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rPr>
                <a:latin typeface="Avenir Next" panose="020B0503020202020204" pitchFamily="34" charset="0"/>
              </a:rPr>
              <a:t>2</a:t>
            </a:r>
          </a:p>
        </p:txBody>
      </p:sp>
      <p:sp>
        <p:nvSpPr>
          <p:cNvPr id="9" name="TextBox 8"/>
          <p:cNvSpPr txBox="1"/>
          <p:nvPr/>
        </p:nvSpPr>
        <p:spPr>
          <a:xfrm>
            <a:off x="4551324" y="2148840"/>
            <a:ext cx="3038196" cy="2918748"/>
          </a:xfrm>
          <a:prstGeom prst="rect">
            <a:avLst/>
          </a:prstGeom>
          <a:noFill/>
        </p:spPr>
        <p:txBody>
          <a:bodyPr wrap="square" lIns="91440" tIns="45720" rIns="91440" bIns="45720" anchor="t">
            <a:spAutoFit/>
          </a:bodyPr>
          <a:lstStyle/>
          <a:p>
            <a:pPr algn="l">
              <a:spcAft>
                <a:spcPts val="800"/>
              </a:spcAft>
              <a:defRPr sz="1500" b="1">
                <a:solidFill>
                  <a:srgbClr val="095E4F"/>
                </a:solidFill>
                <a:latin typeface="Calibri"/>
              </a:defRPr>
            </a:pPr>
            <a:r>
              <a:rPr dirty="0">
                <a:latin typeface="Avenir Next" panose="020B0503020202020204" pitchFamily="34" charset="0"/>
              </a:rPr>
              <a:t>H₂  —  Liability Shield</a:t>
            </a:r>
          </a:p>
          <a:p>
            <a:r>
              <a:rPr lang="en-IN" dirty="0">
                <a:latin typeface="Avenir Next" panose="020B0503020202020204" pitchFamily="34" charset="0"/>
                <a:ea typeface="+mn-lt"/>
                <a:cs typeface="+mn-lt"/>
              </a:rPr>
              <a:t>The existing legal framework does not impose sufficiently clear, stringent, and deterrent liability for misleading environmental disclosures, thereby enabling corporations to avoid meaningful accountability.</a:t>
            </a:r>
          </a:p>
        </p:txBody>
      </p:sp>
      <p:sp>
        <p:nvSpPr>
          <p:cNvPr id="10" name="Rounded Rectangle 9"/>
          <p:cNvSpPr/>
          <p:nvPr/>
        </p:nvSpPr>
        <p:spPr>
          <a:xfrm>
            <a:off x="8023538" y="1508759"/>
            <a:ext cx="3406462" cy="3218547"/>
          </a:xfrm>
          <a:prstGeom prst="roundRect">
            <a:avLst/>
          </a:prstGeom>
          <a:solidFill>
            <a:srgbClr val="FFFFFF"/>
          </a:solidFill>
          <a:ln w="1524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1" name="Oval 10"/>
          <p:cNvSpPr/>
          <p:nvPr/>
        </p:nvSpPr>
        <p:spPr>
          <a:xfrm>
            <a:off x="8289143" y="1645919"/>
            <a:ext cx="386679" cy="418511"/>
          </a:xfrm>
          <a:prstGeom prst="ellipse">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rPr>
                <a:latin typeface="Avenir Next" panose="020B0503020202020204" pitchFamily="34" charset="0"/>
              </a:rPr>
              <a:t>3</a:t>
            </a:r>
          </a:p>
        </p:txBody>
      </p:sp>
      <p:sp>
        <p:nvSpPr>
          <p:cNvPr id="12" name="TextBox 11"/>
          <p:cNvSpPr txBox="1"/>
          <p:nvPr/>
        </p:nvSpPr>
        <p:spPr>
          <a:xfrm>
            <a:off x="8208924" y="2148840"/>
            <a:ext cx="3038196" cy="2087751"/>
          </a:xfrm>
          <a:prstGeom prst="rect">
            <a:avLst/>
          </a:prstGeom>
          <a:noFill/>
        </p:spPr>
        <p:txBody>
          <a:bodyPr wrap="square">
            <a:spAutoFit/>
          </a:bodyPr>
          <a:lstStyle/>
          <a:p>
            <a:pPr algn="l">
              <a:spcAft>
                <a:spcPts val="800"/>
              </a:spcAft>
              <a:defRPr sz="1500" b="1">
                <a:solidFill>
                  <a:srgbClr val="095E4F"/>
                </a:solidFill>
                <a:latin typeface="Calibri"/>
              </a:defRPr>
            </a:pPr>
            <a:r>
              <a:rPr dirty="0">
                <a:latin typeface="Avenir Next" panose="020B0503020202020204" pitchFamily="34" charset="0"/>
              </a:rPr>
              <a:t>H₃  —  Regulatory Inchoateness</a:t>
            </a:r>
          </a:p>
          <a:p>
            <a:r>
              <a:rPr lang="en-IN" dirty="0">
                <a:latin typeface="Avenir Next" panose="020B0503020202020204" pitchFamily="34" charset="0"/>
              </a:rPr>
              <a:t>In addressing the issue of greenwashing, the present legal mechanism involving different regulatory bodies is inchoate and incomplete.</a:t>
            </a:r>
          </a:p>
        </p:txBody>
      </p:sp>
      <p:sp>
        <p:nvSpPr>
          <p:cNvPr id="13" name="TextBox 12"/>
          <p:cNvSpPr txBox="1"/>
          <p:nvPr/>
        </p:nvSpPr>
        <p:spPr>
          <a:xfrm>
            <a:off x="731520" y="5436858"/>
            <a:ext cx="11014012" cy="661720"/>
          </a:xfrm>
          <a:prstGeom prst="rect">
            <a:avLst/>
          </a:prstGeom>
          <a:noFill/>
        </p:spPr>
        <p:txBody>
          <a:bodyPr wrap="square" lIns="91440" tIns="45720" rIns="91440" bIns="45720" anchor="t">
            <a:spAutoFit/>
          </a:bodyPr>
          <a:lstStyle/>
          <a:p>
            <a:pPr algn="ctr">
              <a:spcAft>
                <a:spcPts val="600"/>
              </a:spcAft>
              <a:defRPr sz="1400" b="0">
                <a:solidFill>
                  <a:srgbClr val="6B6B7B"/>
                </a:solidFill>
                <a:latin typeface="Calibri"/>
              </a:defRPr>
            </a:pPr>
            <a:r>
              <a:rPr sz="1600" dirty="0">
                <a:latin typeface="Avenir Next" panose="020B0503020202020204" pitchFamily="34" charset="0"/>
              </a:rPr>
              <a:t>These hypotheses are mutually reinforcing: </a:t>
            </a:r>
            <a:endParaRPr lang="en-US" sz="1600" dirty="0">
              <a:latin typeface="Avenir Next" panose="020B0503020202020204" pitchFamily="34" charset="0"/>
            </a:endParaRPr>
          </a:p>
          <a:p>
            <a:pPr algn="ctr">
              <a:spcAft>
                <a:spcPts val="600"/>
              </a:spcAft>
              <a:defRPr sz="1400" b="0">
                <a:solidFill>
                  <a:srgbClr val="6B6B7B"/>
                </a:solidFill>
                <a:latin typeface="Calibri"/>
              </a:defRPr>
            </a:pPr>
            <a:r>
              <a:rPr sz="1600" dirty="0">
                <a:latin typeface="Avenir Next" panose="020B0503020202020204" pitchFamily="34" charset="0"/>
              </a:rPr>
              <a:t>governance-level gaps (H₁) are amplified by non-deterrent sanctions (H₂) and enabled by fragmented regulators (H₃).</a:t>
            </a:r>
            <a:endParaRPr lang="en-US" sz="1600" dirty="0">
              <a:latin typeface="Avenir Next" panose="020B0503020202020204" pitchFamily="34" charset="0"/>
              <a:ea typeface="Calibri"/>
              <a:cs typeface="Calibri"/>
            </a:endParaRPr>
          </a:p>
        </p:txBody>
      </p:sp>
      <p:sp>
        <p:nvSpPr>
          <p:cNvPr id="16" name="Rectangle 15">
            <a:extLst>
              <a:ext uri="{FF2B5EF4-FFF2-40B4-BE49-F238E27FC236}">
                <a16:creationId xmlns:a16="http://schemas.microsoft.com/office/drawing/2014/main" id="{AB595195-4E03-2970-9562-1758B7FEA633}"/>
              </a:ext>
            </a:extLst>
          </p:cNvPr>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3" name="TextBox 2"/>
          <p:cNvSpPr txBox="1"/>
          <p:nvPr/>
        </p:nvSpPr>
        <p:spPr>
          <a:xfrm>
            <a:off x="730846" y="357075"/>
            <a:ext cx="10058400" cy="877163"/>
          </a:xfrm>
          <a:prstGeom prst="rect">
            <a:avLst/>
          </a:prstGeom>
          <a:noFill/>
        </p:spPr>
        <p:txBody>
          <a:bodyPr wrap="square" lIns="91440" tIns="45720" rIns="91440" bIns="45720" anchor="t">
            <a:spAutoFit/>
          </a:bodyPr>
          <a:lstStyle/>
          <a:p>
            <a:pPr>
              <a:spcAft>
                <a:spcPts val="600"/>
              </a:spcAft>
              <a:defRPr sz="3000" b="1">
                <a:solidFill>
                  <a:srgbClr val="1B1B2F"/>
                </a:solidFill>
                <a:latin typeface="Calibri Light"/>
              </a:defRPr>
            </a:pPr>
            <a:r>
              <a:rPr sz="3200" b="1" dirty="0">
                <a:solidFill>
                  <a:srgbClr val="173F35"/>
                </a:solidFill>
                <a:latin typeface="Avenir Next Demi Bold"/>
              </a:rPr>
              <a:t>Research Methodology</a:t>
            </a:r>
          </a:p>
          <a:p>
            <a:pPr>
              <a:defRPr sz="1300" b="0">
                <a:solidFill>
                  <a:srgbClr val="6B6B7B"/>
                </a:solidFill>
                <a:latin typeface="Calibri"/>
              </a:defRPr>
            </a:pPr>
            <a:r>
              <a:rPr lang="en-US" sz="1400" dirty="0">
                <a:latin typeface="Avenir Next" panose="020B0503020202020204" pitchFamily="34" charset="0"/>
              </a:rPr>
              <a:t>Comparative and Analytical </a:t>
            </a:r>
            <a:r>
              <a:rPr sz="1400" dirty="0">
                <a:latin typeface="Avenir Next" panose="020B0503020202020204" pitchFamily="34" charset="0"/>
              </a:rPr>
              <a:t>Legal Research</a:t>
            </a:r>
            <a:endParaRPr sz="1400" dirty="0">
              <a:latin typeface="Avenir Next" panose="020B0503020202020204" pitchFamily="34" charset="0"/>
              <a:ea typeface="Calibri"/>
              <a:cs typeface="Calibri"/>
            </a:endParaRPr>
          </a:p>
        </p:txBody>
      </p:sp>
      <p:sp>
        <p:nvSpPr>
          <p:cNvPr id="4" name="Rounded Rectangle 3"/>
          <p:cNvSpPr/>
          <p:nvPr/>
        </p:nvSpPr>
        <p:spPr>
          <a:xfrm>
            <a:off x="731520" y="1508760"/>
            <a:ext cx="3383280" cy="1839993"/>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5" name="Rectangle 4"/>
          <p:cNvSpPr/>
          <p:nvPr/>
        </p:nvSpPr>
        <p:spPr>
          <a:xfrm>
            <a:off x="822960" y="1645920"/>
            <a:ext cx="54864" cy="347472"/>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6" name="TextBox 5"/>
          <p:cNvSpPr txBox="1"/>
          <p:nvPr/>
        </p:nvSpPr>
        <p:spPr>
          <a:xfrm>
            <a:off x="1005840" y="1600200"/>
            <a:ext cx="2926080" cy="1677382"/>
          </a:xfrm>
          <a:prstGeom prst="rect">
            <a:avLst/>
          </a:prstGeom>
          <a:noFill/>
        </p:spPr>
        <p:txBody>
          <a:bodyPr wrap="square" lIns="91440" tIns="45720" rIns="91440" bIns="45720" anchor="t">
            <a:spAutoFit/>
          </a:bodyPr>
          <a:lstStyle/>
          <a:p>
            <a:pPr>
              <a:spcAft>
                <a:spcPts val="600"/>
              </a:spcAft>
              <a:defRPr sz="1500" b="1">
                <a:solidFill>
                  <a:srgbClr val="095E4F"/>
                </a:solidFill>
                <a:latin typeface="Calibri"/>
              </a:defRPr>
            </a:pPr>
            <a:r>
              <a:rPr lang="en-IN" sz="1400" dirty="0">
                <a:latin typeface="Avenir Next" panose="020B0503020202020204" pitchFamily="34" charset="0"/>
              </a:rPr>
              <a:t>Primary &amp; Secondary Sources</a:t>
            </a:r>
          </a:p>
          <a:p>
            <a:pPr>
              <a:defRPr sz="1200" b="0">
                <a:solidFill>
                  <a:srgbClr val="3A3A4A"/>
                </a:solidFill>
                <a:latin typeface="Calibri"/>
              </a:defRPr>
            </a:pPr>
            <a:r>
              <a:rPr lang="en-IN" sz="1200" dirty="0">
                <a:latin typeface="Avenir Next" panose="020B0503020202020204" pitchFamily="34" charset="0"/>
              </a:rPr>
              <a:t>Indian statutes, judicial decisions (Supreme Court, NGT, foreign courts), regulatory instruments (SEBI BRSR, CCPA Guidelines, ASCI Guidelines, etc.), parliamentary reports, research papers.</a:t>
            </a:r>
            <a:endParaRPr lang="en-IN" sz="1200" dirty="0">
              <a:latin typeface="Avenir Next" panose="020B0503020202020204" pitchFamily="34" charset="0"/>
              <a:ea typeface="Calibri"/>
              <a:cs typeface="Calibri"/>
            </a:endParaRPr>
          </a:p>
          <a:p>
            <a:pPr algn="l">
              <a:spcAft>
                <a:spcPts val="0"/>
              </a:spcAft>
              <a:defRPr sz="1200" b="0">
                <a:solidFill>
                  <a:srgbClr val="3A3A4A"/>
                </a:solidFill>
                <a:latin typeface="Calibri"/>
              </a:defRPr>
            </a:pPr>
            <a:endParaRPr sz="1200" dirty="0">
              <a:latin typeface="Avenir Next" panose="020B0503020202020204" pitchFamily="34" charset="0"/>
            </a:endParaRPr>
          </a:p>
        </p:txBody>
      </p:sp>
      <p:sp>
        <p:nvSpPr>
          <p:cNvPr id="7" name="Rounded Rectangle 6"/>
          <p:cNvSpPr/>
          <p:nvPr/>
        </p:nvSpPr>
        <p:spPr>
          <a:xfrm>
            <a:off x="4389120" y="1508760"/>
            <a:ext cx="3383280" cy="1813020"/>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8" name="Rectangle 7"/>
          <p:cNvSpPr/>
          <p:nvPr/>
        </p:nvSpPr>
        <p:spPr>
          <a:xfrm>
            <a:off x="4480560" y="1645920"/>
            <a:ext cx="54864" cy="347472"/>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9" name="TextBox 8"/>
          <p:cNvSpPr txBox="1"/>
          <p:nvPr/>
        </p:nvSpPr>
        <p:spPr>
          <a:xfrm>
            <a:off x="4663440" y="1600200"/>
            <a:ext cx="2926080" cy="1492716"/>
          </a:xfrm>
          <a:prstGeom prst="rect">
            <a:avLst/>
          </a:prstGeom>
          <a:noFill/>
        </p:spPr>
        <p:txBody>
          <a:bodyPr wrap="square" lIns="91440" tIns="45720" rIns="91440" bIns="45720" anchor="t">
            <a:spAutoFit/>
          </a:bodyPr>
          <a:lstStyle/>
          <a:p>
            <a:pPr algn="l">
              <a:spcAft>
                <a:spcPts val="600"/>
              </a:spcAft>
              <a:defRPr sz="1500" b="1">
                <a:solidFill>
                  <a:srgbClr val="095E4F"/>
                </a:solidFill>
                <a:latin typeface="Calibri"/>
              </a:defRPr>
            </a:pPr>
            <a:r>
              <a:rPr lang="en-IN" sz="1400" dirty="0">
                <a:latin typeface="Avenir Next" panose="020B0503020202020204" pitchFamily="34" charset="0"/>
              </a:rPr>
              <a:t>Jurisprudential Analysis</a:t>
            </a:r>
          </a:p>
          <a:p>
            <a:pPr>
              <a:defRPr sz="1200" b="0">
                <a:solidFill>
                  <a:srgbClr val="3A3A4A"/>
                </a:solidFill>
                <a:latin typeface="Calibri"/>
              </a:defRPr>
            </a:pPr>
            <a:r>
              <a:rPr sz="1200" dirty="0" err="1">
                <a:latin typeface="Avenir Next" panose="020B0503020202020204" pitchFamily="34" charset="0"/>
              </a:rPr>
              <a:t>Hohfeldian</a:t>
            </a:r>
            <a:r>
              <a:rPr sz="1200" dirty="0">
                <a:latin typeface="Avenir Next" panose="020B0503020202020204" pitchFamily="34" charset="0"/>
              </a:rPr>
              <a:t> decomposition of corporate duties into precise legal relations. </a:t>
            </a:r>
            <a:endParaRPr lang="en-US" sz="1200" dirty="0">
              <a:latin typeface="Avenir Next" panose="020B0503020202020204" pitchFamily="34" charset="0"/>
            </a:endParaRPr>
          </a:p>
          <a:p>
            <a:pPr algn="l">
              <a:spcAft>
                <a:spcPts val="0"/>
              </a:spcAft>
              <a:defRPr sz="1200" b="0">
                <a:solidFill>
                  <a:srgbClr val="3A3A4A"/>
                </a:solidFill>
                <a:latin typeface="Calibri"/>
              </a:defRPr>
            </a:pPr>
            <a:r>
              <a:rPr lang="en-US" sz="1200" dirty="0">
                <a:latin typeface="Avenir Next" panose="020B0503020202020204" pitchFamily="34" charset="0"/>
              </a:rPr>
              <a:t>Principal-agent, legitimacy, stakeholder, decoupling, and institutional theory frameworks.</a:t>
            </a:r>
            <a:endParaRPr lang="en-US" sz="1100" dirty="0">
              <a:latin typeface="Avenir Next" panose="020B0503020202020204" pitchFamily="34" charset="0"/>
            </a:endParaRPr>
          </a:p>
        </p:txBody>
      </p:sp>
      <p:sp>
        <p:nvSpPr>
          <p:cNvPr id="10" name="Rounded Rectangle 9"/>
          <p:cNvSpPr/>
          <p:nvPr/>
        </p:nvSpPr>
        <p:spPr>
          <a:xfrm>
            <a:off x="8046720" y="1508760"/>
            <a:ext cx="3383280" cy="1691640"/>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11" name="Rectangle 10"/>
          <p:cNvSpPr/>
          <p:nvPr/>
        </p:nvSpPr>
        <p:spPr>
          <a:xfrm>
            <a:off x="8138160" y="1645920"/>
            <a:ext cx="54864" cy="347472"/>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12" name="TextBox 11"/>
          <p:cNvSpPr txBox="1"/>
          <p:nvPr/>
        </p:nvSpPr>
        <p:spPr>
          <a:xfrm>
            <a:off x="8321040" y="1600200"/>
            <a:ext cx="2926080" cy="1123384"/>
          </a:xfrm>
          <a:prstGeom prst="rect">
            <a:avLst/>
          </a:prstGeom>
          <a:noFill/>
        </p:spPr>
        <p:txBody>
          <a:bodyPr wrap="square" lIns="91440" tIns="45720" rIns="91440" bIns="45720" anchor="t">
            <a:spAutoFit/>
          </a:bodyPr>
          <a:lstStyle/>
          <a:p>
            <a:pPr algn="l">
              <a:spcAft>
                <a:spcPts val="600"/>
              </a:spcAft>
              <a:defRPr sz="1500" b="1">
                <a:solidFill>
                  <a:srgbClr val="095E4F"/>
                </a:solidFill>
                <a:latin typeface="Calibri"/>
              </a:defRPr>
            </a:pPr>
            <a:r>
              <a:rPr lang="en-IN" sz="1400" dirty="0">
                <a:latin typeface="Avenir Next" panose="020B0503020202020204" pitchFamily="34" charset="0"/>
              </a:rPr>
              <a:t>Comparative Legal Analysis</a:t>
            </a:r>
          </a:p>
          <a:p>
            <a:pPr>
              <a:defRPr sz="1200" b="0">
                <a:solidFill>
                  <a:srgbClr val="3A3A4A"/>
                </a:solidFill>
                <a:latin typeface="Calibri"/>
              </a:defRPr>
            </a:pPr>
            <a:r>
              <a:rPr sz="1200" dirty="0">
                <a:latin typeface="Avenir Next" panose="020B0503020202020204" pitchFamily="34" charset="0"/>
              </a:rPr>
              <a:t>Cross-jurisdictional study of EU (CSRD, Green Claims Directive), US (SEC Rules, FTC Green Guides), UK (FCA Rule, CMA),</a:t>
            </a:r>
            <a:r>
              <a:rPr lang="en-US" sz="1200" dirty="0">
                <a:latin typeface="Avenir Next" panose="020B0503020202020204" pitchFamily="34" charset="0"/>
              </a:rPr>
              <a:t> </a:t>
            </a:r>
            <a:r>
              <a:rPr sz="1200" dirty="0">
                <a:latin typeface="Avenir Next" panose="020B0503020202020204" pitchFamily="34" charset="0"/>
              </a:rPr>
              <a:t>Australia, and others.</a:t>
            </a:r>
          </a:p>
        </p:txBody>
      </p:sp>
      <p:sp>
        <p:nvSpPr>
          <p:cNvPr id="13" name="Rounded Rectangle 12"/>
          <p:cNvSpPr/>
          <p:nvPr/>
        </p:nvSpPr>
        <p:spPr>
          <a:xfrm>
            <a:off x="731520" y="3486312"/>
            <a:ext cx="3383280" cy="1691640"/>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14" name="Rectangle 13"/>
          <p:cNvSpPr/>
          <p:nvPr/>
        </p:nvSpPr>
        <p:spPr>
          <a:xfrm>
            <a:off x="822960" y="3623472"/>
            <a:ext cx="54864" cy="347472"/>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16" name="Rounded Rectangle 15"/>
          <p:cNvSpPr/>
          <p:nvPr/>
        </p:nvSpPr>
        <p:spPr>
          <a:xfrm>
            <a:off x="4389120" y="3486312"/>
            <a:ext cx="3383280" cy="1691640"/>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17" name="Rectangle 16"/>
          <p:cNvSpPr/>
          <p:nvPr/>
        </p:nvSpPr>
        <p:spPr>
          <a:xfrm>
            <a:off x="4480560" y="3623472"/>
            <a:ext cx="54864" cy="347472"/>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18" name="TextBox 17"/>
          <p:cNvSpPr txBox="1"/>
          <p:nvPr/>
        </p:nvSpPr>
        <p:spPr>
          <a:xfrm>
            <a:off x="960223" y="3623472"/>
            <a:ext cx="2926080" cy="1308050"/>
          </a:xfrm>
          <a:prstGeom prst="rect">
            <a:avLst/>
          </a:prstGeom>
          <a:noFill/>
        </p:spPr>
        <p:txBody>
          <a:bodyPr wrap="square" lIns="91440" tIns="45720" rIns="91440" bIns="45720" anchor="t">
            <a:spAutoFit/>
          </a:bodyPr>
          <a:lstStyle/>
          <a:p>
            <a:pPr>
              <a:spcAft>
                <a:spcPts val="600"/>
              </a:spcAft>
              <a:defRPr sz="1500" b="1">
                <a:solidFill>
                  <a:srgbClr val="095E4F"/>
                </a:solidFill>
                <a:latin typeface="Calibri"/>
              </a:defRPr>
            </a:pPr>
            <a:r>
              <a:rPr lang="en-IN" sz="1400" dirty="0">
                <a:latin typeface="Avenir Next" panose="020B0503020202020204" pitchFamily="34" charset="0"/>
              </a:rPr>
              <a:t>Statutory Interpretation</a:t>
            </a:r>
          </a:p>
          <a:p>
            <a:pPr>
              <a:defRPr sz="1200" b="0">
                <a:solidFill>
                  <a:srgbClr val="3A3A4A"/>
                </a:solidFill>
                <a:latin typeface="Calibri"/>
              </a:defRPr>
            </a:pPr>
            <a:r>
              <a:rPr lang="en-IN" sz="1200" dirty="0">
                <a:latin typeface="Avenir Next" panose="020B0503020202020204" pitchFamily="34" charset="0"/>
              </a:rPr>
              <a:t>Textual, contextual and purposive analysis of the Companies Act 2013, Consumer Protection Act 2019, Environment Protection Act 1986 (EPA), and SEBI LODR Regulations.</a:t>
            </a:r>
            <a:endParaRPr lang="en-IN" sz="1200" dirty="0">
              <a:latin typeface="Avenir Next" panose="020B0503020202020204" pitchFamily="34" charset="0"/>
              <a:ea typeface="Calibri"/>
              <a:cs typeface="Calibri"/>
            </a:endParaRPr>
          </a:p>
        </p:txBody>
      </p:sp>
      <p:sp>
        <p:nvSpPr>
          <p:cNvPr id="19" name="Rounded Rectangle 18"/>
          <p:cNvSpPr/>
          <p:nvPr/>
        </p:nvSpPr>
        <p:spPr>
          <a:xfrm>
            <a:off x="8046720" y="3486312"/>
            <a:ext cx="3383280" cy="1691640"/>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20" name="Rectangle 19"/>
          <p:cNvSpPr/>
          <p:nvPr/>
        </p:nvSpPr>
        <p:spPr>
          <a:xfrm>
            <a:off x="8138160" y="3623472"/>
            <a:ext cx="54864" cy="347472"/>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latin typeface="Avenir Next" panose="020B0503020202020204" pitchFamily="34" charset="0"/>
            </a:endParaRPr>
          </a:p>
        </p:txBody>
      </p:sp>
      <p:sp>
        <p:nvSpPr>
          <p:cNvPr id="21" name="TextBox 20"/>
          <p:cNvSpPr txBox="1"/>
          <p:nvPr/>
        </p:nvSpPr>
        <p:spPr>
          <a:xfrm>
            <a:off x="4632807" y="3623472"/>
            <a:ext cx="2926080" cy="1123384"/>
          </a:xfrm>
          <a:prstGeom prst="rect">
            <a:avLst/>
          </a:prstGeom>
          <a:noFill/>
        </p:spPr>
        <p:txBody>
          <a:bodyPr wrap="square" lIns="91440" tIns="45720" rIns="91440" bIns="45720" anchor="t">
            <a:spAutoFit/>
          </a:bodyPr>
          <a:lstStyle/>
          <a:p>
            <a:pPr algn="l">
              <a:spcAft>
                <a:spcPts val="600"/>
              </a:spcAft>
              <a:defRPr sz="1500" b="1">
                <a:solidFill>
                  <a:srgbClr val="095E4F"/>
                </a:solidFill>
                <a:latin typeface="Calibri"/>
              </a:defRPr>
            </a:pPr>
            <a:r>
              <a:rPr lang="en-IN" sz="1400" dirty="0">
                <a:latin typeface="Avenir Next" panose="020B0503020202020204" pitchFamily="34" charset="0"/>
              </a:rPr>
              <a:t>Lex Lata vs. Lex Ferenda</a:t>
            </a:r>
          </a:p>
          <a:p>
            <a:pPr algn="l">
              <a:spcAft>
                <a:spcPts val="0"/>
              </a:spcAft>
              <a:defRPr sz="1200" b="0">
                <a:solidFill>
                  <a:srgbClr val="3A3A4A"/>
                </a:solidFill>
                <a:latin typeface="Calibri"/>
              </a:defRPr>
            </a:pPr>
            <a:r>
              <a:rPr sz="1200" dirty="0">
                <a:latin typeface="Avenir Next" panose="020B0503020202020204" pitchFamily="34" charset="0"/>
              </a:rPr>
              <a:t>Explicit distinction between what the law currently provides (analysis) and what it should provide (normative reform proposals).</a:t>
            </a:r>
          </a:p>
        </p:txBody>
      </p:sp>
      <p:sp>
        <p:nvSpPr>
          <p:cNvPr id="22" name="TextBox 21"/>
          <p:cNvSpPr txBox="1"/>
          <p:nvPr/>
        </p:nvSpPr>
        <p:spPr>
          <a:xfrm>
            <a:off x="731520" y="5426514"/>
            <a:ext cx="10698480" cy="307777"/>
          </a:xfrm>
          <a:prstGeom prst="rect">
            <a:avLst/>
          </a:prstGeom>
          <a:noFill/>
        </p:spPr>
        <p:txBody>
          <a:bodyPr wrap="square" lIns="91440" tIns="45720" rIns="91440" bIns="45720" anchor="t">
            <a:spAutoFit/>
          </a:bodyPr>
          <a:lstStyle/>
          <a:p>
            <a:pPr algn="l">
              <a:spcAft>
                <a:spcPts val="600"/>
              </a:spcAft>
              <a:defRPr sz="1300" b="0">
                <a:solidFill>
                  <a:srgbClr val="6B6B7B"/>
                </a:solidFill>
                <a:latin typeface="Calibri"/>
              </a:defRPr>
            </a:pPr>
            <a:r>
              <a:rPr sz="1400" dirty="0"/>
              <a:t>Nature of Study:  Qualitative, analytical, and comparative — focused on identification, analysis and synthesis of legal rules and standards.</a:t>
            </a:r>
          </a:p>
        </p:txBody>
      </p:sp>
      <p:sp>
        <p:nvSpPr>
          <p:cNvPr id="15" name="TextBox 14"/>
          <p:cNvSpPr txBox="1"/>
          <p:nvPr/>
        </p:nvSpPr>
        <p:spPr>
          <a:xfrm>
            <a:off x="8284464" y="3623472"/>
            <a:ext cx="2926080" cy="1308050"/>
          </a:xfrm>
          <a:prstGeom prst="rect">
            <a:avLst/>
          </a:prstGeom>
          <a:noFill/>
        </p:spPr>
        <p:txBody>
          <a:bodyPr wrap="square" lIns="91440" tIns="45720" rIns="91440" bIns="45720" anchor="t">
            <a:spAutoFit/>
          </a:bodyPr>
          <a:lstStyle/>
          <a:p>
            <a:pPr algn="l">
              <a:spcAft>
                <a:spcPts val="600"/>
              </a:spcAft>
              <a:defRPr sz="1500" b="1">
                <a:solidFill>
                  <a:srgbClr val="095E4F"/>
                </a:solidFill>
                <a:latin typeface="Calibri"/>
              </a:defRPr>
            </a:pPr>
            <a:r>
              <a:rPr lang="en-IN" sz="1400" dirty="0">
                <a:latin typeface="Avenir Next" panose="020B0503020202020204" pitchFamily="34" charset="0"/>
              </a:rPr>
              <a:t>Critical Regulatory Assessment</a:t>
            </a:r>
          </a:p>
          <a:p>
            <a:pPr>
              <a:defRPr sz="1200" b="0">
                <a:solidFill>
                  <a:srgbClr val="3A3A4A"/>
                </a:solidFill>
                <a:latin typeface="Calibri"/>
              </a:defRPr>
            </a:pPr>
            <a:r>
              <a:rPr sz="1200" dirty="0">
                <a:latin typeface="Avenir Next" panose="020B0503020202020204" pitchFamily="34" charset="0"/>
              </a:rPr>
              <a:t>Mapping </a:t>
            </a:r>
            <a:r>
              <a:rPr lang="en-US" sz="1200" dirty="0">
                <a:latin typeface="Avenir Next" panose="020B0503020202020204" pitchFamily="34" charset="0"/>
              </a:rPr>
              <a:t>design issues and coordination issues </a:t>
            </a:r>
            <a:r>
              <a:rPr sz="1200" dirty="0">
                <a:latin typeface="Avenir Next" panose="020B0503020202020204" pitchFamily="34" charset="0"/>
              </a:rPr>
              <a:t>between MCA, SEBI, CCPA, ASCI, FSSAI, NGT, and BIS — identifying gaps, penalty arbitrage, and regulatory backsliding.</a:t>
            </a:r>
          </a:p>
        </p:txBody>
      </p:sp>
      <p:sp>
        <p:nvSpPr>
          <p:cNvPr id="25" name="Rectangle 24">
            <a:extLst>
              <a:ext uri="{FF2B5EF4-FFF2-40B4-BE49-F238E27FC236}">
                <a16:creationId xmlns:a16="http://schemas.microsoft.com/office/drawing/2014/main" id="{F63913AA-4ABF-4507-4BA4-0FBD2CFFE5C4}"/>
              </a:ext>
            </a:extLst>
          </p:cNvPr>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2" name="Rectangle 1"/>
          <p:cNvSpPr/>
          <p:nvPr/>
        </p:nvSpPr>
        <p:spPr>
          <a:xfrm>
            <a:off x="731520" y="502920"/>
            <a:ext cx="64008" cy="457200"/>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428064"/>
            <a:ext cx="10058400" cy="584775"/>
          </a:xfrm>
          <a:prstGeom prst="rect">
            <a:avLst/>
          </a:prstGeom>
          <a:noFill/>
        </p:spPr>
        <p:txBody>
          <a:bodyPr wrap="square">
            <a:spAutoFit/>
          </a:bodyPr>
          <a:lstStyle/>
          <a:p>
            <a:pPr algn="l">
              <a:spcAft>
                <a:spcPts val="600"/>
              </a:spcAft>
              <a:defRPr sz="3000" b="1">
                <a:solidFill>
                  <a:srgbClr val="1B1B2F"/>
                </a:solidFill>
                <a:latin typeface="Calibri Light"/>
              </a:defRPr>
            </a:pPr>
            <a:r>
              <a:rPr sz="3200" b="1" dirty="0">
                <a:solidFill>
                  <a:srgbClr val="173F35"/>
                </a:solidFill>
                <a:latin typeface="Avenir Next Demi Bold"/>
              </a:rPr>
              <a:t>Research Gap</a:t>
            </a:r>
          </a:p>
        </p:txBody>
      </p:sp>
      <p:sp>
        <p:nvSpPr>
          <p:cNvPr id="4" name="TextBox 3"/>
          <p:cNvSpPr txBox="1"/>
          <p:nvPr/>
        </p:nvSpPr>
        <p:spPr>
          <a:xfrm>
            <a:off x="731520" y="1251794"/>
            <a:ext cx="10698480" cy="523220"/>
          </a:xfrm>
          <a:prstGeom prst="rect">
            <a:avLst/>
          </a:prstGeom>
          <a:noFill/>
        </p:spPr>
        <p:txBody>
          <a:bodyPr wrap="square" lIns="91440" tIns="45720" rIns="91440" bIns="45720" anchor="t">
            <a:spAutoFit/>
          </a:bodyPr>
          <a:lstStyle/>
          <a:p>
            <a:pPr>
              <a:defRPr sz="1400" b="0">
                <a:solidFill>
                  <a:srgbClr val="6B6B7B"/>
                </a:solidFill>
                <a:latin typeface="Calibri"/>
              </a:defRPr>
            </a:pPr>
            <a:r>
              <a:rPr dirty="0"/>
              <a:t>Existing scholarship treats greenwashing primarily as a marketing malpractice. </a:t>
            </a:r>
            <a:r>
              <a:rPr lang="en-US" dirty="0"/>
              <a:t>This research analyses the legal architecture flaws from a comparative standpoint.</a:t>
            </a:r>
            <a:endParaRPr lang="en-US" dirty="0">
              <a:ea typeface="Calibri"/>
              <a:cs typeface="Calibri"/>
            </a:endParaRPr>
          </a:p>
        </p:txBody>
      </p:sp>
      <p:sp>
        <p:nvSpPr>
          <p:cNvPr id="5" name="Rounded Rectangle 4"/>
          <p:cNvSpPr/>
          <p:nvPr/>
        </p:nvSpPr>
        <p:spPr>
          <a:xfrm>
            <a:off x="746974" y="1965959"/>
            <a:ext cx="5196625" cy="113867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6" name="Rounded Rectangle 5"/>
          <p:cNvSpPr/>
          <p:nvPr/>
        </p:nvSpPr>
        <p:spPr>
          <a:xfrm>
            <a:off x="824586" y="2103120"/>
            <a:ext cx="547013" cy="318828"/>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a:latin typeface="Avenir Next" panose="020B0503020202020204" pitchFamily="34" charset="0"/>
              </a:rPr>
              <a:t>Gap 1</a:t>
            </a:r>
          </a:p>
        </p:txBody>
      </p:sp>
      <p:sp>
        <p:nvSpPr>
          <p:cNvPr id="7" name="TextBox 6"/>
          <p:cNvSpPr txBox="1"/>
          <p:nvPr/>
        </p:nvSpPr>
        <p:spPr>
          <a:xfrm>
            <a:off x="1475918" y="2020824"/>
            <a:ext cx="4330521" cy="1056700"/>
          </a:xfrm>
          <a:prstGeom prst="rect">
            <a:avLst/>
          </a:prstGeom>
          <a:noFill/>
        </p:spPr>
        <p:txBody>
          <a:bodyPr wrap="square">
            <a:spAutoFit/>
          </a:bodyPr>
          <a:lstStyle/>
          <a:p>
            <a:pPr algn="l">
              <a:spcAft>
                <a:spcPts val="200"/>
              </a:spcAft>
              <a:defRPr sz="1300" b="1">
                <a:solidFill>
                  <a:srgbClr val="095E4F"/>
                </a:solidFill>
                <a:latin typeface="Calibri"/>
              </a:defRPr>
            </a:pPr>
            <a:r>
              <a:rPr dirty="0">
                <a:latin typeface="Avenir Next" panose="020B0503020202020204" pitchFamily="34" charset="0"/>
              </a:rPr>
              <a:t>Board-Level Accountability</a:t>
            </a:r>
          </a:p>
          <a:p>
            <a:pPr algn="l">
              <a:spcAft>
                <a:spcPts val="0"/>
              </a:spcAft>
              <a:defRPr sz="1100" b="0">
                <a:solidFill>
                  <a:srgbClr val="3A3A4A"/>
                </a:solidFill>
                <a:latin typeface="Calibri"/>
              </a:defRPr>
            </a:pPr>
            <a:r>
              <a:rPr sz="1200" dirty="0">
                <a:latin typeface="Avenir Next" panose="020B0503020202020204" pitchFamily="34" charset="0"/>
              </a:rPr>
              <a:t>Limited doctrinal work on invoking Section 166(2) for greenwashing-type conduct — misleading sustainability claims in annual reports, ESG disclosures, or corporate communications.</a:t>
            </a:r>
          </a:p>
        </p:txBody>
      </p:sp>
      <p:sp>
        <p:nvSpPr>
          <p:cNvPr id="8" name="Rounded Rectangle 7"/>
          <p:cNvSpPr/>
          <p:nvPr/>
        </p:nvSpPr>
        <p:spPr>
          <a:xfrm>
            <a:off x="746974" y="3059841"/>
            <a:ext cx="5196625" cy="113867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9" name="Rounded Rectangle 8"/>
          <p:cNvSpPr/>
          <p:nvPr/>
        </p:nvSpPr>
        <p:spPr>
          <a:xfrm>
            <a:off x="824586" y="3197002"/>
            <a:ext cx="547013" cy="318828"/>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a:latin typeface="Avenir Next" panose="020B0503020202020204" pitchFamily="34" charset="0"/>
              </a:rPr>
              <a:t>Gap 2</a:t>
            </a:r>
          </a:p>
        </p:txBody>
      </p:sp>
      <p:sp>
        <p:nvSpPr>
          <p:cNvPr id="10" name="TextBox 9"/>
          <p:cNvSpPr txBox="1"/>
          <p:nvPr/>
        </p:nvSpPr>
        <p:spPr>
          <a:xfrm>
            <a:off x="1475918" y="3114706"/>
            <a:ext cx="4330521" cy="872034"/>
          </a:xfrm>
          <a:prstGeom prst="rect">
            <a:avLst/>
          </a:prstGeom>
          <a:noFill/>
        </p:spPr>
        <p:txBody>
          <a:bodyPr wrap="square">
            <a:spAutoFit/>
          </a:bodyPr>
          <a:lstStyle/>
          <a:p>
            <a:pPr algn="l">
              <a:spcAft>
                <a:spcPts val="200"/>
              </a:spcAft>
              <a:defRPr sz="1300" b="1">
                <a:solidFill>
                  <a:srgbClr val="095E4F"/>
                </a:solidFill>
                <a:latin typeface="Calibri"/>
              </a:defRPr>
            </a:pPr>
            <a:r>
              <a:rPr dirty="0">
                <a:latin typeface="Avenir Next" panose="020B0503020202020204" pitchFamily="34" charset="0"/>
              </a:rPr>
              <a:t>Regulatory Fragmentation as Structural Cause</a:t>
            </a:r>
          </a:p>
          <a:p>
            <a:pPr algn="l">
              <a:spcAft>
                <a:spcPts val="0"/>
              </a:spcAft>
              <a:defRPr sz="1100" b="0">
                <a:solidFill>
                  <a:srgbClr val="3A3A4A"/>
                </a:solidFill>
                <a:latin typeface="Calibri"/>
              </a:defRPr>
            </a:pPr>
            <a:r>
              <a:rPr sz="1200" dirty="0">
                <a:latin typeface="Avenir Next" panose="020B0503020202020204" pitchFamily="34" charset="0"/>
              </a:rPr>
              <a:t>Environmental claims policed through overlapping but siloed regimes (MCA, SEBI, CCPA/ASCI) — creating jurisdictional uncertainty and the 'accountability vacuum.'</a:t>
            </a:r>
          </a:p>
        </p:txBody>
      </p:sp>
      <p:sp>
        <p:nvSpPr>
          <p:cNvPr id="11" name="Rounded Rectangle 10"/>
          <p:cNvSpPr/>
          <p:nvPr/>
        </p:nvSpPr>
        <p:spPr>
          <a:xfrm>
            <a:off x="746974" y="4111186"/>
            <a:ext cx="5196625" cy="113867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2" name="Rounded Rectangle 11"/>
          <p:cNvSpPr/>
          <p:nvPr/>
        </p:nvSpPr>
        <p:spPr>
          <a:xfrm>
            <a:off x="824586" y="4248347"/>
            <a:ext cx="547013" cy="318828"/>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a:latin typeface="Avenir Next" panose="020B0503020202020204" pitchFamily="34" charset="0"/>
              </a:rPr>
              <a:t>Gap 3</a:t>
            </a:r>
          </a:p>
        </p:txBody>
      </p:sp>
      <p:sp>
        <p:nvSpPr>
          <p:cNvPr id="13" name="TextBox 12"/>
          <p:cNvSpPr txBox="1"/>
          <p:nvPr/>
        </p:nvSpPr>
        <p:spPr>
          <a:xfrm>
            <a:off x="1475918" y="4166051"/>
            <a:ext cx="4330521" cy="1056700"/>
          </a:xfrm>
          <a:prstGeom prst="rect">
            <a:avLst/>
          </a:prstGeom>
          <a:noFill/>
        </p:spPr>
        <p:txBody>
          <a:bodyPr wrap="square">
            <a:spAutoFit/>
          </a:bodyPr>
          <a:lstStyle/>
          <a:p>
            <a:pPr algn="l">
              <a:spcAft>
                <a:spcPts val="200"/>
              </a:spcAft>
              <a:defRPr sz="1300" b="1">
                <a:solidFill>
                  <a:srgbClr val="095E4F"/>
                </a:solidFill>
                <a:latin typeface="Calibri"/>
              </a:defRPr>
            </a:pPr>
            <a:r>
              <a:rPr dirty="0">
                <a:latin typeface="Avenir Next" panose="020B0503020202020204" pitchFamily="34" charset="0"/>
              </a:rPr>
              <a:t>Verification Gap</a:t>
            </a:r>
          </a:p>
          <a:p>
            <a:pPr algn="l">
              <a:spcAft>
                <a:spcPts val="0"/>
              </a:spcAft>
              <a:defRPr sz="1100" b="0">
                <a:solidFill>
                  <a:srgbClr val="3A3A4A"/>
                </a:solidFill>
                <a:latin typeface="Calibri"/>
              </a:defRPr>
            </a:pPr>
            <a:r>
              <a:rPr sz="1200" dirty="0">
                <a:latin typeface="Avenir Next" panose="020B0503020202020204" pitchFamily="34" charset="0"/>
              </a:rPr>
              <a:t>Move from voluntary CSR to mandatory ESG disclosure has not translated into reliable substantiation. Assurance models and evidentiary burdens remain insufficiently mapped.</a:t>
            </a:r>
          </a:p>
        </p:txBody>
      </p:sp>
      <p:sp>
        <p:nvSpPr>
          <p:cNvPr id="14" name="Rounded Rectangle 13"/>
          <p:cNvSpPr/>
          <p:nvPr/>
        </p:nvSpPr>
        <p:spPr>
          <a:xfrm>
            <a:off x="6233374" y="1965959"/>
            <a:ext cx="5196625" cy="113867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5" name="Rounded Rectangle 14"/>
          <p:cNvSpPr/>
          <p:nvPr/>
        </p:nvSpPr>
        <p:spPr>
          <a:xfrm>
            <a:off x="6310986" y="2103120"/>
            <a:ext cx="547013" cy="318828"/>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a:latin typeface="Avenir Next" panose="020B0503020202020204" pitchFamily="34" charset="0"/>
              </a:rPr>
              <a:t>Gap 4</a:t>
            </a:r>
          </a:p>
        </p:txBody>
      </p:sp>
      <p:sp>
        <p:nvSpPr>
          <p:cNvPr id="16" name="TextBox 15"/>
          <p:cNvSpPr txBox="1"/>
          <p:nvPr/>
        </p:nvSpPr>
        <p:spPr>
          <a:xfrm>
            <a:off x="6962318" y="2020824"/>
            <a:ext cx="4330521" cy="872034"/>
          </a:xfrm>
          <a:prstGeom prst="rect">
            <a:avLst/>
          </a:prstGeom>
          <a:noFill/>
        </p:spPr>
        <p:txBody>
          <a:bodyPr wrap="square">
            <a:spAutoFit/>
          </a:bodyPr>
          <a:lstStyle/>
          <a:p>
            <a:pPr algn="l">
              <a:spcAft>
                <a:spcPts val="200"/>
              </a:spcAft>
              <a:defRPr sz="1300" b="1">
                <a:solidFill>
                  <a:srgbClr val="095E4F"/>
                </a:solidFill>
                <a:latin typeface="Calibri"/>
              </a:defRPr>
            </a:pPr>
            <a:r>
              <a:rPr dirty="0">
                <a:latin typeface="Avenir Next" panose="020B0503020202020204" pitchFamily="34" charset="0"/>
              </a:rPr>
              <a:t>Evolving Forms of Greenwashing</a:t>
            </a:r>
          </a:p>
          <a:p>
            <a:pPr algn="l">
              <a:spcAft>
                <a:spcPts val="0"/>
              </a:spcAft>
              <a:defRPr sz="1100" b="0">
                <a:solidFill>
                  <a:srgbClr val="3A3A4A"/>
                </a:solidFill>
                <a:latin typeface="Calibri"/>
              </a:defRPr>
            </a:pPr>
            <a:r>
              <a:rPr sz="1200" dirty="0">
                <a:latin typeface="Avenir Next" panose="020B0503020202020204" pitchFamily="34" charset="0"/>
              </a:rPr>
              <a:t>'</a:t>
            </a:r>
            <a:r>
              <a:rPr sz="1200" dirty="0" err="1">
                <a:latin typeface="Avenir Next" panose="020B0503020202020204" pitchFamily="34" charset="0"/>
              </a:rPr>
              <a:t>Futurewashing</a:t>
            </a:r>
            <a:r>
              <a:rPr sz="1200" dirty="0">
                <a:latin typeface="Avenir Next" panose="020B0503020202020204" pitchFamily="34" charset="0"/>
              </a:rPr>
              <a:t>' through extended net-zero timelines (e.g. India's 2070 target) and carbon-offset-based claims are addressed only indirectly in current frameworks.</a:t>
            </a:r>
          </a:p>
        </p:txBody>
      </p:sp>
      <p:sp>
        <p:nvSpPr>
          <p:cNvPr id="17" name="Rounded Rectangle 16"/>
          <p:cNvSpPr/>
          <p:nvPr/>
        </p:nvSpPr>
        <p:spPr>
          <a:xfrm>
            <a:off x="6233374" y="3059841"/>
            <a:ext cx="5196625" cy="113867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8" name="Rounded Rectangle 17"/>
          <p:cNvSpPr/>
          <p:nvPr/>
        </p:nvSpPr>
        <p:spPr>
          <a:xfrm>
            <a:off x="6310986" y="3197002"/>
            <a:ext cx="547013" cy="318828"/>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a:latin typeface="Avenir Next" panose="020B0503020202020204" pitchFamily="34" charset="0"/>
              </a:rPr>
              <a:t>Gap 5</a:t>
            </a:r>
          </a:p>
        </p:txBody>
      </p:sp>
      <p:sp>
        <p:nvSpPr>
          <p:cNvPr id="19" name="TextBox 18"/>
          <p:cNvSpPr txBox="1"/>
          <p:nvPr/>
        </p:nvSpPr>
        <p:spPr>
          <a:xfrm>
            <a:off x="6962318" y="3114706"/>
            <a:ext cx="4330521" cy="872034"/>
          </a:xfrm>
          <a:prstGeom prst="rect">
            <a:avLst/>
          </a:prstGeom>
          <a:noFill/>
        </p:spPr>
        <p:txBody>
          <a:bodyPr wrap="square">
            <a:spAutoFit/>
          </a:bodyPr>
          <a:lstStyle/>
          <a:p>
            <a:pPr algn="l">
              <a:spcAft>
                <a:spcPts val="200"/>
              </a:spcAft>
              <a:defRPr sz="1300" b="1">
                <a:solidFill>
                  <a:srgbClr val="095E4F"/>
                </a:solidFill>
                <a:latin typeface="Calibri"/>
              </a:defRPr>
            </a:pPr>
            <a:r>
              <a:rPr dirty="0">
                <a:latin typeface="Avenir Next" panose="020B0503020202020204" pitchFamily="34" charset="0"/>
              </a:rPr>
              <a:t>Enforcement Analysis</a:t>
            </a:r>
          </a:p>
          <a:p>
            <a:pPr algn="l">
              <a:spcAft>
                <a:spcPts val="0"/>
              </a:spcAft>
              <a:defRPr sz="1100" b="0">
                <a:solidFill>
                  <a:srgbClr val="3A3A4A"/>
                </a:solidFill>
                <a:latin typeface="Calibri"/>
              </a:defRPr>
            </a:pPr>
            <a:r>
              <a:rPr sz="1200" dirty="0">
                <a:latin typeface="Avenir Next" panose="020B0503020202020204" pitchFamily="34" charset="0"/>
              </a:rPr>
              <a:t>Limited consolidated analysis of how regulators have acted (or failed to act) against greenwashing, including post-October 2024 CCPA actions and SEBI enforcement.</a:t>
            </a:r>
          </a:p>
        </p:txBody>
      </p:sp>
      <p:sp>
        <p:nvSpPr>
          <p:cNvPr id="20" name="Rounded Rectangle 19"/>
          <p:cNvSpPr/>
          <p:nvPr/>
        </p:nvSpPr>
        <p:spPr>
          <a:xfrm>
            <a:off x="731520" y="5485492"/>
            <a:ext cx="10698480" cy="777240"/>
          </a:xfrm>
          <a:prstGeom prst="roundRect">
            <a:avLst/>
          </a:prstGeom>
          <a:solidFill>
            <a:srgbClr val="E8F5F2"/>
          </a:solidFill>
          <a:ln w="12700">
            <a:solidFill>
              <a:srgbClr val="0E8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5531212"/>
            <a:ext cx="10332720" cy="685800"/>
          </a:xfrm>
          <a:prstGeom prst="rect">
            <a:avLst/>
          </a:prstGeom>
          <a:noFill/>
        </p:spPr>
        <p:txBody>
          <a:bodyPr wrap="square">
            <a:spAutoFit/>
          </a:bodyPr>
          <a:lstStyle/>
          <a:p>
            <a:pPr algn="l">
              <a:spcAft>
                <a:spcPts val="400"/>
              </a:spcAft>
              <a:defRPr sz="1200" b="1">
                <a:solidFill>
                  <a:srgbClr val="095E4F"/>
                </a:solidFill>
                <a:latin typeface="Calibri"/>
              </a:defRPr>
            </a:pPr>
            <a:r>
              <a:rPr dirty="0"/>
              <a:t>THIS STUDY ADDRESSES THESE GAPS BY:</a:t>
            </a:r>
          </a:p>
          <a:p>
            <a:pPr algn="l">
              <a:spcAft>
                <a:spcPts val="0"/>
              </a:spcAft>
              <a:defRPr sz="1200" b="0">
                <a:solidFill>
                  <a:srgbClr val="3A3A4A"/>
                </a:solidFill>
                <a:latin typeface="Calibri"/>
              </a:defRPr>
            </a:pPr>
            <a:r>
              <a:rPr dirty="0"/>
              <a:t>Treating greenwashing as a corporate accountability problem at the intersection of company law, securities disclosure, and consumer protection — mapping duties, evaluating fragmentation &amp; assurance, and using comparative insights to propose an integrated liability framework.</a:t>
            </a:r>
          </a:p>
        </p:txBody>
      </p:sp>
      <p:sp>
        <p:nvSpPr>
          <p:cNvPr id="24" name="Rectangle 23">
            <a:extLst>
              <a:ext uri="{FF2B5EF4-FFF2-40B4-BE49-F238E27FC236}">
                <a16:creationId xmlns:a16="http://schemas.microsoft.com/office/drawing/2014/main" id="{65F00659-9CE2-A957-5E85-80F06183DC39}"/>
              </a:ext>
            </a:extLst>
          </p:cNvPr>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a:extLst>
            <a:ext uri="{FF2B5EF4-FFF2-40B4-BE49-F238E27FC236}">
              <a16:creationId xmlns:a16="http://schemas.microsoft.com/office/drawing/2014/main" id="{414D469F-7263-64C3-2E1A-70B9676F18A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21EB9F-65DC-0F49-3673-A34C8E938742}"/>
              </a:ext>
            </a:extLst>
          </p:cNvPr>
          <p:cNvSpPr/>
          <p:nvPr/>
        </p:nvSpPr>
        <p:spPr>
          <a:xfrm>
            <a:off x="731520" y="502920"/>
            <a:ext cx="64008" cy="457200"/>
          </a:xfrm>
          <a:prstGeom prst="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655C5FDB-15DA-9434-851A-9DCEEEC993A0}"/>
              </a:ext>
            </a:extLst>
          </p:cNvPr>
          <p:cNvSpPr txBox="1"/>
          <p:nvPr/>
        </p:nvSpPr>
        <p:spPr>
          <a:xfrm>
            <a:off x="903767" y="428064"/>
            <a:ext cx="10058400" cy="584775"/>
          </a:xfrm>
          <a:prstGeom prst="rect">
            <a:avLst/>
          </a:prstGeom>
          <a:noFill/>
        </p:spPr>
        <p:txBody>
          <a:bodyPr wrap="square" lIns="91440" tIns="45720" rIns="91440" bIns="45720" anchor="t">
            <a:spAutoFit/>
          </a:bodyPr>
          <a:lstStyle/>
          <a:p>
            <a:pPr>
              <a:spcAft>
                <a:spcPts val="600"/>
              </a:spcAft>
              <a:defRPr sz="3000" b="1">
                <a:solidFill>
                  <a:srgbClr val="1B1B2F"/>
                </a:solidFill>
                <a:latin typeface="Calibri Light"/>
              </a:defRPr>
            </a:pPr>
            <a:r>
              <a:rPr lang="en-US" sz="3200" b="1" dirty="0" err="1">
                <a:solidFill>
                  <a:srgbClr val="173F35"/>
                </a:solidFill>
                <a:latin typeface="Avenir Next Demi Bold"/>
              </a:rPr>
              <a:t>Chapterization</a:t>
            </a:r>
            <a:r>
              <a:rPr lang="en-US" sz="3200" b="1" dirty="0">
                <a:solidFill>
                  <a:srgbClr val="173F35"/>
                </a:solidFill>
                <a:latin typeface="Avenir Next Demi Bold"/>
              </a:rPr>
              <a:t> Scheme</a:t>
            </a:r>
            <a:r>
              <a:rPr lang="en-IN" sz="3200" b="1" dirty="0">
                <a:solidFill>
                  <a:srgbClr val="173F35"/>
                </a:solidFill>
                <a:latin typeface="Avenir Next Demi Bold"/>
              </a:rPr>
              <a:t> </a:t>
            </a:r>
            <a:endParaRPr sz="3200" b="1" dirty="0">
              <a:solidFill>
                <a:srgbClr val="173F35"/>
              </a:solidFill>
              <a:latin typeface="Avenir Next Demi Bold"/>
            </a:endParaRPr>
          </a:p>
        </p:txBody>
      </p:sp>
      <p:sp>
        <p:nvSpPr>
          <p:cNvPr id="20" name="Rounded Rectangle 19">
            <a:extLst>
              <a:ext uri="{FF2B5EF4-FFF2-40B4-BE49-F238E27FC236}">
                <a16:creationId xmlns:a16="http://schemas.microsoft.com/office/drawing/2014/main" id="{4BB8293B-4D33-088C-E1E0-5243AAA66B85}"/>
              </a:ext>
            </a:extLst>
          </p:cNvPr>
          <p:cNvSpPr/>
          <p:nvPr/>
        </p:nvSpPr>
        <p:spPr>
          <a:xfrm>
            <a:off x="731520" y="1233378"/>
            <a:ext cx="10698480" cy="4784654"/>
          </a:xfrm>
          <a:prstGeom prst="roundRect">
            <a:avLst/>
          </a:prstGeom>
          <a:solidFill>
            <a:srgbClr val="E8F5F2"/>
          </a:solidFill>
          <a:ln w="12700">
            <a:solidFill>
              <a:srgbClr val="0E8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ECC1D241-AE9B-9456-557F-8AA8C4E73E91}"/>
              </a:ext>
            </a:extLst>
          </p:cNvPr>
          <p:cNvSpPr txBox="1"/>
          <p:nvPr/>
        </p:nvSpPr>
        <p:spPr>
          <a:xfrm>
            <a:off x="1431317" y="1744935"/>
            <a:ext cx="7549117" cy="3088025"/>
          </a:xfrm>
          <a:prstGeom prst="rect">
            <a:avLst/>
          </a:prstGeom>
          <a:noFill/>
        </p:spPr>
        <p:txBody>
          <a:bodyPr wrap="square" lIns="91440" tIns="45720" rIns="91440" bIns="45720" anchor="t">
            <a:spAutoFit/>
          </a:bodyPr>
          <a:lstStyle/>
          <a:p>
            <a:pPr algn="l">
              <a:spcAft>
                <a:spcPts val="400"/>
              </a:spcAft>
              <a:defRPr sz="1200" b="1">
                <a:solidFill>
                  <a:srgbClr val="095E4F"/>
                </a:solidFill>
                <a:latin typeface="Calibri"/>
              </a:defRPr>
            </a:pPr>
            <a:r>
              <a:rPr dirty="0"/>
              <a:t>THIS STUDY</a:t>
            </a:r>
            <a:r>
              <a:rPr lang="en-US" dirty="0"/>
              <a:t> COMPRISES OF FOLLOWING SIX CHAPTERS-</a:t>
            </a:r>
          </a:p>
          <a:p>
            <a:pPr algn="l">
              <a:spcAft>
                <a:spcPts val="400"/>
              </a:spcAft>
              <a:defRPr sz="1200" b="1">
                <a:solidFill>
                  <a:srgbClr val="095E4F"/>
                </a:solidFill>
                <a:latin typeface="Calibri"/>
              </a:defRPr>
            </a:pPr>
            <a:endParaRPr lang="en-US" sz="1400" dirty="0"/>
          </a:p>
          <a:p>
            <a:pPr marL="228600" indent="-228600" algn="l">
              <a:lnSpc>
                <a:spcPct val="150000"/>
              </a:lnSpc>
              <a:spcAft>
                <a:spcPts val="400"/>
              </a:spcAft>
              <a:buAutoNum type="arabicPeriod"/>
              <a:defRPr sz="1200" b="1">
                <a:solidFill>
                  <a:srgbClr val="095E4F"/>
                </a:solidFill>
                <a:latin typeface="Calibri"/>
              </a:defRPr>
            </a:pPr>
            <a:r>
              <a:rPr lang="en-US" sz="1400" cap="small" dirty="0"/>
              <a:t>Introduction</a:t>
            </a:r>
            <a:endParaRPr lang="en-US" sz="1400" cap="small" dirty="0">
              <a:ea typeface="Calibri"/>
              <a:cs typeface="Calibri"/>
            </a:endParaRPr>
          </a:p>
          <a:p>
            <a:pPr marL="228600" indent="-228600">
              <a:lnSpc>
                <a:spcPct val="150000"/>
              </a:lnSpc>
              <a:spcAft>
                <a:spcPts val="400"/>
              </a:spcAft>
              <a:buFontTx/>
              <a:buAutoNum type="arabicPeriod"/>
              <a:defRPr sz="1200" b="1">
                <a:solidFill>
                  <a:srgbClr val="095E4F"/>
                </a:solidFill>
                <a:latin typeface="Calibri"/>
              </a:defRPr>
            </a:pPr>
            <a:r>
              <a:rPr lang="en-US" sz="1400" b="1" cap="small" dirty="0"/>
              <a:t>Conceptualizing Greenwashing And Corporate Governance Intervention</a:t>
            </a:r>
            <a:endParaRPr lang="en-US" sz="1400" b="1" cap="small" dirty="0">
              <a:ea typeface="Calibri"/>
              <a:cs typeface="Calibri"/>
            </a:endParaRPr>
          </a:p>
          <a:p>
            <a:pPr marL="228600" indent="-228600">
              <a:lnSpc>
                <a:spcPct val="150000"/>
              </a:lnSpc>
              <a:spcAft>
                <a:spcPts val="400"/>
              </a:spcAft>
              <a:buFontTx/>
              <a:buAutoNum type="arabicPeriod"/>
              <a:defRPr sz="1200" b="1">
                <a:solidFill>
                  <a:srgbClr val="095E4F"/>
                </a:solidFill>
                <a:latin typeface="Calibri"/>
              </a:defRPr>
            </a:pPr>
            <a:r>
              <a:rPr lang="en-US" sz="1400" b="1" cap="small" dirty="0"/>
              <a:t>Greenwashing: Corporate Responsibility And Accountability</a:t>
            </a:r>
            <a:endParaRPr lang="en-IN" sz="1400" b="1" cap="small" dirty="0">
              <a:ea typeface="Calibri"/>
              <a:cs typeface="Calibri"/>
            </a:endParaRPr>
          </a:p>
          <a:p>
            <a:pPr marL="228600" indent="-228600">
              <a:lnSpc>
                <a:spcPct val="150000"/>
              </a:lnSpc>
              <a:spcAft>
                <a:spcPts val="400"/>
              </a:spcAft>
              <a:buFontTx/>
              <a:buAutoNum type="arabicPeriod"/>
              <a:defRPr sz="1200" b="1">
                <a:solidFill>
                  <a:srgbClr val="095E4F"/>
                </a:solidFill>
                <a:latin typeface="Calibri"/>
              </a:defRPr>
            </a:pPr>
            <a:r>
              <a:rPr lang="en-US" sz="1400" b="1" cap="small" dirty="0"/>
              <a:t>Prevention Of Greenwashing: International Perspective</a:t>
            </a:r>
            <a:endParaRPr lang="en-IN" sz="1400" b="1" cap="small" dirty="0">
              <a:ea typeface="Calibri"/>
              <a:cs typeface="Calibri"/>
            </a:endParaRPr>
          </a:p>
          <a:p>
            <a:pPr marL="228600" indent="-228600">
              <a:lnSpc>
                <a:spcPct val="150000"/>
              </a:lnSpc>
              <a:spcAft>
                <a:spcPts val="400"/>
              </a:spcAft>
              <a:buFontTx/>
              <a:buAutoNum type="arabicPeriod"/>
              <a:defRPr sz="1200" b="1">
                <a:solidFill>
                  <a:srgbClr val="095E4F"/>
                </a:solidFill>
                <a:latin typeface="Calibri"/>
              </a:defRPr>
            </a:pPr>
            <a:r>
              <a:rPr lang="en-US" sz="1400" b="1" cap="small" dirty="0"/>
              <a:t>Indian Regulatory Ecosystem To Prevent Greenwashing</a:t>
            </a:r>
            <a:r>
              <a:rPr lang="en-IN" sz="1400" b="1" cap="small" dirty="0"/>
              <a:t> </a:t>
            </a:r>
            <a:endParaRPr lang="en-IN" sz="1400" b="1" cap="small" dirty="0">
              <a:ea typeface="Calibri"/>
              <a:cs typeface="Calibri"/>
            </a:endParaRPr>
          </a:p>
          <a:p>
            <a:pPr marL="228600" indent="-228600">
              <a:lnSpc>
                <a:spcPct val="150000"/>
              </a:lnSpc>
              <a:spcAft>
                <a:spcPts val="400"/>
              </a:spcAft>
              <a:buFontTx/>
              <a:buAutoNum type="arabicPeriod"/>
              <a:defRPr sz="1200" b="1">
                <a:solidFill>
                  <a:srgbClr val="095E4F"/>
                </a:solidFill>
                <a:latin typeface="Calibri"/>
              </a:defRPr>
            </a:pPr>
            <a:r>
              <a:rPr lang="en-US" sz="1400" b="1" cap="small" dirty="0"/>
              <a:t>Conclusion</a:t>
            </a:r>
            <a:endParaRPr lang="en-IN" sz="1400" b="1" cap="small" dirty="0">
              <a:ea typeface="Calibri"/>
              <a:cs typeface="Calibri"/>
            </a:endParaRPr>
          </a:p>
          <a:p>
            <a:pPr marL="228600" indent="-228600" algn="l">
              <a:spcAft>
                <a:spcPts val="400"/>
              </a:spcAft>
              <a:buAutoNum type="arabicPeriod"/>
              <a:defRPr sz="1200" b="1">
                <a:solidFill>
                  <a:srgbClr val="095E4F"/>
                </a:solidFill>
                <a:latin typeface="Calibri"/>
              </a:defRPr>
            </a:pPr>
            <a:endParaRPr lang="en-US" sz="1600" dirty="0"/>
          </a:p>
        </p:txBody>
      </p:sp>
      <p:sp>
        <p:nvSpPr>
          <p:cNvPr id="5" name="Rectangle 4">
            <a:extLst>
              <a:ext uri="{FF2B5EF4-FFF2-40B4-BE49-F238E27FC236}">
                <a16:creationId xmlns:a16="http://schemas.microsoft.com/office/drawing/2014/main" id="{45E7479F-A5BD-77D9-0954-558DE28C0DA5}"/>
              </a:ext>
            </a:extLst>
          </p:cNvPr>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97839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173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440000" y="370000"/>
            <a:ext cx="11300000" cy="538609"/>
          </a:xfrm>
          <a:prstGeom prst="rect">
            <a:avLst/>
          </a:prstGeom>
          <a:noFill/>
        </p:spPr>
        <p:txBody>
          <a:bodyPr wrap="square" lIns="45720" tIns="22860" rIns="45720" bIns="22860" anchor="t">
            <a:spAutoFit/>
          </a:bodyPr>
          <a:lstStyle/>
          <a:p>
            <a:pPr algn="l"/>
            <a:r>
              <a:rPr sz="3200" b="1" dirty="0">
                <a:solidFill>
                  <a:srgbClr val="173F35"/>
                </a:solidFill>
                <a:latin typeface="Avenir Next Demi Bold"/>
              </a:rPr>
              <a:t>Why Greenwashing Is a Corporate Accountability Failure</a:t>
            </a:r>
          </a:p>
        </p:txBody>
      </p:sp>
      <p:sp>
        <p:nvSpPr>
          <p:cNvPr id="5" name="Rounded Rectangle 4"/>
          <p:cNvSpPr/>
          <p:nvPr/>
        </p:nvSpPr>
        <p:spPr>
          <a:xfrm>
            <a:off x="500000" y="1049408"/>
            <a:ext cx="5411403" cy="1964247"/>
          </a:xfrm>
          <a:prstGeom prst="roundRect">
            <a:avLst>
              <a:gd name="adj" fmla="val 6000"/>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venir Next" panose="020B0503020202020204" pitchFamily="34" charset="0"/>
            </a:endParaRPr>
          </a:p>
        </p:txBody>
      </p:sp>
      <p:sp>
        <p:nvSpPr>
          <p:cNvPr id="6" name="TextBox 5"/>
          <p:cNvSpPr txBox="1"/>
          <p:nvPr/>
        </p:nvSpPr>
        <p:spPr>
          <a:xfrm>
            <a:off x="630000" y="1136631"/>
            <a:ext cx="5155405" cy="1644040"/>
          </a:xfrm>
          <a:prstGeom prst="rect">
            <a:avLst/>
          </a:prstGeom>
          <a:noFill/>
        </p:spPr>
        <p:txBody>
          <a:bodyPr wrap="square" lIns="45720" tIns="22860" rIns="45720" bIns="22860" anchor="t">
            <a:spAutoFit/>
          </a:bodyPr>
          <a:lstStyle/>
          <a:p>
            <a:pPr algn="l">
              <a:spcAft>
                <a:spcPts val="400"/>
              </a:spcAft>
            </a:pPr>
            <a:r>
              <a:rPr sz="1600" b="1" i="0" dirty="0">
                <a:solidFill>
                  <a:srgbClr val="095E4F"/>
                </a:solidFill>
                <a:latin typeface="Avenir Next" panose="020B0503020202020204" pitchFamily="34" charset="0"/>
              </a:rPr>
              <a:t>1.  What kind of thing is a company?</a:t>
            </a:r>
          </a:p>
          <a:p>
            <a:pPr algn="l">
              <a:spcAft>
                <a:spcPts val="300"/>
              </a:spcAft>
            </a:pPr>
            <a:r>
              <a:rPr sz="1100" b="0" i="0" dirty="0">
                <a:solidFill>
                  <a:srgbClr val="3A3A4A"/>
                </a:solidFill>
                <a:latin typeface="Avenir Next" panose="020B0503020202020204" pitchFamily="34" charset="0"/>
              </a:rPr>
              <a:t>•  The thesis tests five classic theories of corporate personality.</a:t>
            </a:r>
          </a:p>
          <a:p>
            <a:pPr algn="l">
              <a:spcAft>
                <a:spcPts val="300"/>
              </a:spcAft>
            </a:pPr>
            <a:r>
              <a:rPr sz="1100" b="0" i="0" dirty="0">
                <a:solidFill>
                  <a:srgbClr val="3A3A4A"/>
                </a:solidFill>
                <a:latin typeface="Avenir Next" panose="020B0503020202020204" pitchFamily="34" charset="0"/>
              </a:rPr>
              <a:t>•  Fiction and Purpose theory let the State attach environmental duties to the company it creates.</a:t>
            </a:r>
          </a:p>
          <a:p>
            <a:pPr algn="l">
              <a:spcAft>
                <a:spcPts val="300"/>
              </a:spcAft>
            </a:pPr>
            <a:r>
              <a:rPr sz="1100" b="0" i="0" dirty="0">
                <a:solidFill>
                  <a:srgbClr val="3A3A4A"/>
                </a:solidFill>
                <a:latin typeface="Avenir Next" panose="020B0503020202020204" pitchFamily="34" charset="0"/>
              </a:rPr>
              <a:t>•  Realist theory is the strongest fit: a company is a real social actor, so its green promises create real legal relations.</a:t>
            </a:r>
          </a:p>
          <a:p>
            <a:pPr algn="l">
              <a:spcAft>
                <a:spcPts val="300"/>
              </a:spcAft>
            </a:pPr>
            <a:r>
              <a:rPr sz="1100" b="0" i="0" dirty="0">
                <a:solidFill>
                  <a:srgbClr val="3A3A4A"/>
                </a:solidFill>
                <a:latin typeface="Avenir Next" panose="020B0503020202020204" pitchFamily="34" charset="0"/>
              </a:rPr>
              <a:t>•  Indian law sits closest to a Realist–Stakeholder position, so Section 166(2) is a natural fit, not an odd add-on.</a:t>
            </a:r>
          </a:p>
        </p:txBody>
      </p:sp>
      <p:sp>
        <p:nvSpPr>
          <p:cNvPr id="7" name="Rounded Rectangle 6"/>
          <p:cNvSpPr/>
          <p:nvPr/>
        </p:nvSpPr>
        <p:spPr>
          <a:xfrm>
            <a:off x="6196000" y="1049408"/>
            <a:ext cx="5411403" cy="1964247"/>
          </a:xfrm>
          <a:prstGeom prst="roundRect">
            <a:avLst>
              <a:gd name="adj" fmla="val 6000"/>
            </a:avLst>
          </a:prstGeom>
          <a:solidFill>
            <a:srgbClr val="E8EFE6"/>
          </a:solidFill>
          <a:ln w="12700">
            <a:solidFill>
              <a:srgbClr val="C2D3B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venir Next" panose="020B0503020202020204" pitchFamily="34" charset="0"/>
            </a:endParaRPr>
          </a:p>
        </p:txBody>
      </p:sp>
      <p:sp>
        <p:nvSpPr>
          <p:cNvPr id="8" name="TextBox 7"/>
          <p:cNvSpPr txBox="1"/>
          <p:nvPr/>
        </p:nvSpPr>
        <p:spPr>
          <a:xfrm>
            <a:off x="6326000" y="1136631"/>
            <a:ext cx="5155405" cy="1890261"/>
          </a:xfrm>
          <a:prstGeom prst="rect">
            <a:avLst/>
          </a:prstGeom>
          <a:noFill/>
        </p:spPr>
        <p:txBody>
          <a:bodyPr wrap="square" lIns="45720" tIns="22860" rIns="45720" bIns="22860" anchor="t">
            <a:spAutoFit/>
          </a:bodyPr>
          <a:lstStyle/>
          <a:p>
            <a:pPr algn="l">
              <a:spcAft>
                <a:spcPts val="400"/>
              </a:spcAft>
            </a:pPr>
            <a:r>
              <a:rPr sz="1600" b="1" i="0" dirty="0">
                <a:solidFill>
                  <a:srgbClr val="095E4F"/>
                </a:solidFill>
                <a:latin typeface="Avenir Next" panose="020B0503020202020204" pitchFamily="34" charset="0"/>
              </a:rPr>
              <a:t>2.  </a:t>
            </a:r>
            <a:r>
              <a:rPr sz="1600" b="1" i="0" dirty="0" err="1">
                <a:solidFill>
                  <a:srgbClr val="095E4F"/>
                </a:solidFill>
                <a:latin typeface="Avenir Next" panose="020B0503020202020204" pitchFamily="34" charset="0"/>
              </a:rPr>
              <a:t>Hohfeld</a:t>
            </a:r>
            <a:r>
              <a:rPr sz="1600" b="1" i="0" dirty="0">
                <a:solidFill>
                  <a:srgbClr val="095E4F"/>
                </a:solidFill>
                <a:latin typeface="Avenir Next" panose="020B0503020202020204" pitchFamily="34" charset="0"/>
              </a:rPr>
              <a:t>: turning a vague duty into precise legal relations</a:t>
            </a:r>
          </a:p>
          <a:p>
            <a:pPr algn="l">
              <a:spcAft>
                <a:spcPts val="300"/>
              </a:spcAft>
            </a:pPr>
            <a:r>
              <a:rPr sz="1100" b="0" i="0" dirty="0">
                <a:solidFill>
                  <a:srgbClr val="3A3A4A"/>
                </a:solidFill>
                <a:latin typeface="Avenir Next" panose="020B0503020202020204" pitchFamily="34" charset="0"/>
              </a:rPr>
              <a:t>•  Duty breached — the duty not to mislead, owed to the State and to investors.</a:t>
            </a:r>
          </a:p>
          <a:p>
            <a:pPr algn="l">
              <a:spcAft>
                <a:spcPts val="300"/>
              </a:spcAft>
            </a:pPr>
            <a:r>
              <a:rPr sz="1100" b="0" i="0" dirty="0">
                <a:solidFill>
                  <a:srgbClr val="3A3A4A"/>
                </a:solidFill>
                <a:latin typeface="Avenir Next" panose="020B0503020202020204" pitchFamily="34" charset="0"/>
              </a:rPr>
              <a:t>•  Privilege misused — managers may choose how to communicate, but that freedom stops at deception.</a:t>
            </a:r>
          </a:p>
          <a:p>
            <a:pPr algn="l">
              <a:spcAft>
                <a:spcPts val="300"/>
              </a:spcAft>
            </a:pPr>
            <a:r>
              <a:rPr sz="1100" b="0" i="0" dirty="0">
                <a:solidFill>
                  <a:srgbClr val="3A3A4A"/>
                </a:solidFill>
                <a:latin typeface="Avenir Next" panose="020B0503020202020204" pitchFamily="34" charset="0"/>
              </a:rPr>
              <a:t>•  Power held — companies control the ESG information that everyone else acts on.</a:t>
            </a:r>
          </a:p>
          <a:p>
            <a:pPr algn="l">
              <a:spcAft>
                <a:spcPts val="300"/>
              </a:spcAft>
            </a:pPr>
            <a:r>
              <a:rPr sz="1100" b="0" i="0" dirty="0">
                <a:solidFill>
                  <a:srgbClr val="3A3A4A"/>
                </a:solidFill>
                <a:latin typeface="Avenir Next" panose="020B0503020202020204" pitchFamily="34" charset="0"/>
              </a:rPr>
              <a:t>•  Immunity retained — limited liability insulates those who gain from a green reputation.</a:t>
            </a:r>
          </a:p>
        </p:txBody>
      </p:sp>
      <p:sp>
        <p:nvSpPr>
          <p:cNvPr id="9" name="Rounded Rectangle 8"/>
          <p:cNvSpPr/>
          <p:nvPr/>
        </p:nvSpPr>
        <p:spPr>
          <a:xfrm>
            <a:off x="500000" y="3151870"/>
            <a:ext cx="5411403" cy="1895860"/>
          </a:xfrm>
          <a:prstGeom prst="roundRect">
            <a:avLst>
              <a:gd name="adj" fmla="val 6000"/>
            </a:avLst>
          </a:prstGeom>
          <a:solidFill>
            <a:srgbClr val="E8EFE6"/>
          </a:solidFill>
          <a:ln w="12700">
            <a:solidFill>
              <a:srgbClr val="C2D3B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venir Next" panose="020B0503020202020204" pitchFamily="34" charset="0"/>
            </a:endParaRPr>
          </a:p>
        </p:txBody>
      </p:sp>
      <p:sp>
        <p:nvSpPr>
          <p:cNvPr id="10" name="TextBox 9"/>
          <p:cNvSpPr txBox="1"/>
          <p:nvPr/>
        </p:nvSpPr>
        <p:spPr>
          <a:xfrm>
            <a:off x="630000" y="3176631"/>
            <a:ext cx="5155405" cy="1644040"/>
          </a:xfrm>
          <a:prstGeom prst="rect">
            <a:avLst/>
          </a:prstGeom>
          <a:noFill/>
        </p:spPr>
        <p:txBody>
          <a:bodyPr wrap="square" lIns="45720" tIns="22860" rIns="45720" bIns="22860" anchor="t">
            <a:spAutoFit/>
          </a:bodyPr>
          <a:lstStyle/>
          <a:p>
            <a:pPr algn="l">
              <a:spcAft>
                <a:spcPts val="400"/>
              </a:spcAft>
            </a:pPr>
            <a:r>
              <a:rPr sz="1600" b="1" i="0" dirty="0">
                <a:solidFill>
                  <a:srgbClr val="095E4F"/>
                </a:solidFill>
                <a:latin typeface="Avenir Next" panose="020B0503020202020204" pitchFamily="34" charset="0"/>
              </a:rPr>
              <a:t>3.  Who holds the matching right?</a:t>
            </a:r>
          </a:p>
          <a:p>
            <a:pPr algn="l">
              <a:spcAft>
                <a:spcPts val="300"/>
              </a:spcAft>
            </a:pPr>
            <a:r>
              <a:rPr sz="1100" b="0" i="0" dirty="0">
                <a:solidFill>
                  <a:srgbClr val="3A3A4A"/>
                </a:solidFill>
                <a:latin typeface="Avenir Next" panose="020B0503020202020204" pitchFamily="34" charset="0"/>
              </a:rPr>
              <a:t>•  A duty only bites if somebody can enforce it.</a:t>
            </a:r>
          </a:p>
          <a:p>
            <a:pPr algn="l">
              <a:spcAft>
                <a:spcPts val="300"/>
              </a:spcAft>
            </a:pPr>
            <a:r>
              <a:rPr sz="1100" b="0" i="0" dirty="0">
                <a:solidFill>
                  <a:srgbClr val="3A3A4A"/>
                </a:solidFill>
                <a:latin typeface="Avenir Next" panose="020B0503020202020204" pitchFamily="34" charset="0"/>
              </a:rPr>
              <a:t>•  Duties owed to the State are strongest — the CCPA and SEBI can act on their own motion.</a:t>
            </a:r>
          </a:p>
          <a:p>
            <a:pPr algn="l">
              <a:spcAft>
                <a:spcPts val="300"/>
              </a:spcAft>
            </a:pPr>
            <a:r>
              <a:rPr sz="1100" b="0" i="0" dirty="0">
                <a:solidFill>
                  <a:srgbClr val="3A3A4A"/>
                </a:solidFill>
                <a:latin typeface="Avenir Next" panose="020B0503020202020204" pitchFamily="34" charset="0"/>
              </a:rPr>
              <a:t>•  Investor-facing duties are enforceable, but only through narrow disclosure channels.</a:t>
            </a:r>
          </a:p>
          <a:p>
            <a:pPr algn="l">
              <a:spcAft>
                <a:spcPts val="300"/>
              </a:spcAft>
            </a:pPr>
            <a:r>
              <a:rPr sz="1100" b="0" i="0" dirty="0">
                <a:solidFill>
                  <a:srgbClr val="3A3A4A"/>
                </a:solidFill>
                <a:latin typeface="Avenir Next" panose="020B0503020202020204" pitchFamily="34" charset="0"/>
              </a:rPr>
              <a:t>•  Section 166(2)'s environmental duty has no clear claimant, so it reads as aspiration rather than law. That is the gap this thesis targets.</a:t>
            </a:r>
          </a:p>
        </p:txBody>
      </p:sp>
      <p:sp>
        <p:nvSpPr>
          <p:cNvPr id="11" name="Rounded Rectangle 10"/>
          <p:cNvSpPr/>
          <p:nvPr/>
        </p:nvSpPr>
        <p:spPr>
          <a:xfrm>
            <a:off x="6196000" y="3151870"/>
            <a:ext cx="5411403" cy="1895860"/>
          </a:xfrm>
          <a:prstGeom prst="roundRect">
            <a:avLst>
              <a:gd name="adj" fmla="val 6000"/>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venir Next" panose="020B0503020202020204" pitchFamily="34" charset="0"/>
            </a:endParaRPr>
          </a:p>
        </p:txBody>
      </p:sp>
      <p:sp>
        <p:nvSpPr>
          <p:cNvPr id="12" name="TextBox 11"/>
          <p:cNvSpPr txBox="1"/>
          <p:nvPr/>
        </p:nvSpPr>
        <p:spPr>
          <a:xfrm>
            <a:off x="6326000" y="3176631"/>
            <a:ext cx="5155405" cy="1644040"/>
          </a:xfrm>
          <a:prstGeom prst="rect">
            <a:avLst/>
          </a:prstGeom>
          <a:noFill/>
        </p:spPr>
        <p:txBody>
          <a:bodyPr wrap="square" lIns="45720" tIns="22860" rIns="45720" bIns="22860" anchor="t">
            <a:spAutoFit/>
          </a:bodyPr>
          <a:lstStyle/>
          <a:p>
            <a:pPr algn="l">
              <a:spcAft>
                <a:spcPts val="400"/>
              </a:spcAft>
            </a:pPr>
            <a:r>
              <a:rPr sz="1600" b="1" i="0" dirty="0">
                <a:solidFill>
                  <a:srgbClr val="095E4F"/>
                </a:solidFill>
                <a:latin typeface="Avenir Next" panose="020B0503020202020204" pitchFamily="34" charset="0"/>
              </a:rPr>
              <a:t>4.  Why the duty still fails in practice</a:t>
            </a:r>
          </a:p>
          <a:p>
            <a:pPr algn="l">
              <a:spcAft>
                <a:spcPts val="300"/>
              </a:spcAft>
            </a:pPr>
            <a:r>
              <a:rPr sz="1100" b="0" i="0" dirty="0">
                <a:solidFill>
                  <a:srgbClr val="3A3A4A"/>
                </a:solidFill>
                <a:latin typeface="Avenir Next" panose="020B0503020202020204" pitchFamily="34" charset="0"/>
              </a:rPr>
              <a:t>•  Principal–agent theory: insiders know the real environmental performance, outsiders rely on what insiders choose to disclose.</a:t>
            </a:r>
          </a:p>
          <a:p>
            <a:pPr algn="l">
              <a:spcAft>
                <a:spcPts val="300"/>
              </a:spcAft>
            </a:pPr>
            <a:r>
              <a:rPr sz="1100" b="0" i="0" dirty="0">
                <a:solidFill>
                  <a:srgbClr val="3A3A4A"/>
                </a:solidFill>
                <a:latin typeface="Avenir Next" panose="020B0503020202020204" pitchFamily="34" charset="0"/>
              </a:rPr>
              <a:t>•  Checking a green claim needs carbon and lifecycle expertise that most stakeholders simply do not have.</a:t>
            </a:r>
          </a:p>
          <a:p>
            <a:pPr algn="l">
              <a:spcAft>
                <a:spcPts val="300"/>
              </a:spcAft>
            </a:pPr>
            <a:r>
              <a:rPr sz="1100" b="0" i="0" dirty="0">
                <a:solidFill>
                  <a:srgbClr val="3A3A4A"/>
                </a:solidFill>
                <a:latin typeface="Avenir Next" panose="020B0503020202020204" pitchFamily="34" charset="0"/>
              </a:rPr>
              <a:t>•  Sustainability reporting is easy to dress up, so it is a weak signal of alignment.</a:t>
            </a:r>
          </a:p>
          <a:p>
            <a:pPr algn="l">
              <a:spcAft>
                <a:spcPts val="300"/>
              </a:spcAft>
            </a:pPr>
            <a:r>
              <a:rPr sz="1100" b="0" i="0" dirty="0">
                <a:solidFill>
                  <a:srgbClr val="3A3A4A"/>
                </a:solidFill>
                <a:latin typeface="Avenir Next" panose="020B0503020202020204" pitchFamily="34" charset="0"/>
              </a:rPr>
              <a:t>•  Promoter-controlled ownership and thin independent assurance widen the gap further in India.</a:t>
            </a:r>
          </a:p>
        </p:txBody>
      </p:sp>
      <p:sp>
        <p:nvSpPr>
          <p:cNvPr id="13" name="Rounded Rectangle 12"/>
          <p:cNvSpPr/>
          <p:nvPr/>
        </p:nvSpPr>
        <p:spPr>
          <a:xfrm>
            <a:off x="500000" y="5560153"/>
            <a:ext cx="11192000" cy="790000"/>
          </a:xfrm>
          <a:prstGeom prst="roundRect">
            <a:avLst>
              <a:gd name="adj" fmla="val 14000"/>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venir Next" panose="020B0503020202020204" pitchFamily="34" charset="0"/>
            </a:endParaRPr>
          </a:p>
        </p:txBody>
      </p:sp>
      <p:sp>
        <p:nvSpPr>
          <p:cNvPr id="14" name="TextBox 13"/>
          <p:cNvSpPr txBox="1"/>
          <p:nvPr/>
        </p:nvSpPr>
        <p:spPr>
          <a:xfrm>
            <a:off x="640000" y="5678154"/>
            <a:ext cx="10912000" cy="553998"/>
          </a:xfrm>
          <a:prstGeom prst="rect">
            <a:avLst/>
          </a:prstGeom>
          <a:noFill/>
        </p:spPr>
        <p:txBody>
          <a:bodyPr wrap="square" lIns="45720" tIns="22860" rIns="45720" bIns="22860" anchor="ctr">
            <a:spAutoFit/>
          </a:bodyPr>
          <a:lstStyle/>
          <a:p>
            <a:pPr algn="ctr"/>
            <a:r>
              <a:rPr sz="1100" b="1" i="0">
                <a:solidFill>
                  <a:srgbClr val="095E4F"/>
                </a:solidFill>
                <a:latin typeface="Avenir Next" panose="020B0503020202020204" pitchFamily="34" charset="0"/>
              </a:rPr>
              <a:t>Answer to RQ3:  </a:t>
            </a:r>
            <a:r>
              <a:rPr sz="1100" b="0" i="0">
                <a:solidFill>
                  <a:srgbClr val="3A3A4A"/>
                </a:solidFill>
                <a:latin typeface="Avenir Next" panose="020B0503020202020204" pitchFamily="34" charset="0"/>
              </a:rPr>
              <a:t>once corporate responsibility is broken into precise legal relations, greenwashing stops looking like a public-relations lapse. It is a breached duty, a managerial freedom pushed past its legal limit, and an information advantage used against the people who depend on it — a corporate accountability failure that company law is the right place to answer.</a:t>
            </a:r>
          </a:p>
        </p:txBody>
      </p:sp>
      <p:sp>
        <p:nvSpPr>
          <p:cNvPr id="15" name="TextBox 14"/>
          <p:cNvSpPr txBox="1"/>
          <p:nvPr/>
        </p:nvSpPr>
        <p:spPr>
          <a:xfrm>
            <a:off x="500000" y="6488000"/>
            <a:ext cx="4000000" cy="215444"/>
          </a:xfrm>
          <a:prstGeom prst="rect">
            <a:avLst/>
          </a:prstGeom>
          <a:noFill/>
        </p:spPr>
        <p:txBody>
          <a:bodyPr wrap="square" lIns="45720" tIns="22860" rIns="45720" bIns="22860" anchor="t">
            <a:spAutoFit/>
          </a:bodyPr>
          <a:lstStyle/>
          <a:p>
            <a:pPr algn="l"/>
            <a:r>
              <a:rPr sz="1100" b="0" i="0" dirty="0">
                <a:latin typeface="Avenir Next" panose="020B0503020202020204" pitchFamily="34" charset="0"/>
              </a:rPr>
              <a:t>Source base: Chapter 3.</a:t>
            </a:r>
          </a:p>
        </p:txBody>
      </p:sp>
      <p:sp>
        <p:nvSpPr>
          <p:cNvPr id="16" name="TextBox 15">
            <a:extLst>
              <a:ext uri="{FF2B5EF4-FFF2-40B4-BE49-F238E27FC236}">
                <a16:creationId xmlns:a16="http://schemas.microsoft.com/office/drawing/2014/main" id="{2148E3C8-0044-CEC8-804E-88F7886EBEA7}"/>
              </a:ext>
            </a:extLst>
          </p:cNvPr>
          <p:cNvSpPr txBox="1"/>
          <p:nvPr/>
        </p:nvSpPr>
        <p:spPr>
          <a:xfrm>
            <a:off x="500000" y="5052876"/>
            <a:ext cx="11300000" cy="646331"/>
          </a:xfrm>
          <a:prstGeom prst="rect">
            <a:avLst/>
          </a:prstGeom>
          <a:noFill/>
        </p:spPr>
        <p:txBody>
          <a:bodyPr wrap="square" lIns="45720" tIns="22860" rIns="45720" bIns="22860" anchor="t">
            <a:spAutoFit/>
          </a:bodyPr>
          <a:lstStyle/>
          <a:p>
            <a:r>
              <a:rPr sz="1400" b="0" i="0" dirty="0">
                <a:latin typeface="Avenir Next" panose="020B0503020202020204" pitchFamily="34" charset="0"/>
              </a:rPr>
              <a:t>Research Question 3:</a:t>
            </a:r>
            <a:r>
              <a:rPr lang="en-US" sz="1400" b="0" i="0" dirty="0">
                <a:latin typeface="Avenir Next" panose="020B0503020202020204" pitchFamily="34" charset="0"/>
              </a:rPr>
              <a:t> </a:t>
            </a:r>
            <a:r>
              <a:rPr lang="en-IN" sz="1400" dirty="0">
                <a:latin typeface="Avenir Next" panose="020B0503020202020204" pitchFamily="34" charset="0"/>
                <a:ea typeface="+mn-lt"/>
                <a:cs typeface="+mn-lt"/>
              </a:rPr>
              <a:t>What are the jurisprudential foundations of corporate responsibility that justify treating greenwashing as a failure of corporate accountability?</a:t>
            </a:r>
            <a:endParaRPr lang="en-US" sz="1400" dirty="0">
              <a:latin typeface="Avenir Next" panose="020B0503020202020204" pitchFamily="34" charset="0"/>
              <a:ea typeface="+mn-lt"/>
              <a:cs typeface="+mn-lt"/>
            </a:endParaRPr>
          </a:p>
          <a:p>
            <a:pPr algn="l"/>
            <a:endParaRPr sz="1100" b="0" i="0" dirty="0">
              <a:solidFill>
                <a:srgbClr val="6B6F6A"/>
              </a:solidFill>
              <a:latin typeface="Avenir Next" panose="020B0503020202020204" pitchFamily="34" charset="0"/>
            </a:endParaRPr>
          </a:p>
        </p:txBody>
      </p:sp>
    </p:spTree>
    <p:extLst>
      <p:ext uri="{BB962C8B-B14F-4D97-AF65-F5344CB8AC3E}">
        <p14:creationId xmlns:p14="http://schemas.microsoft.com/office/powerpoint/2010/main" val="3047954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55383" y="397535"/>
            <a:ext cx="11280302" cy="954107"/>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sz="2800" dirty="0"/>
              <a:t>India's Legal Ecosystem</a:t>
            </a:r>
            <a:r>
              <a:rPr lang="en-US" sz="2800" dirty="0"/>
              <a:t> For Tackling Misleading Environmental Claims</a:t>
            </a:r>
            <a:endParaRPr lang="en-IN" sz="2800" dirty="0"/>
          </a:p>
        </p:txBody>
      </p:sp>
      <p:sp>
        <p:nvSpPr>
          <p:cNvPr id="6" name="Rounded Rectangle 5"/>
          <p:cNvSpPr/>
          <p:nvPr/>
        </p:nvSpPr>
        <p:spPr>
          <a:xfrm>
            <a:off x="980082" y="1391641"/>
            <a:ext cx="10058400" cy="777240"/>
          </a:xfrm>
          <a:prstGeom prst="roundRect">
            <a:avLst/>
          </a:prstGeom>
          <a:solidFill>
            <a:srgbClr val="EFF5EA"/>
          </a:solidFill>
          <a:ln w="12700">
            <a:solidFill>
              <a:srgbClr val="6A8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0083" y="1474753"/>
            <a:ext cx="9829800" cy="584775"/>
          </a:xfrm>
          <a:prstGeom prst="rect">
            <a:avLst/>
          </a:prstGeom>
          <a:noFill/>
        </p:spPr>
        <p:txBody>
          <a:bodyPr wrap="square" anchor="t">
            <a:spAutoFit/>
          </a:bodyPr>
          <a:lstStyle/>
          <a:p>
            <a:pPr algn="ctr">
              <a:defRPr sz="1300" b="1">
                <a:solidFill>
                  <a:srgbClr val="173F35"/>
                </a:solidFill>
                <a:latin typeface="Avenir Next"/>
              </a:defRPr>
            </a:pPr>
            <a:r>
              <a:rPr sz="1600" dirty="0"/>
              <a:t>Constitutional bedrock: Articles 21, 48A, 51A(g), environmental doctrines, and M.K. Ranjitsinh strengthen the duty to take environmental claims seriously.</a:t>
            </a:r>
          </a:p>
        </p:txBody>
      </p:sp>
      <p:sp>
        <p:nvSpPr>
          <p:cNvPr id="8" name="Rounded Rectangle 7"/>
          <p:cNvSpPr/>
          <p:nvPr/>
        </p:nvSpPr>
        <p:spPr>
          <a:xfrm>
            <a:off x="877824" y="2361955"/>
            <a:ext cx="3291840" cy="2084831"/>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9" name="Rectangle 8"/>
          <p:cNvSpPr/>
          <p:nvPr/>
        </p:nvSpPr>
        <p:spPr>
          <a:xfrm>
            <a:off x="877824" y="2294521"/>
            <a:ext cx="3291840" cy="73152"/>
          </a:xfrm>
          <a:prstGeom prst="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0" name="TextBox 9"/>
          <p:cNvSpPr txBox="1"/>
          <p:nvPr/>
        </p:nvSpPr>
        <p:spPr>
          <a:xfrm>
            <a:off x="1024127" y="2489971"/>
            <a:ext cx="3279495" cy="338554"/>
          </a:xfrm>
          <a:prstGeom prst="rect">
            <a:avLst/>
          </a:prstGeom>
          <a:noFill/>
        </p:spPr>
        <p:txBody>
          <a:bodyPr wrap="square" anchor="t">
            <a:spAutoFit/>
          </a:bodyPr>
          <a:lstStyle/>
          <a:p>
            <a:pPr algn="l">
              <a:defRPr sz="1600" b="1">
                <a:solidFill>
                  <a:srgbClr val="173F35"/>
                </a:solidFill>
                <a:latin typeface="Avenir Next Demi Bold"/>
              </a:defRPr>
            </a:pPr>
            <a:r>
              <a:rPr dirty="0">
                <a:latin typeface="Avenir Next" panose="020B0503020202020204" pitchFamily="34" charset="0"/>
              </a:rPr>
              <a:t>Pillar 1: Consumer Protection</a:t>
            </a:r>
          </a:p>
        </p:txBody>
      </p:sp>
      <p:sp>
        <p:nvSpPr>
          <p:cNvPr id="11" name="TextBox 10"/>
          <p:cNvSpPr txBox="1"/>
          <p:nvPr/>
        </p:nvSpPr>
        <p:spPr>
          <a:xfrm>
            <a:off x="1024128" y="2855731"/>
            <a:ext cx="2999232" cy="1384995"/>
          </a:xfrm>
          <a:prstGeom prst="rect">
            <a:avLst/>
          </a:prstGeom>
          <a:noFill/>
        </p:spPr>
        <p:txBody>
          <a:bodyPr wrap="square" lIns="91440" tIns="45720" rIns="91440" bIns="45720" anchor="t">
            <a:spAutoFit/>
          </a:bodyPr>
          <a:lstStyle/>
          <a:p>
            <a:pPr marL="171450" indent="-171450">
              <a:buFontTx/>
              <a:buChar char="-"/>
              <a:defRPr sz="1200" b="0">
                <a:solidFill>
                  <a:srgbClr val="2A2A2A"/>
                </a:solidFill>
                <a:latin typeface="Avenir Next"/>
              </a:defRPr>
            </a:pPr>
            <a:r>
              <a:rPr dirty="0">
                <a:latin typeface="Avenir Next" panose="020B0503020202020204" pitchFamily="34" charset="0"/>
              </a:rPr>
              <a:t>CPA 2019, CCPA, consumer commissions, and ASCI target misleading product and advertising claims. </a:t>
            </a:r>
            <a:endParaRPr lang="en-US" dirty="0">
              <a:latin typeface="Avenir Next" panose="020B0503020202020204" pitchFamily="34" charset="0"/>
            </a:endParaRPr>
          </a:p>
          <a:p>
            <a:pPr marL="171450" indent="-171450">
              <a:buFontTx/>
              <a:buChar char="-"/>
              <a:defRPr sz="1200" b="0">
                <a:solidFill>
                  <a:srgbClr val="2A2A2A"/>
                </a:solidFill>
                <a:latin typeface="Avenir Next"/>
              </a:defRPr>
            </a:pPr>
            <a:r>
              <a:rPr dirty="0">
                <a:latin typeface="Avenir Next" panose="020B0503020202020204" pitchFamily="34" charset="0"/>
              </a:rPr>
              <a:t>Strength: </a:t>
            </a:r>
            <a:r>
              <a:rPr lang="en-US" dirty="0">
                <a:latin typeface="Avenir Next" panose="020B0503020202020204" pitchFamily="34" charset="0"/>
              </a:rPr>
              <a:t>Aspirational</a:t>
            </a:r>
            <a:r>
              <a:rPr dirty="0">
                <a:latin typeface="Avenir Next" panose="020B0503020202020204" pitchFamily="34" charset="0"/>
              </a:rPr>
              <a:t>. </a:t>
            </a:r>
            <a:endParaRPr lang="en-US" dirty="0">
              <a:latin typeface="Avenir Next" panose="020B0503020202020204" pitchFamily="34" charset="0"/>
            </a:endParaRPr>
          </a:p>
          <a:p>
            <a:pPr marL="171450" indent="-171450">
              <a:buFontTx/>
              <a:buChar char="-"/>
              <a:defRPr sz="1200" b="0">
                <a:solidFill>
                  <a:srgbClr val="2A2A2A"/>
                </a:solidFill>
                <a:latin typeface="Avenir Next"/>
              </a:defRPr>
            </a:pPr>
            <a:r>
              <a:rPr dirty="0">
                <a:latin typeface="Avenir Next" panose="020B0503020202020204" pitchFamily="34" charset="0"/>
              </a:rPr>
              <a:t>Weakness: </a:t>
            </a:r>
            <a:r>
              <a:rPr lang="en-US" dirty="0">
                <a:latin typeface="Avenir Next" panose="020B0503020202020204" pitchFamily="34" charset="0"/>
              </a:rPr>
              <a:t>primarily remedial</a:t>
            </a:r>
            <a:r>
              <a:rPr dirty="0">
                <a:latin typeface="Avenir Next" panose="020B0503020202020204" pitchFamily="34" charset="0"/>
              </a:rPr>
              <a:t> and consumer-facing.</a:t>
            </a:r>
          </a:p>
        </p:txBody>
      </p:sp>
      <p:sp>
        <p:nvSpPr>
          <p:cNvPr id="12" name="Rounded Rectangle 11"/>
          <p:cNvSpPr/>
          <p:nvPr/>
        </p:nvSpPr>
        <p:spPr>
          <a:xfrm>
            <a:off x="4462272" y="2361955"/>
            <a:ext cx="3291840" cy="2084831"/>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3" name="Rectangle 12"/>
          <p:cNvSpPr/>
          <p:nvPr/>
        </p:nvSpPr>
        <p:spPr>
          <a:xfrm>
            <a:off x="4462272" y="2294521"/>
            <a:ext cx="3291840" cy="73152"/>
          </a:xfrm>
          <a:prstGeom prst="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4" name="TextBox 13"/>
          <p:cNvSpPr txBox="1"/>
          <p:nvPr/>
        </p:nvSpPr>
        <p:spPr>
          <a:xfrm>
            <a:off x="4608576" y="2489971"/>
            <a:ext cx="3304186" cy="338554"/>
          </a:xfrm>
          <a:prstGeom prst="rect">
            <a:avLst/>
          </a:prstGeom>
          <a:noFill/>
        </p:spPr>
        <p:txBody>
          <a:bodyPr wrap="square" anchor="t">
            <a:spAutoFit/>
          </a:bodyPr>
          <a:lstStyle/>
          <a:p>
            <a:pPr algn="l">
              <a:defRPr sz="1600" b="1">
                <a:solidFill>
                  <a:srgbClr val="173F35"/>
                </a:solidFill>
                <a:latin typeface="Avenir Next Demi Bold"/>
              </a:defRPr>
            </a:pPr>
            <a:r>
              <a:rPr dirty="0">
                <a:latin typeface="Avenir Next" panose="020B0503020202020204" pitchFamily="34" charset="0"/>
              </a:rPr>
              <a:t>Pillar 2: Securities and Finance</a:t>
            </a:r>
          </a:p>
        </p:txBody>
      </p:sp>
      <p:sp>
        <p:nvSpPr>
          <p:cNvPr id="15" name="TextBox 14"/>
          <p:cNvSpPr txBox="1"/>
          <p:nvPr/>
        </p:nvSpPr>
        <p:spPr>
          <a:xfrm>
            <a:off x="4596231" y="2874019"/>
            <a:ext cx="2999232" cy="1384995"/>
          </a:xfrm>
          <a:prstGeom prst="rect">
            <a:avLst/>
          </a:prstGeom>
          <a:noFill/>
        </p:spPr>
        <p:txBody>
          <a:bodyPr wrap="square" lIns="91440" tIns="45720" rIns="91440" bIns="45720" anchor="t">
            <a:spAutoFit/>
          </a:bodyPr>
          <a:lstStyle/>
          <a:p>
            <a:pPr marL="171450" indent="-171450">
              <a:buFontTx/>
              <a:buChar char="-"/>
              <a:defRPr sz="1200" b="0">
                <a:solidFill>
                  <a:srgbClr val="2A2A2A"/>
                </a:solidFill>
                <a:latin typeface="Avenir Next"/>
              </a:defRPr>
            </a:pPr>
            <a:r>
              <a:rPr dirty="0">
                <a:latin typeface="Avenir Next" panose="020B0503020202020204" pitchFamily="34" charset="0"/>
              </a:rPr>
              <a:t>SEBI, BRSR, BRSR Core, ESG debt rules, PFUTP, and ESG ratings address investor-facing claims. </a:t>
            </a:r>
            <a:endParaRPr lang="en-US" dirty="0">
              <a:latin typeface="Avenir Next" panose="020B0503020202020204" pitchFamily="34" charset="0"/>
            </a:endParaRPr>
          </a:p>
          <a:p>
            <a:pPr marL="171450" indent="-171450">
              <a:buFontTx/>
              <a:buChar char="-"/>
              <a:defRPr sz="1200" b="0">
                <a:solidFill>
                  <a:srgbClr val="2A2A2A"/>
                </a:solidFill>
                <a:latin typeface="Avenir Next"/>
              </a:defRPr>
            </a:pPr>
            <a:r>
              <a:rPr dirty="0">
                <a:latin typeface="Avenir Next" panose="020B0503020202020204" pitchFamily="34" charset="0"/>
              </a:rPr>
              <a:t>Strength: formal disclosure architecture. </a:t>
            </a:r>
            <a:endParaRPr lang="en-US" dirty="0">
              <a:latin typeface="Avenir Next" panose="020B0503020202020204" pitchFamily="34" charset="0"/>
            </a:endParaRPr>
          </a:p>
          <a:p>
            <a:pPr marL="171450" indent="-171450">
              <a:buFontTx/>
              <a:buChar char="-"/>
              <a:defRPr sz="1200" b="0">
                <a:solidFill>
                  <a:srgbClr val="2A2A2A"/>
                </a:solidFill>
                <a:latin typeface="Avenir Next"/>
              </a:defRPr>
            </a:pPr>
            <a:r>
              <a:rPr dirty="0">
                <a:latin typeface="Avenir Next" panose="020B0503020202020204" pitchFamily="34" charset="0"/>
              </a:rPr>
              <a:t>Weakness: </a:t>
            </a:r>
            <a:r>
              <a:rPr lang="en-US" dirty="0">
                <a:latin typeface="Avenir Next" panose="020B0503020202020204" pitchFamily="34" charset="0"/>
              </a:rPr>
              <a:t>limited assurance</a:t>
            </a:r>
            <a:r>
              <a:rPr dirty="0">
                <a:latin typeface="Avenir Next" panose="020B0503020202020204" pitchFamily="34" charset="0"/>
              </a:rPr>
              <a:t> and diluted verification.</a:t>
            </a:r>
          </a:p>
        </p:txBody>
      </p:sp>
      <p:sp>
        <p:nvSpPr>
          <p:cNvPr id="16" name="Rounded Rectangle 15"/>
          <p:cNvSpPr/>
          <p:nvPr/>
        </p:nvSpPr>
        <p:spPr>
          <a:xfrm>
            <a:off x="8046720" y="2361955"/>
            <a:ext cx="3291840" cy="2084831"/>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7" name="Rectangle 16"/>
          <p:cNvSpPr/>
          <p:nvPr/>
        </p:nvSpPr>
        <p:spPr>
          <a:xfrm>
            <a:off x="8046720" y="2294521"/>
            <a:ext cx="3291840" cy="73152"/>
          </a:xfrm>
          <a:prstGeom prst="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8" name="TextBox 17"/>
          <p:cNvSpPr txBox="1"/>
          <p:nvPr/>
        </p:nvSpPr>
        <p:spPr>
          <a:xfrm>
            <a:off x="8193024" y="2489971"/>
            <a:ext cx="3279494" cy="338554"/>
          </a:xfrm>
          <a:prstGeom prst="rect">
            <a:avLst/>
          </a:prstGeom>
          <a:noFill/>
        </p:spPr>
        <p:txBody>
          <a:bodyPr wrap="square" anchor="t">
            <a:spAutoFit/>
          </a:bodyPr>
          <a:lstStyle/>
          <a:p>
            <a:pPr algn="l">
              <a:defRPr sz="1600" b="1">
                <a:solidFill>
                  <a:srgbClr val="173F35"/>
                </a:solidFill>
                <a:latin typeface="Avenir Next Demi Bold"/>
              </a:defRPr>
            </a:pPr>
            <a:r>
              <a:rPr dirty="0">
                <a:latin typeface="Avenir Next" panose="020B0503020202020204" pitchFamily="34" charset="0"/>
              </a:rPr>
              <a:t>Pillar 3: Corporate Governance</a:t>
            </a:r>
          </a:p>
        </p:txBody>
      </p:sp>
      <p:sp>
        <p:nvSpPr>
          <p:cNvPr id="19" name="TextBox 18"/>
          <p:cNvSpPr txBox="1"/>
          <p:nvPr/>
        </p:nvSpPr>
        <p:spPr>
          <a:xfrm>
            <a:off x="8193024" y="2997343"/>
            <a:ext cx="2999232" cy="1384995"/>
          </a:xfrm>
          <a:prstGeom prst="rect">
            <a:avLst/>
          </a:prstGeom>
          <a:noFill/>
        </p:spPr>
        <p:txBody>
          <a:bodyPr wrap="square" lIns="91440" tIns="45720" rIns="91440" bIns="45720" anchor="t">
            <a:spAutoFit/>
          </a:bodyPr>
          <a:lstStyle/>
          <a:p>
            <a:pPr marL="171450" indent="-171450">
              <a:buFontTx/>
              <a:buChar char="-"/>
              <a:defRPr sz="1200" b="0">
                <a:solidFill>
                  <a:srgbClr val="2A2A2A"/>
                </a:solidFill>
                <a:latin typeface="Avenir Next"/>
              </a:defRPr>
            </a:pPr>
            <a:r>
              <a:rPr dirty="0">
                <a:latin typeface="Avenir Next" panose="020B0503020202020204" pitchFamily="34" charset="0"/>
              </a:rPr>
              <a:t>MCA and the Companies Act place environmental protection inside directors' duties. </a:t>
            </a:r>
            <a:endParaRPr lang="en-US" dirty="0">
              <a:latin typeface="Avenir Next" panose="020B0503020202020204" pitchFamily="34" charset="0"/>
            </a:endParaRPr>
          </a:p>
          <a:p>
            <a:pPr marL="171450" indent="-171450">
              <a:buFontTx/>
              <a:buChar char="-"/>
              <a:defRPr sz="1200" b="0">
                <a:solidFill>
                  <a:srgbClr val="2A2A2A"/>
                </a:solidFill>
                <a:latin typeface="Avenir Next"/>
              </a:defRPr>
            </a:pPr>
            <a:r>
              <a:rPr dirty="0">
                <a:latin typeface="Avenir Next" panose="020B0503020202020204" pitchFamily="34" charset="0"/>
              </a:rPr>
              <a:t>Strength: Section 166(2) is textually strong. </a:t>
            </a:r>
            <a:endParaRPr lang="en-US" dirty="0">
              <a:latin typeface="Avenir Next" panose="020B0503020202020204" pitchFamily="34" charset="0"/>
            </a:endParaRPr>
          </a:p>
          <a:p>
            <a:pPr marL="171450" indent="-171450">
              <a:buFontTx/>
              <a:buChar char="-"/>
              <a:defRPr sz="1200" b="0">
                <a:solidFill>
                  <a:srgbClr val="2A2A2A"/>
                </a:solidFill>
                <a:latin typeface="Avenir Next"/>
              </a:defRPr>
            </a:pPr>
            <a:r>
              <a:rPr dirty="0">
                <a:latin typeface="Avenir Next" panose="020B0503020202020204" pitchFamily="34" charset="0"/>
              </a:rPr>
              <a:t>Weakness: standing, penalties, and enforcement route remain weak.</a:t>
            </a:r>
          </a:p>
        </p:txBody>
      </p:sp>
      <p:sp>
        <p:nvSpPr>
          <p:cNvPr id="20" name="Rounded Rectangle 19"/>
          <p:cNvSpPr/>
          <p:nvPr/>
        </p:nvSpPr>
        <p:spPr>
          <a:xfrm>
            <a:off x="1249519" y="4605746"/>
            <a:ext cx="9775867" cy="1625439"/>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21" name="TextBox 20"/>
          <p:cNvSpPr txBox="1"/>
          <p:nvPr/>
        </p:nvSpPr>
        <p:spPr>
          <a:xfrm>
            <a:off x="1405426" y="4687174"/>
            <a:ext cx="9576650" cy="1544012"/>
          </a:xfrm>
          <a:prstGeom prst="rect">
            <a:avLst/>
          </a:prstGeom>
          <a:noFill/>
        </p:spPr>
        <p:txBody>
          <a:bodyPr wrap="square" lIns="91440" tIns="45720" rIns="91440" bIns="45720" anchor="t">
            <a:spAutoFit/>
          </a:bodyPr>
          <a:lstStyle/>
          <a:p>
            <a:pPr>
              <a:spcAft>
                <a:spcPts val="200"/>
              </a:spcAft>
              <a:defRPr sz="1150" b="0">
                <a:solidFill>
                  <a:srgbClr val="2A2A2A"/>
                </a:solidFill>
                <a:latin typeface="Avenir Next"/>
              </a:defRPr>
            </a:pPr>
            <a:r>
              <a:rPr lang="en-IN" sz="1400" b="1" i="1" dirty="0">
                <a:solidFill>
                  <a:srgbClr val="3A3A4A"/>
                </a:solidFill>
                <a:latin typeface="Avenir Next" panose="020B0503020202020204" pitchFamily="34" charset="0"/>
                <a:ea typeface="Calibri"/>
                <a:cs typeface="Calibri"/>
              </a:rPr>
              <a:t>Other Complementary laws and bodies:</a:t>
            </a:r>
            <a:r>
              <a:rPr lang="en-IN" sz="1400" b="1" dirty="0">
                <a:solidFill>
                  <a:srgbClr val="3A3A4A"/>
                </a:solidFill>
                <a:latin typeface="Avenir Next" panose="020B0503020202020204" pitchFamily="34" charset="0"/>
                <a:ea typeface="Calibri"/>
                <a:cs typeface="Calibri"/>
              </a:rPr>
              <a:t> </a:t>
            </a:r>
            <a:endParaRPr lang="en-US" sz="1400" b="1" dirty="0">
              <a:solidFill>
                <a:srgbClr val="2A2A2A"/>
              </a:solidFill>
              <a:latin typeface="Avenir Next" panose="020B0503020202020204" pitchFamily="34" charset="0"/>
              <a:ea typeface="Calibri"/>
              <a:cs typeface="Calibri"/>
            </a:endParaRPr>
          </a:p>
          <a:p>
            <a:pPr marL="171450" indent="-171450">
              <a:spcAft>
                <a:spcPts val="200"/>
              </a:spcAft>
              <a:buFontTx/>
              <a:buChar char="-"/>
              <a:defRPr sz="1150" b="0">
                <a:solidFill>
                  <a:srgbClr val="2A2A2A"/>
                </a:solidFill>
                <a:latin typeface="Avenir Next"/>
              </a:defRPr>
            </a:pPr>
            <a:r>
              <a:rPr lang="en-IN" sz="1200" dirty="0">
                <a:solidFill>
                  <a:srgbClr val="3A3A4A"/>
                </a:solidFill>
                <a:latin typeface="Avenir Next" panose="020B0503020202020204" pitchFamily="34" charset="0"/>
                <a:ea typeface="Calibri"/>
                <a:cs typeface="Calibri"/>
              </a:rPr>
              <a:t>EPA 1986 (provides environmental performance standards as objective benchmarks which can possibly be followed for greenwashing too), </a:t>
            </a:r>
            <a:endParaRPr lang="en-US" sz="1200" dirty="0">
              <a:solidFill>
                <a:srgbClr val="2A2A2A"/>
              </a:solidFill>
              <a:latin typeface="Avenir Next" panose="020B0503020202020204" pitchFamily="34" charset="0"/>
              <a:ea typeface="Calibri"/>
              <a:cs typeface="Calibri"/>
            </a:endParaRPr>
          </a:p>
          <a:p>
            <a:pPr marL="171450" indent="-171450">
              <a:spcAft>
                <a:spcPts val="200"/>
              </a:spcAft>
              <a:buFontTx/>
              <a:buChar char="-"/>
              <a:defRPr sz="1150" b="0">
                <a:solidFill>
                  <a:srgbClr val="2A2A2A"/>
                </a:solidFill>
                <a:latin typeface="Avenir Next"/>
              </a:defRPr>
            </a:pPr>
            <a:r>
              <a:rPr lang="en-IN" sz="1200" dirty="0">
                <a:solidFill>
                  <a:srgbClr val="3A3A4A"/>
                </a:solidFill>
                <a:latin typeface="Avenir Next" panose="020B0503020202020204" pitchFamily="34" charset="0"/>
                <a:ea typeface="Calibri"/>
                <a:cs typeface="Calibri"/>
              </a:rPr>
              <a:t>NGT (broad remedial spectrum, </a:t>
            </a:r>
            <a:r>
              <a:rPr lang="en-IN" sz="1200" i="1" dirty="0" err="1">
                <a:solidFill>
                  <a:srgbClr val="3A3A4A"/>
                </a:solidFill>
                <a:latin typeface="Avenir Next" panose="020B0503020202020204" pitchFamily="34" charset="0"/>
                <a:ea typeface="Calibri"/>
                <a:cs typeface="Calibri"/>
              </a:rPr>
              <a:t>suo</a:t>
            </a:r>
            <a:r>
              <a:rPr lang="en-IN" sz="1200" i="1" dirty="0">
                <a:solidFill>
                  <a:srgbClr val="3A3A4A"/>
                </a:solidFill>
                <a:latin typeface="Avenir Next" panose="020B0503020202020204" pitchFamily="34" charset="0"/>
                <a:ea typeface="Calibri"/>
                <a:cs typeface="Calibri"/>
              </a:rPr>
              <a:t> motu</a:t>
            </a:r>
            <a:r>
              <a:rPr lang="en-IN" sz="1200" dirty="0">
                <a:solidFill>
                  <a:srgbClr val="3A3A4A"/>
                </a:solidFill>
                <a:latin typeface="Avenir Next" panose="020B0503020202020204" pitchFamily="34" charset="0"/>
                <a:ea typeface="Calibri"/>
                <a:cs typeface="Calibri"/>
              </a:rPr>
              <a:t> powers, proportionality-based penalties),</a:t>
            </a:r>
            <a:endParaRPr lang="en-US" sz="1200" dirty="0">
              <a:solidFill>
                <a:srgbClr val="2A2A2A"/>
              </a:solidFill>
              <a:latin typeface="Avenir Next" panose="020B0503020202020204" pitchFamily="34" charset="0"/>
              <a:ea typeface="Calibri"/>
              <a:cs typeface="Calibri"/>
            </a:endParaRPr>
          </a:p>
          <a:p>
            <a:pPr marL="171450" indent="-171450">
              <a:spcAft>
                <a:spcPts val="200"/>
              </a:spcAft>
              <a:buFontTx/>
              <a:buChar char="-"/>
              <a:defRPr sz="1150" b="0">
                <a:solidFill>
                  <a:srgbClr val="2A2A2A"/>
                </a:solidFill>
                <a:latin typeface="Avenir Next"/>
              </a:defRPr>
            </a:pPr>
            <a:r>
              <a:rPr lang="en-IN" sz="1200" dirty="0">
                <a:solidFill>
                  <a:srgbClr val="3A3A4A"/>
                </a:solidFill>
                <a:latin typeface="Avenir Next" panose="020B0503020202020204" pitchFamily="34" charset="0"/>
                <a:ea typeface="Calibri"/>
                <a:cs typeface="Calibri"/>
              </a:rPr>
              <a:t>FSSAI (covers food-sector claims, has brought in mandatory scientific substantiation from Jan 2026 for new products), </a:t>
            </a:r>
            <a:endParaRPr lang="en-US" sz="1200" dirty="0">
              <a:solidFill>
                <a:srgbClr val="2A2A2A"/>
              </a:solidFill>
              <a:latin typeface="Avenir Next" panose="020B0503020202020204" pitchFamily="34" charset="0"/>
              <a:ea typeface="Calibri"/>
              <a:cs typeface="Calibri"/>
            </a:endParaRPr>
          </a:p>
          <a:p>
            <a:pPr marL="171450" indent="-171450">
              <a:spcAft>
                <a:spcPts val="200"/>
              </a:spcAft>
              <a:buFontTx/>
              <a:buChar char="-"/>
              <a:defRPr sz="1150" b="0">
                <a:solidFill>
                  <a:srgbClr val="2A2A2A"/>
                </a:solidFill>
                <a:latin typeface="Avenir Next"/>
              </a:defRPr>
            </a:pPr>
            <a:r>
              <a:rPr lang="en-IN" sz="1200" dirty="0">
                <a:solidFill>
                  <a:srgbClr val="3A3A4A"/>
                </a:solidFill>
                <a:latin typeface="Avenir Next" panose="020B0503020202020204" pitchFamily="34" charset="0"/>
                <a:ea typeface="Calibri"/>
                <a:cs typeface="Calibri"/>
              </a:rPr>
              <a:t>BIS </a:t>
            </a:r>
            <a:r>
              <a:rPr lang="en-IN" sz="1200" dirty="0" err="1">
                <a:solidFill>
                  <a:srgbClr val="3A3A4A"/>
                </a:solidFill>
                <a:latin typeface="Avenir Next" panose="020B0503020202020204" pitchFamily="34" charset="0"/>
                <a:ea typeface="Calibri"/>
                <a:cs typeface="Calibri"/>
              </a:rPr>
              <a:t>Ecomark</a:t>
            </a:r>
            <a:r>
              <a:rPr lang="en-IN" sz="1200" dirty="0">
                <a:solidFill>
                  <a:srgbClr val="3A3A4A"/>
                </a:solidFill>
                <a:latin typeface="Avenir Next" panose="020B0503020202020204" pitchFamily="34" charset="0"/>
                <a:ea typeface="Calibri"/>
                <a:cs typeface="Calibri"/>
              </a:rPr>
              <a:t> (voluntary third-party certification can be obtained by anyone), </a:t>
            </a:r>
            <a:endParaRPr lang="en-US" sz="1200" dirty="0">
              <a:solidFill>
                <a:srgbClr val="2A2A2A"/>
              </a:solidFill>
              <a:latin typeface="Avenir Next" panose="020B0503020202020204" pitchFamily="34" charset="0"/>
              <a:ea typeface="Calibri"/>
              <a:cs typeface="Calibri"/>
            </a:endParaRPr>
          </a:p>
          <a:p>
            <a:pPr marL="171450" indent="-171450">
              <a:spcAft>
                <a:spcPts val="200"/>
              </a:spcAft>
              <a:buFontTx/>
              <a:buChar char="-"/>
              <a:defRPr sz="1150" b="0">
                <a:solidFill>
                  <a:srgbClr val="2A2A2A"/>
                </a:solidFill>
                <a:latin typeface="Avenir Next"/>
              </a:defRPr>
            </a:pPr>
            <a:r>
              <a:rPr lang="en-IN" sz="1200" dirty="0">
                <a:solidFill>
                  <a:srgbClr val="3A3A4A"/>
                </a:solidFill>
                <a:latin typeface="Avenir Next" panose="020B0503020202020204" pitchFamily="34" charset="0"/>
                <a:ea typeface="Calibri"/>
                <a:cs typeface="Calibri"/>
              </a:rPr>
              <a:t>Trademark Act Section 9(1)(b) (provides indirect protection by refusing registration of deceptive 'green' marks)</a:t>
            </a:r>
            <a:endParaRPr dirty="0">
              <a:latin typeface="Avenir Next" panose="020B0503020202020204" pitchFamily="34" charset="0"/>
            </a:endParaRPr>
          </a:p>
        </p:txBody>
      </p:sp>
      <p:sp>
        <p:nvSpPr>
          <p:cNvPr id="5" name="TextBox 4">
            <a:extLst>
              <a:ext uri="{FF2B5EF4-FFF2-40B4-BE49-F238E27FC236}">
                <a16:creationId xmlns:a16="http://schemas.microsoft.com/office/drawing/2014/main" id="{7D74CA95-08AD-D19F-ADE5-1DC20B43934B}"/>
              </a:ext>
            </a:extLst>
          </p:cNvPr>
          <p:cNvSpPr txBox="1"/>
          <p:nvPr/>
        </p:nvSpPr>
        <p:spPr>
          <a:xfrm>
            <a:off x="3844343" y="6266469"/>
            <a:ext cx="6143222" cy="338554"/>
          </a:xfrm>
          <a:prstGeom prst="rect">
            <a:avLst/>
          </a:prstGeom>
          <a:noFill/>
        </p:spPr>
        <p:txBody>
          <a:bodyPr wrap="square">
            <a:spAutoFit/>
          </a:bodyPr>
          <a:lstStyle/>
          <a:p>
            <a:pPr>
              <a:defRPr sz="2200" b="1">
                <a:solidFill>
                  <a:srgbClr val="173F35"/>
                </a:solidFill>
                <a:latin typeface="Avenir Next Demi Bold"/>
              </a:defRPr>
            </a:pPr>
            <a:r>
              <a:rPr lang="en-IN" sz="1600" dirty="0">
                <a:latin typeface="Avenir Next" panose="020B0503020202020204" pitchFamily="34" charset="0"/>
              </a:rPr>
              <a:t>Many Rules, </a:t>
            </a:r>
            <a:r>
              <a:rPr lang="en-US" sz="1600" dirty="0">
                <a:latin typeface="Avenir Next" panose="020B0503020202020204" pitchFamily="34" charset="0"/>
              </a:rPr>
              <a:t>But not a Functioning System</a:t>
            </a:r>
          </a:p>
        </p:txBody>
      </p:sp>
      <p:sp>
        <p:nvSpPr>
          <p:cNvPr id="22" name="TextBox 21">
            <a:extLst>
              <a:ext uri="{FF2B5EF4-FFF2-40B4-BE49-F238E27FC236}">
                <a16:creationId xmlns:a16="http://schemas.microsoft.com/office/drawing/2014/main" id="{D5AC17E7-B862-394E-AABA-62A96475E223}"/>
              </a:ext>
            </a:extLst>
          </p:cNvPr>
          <p:cNvSpPr txBox="1"/>
          <p:nvPr/>
        </p:nvSpPr>
        <p:spPr>
          <a:xfrm>
            <a:off x="966174" y="6529590"/>
            <a:ext cx="4000000" cy="215444"/>
          </a:xfrm>
          <a:prstGeom prst="rect">
            <a:avLst/>
          </a:prstGeom>
          <a:noFill/>
        </p:spPr>
        <p:txBody>
          <a:bodyPr wrap="square" lIns="45720" tIns="22860" rIns="45720" bIns="22860" anchor="t">
            <a:spAutoFit/>
          </a:bodyPr>
          <a:lstStyle/>
          <a:p>
            <a:pPr algn="l"/>
            <a:r>
              <a:rPr sz="1100" b="0" i="0" dirty="0">
                <a:latin typeface="Calibri"/>
              </a:rPr>
              <a:t>Source base: Chapte</a:t>
            </a:r>
            <a:r>
              <a:rPr lang="en-US" sz="1100" b="0" i="0" dirty="0">
                <a:latin typeface="Calibri"/>
              </a:rPr>
              <a:t>r 5.</a:t>
            </a:r>
            <a:endParaRPr sz="1100" b="0" i="0" dirty="0">
              <a:latin typeface="Calibri"/>
            </a:endParaRPr>
          </a:p>
        </p:txBody>
      </p:sp>
    </p:spTree>
    <p:extLst>
      <p:ext uri="{BB962C8B-B14F-4D97-AF65-F5344CB8AC3E}">
        <p14:creationId xmlns:p14="http://schemas.microsoft.com/office/powerpoint/2010/main" val="2513919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55043" y="526070"/>
            <a:ext cx="11300000" cy="523220"/>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sz="2800" dirty="0"/>
              <a:t>Why Section 166(2) </a:t>
            </a:r>
            <a:r>
              <a:rPr lang="en-US" sz="2800" dirty="0"/>
              <a:t>of Companies Act </a:t>
            </a:r>
            <a:r>
              <a:rPr sz="2800" dirty="0"/>
              <a:t>Remains Weakly Enforced</a:t>
            </a:r>
          </a:p>
        </p:txBody>
      </p:sp>
      <p:sp>
        <p:nvSpPr>
          <p:cNvPr id="6" name="Rounded Rectangle 5"/>
          <p:cNvSpPr/>
          <p:nvPr/>
        </p:nvSpPr>
        <p:spPr>
          <a:xfrm>
            <a:off x="786384" y="1461266"/>
            <a:ext cx="10607040" cy="4178167"/>
          </a:xfrm>
          <a:prstGeom prst="roundRect">
            <a:avLst/>
          </a:prstGeom>
          <a:solidFill>
            <a:srgbClr val="FFF6EA"/>
          </a:solidFill>
          <a:ln w="12700">
            <a:solidFill>
              <a:srgbClr val="E7C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0" name="TextBox 9"/>
          <p:cNvSpPr txBox="1"/>
          <p:nvPr/>
        </p:nvSpPr>
        <p:spPr>
          <a:xfrm>
            <a:off x="965914" y="1774131"/>
            <a:ext cx="10427509" cy="3754874"/>
          </a:xfrm>
          <a:prstGeom prst="rect">
            <a:avLst/>
          </a:prstGeom>
          <a:noFill/>
        </p:spPr>
        <p:txBody>
          <a:bodyPr wrap="square" lIns="91440" tIns="45720" rIns="91440" bIns="45720" anchor="t">
            <a:spAutoFit/>
          </a:bodyPr>
          <a:lstStyle/>
          <a:p>
            <a:pPr marL="171450" indent="-171450" algn="just">
              <a:spcAft>
                <a:spcPts val="600"/>
              </a:spcAft>
              <a:buFont typeface="Arial"/>
              <a:buChar char="•"/>
              <a:defRPr sz="1140">
                <a:solidFill>
                  <a:srgbClr val="2A2A2A"/>
                </a:solidFill>
                <a:latin typeface="Avenir Next"/>
              </a:defRPr>
            </a:pPr>
            <a:r>
              <a:rPr lang="en-US" sz="1600" dirty="0">
                <a:latin typeface="Avenir Next" panose="020B0503020202020204" pitchFamily="34" charset="0"/>
                <a:ea typeface="+mn-lt"/>
                <a:cs typeface="+mn-lt"/>
              </a:rPr>
              <a:t>Vague and Broad Scope: The terms "community," "environment," and "best interests of stakeholders" are broad and undefined.</a:t>
            </a:r>
          </a:p>
          <a:p>
            <a:pPr marL="171450" indent="-171450" algn="just">
              <a:spcAft>
                <a:spcPts val="600"/>
              </a:spcAft>
              <a:buFont typeface="Arial"/>
              <a:buChar char="•"/>
              <a:defRPr sz="1140">
                <a:solidFill>
                  <a:srgbClr val="2A2A2A"/>
                </a:solidFill>
                <a:latin typeface="Avenir Next"/>
              </a:defRPr>
            </a:pPr>
            <a:r>
              <a:rPr lang="en-US" sz="1600" dirty="0">
                <a:latin typeface="Avenir Next" panose="020B0503020202020204" pitchFamily="34" charset="0"/>
                <a:ea typeface="+mn-lt"/>
                <a:cs typeface="+mn-lt"/>
              </a:rPr>
              <a:t>Challenge of Proving Mismanagement: It is difficult to distinguish between a bad business decision and a "breach of fiduciary duty," as courts generally avoid substituting their judgment for that of the board.</a:t>
            </a:r>
          </a:p>
          <a:p>
            <a:pPr marL="171450" indent="-171450" algn="just">
              <a:spcAft>
                <a:spcPts val="600"/>
              </a:spcAft>
              <a:buFont typeface="Arial"/>
              <a:buChar char="•"/>
              <a:defRPr sz="1140">
                <a:solidFill>
                  <a:srgbClr val="2A2A2A"/>
                </a:solidFill>
                <a:latin typeface="Avenir Next"/>
              </a:defRPr>
            </a:pPr>
            <a:r>
              <a:rPr sz="1600" dirty="0">
                <a:latin typeface="Avenir Next" panose="020B0503020202020204" pitchFamily="34" charset="0"/>
              </a:rPr>
              <a:t>Sections 241-244 and derivative-style pathways are narrow </a:t>
            </a:r>
            <a:r>
              <a:rPr lang="en-US" sz="1600" dirty="0">
                <a:latin typeface="Avenir Next" panose="020B0503020202020204" pitchFamily="34" charset="0"/>
              </a:rPr>
              <a:t>in environmental cases </a:t>
            </a:r>
            <a:r>
              <a:rPr sz="1600" dirty="0">
                <a:latin typeface="Avenir Next" panose="020B0503020202020204" pitchFamily="34" charset="0"/>
              </a:rPr>
              <a:t>and designed mainly for shareholder disputes.</a:t>
            </a:r>
          </a:p>
          <a:p>
            <a:pPr marL="171450" indent="-171450" algn="just">
              <a:spcAft>
                <a:spcPts val="600"/>
              </a:spcAft>
              <a:buFont typeface="Arial"/>
              <a:buChar char="•"/>
              <a:defRPr sz="1140">
                <a:solidFill>
                  <a:srgbClr val="2A2A2A"/>
                </a:solidFill>
                <a:latin typeface="Avenir Next"/>
              </a:defRPr>
            </a:pPr>
            <a:r>
              <a:rPr sz="1600" dirty="0">
                <a:latin typeface="Avenir Next" panose="020B0503020202020204" pitchFamily="34" charset="0"/>
              </a:rPr>
              <a:t>Section 166(7</a:t>
            </a:r>
            <a:r>
              <a:rPr lang="en-US" sz="1600" dirty="0">
                <a:latin typeface="Avenir Next" panose="020B0503020202020204" pitchFamily="34" charset="0"/>
              </a:rPr>
              <a:t>):</a:t>
            </a:r>
            <a:r>
              <a:rPr sz="1600" dirty="0">
                <a:latin typeface="Avenir Next" panose="020B0503020202020204" pitchFamily="34" charset="0"/>
              </a:rPr>
              <a:t> ₹1-5 lakh penalty is too small to deter board-level greenwashing in large companies.</a:t>
            </a:r>
          </a:p>
          <a:p>
            <a:pPr marL="171450" indent="-171450" algn="just">
              <a:spcAft>
                <a:spcPts val="600"/>
              </a:spcAft>
              <a:buFont typeface="Arial"/>
              <a:buChar char="•"/>
              <a:defRPr sz="1140">
                <a:solidFill>
                  <a:srgbClr val="2A2A2A"/>
                </a:solidFill>
                <a:latin typeface="Avenir Next"/>
              </a:defRPr>
            </a:pPr>
            <a:r>
              <a:rPr lang="en-US" sz="1600" dirty="0">
                <a:latin typeface="Avenir Next" panose="020B0503020202020204" pitchFamily="34" charset="0"/>
                <a:ea typeface="+mn-lt"/>
                <a:cs typeface="+mn-lt"/>
              </a:rPr>
              <a:t>Conflict with Profit Maximization: Directors often prioritize short-term commercial goals over long-term environmental or community interests</a:t>
            </a:r>
          </a:p>
          <a:p>
            <a:pPr marL="171450" indent="-171450" algn="just">
              <a:spcAft>
                <a:spcPts val="600"/>
              </a:spcAft>
              <a:buFont typeface="Arial"/>
              <a:buChar char="•"/>
              <a:defRPr sz="1140">
                <a:solidFill>
                  <a:srgbClr val="2A2A2A"/>
                </a:solidFill>
                <a:latin typeface="Avenir Next"/>
              </a:defRPr>
            </a:pPr>
            <a:r>
              <a:rPr lang="en-US" sz="1600" dirty="0">
                <a:latin typeface="Avenir Next" panose="020B0503020202020204" pitchFamily="34" charset="0"/>
              </a:rPr>
              <a:t>No mandatory referral system moves a misleading claim from CCPA or SEBI into MCA action under Section 166(2).</a:t>
            </a:r>
          </a:p>
          <a:p>
            <a:pPr marL="171450" indent="-171450" algn="just">
              <a:spcAft>
                <a:spcPts val="600"/>
              </a:spcAft>
              <a:buFont typeface="Arial"/>
              <a:buChar char="•"/>
              <a:defRPr sz="1140">
                <a:solidFill>
                  <a:srgbClr val="2A2A2A"/>
                </a:solidFill>
                <a:latin typeface="Avenir Next"/>
              </a:defRPr>
            </a:pPr>
            <a:r>
              <a:rPr lang="en-US" sz="1600" dirty="0">
                <a:latin typeface="Avenir Next" panose="020B0503020202020204" pitchFamily="34" charset="0"/>
              </a:rPr>
              <a:t>"Protection of environment" needs judicial precedent linking with "environmental misrepresentation”, that’s the hurdle of enforcement.</a:t>
            </a:r>
          </a:p>
        </p:txBody>
      </p:sp>
      <p:sp>
        <p:nvSpPr>
          <p:cNvPr id="17" name="TextBox 16"/>
          <p:cNvSpPr txBox="1"/>
          <p:nvPr/>
        </p:nvSpPr>
        <p:spPr>
          <a:xfrm>
            <a:off x="786384" y="6370401"/>
            <a:ext cx="1733167" cy="261610"/>
          </a:xfrm>
          <a:prstGeom prst="rect">
            <a:avLst/>
          </a:prstGeom>
          <a:noFill/>
        </p:spPr>
        <p:txBody>
          <a:bodyPr wrap="none" lIns="91440" tIns="45720" rIns="91440" bIns="45720" anchor="t">
            <a:spAutoFit/>
          </a:bodyPr>
          <a:lstStyle/>
          <a:p>
            <a:pPr>
              <a:defRPr sz="850">
                <a:solidFill>
                  <a:srgbClr val="6B6F6A"/>
                </a:solidFill>
                <a:latin typeface="Avenir Next"/>
              </a:defRPr>
            </a:pPr>
            <a:r>
              <a:rPr sz="1100" dirty="0">
                <a:latin typeface="Avenir Next" panose="020B0503020202020204" pitchFamily="34" charset="0"/>
              </a:rPr>
              <a:t>Source base: Chapter </a:t>
            </a:r>
            <a:r>
              <a:rPr lang="en-US" sz="1100" dirty="0">
                <a:latin typeface="Avenir Next" panose="020B0503020202020204" pitchFamily="34" charset="0"/>
              </a:rPr>
              <a:t>3.</a:t>
            </a:r>
            <a:endParaRPr sz="1100" dirty="0">
              <a:latin typeface="Avenir Next" panose="020B0503020202020204" pitchFamily="34" charset="0"/>
            </a:endParaRPr>
          </a:p>
        </p:txBody>
      </p:sp>
      <p:sp>
        <p:nvSpPr>
          <p:cNvPr id="2" name="TextBox 1">
            <a:extLst>
              <a:ext uri="{FF2B5EF4-FFF2-40B4-BE49-F238E27FC236}">
                <a16:creationId xmlns:a16="http://schemas.microsoft.com/office/drawing/2014/main" id="{3CF64308-CD14-51EE-4990-8D520F4793B7}"/>
              </a:ext>
            </a:extLst>
          </p:cNvPr>
          <p:cNvSpPr txBox="1"/>
          <p:nvPr/>
        </p:nvSpPr>
        <p:spPr>
          <a:xfrm>
            <a:off x="786384" y="5724071"/>
            <a:ext cx="10753086" cy="692497"/>
          </a:xfrm>
          <a:prstGeom prst="rect">
            <a:avLst/>
          </a:prstGeom>
          <a:noFill/>
        </p:spPr>
        <p:txBody>
          <a:bodyPr wrap="square" lIns="45720" tIns="22860" rIns="45720" bIns="22860" anchor="t">
            <a:spAutoFit/>
          </a:bodyPr>
          <a:lstStyle/>
          <a:p>
            <a:r>
              <a:rPr lang="en-US" sz="1400" b="0" i="0" dirty="0">
                <a:latin typeface="Avenir Next"/>
              </a:rPr>
              <a:t>Answers </a:t>
            </a:r>
            <a:r>
              <a:rPr sz="1400" b="0" i="0" dirty="0">
                <a:latin typeface="Avenir Next"/>
              </a:rPr>
              <a:t>Research Question 4 : </a:t>
            </a:r>
            <a:r>
              <a:rPr lang="en-IN" sz="1400" dirty="0">
                <a:ea typeface="+mn-lt"/>
                <a:cs typeface="+mn-lt"/>
              </a:rPr>
              <a:t>What duties of directors, disclosure obligations, and assurance requirements, under Indian company and securities law, can ground liability for misleading environmental claims?</a:t>
            </a:r>
            <a:endParaRPr lang="en-US" sz="1400" dirty="0">
              <a:ea typeface="+mn-lt"/>
              <a:cs typeface="+mn-lt"/>
            </a:endParaRPr>
          </a:p>
          <a:p>
            <a:pPr algn="l"/>
            <a:endParaRPr sz="1400" b="0" i="0" dirty="0">
              <a:solidFill>
                <a:srgbClr val="6B6F6A"/>
              </a:solidFill>
              <a:latin typeface="Avenir Next"/>
            </a:endParaRPr>
          </a:p>
        </p:txBody>
      </p:sp>
    </p:spTree>
    <p:extLst>
      <p:ext uri="{BB962C8B-B14F-4D97-AF65-F5344CB8AC3E}">
        <p14:creationId xmlns:p14="http://schemas.microsoft.com/office/powerpoint/2010/main" val="2815261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7850" y="480098"/>
            <a:ext cx="11300000" cy="523220"/>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sz="2800" dirty="0"/>
              <a:t>SEBI's ESG Regime: Progress on Paper, </a:t>
            </a:r>
            <a:r>
              <a:rPr lang="en-US" sz="2800" dirty="0"/>
              <a:t>Backsliding in</a:t>
            </a:r>
            <a:r>
              <a:rPr sz="2800" dirty="0"/>
              <a:t> Practice</a:t>
            </a:r>
          </a:p>
        </p:txBody>
      </p:sp>
      <p:sp>
        <p:nvSpPr>
          <p:cNvPr id="5" name="TextBox 4"/>
          <p:cNvSpPr txBox="1"/>
          <p:nvPr/>
        </p:nvSpPr>
        <p:spPr>
          <a:xfrm>
            <a:off x="566928" y="1062574"/>
            <a:ext cx="9416424" cy="276999"/>
          </a:xfrm>
          <a:prstGeom prst="rect">
            <a:avLst/>
          </a:prstGeom>
          <a:noFill/>
        </p:spPr>
        <p:txBody>
          <a:bodyPr wrap="none" lIns="91440" tIns="45720" rIns="91440" bIns="45720" anchor="t">
            <a:spAutoFit/>
          </a:bodyPr>
          <a:lstStyle/>
          <a:p>
            <a:pPr>
              <a:defRPr sz="1200">
                <a:solidFill>
                  <a:srgbClr val="6B6F6A"/>
                </a:solidFill>
                <a:latin typeface="Avenir Next"/>
              </a:defRPr>
            </a:pPr>
            <a:r>
              <a:rPr lang="en-US"/>
              <a:t>SEBI's BRSR</a:t>
            </a:r>
            <a:r>
              <a:rPr dirty="0"/>
              <a:t> </a:t>
            </a:r>
            <a:r>
              <a:rPr lang="en-US"/>
              <a:t>has </a:t>
            </a:r>
            <a:r>
              <a:t>improved disclosure format, but scope, assurance, and enforcement remain too weak to make greenwashing costly.</a:t>
            </a:r>
          </a:p>
        </p:txBody>
      </p:sp>
      <p:sp>
        <p:nvSpPr>
          <p:cNvPr id="6" name="Rounded Rectangle 5"/>
          <p:cNvSpPr/>
          <p:nvPr/>
        </p:nvSpPr>
        <p:spPr>
          <a:xfrm>
            <a:off x="799190" y="1410019"/>
            <a:ext cx="10587831" cy="402235"/>
          </a:xfrm>
          <a:prstGeom prst="roundRect">
            <a:avLst/>
          </a:prstGeom>
          <a:solidFill>
            <a:srgbClr val="FFF6EA"/>
          </a:solidFill>
          <a:ln w="12700">
            <a:solidFill>
              <a:srgbClr val="E7C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7" name="TextBox 6"/>
          <p:cNvSpPr txBox="1"/>
          <p:nvPr/>
        </p:nvSpPr>
        <p:spPr>
          <a:xfrm>
            <a:off x="917115" y="1488602"/>
            <a:ext cx="10186416" cy="292388"/>
          </a:xfrm>
          <a:prstGeom prst="rect">
            <a:avLst/>
          </a:prstGeom>
          <a:noFill/>
        </p:spPr>
        <p:txBody>
          <a:bodyPr wrap="square" anchor="t">
            <a:spAutoFit/>
          </a:bodyPr>
          <a:lstStyle/>
          <a:p>
            <a:pPr algn="ctr">
              <a:defRPr sz="1300" b="1">
                <a:solidFill>
                  <a:srgbClr val="173F35"/>
                </a:solidFill>
                <a:latin typeface="Avenir Next Demi Bold"/>
              </a:defRPr>
            </a:pPr>
            <a:r>
              <a:rPr>
                <a:latin typeface="Avenir Next" panose="020B0503020202020204" pitchFamily="34" charset="0"/>
              </a:rPr>
              <a:t>SEBI has built an ESG architecture, but it still generates disclosure faster than it generates verification or deterrence.</a:t>
            </a:r>
          </a:p>
        </p:txBody>
      </p:sp>
      <p:sp>
        <p:nvSpPr>
          <p:cNvPr id="8" name="Rounded Rectangle 7"/>
          <p:cNvSpPr/>
          <p:nvPr/>
        </p:nvSpPr>
        <p:spPr>
          <a:xfrm>
            <a:off x="822960" y="1954869"/>
            <a:ext cx="2468880" cy="896112"/>
          </a:xfrm>
          <a:prstGeom prst="roundRect">
            <a:avLst/>
          </a:prstGeom>
          <a:solidFill>
            <a:srgbClr val="F5E7DE"/>
          </a:solidFill>
          <a:ln w="12700">
            <a:solidFill>
              <a:srgbClr val="F5E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73F35"/>
                </a:solidFill>
                <a:latin typeface="Georgia"/>
              </a:defRPr>
            </a:pPr>
            <a:r>
              <a:rPr dirty="0">
                <a:latin typeface="Avenir Next" panose="020B0503020202020204" pitchFamily="34" charset="0"/>
              </a:rPr>
              <a:t>2021</a:t>
            </a:r>
          </a:p>
          <a:p>
            <a:pPr algn="ctr">
              <a:defRPr sz="1050">
                <a:solidFill>
                  <a:srgbClr val="2A2A2A"/>
                </a:solidFill>
                <a:latin typeface="Avenir Next"/>
              </a:defRPr>
            </a:pPr>
            <a:r>
              <a:rPr dirty="0">
                <a:latin typeface="Avenir Next" panose="020B0503020202020204" pitchFamily="34" charset="0"/>
              </a:rPr>
              <a:t>BRSR becomes mandatory for the top 1000 listed entities</a:t>
            </a:r>
          </a:p>
        </p:txBody>
      </p:sp>
      <p:sp>
        <p:nvSpPr>
          <p:cNvPr id="9" name="Rounded Rectangle 8"/>
          <p:cNvSpPr/>
          <p:nvPr/>
        </p:nvSpPr>
        <p:spPr>
          <a:xfrm>
            <a:off x="3438144" y="1954869"/>
            <a:ext cx="2468880" cy="896112"/>
          </a:xfrm>
          <a:prstGeom prst="roundRect">
            <a:avLst/>
          </a:prstGeom>
          <a:solidFill>
            <a:srgbClr val="E8EFE6"/>
          </a:solidFill>
          <a:ln w="12700">
            <a:solidFill>
              <a:srgbClr val="E8EFE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73F35"/>
                </a:solidFill>
                <a:latin typeface="Georgia"/>
              </a:defRPr>
            </a:pPr>
            <a:r>
              <a:rPr>
                <a:latin typeface="Avenir Next" panose="020B0503020202020204" pitchFamily="34" charset="0"/>
              </a:rPr>
              <a:t>2023</a:t>
            </a:r>
          </a:p>
          <a:p>
            <a:pPr algn="ctr">
              <a:defRPr sz="1050">
                <a:solidFill>
                  <a:srgbClr val="2A2A2A"/>
                </a:solidFill>
                <a:latin typeface="Avenir Next"/>
              </a:defRPr>
            </a:pPr>
            <a:r>
              <a:rPr>
                <a:latin typeface="Avenir Next" panose="020B0503020202020204" pitchFamily="34" charset="0"/>
              </a:rPr>
              <a:t>BRSR Core adds key KPIs, assurance track, and value-chain reporting</a:t>
            </a:r>
          </a:p>
        </p:txBody>
      </p:sp>
      <p:sp>
        <p:nvSpPr>
          <p:cNvPr id="10" name="Rounded Rectangle 9"/>
          <p:cNvSpPr/>
          <p:nvPr/>
        </p:nvSpPr>
        <p:spPr>
          <a:xfrm>
            <a:off x="6053328" y="1954869"/>
            <a:ext cx="2468880" cy="896112"/>
          </a:xfrm>
          <a:prstGeom prst="roundRect">
            <a:avLst/>
          </a:prstGeom>
          <a:solidFill>
            <a:srgbClr val="F7F0DE"/>
          </a:solidFill>
          <a:ln w="12700">
            <a:solidFill>
              <a:srgbClr val="F7F0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73F35"/>
                </a:solidFill>
                <a:latin typeface="Georgia"/>
              </a:defRPr>
            </a:pPr>
            <a:r>
              <a:rPr dirty="0">
                <a:latin typeface="Avenir Next" panose="020B0503020202020204" pitchFamily="34" charset="0"/>
              </a:rPr>
              <a:t>Dec</a:t>
            </a:r>
            <a:r>
              <a:rPr lang="en-US" dirty="0">
                <a:latin typeface="Avenir Next" panose="020B0503020202020204" pitchFamily="34" charset="0"/>
              </a:rPr>
              <a:t>.</a:t>
            </a:r>
            <a:r>
              <a:rPr dirty="0">
                <a:latin typeface="Avenir Next" panose="020B0503020202020204" pitchFamily="34" charset="0"/>
              </a:rPr>
              <a:t> 2024</a:t>
            </a:r>
          </a:p>
          <a:p>
            <a:pPr algn="ctr">
              <a:defRPr sz="1050">
                <a:solidFill>
                  <a:srgbClr val="2A2A2A"/>
                </a:solidFill>
                <a:latin typeface="Avenir Next"/>
              </a:defRPr>
            </a:pPr>
            <a:r>
              <a:rPr dirty="0">
                <a:latin typeface="Avenir Next" panose="020B0503020202020204" pitchFamily="34" charset="0"/>
              </a:rPr>
              <a:t>assurance diluted and value-chain disclosure deferred and made voluntary</a:t>
            </a:r>
          </a:p>
        </p:txBody>
      </p:sp>
      <p:sp>
        <p:nvSpPr>
          <p:cNvPr id="11" name="Rounded Rectangle 10"/>
          <p:cNvSpPr/>
          <p:nvPr/>
        </p:nvSpPr>
        <p:spPr>
          <a:xfrm>
            <a:off x="8668512" y="1954869"/>
            <a:ext cx="2468880" cy="896112"/>
          </a:xfrm>
          <a:prstGeom prst="roundRect">
            <a:avLst/>
          </a:prstGeom>
          <a:solidFill>
            <a:srgbClr val="F5E7DE"/>
          </a:solidFill>
          <a:ln w="12700">
            <a:solidFill>
              <a:srgbClr val="F5E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300" b="1">
                <a:solidFill>
                  <a:srgbClr val="173F35"/>
                </a:solidFill>
                <a:latin typeface="Georgia"/>
              </a:defRPr>
            </a:pPr>
            <a:r>
              <a:rPr>
                <a:latin typeface="Avenir Next" panose="020B0503020202020204" pitchFamily="34" charset="0"/>
              </a:rPr>
              <a:t>2025</a:t>
            </a:r>
          </a:p>
          <a:p>
            <a:pPr algn="ctr">
              <a:defRPr sz="1050">
                <a:solidFill>
                  <a:srgbClr val="2A2A2A"/>
                </a:solidFill>
                <a:latin typeface="Avenir Next"/>
              </a:defRPr>
            </a:pPr>
            <a:r>
              <a:rPr>
                <a:latin typeface="Avenir Next" panose="020B0503020202020204" pitchFamily="34" charset="0"/>
              </a:rPr>
              <a:t>scope narrowed further even as the debt framework expands</a:t>
            </a:r>
          </a:p>
        </p:txBody>
      </p:sp>
      <p:sp>
        <p:nvSpPr>
          <p:cNvPr id="12" name="Rounded Rectangle 11"/>
          <p:cNvSpPr/>
          <p:nvPr/>
        </p:nvSpPr>
        <p:spPr>
          <a:xfrm>
            <a:off x="803750" y="3054864"/>
            <a:ext cx="3292762" cy="2317248"/>
          </a:xfrm>
          <a:prstGeom prst="roundRect">
            <a:avLst/>
          </a:prstGeom>
          <a:solidFill>
            <a:srgbClr val="E8EFE6"/>
          </a:solidFill>
          <a:ln w="12700">
            <a:solidFill>
              <a:srgbClr val="6A8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3" name="Rounded Rectangle 12"/>
          <p:cNvSpPr/>
          <p:nvPr/>
        </p:nvSpPr>
        <p:spPr>
          <a:xfrm>
            <a:off x="972901" y="3134368"/>
            <a:ext cx="1389888" cy="360278"/>
          </a:xfrm>
          <a:prstGeom prst="round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venir Next"/>
              </a:defRPr>
            </a:pPr>
            <a:r>
              <a:rPr>
                <a:latin typeface="Avenir Next" panose="020B0503020202020204" pitchFamily="34" charset="0"/>
              </a:rPr>
              <a:t>Design limits</a:t>
            </a:r>
          </a:p>
        </p:txBody>
      </p:sp>
      <p:sp>
        <p:nvSpPr>
          <p:cNvPr id="14" name="TextBox 13"/>
          <p:cNvSpPr txBox="1"/>
          <p:nvPr/>
        </p:nvSpPr>
        <p:spPr>
          <a:xfrm>
            <a:off x="1009477" y="3554992"/>
            <a:ext cx="2761488" cy="1742015"/>
          </a:xfrm>
          <a:prstGeom prst="rect">
            <a:avLst/>
          </a:prstGeom>
          <a:noFill/>
        </p:spPr>
        <p:txBody>
          <a:bodyPr wrap="square" lIns="91440" tIns="45720" rIns="91440" bIns="45720" anchor="t">
            <a:spAutoFit/>
          </a:bodyPr>
          <a:lstStyle/>
          <a:p>
            <a:pPr marL="171450" indent="-171450">
              <a:spcAft>
                <a:spcPts val="600"/>
              </a:spcAft>
              <a:buFont typeface="Arial"/>
              <a:buChar char="•"/>
              <a:defRPr sz="1080">
                <a:solidFill>
                  <a:srgbClr val="2A2A2A"/>
                </a:solidFill>
                <a:latin typeface="Avenir Next"/>
              </a:defRPr>
            </a:pPr>
            <a:r>
              <a:rPr>
                <a:latin typeface="Avenir Next" panose="020B0503020202020204" pitchFamily="34" charset="0"/>
              </a:rPr>
              <a:t>BRSR still covers only the top 1000 listed entities, leaving major unlisted and lower-ranked emitters outside.</a:t>
            </a:r>
            <a:endParaRPr lang="en-US">
              <a:latin typeface="Avenir Next" panose="020B0503020202020204" pitchFamily="34" charset="0"/>
            </a:endParaRPr>
          </a:p>
          <a:p>
            <a:pPr marL="171450" indent="-171450">
              <a:spcAft>
                <a:spcPts val="600"/>
              </a:spcAft>
              <a:buFont typeface="Arial"/>
              <a:buChar char="•"/>
              <a:defRPr sz="1080">
                <a:solidFill>
                  <a:srgbClr val="2A2A2A"/>
                </a:solidFill>
                <a:latin typeface="Avenir Next"/>
              </a:defRPr>
            </a:pPr>
            <a:r>
              <a:rPr>
                <a:latin typeface="Avenir Next" panose="020B0503020202020204" pitchFamily="34" charset="0"/>
              </a:rPr>
              <a:t>The model is mostly single-materiality, so impact on people and environment can stay under-reported.</a:t>
            </a:r>
          </a:p>
          <a:p>
            <a:pPr marL="171450" indent="-171450">
              <a:spcAft>
                <a:spcPts val="600"/>
              </a:spcAft>
              <a:buFont typeface="Arial"/>
              <a:buChar char="•"/>
              <a:defRPr sz="1080">
                <a:solidFill>
                  <a:srgbClr val="2A2A2A"/>
                </a:solidFill>
                <a:latin typeface="Avenir Next"/>
              </a:defRPr>
            </a:pPr>
            <a:r>
              <a:rPr sz="1050">
                <a:latin typeface="Avenir Next" panose="020B0503020202020204" pitchFamily="34" charset="0"/>
              </a:rPr>
              <a:t>No sector-specific metrics or mandatory GHG methodology means comparability remains weak.</a:t>
            </a:r>
          </a:p>
        </p:txBody>
      </p:sp>
      <p:sp>
        <p:nvSpPr>
          <p:cNvPr id="15" name="Rounded Rectangle 14"/>
          <p:cNvSpPr/>
          <p:nvPr/>
        </p:nvSpPr>
        <p:spPr>
          <a:xfrm>
            <a:off x="4468675" y="3048461"/>
            <a:ext cx="3267149" cy="2298037"/>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6" name="Rounded Rectangle 15"/>
          <p:cNvSpPr/>
          <p:nvPr/>
        </p:nvSpPr>
        <p:spPr>
          <a:xfrm>
            <a:off x="4612213" y="3134368"/>
            <a:ext cx="1719072" cy="360278"/>
          </a:xfrm>
          <a:prstGeom prst="round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173F35"/>
                </a:solidFill>
                <a:latin typeface="Avenir Next"/>
              </a:defRPr>
            </a:pPr>
            <a:r>
              <a:rPr lang="en-US">
                <a:latin typeface="Avenir Next" panose="020B0503020202020204" pitchFamily="34" charset="0"/>
              </a:rPr>
              <a:t>Backsliding</a:t>
            </a:r>
            <a:endParaRPr lang="en-US" dirty="0">
              <a:latin typeface="Avenir Next" panose="020B0503020202020204" pitchFamily="34" charset="0"/>
            </a:endParaRPr>
          </a:p>
        </p:txBody>
      </p:sp>
      <p:sp>
        <p:nvSpPr>
          <p:cNvPr id="17" name="TextBox 16"/>
          <p:cNvSpPr txBox="1"/>
          <p:nvPr/>
        </p:nvSpPr>
        <p:spPr>
          <a:xfrm>
            <a:off x="4648789" y="3554992"/>
            <a:ext cx="2743200" cy="1575816"/>
          </a:xfrm>
          <a:prstGeom prst="rect">
            <a:avLst/>
          </a:prstGeom>
          <a:noFill/>
        </p:spPr>
        <p:txBody>
          <a:bodyPr wrap="square" lIns="91440" tIns="45720" rIns="91440" bIns="45720" anchor="t">
            <a:spAutoFit/>
          </a:bodyPr>
          <a:lstStyle/>
          <a:p>
            <a:pPr marL="171450" indent="-171450">
              <a:spcAft>
                <a:spcPts val="600"/>
              </a:spcAft>
              <a:buFont typeface="Arial"/>
              <a:buChar char="•"/>
              <a:defRPr sz="1080">
                <a:solidFill>
                  <a:srgbClr val="2A2A2A"/>
                </a:solidFill>
                <a:latin typeface="Avenir Next"/>
              </a:defRPr>
            </a:pPr>
            <a:r>
              <a:rPr>
                <a:latin typeface="Avenir Next" panose="020B0503020202020204" pitchFamily="34" charset="0"/>
              </a:rPr>
              <a:t>Reasonable assurance gave way to 'assessment or assurance', a much softer credibility signal.</a:t>
            </a:r>
            <a:endParaRPr lang="en-US">
              <a:latin typeface="Avenir Next" panose="020B0503020202020204" pitchFamily="34" charset="0"/>
            </a:endParaRPr>
          </a:p>
          <a:p>
            <a:pPr marL="171450" indent="-171450">
              <a:spcAft>
                <a:spcPts val="600"/>
              </a:spcAft>
              <a:buFont typeface="Arial"/>
              <a:buChar char="•"/>
              <a:defRPr sz="1080">
                <a:solidFill>
                  <a:srgbClr val="2A2A2A"/>
                </a:solidFill>
                <a:latin typeface="Avenir Next"/>
              </a:defRPr>
            </a:pPr>
            <a:r>
              <a:rPr>
                <a:latin typeface="Avenir Next" panose="020B0503020202020204" pitchFamily="34" charset="0"/>
              </a:rPr>
              <a:t>Phased rollout leaves most ESG data effectively self-certified for years.</a:t>
            </a:r>
          </a:p>
          <a:p>
            <a:pPr marL="171450" indent="-171450">
              <a:spcAft>
                <a:spcPts val="600"/>
              </a:spcAft>
              <a:buFont typeface="Arial"/>
              <a:buChar char="•"/>
              <a:defRPr sz="1080">
                <a:solidFill>
                  <a:srgbClr val="2A2A2A"/>
                </a:solidFill>
                <a:latin typeface="Avenir Next"/>
              </a:defRPr>
            </a:pPr>
            <a:r>
              <a:rPr>
                <a:latin typeface="Avenir Next" panose="020B0503020202020204" pitchFamily="34" charset="0"/>
              </a:rPr>
              <a:t>Value-chain reporting was deferred, shifted to voluntary, and narrowed by the 2% threshold plus 75% cap.</a:t>
            </a:r>
          </a:p>
        </p:txBody>
      </p:sp>
      <p:sp>
        <p:nvSpPr>
          <p:cNvPr id="18" name="Rounded Rectangle 17"/>
          <p:cNvSpPr/>
          <p:nvPr/>
        </p:nvSpPr>
        <p:spPr>
          <a:xfrm>
            <a:off x="8101583" y="3048461"/>
            <a:ext cx="3279955" cy="2618206"/>
          </a:xfrm>
          <a:prstGeom prst="roundRect">
            <a:avLst/>
          </a:prstGeom>
          <a:solidFill>
            <a:srgbClr val="FFF3F0"/>
          </a:solidFill>
          <a:ln w="12700">
            <a:solidFill>
              <a:srgbClr val="E7B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19" name="Rounded Rectangle 18"/>
          <p:cNvSpPr/>
          <p:nvPr/>
        </p:nvSpPr>
        <p:spPr>
          <a:xfrm>
            <a:off x="8251525" y="3134368"/>
            <a:ext cx="1664208" cy="360278"/>
          </a:xfrm>
          <a:prstGeom prst="roundRect">
            <a:avLst/>
          </a:prstGeom>
          <a:solidFill>
            <a:srgbClr val="A2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venir Next"/>
              </a:defRPr>
            </a:pPr>
            <a:r>
              <a:rPr>
                <a:latin typeface="Avenir Next" panose="020B0503020202020204" pitchFamily="34" charset="0"/>
              </a:rPr>
              <a:t>Enforcement reality</a:t>
            </a:r>
          </a:p>
        </p:txBody>
      </p:sp>
      <p:sp>
        <p:nvSpPr>
          <p:cNvPr id="20" name="TextBox 19"/>
          <p:cNvSpPr txBox="1"/>
          <p:nvPr/>
        </p:nvSpPr>
        <p:spPr>
          <a:xfrm>
            <a:off x="8288100" y="3554992"/>
            <a:ext cx="2743200" cy="2074414"/>
          </a:xfrm>
          <a:prstGeom prst="rect">
            <a:avLst/>
          </a:prstGeom>
          <a:noFill/>
        </p:spPr>
        <p:txBody>
          <a:bodyPr wrap="square" lIns="91440" tIns="45720" rIns="91440" bIns="45720" anchor="t">
            <a:spAutoFit/>
          </a:bodyPr>
          <a:lstStyle/>
          <a:p>
            <a:pPr marL="171450" indent="-171450">
              <a:spcAft>
                <a:spcPts val="600"/>
              </a:spcAft>
              <a:buFont typeface="Arial"/>
              <a:buChar char="•"/>
              <a:defRPr sz="1080">
                <a:solidFill>
                  <a:srgbClr val="2A2A2A"/>
                </a:solidFill>
                <a:latin typeface="Avenir Next"/>
              </a:defRPr>
            </a:pPr>
            <a:r>
              <a:rPr sz="1050" dirty="0" err="1">
                <a:latin typeface="Avenir Next" panose="020B0503020202020204" pitchFamily="34" charset="0"/>
              </a:rPr>
              <a:t>Gensol-BluSmart</a:t>
            </a:r>
            <a:r>
              <a:rPr sz="1050" dirty="0">
                <a:latin typeface="Avenir Next" panose="020B0503020202020204" pitchFamily="34" charset="0"/>
              </a:rPr>
              <a:t> shows SEBI can act, but the trigger was public scrutiny and whistleblowing, not routine ESG surveillance.</a:t>
            </a:r>
            <a:endParaRPr lang="en-US" sz="1050" dirty="0">
              <a:latin typeface="Avenir Next" panose="020B0503020202020204" pitchFamily="34" charset="0"/>
            </a:endParaRPr>
          </a:p>
          <a:p>
            <a:pPr marL="171450" indent="-171450">
              <a:spcAft>
                <a:spcPts val="600"/>
              </a:spcAft>
              <a:buFont typeface="Arial"/>
              <a:buChar char="•"/>
              <a:defRPr sz="1080">
                <a:solidFill>
                  <a:srgbClr val="2A2A2A"/>
                </a:solidFill>
                <a:latin typeface="Avenir Next"/>
              </a:defRPr>
            </a:pPr>
            <a:r>
              <a:rPr>
                <a:latin typeface="Avenir Next" panose="020B0503020202020204" pitchFamily="34" charset="0"/>
              </a:rPr>
              <a:t>SEBI's own Whole-Time Member publicly flagged false BRSR claims in January 2025.</a:t>
            </a:r>
          </a:p>
          <a:p>
            <a:pPr marL="171450" indent="-171450">
              <a:spcAft>
                <a:spcPts val="600"/>
              </a:spcAft>
              <a:buFont typeface="Arial"/>
              <a:buChar char="•"/>
              <a:defRPr sz="1080">
                <a:solidFill>
                  <a:srgbClr val="2A2A2A"/>
                </a:solidFill>
                <a:latin typeface="Avenir Next"/>
              </a:defRPr>
            </a:pPr>
            <a:r>
              <a:rPr>
                <a:latin typeface="Avenir Next" panose="020B0503020202020204" pitchFamily="34" charset="0"/>
              </a:rPr>
              <a:t>There is still no dedicated ESG enforcement vertical or systematic cross-check with pollution and compliance data.</a:t>
            </a:r>
          </a:p>
        </p:txBody>
      </p:sp>
      <p:sp>
        <p:nvSpPr>
          <p:cNvPr id="24" name="TextBox 23"/>
          <p:cNvSpPr txBox="1"/>
          <p:nvPr/>
        </p:nvSpPr>
        <p:spPr>
          <a:xfrm>
            <a:off x="11269448" y="6364224"/>
            <a:ext cx="251992" cy="230832"/>
          </a:xfrm>
          <a:prstGeom prst="rect">
            <a:avLst/>
          </a:prstGeom>
          <a:noFill/>
        </p:spPr>
        <p:txBody>
          <a:bodyPr wrap="none">
            <a:spAutoFit/>
          </a:bodyPr>
          <a:lstStyle/>
          <a:p>
            <a:pPr algn="r">
              <a:defRPr sz="900">
                <a:solidFill>
                  <a:srgbClr val="6B6F6A"/>
                </a:solidFill>
                <a:latin typeface="Avenir Next"/>
              </a:defRPr>
            </a:pPr>
            <a:r>
              <a:rPr>
                <a:latin typeface="Avenir Next" panose="020B0503020202020204" pitchFamily="34" charset="0"/>
              </a:rPr>
              <a:t>7</a:t>
            </a:r>
          </a:p>
        </p:txBody>
      </p:sp>
      <p:sp>
        <p:nvSpPr>
          <p:cNvPr id="25" name="Rounded Rectangle 24"/>
          <p:cNvSpPr/>
          <p:nvPr/>
        </p:nvSpPr>
        <p:spPr>
          <a:xfrm>
            <a:off x="799190" y="5760000"/>
            <a:ext cx="10587831" cy="620000"/>
          </a:xfrm>
          <a:prstGeom prst="roundRect">
            <a:avLst>
              <a:gd name="adj" fmla="val 14000"/>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venir Next" panose="020B0503020202020204" pitchFamily="34" charset="0"/>
            </a:endParaRPr>
          </a:p>
        </p:txBody>
      </p:sp>
      <p:sp>
        <p:nvSpPr>
          <p:cNvPr id="26" name="TextBox 25"/>
          <p:cNvSpPr txBox="1"/>
          <p:nvPr/>
        </p:nvSpPr>
        <p:spPr>
          <a:xfrm>
            <a:off x="929190" y="5893028"/>
            <a:ext cx="10327831" cy="353943"/>
          </a:xfrm>
          <a:prstGeom prst="rect">
            <a:avLst/>
          </a:prstGeom>
          <a:noFill/>
        </p:spPr>
        <p:txBody>
          <a:bodyPr wrap="square" lIns="45720" tIns="22860" rIns="45720" bIns="22860" anchor="ctr">
            <a:spAutoFit/>
          </a:bodyPr>
          <a:lstStyle/>
          <a:p>
            <a:pPr algn="ctr"/>
            <a:r>
              <a:rPr sz="1000" b="1" i="0">
                <a:solidFill>
                  <a:srgbClr val="095E4F"/>
                </a:solidFill>
                <a:latin typeface="Avenir Next" panose="020B0503020202020204" pitchFamily="34" charset="0"/>
              </a:rPr>
              <a:t>Answer to RQ4:  </a:t>
            </a:r>
            <a:r>
              <a:rPr sz="1000" b="0" i="0">
                <a:solidFill>
                  <a:srgbClr val="3A3A4A"/>
                </a:solidFill>
                <a:latin typeface="Avenir Next" panose="020B0503020202020204" pitchFamily="34" charset="0"/>
              </a:rPr>
              <a:t>the duties already exist. Section 166(2) places environmental protection inside a director’s job, and SEBI’s BRSR and BRSR Core create the disclosure and assurance obligations that could carry liability. What is missing is the trigger: narrow standing, ₹5 lakh penalties, softened assurance and no ESG enforcement vertical.</a:t>
            </a:r>
          </a:p>
        </p:txBody>
      </p:sp>
      <p:sp>
        <p:nvSpPr>
          <p:cNvPr id="2" name="TextBox 1">
            <a:extLst>
              <a:ext uri="{FF2B5EF4-FFF2-40B4-BE49-F238E27FC236}">
                <a16:creationId xmlns:a16="http://schemas.microsoft.com/office/drawing/2014/main" id="{DE3DB7FA-663C-7695-9E18-0CC77EDD8972}"/>
              </a:ext>
            </a:extLst>
          </p:cNvPr>
          <p:cNvSpPr txBox="1"/>
          <p:nvPr/>
        </p:nvSpPr>
        <p:spPr>
          <a:xfrm>
            <a:off x="822960" y="6481386"/>
            <a:ext cx="4000000" cy="215444"/>
          </a:xfrm>
          <a:prstGeom prst="rect">
            <a:avLst/>
          </a:prstGeom>
          <a:noFill/>
        </p:spPr>
        <p:txBody>
          <a:bodyPr wrap="square" lIns="45720" tIns="22860" rIns="45720" bIns="22860" anchor="t">
            <a:spAutoFit/>
          </a:bodyPr>
          <a:lstStyle/>
          <a:p>
            <a:pPr algn="l"/>
            <a:r>
              <a:rPr sz="1100" b="0" i="0" dirty="0">
                <a:latin typeface="Avenir Next" panose="020B0503020202020204" pitchFamily="34" charset="0"/>
              </a:rPr>
              <a:t>Source base: Chapte</a:t>
            </a:r>
            <a:r>
              <a:rPr lang="en-US" sz="1100" b="0" i="0" dirty="0">
                <a:latin typeface="Avenir Next" panose="020B0503020202020204" pitchFamily="34" charset="0"/>
              </a:rPr>
              <a:t>r 5.</a:t>
            </a:r>
            <a:endParaRPr sz="1100" b="0" i="0" dirty="0">
              <a:latin typeface="Avenir Next" panose="020B0503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52400" y="384048"/>
            <a:ext cx="11644435" cy="1169551"/>
          </a:xfrm>
          <a:prstGeom prst="rect">
            <a:avLst/>
          </a:prstGeom>
          <a:noFill/>
        </p:spPr>
        <p:txBody>
          <a:bodyPr wrap="square" lIns="91440" tIns="45720" rIns="91440" bIns="45720" anchor="t">
            <a:spAutoFit/>
          </a:bodyPr>
          <a:lstStyle/>
          <a:p>
            <a:pPr algn="ctr">
              <a:defRPr sz="2200" b="1">
                <a:solidFill>
                  <a:srgbClr val="173F35"/>
                </a:solidFill>
                <a:latin typeface="Avenir Next Demi Bold"/>
              </a:defRPr>
            </a:pPr>
            <a:r>
              <a:rPr sz="2400" dirty="0"/>
              <a:t>Greenwashing in India</a:t>
            </a:r>
            <a:r>
              <a:rPr lang="en-US" sz="2400" dirty="0"/>
              <a:t> Needs To Be Treated At Corporate Governance Level, </a:t>
            </a:r>
          </a:p>
          <a:p>
            <a:pPr algn="ctr">
              <a:defRPr sz="2200" b="1">
                <a:solidFill>
                  <a:srgbClr val="173F35"/>
                </a:solidFill>
                <a:latin typeface="Avenir Next Demi Bold"/>
              </a:defRPr>
            </a:pPr>
            <a:r>
              <a:rPr lang="en-US" sz="2400" dirty="0"/>
              <a:t>Beyond Misleading Advertisements</a:t>
            </a:r>
          </a:p>
          <a:p>
            <a:pPr>
              <a:defRPr sz="2200" b="1">
                <a:solidFill>
                  <a:srgbClr val="173F35"/>
                </a:solidFill>
                <a:latin typeface="Avenir Next Demi Bold"/>
              </a:defRPr>
            </a:pPr>
            <a:endParaRPr dirty="0"/>
          </a:p>
        </p:txBody>
      </p:sp>
      <p:sp>
        <p:nvSpPr>
          <p:cNvPr id="6" name="Rounded Rectangle 5"/>
          <p:cNvSpPr/>
          <p:nvPr/>
        </p:nvSpPr>
        <p:spPr>
          <a:xfrm>
            <a:off x="786384" y="1398006"/>
            <a:ext cx="10607040" cy="658368"/>
          </a:xfrm>
          <a:prstGeom prst="roundRect">
            <a:avLst/>
          </a:prstGeom>
          <a:solidFill>
            <a:srgbClr val="FFF6EA"/>
          </a:solidFill>
          <a:ln w="12700">
            <a:solidFill>
              <a:srgbClr val="E7C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6325" y="1481657"/>
            <a:ext cx="10222992" cy="523220"/>
          </a:xfrm>
          <a:prstGeom prst="rect">
            <a:avLst/>
          </a:prstGeom>
          <a:noFill/>
        </p:spPr>
        <p:txBody>
          <a:bodyPr wrap="square" lIns="91440" tIns="45720" rIns="91440" bIns="45720" anchor="t">
            <a:spAutoFit/>
          </a:bodyPr>
          <a:lstStyle/>
          <a:p>
            <a:pPr algn="ctr">
              <a:defRPr sz="1300" b="1">
                <a:solidFill>
                  <a:srgbClr val="173F35"/>
                </a:solidFill>
                <a:latin typeface="Avenir Next Demi Bold"/>
              </a:defRPr>
            </a:pPr>
            <a:r>
              <a:rPr lang="en-US" sz="1400" dirty="0"/>
              <a:t>A</a:t>
            </a:r>
            <a:r>
              <a:rPr sz="1400" dirty="0"/>
              <a:t> </a:t>
            </a:r>
            <a:r>
              <a:rPr lang="en-US" sz="1400" dirty="0"/>
              <a:t>consumer law and advertising</a:t>
            </a:r>
            <a:r>
              <a:rPr sz="1400" dirty="0"/>
              <a:t> </a:t>
            </a:r>
            <a:r>
              <a:rPr lang="en-US" sz="1400" dirty="0"/>
              <a:t>based </a:t>
            </a:r>
            <a:r>
              <a:rPr sz="1400" dirty="0"/>
              <a:t>framework can catch some claims, but it cannot control the </a:t>
            </a:r>
            <a:r>
              <a:rPr lang="en-US" sz="1400" dirty="0"/>
              <a:t>internal corporate</a:t>
            </a:r>
            <a:r>
              <a:rPr sz="1400" dirty="0"/>
              <a:t> systems that generate greenwashing.</a:t>
            </a:r>
          </a:p>
        </p:txBody>
      </p:sp>
      <p:sp>
        <p:nvSpPr>
          <p:cNvPr id="8" name="Chevron 7"/>
          <p:cNvSpPr/>
          <p:nvPr/>
        </p:nvSpPr>
        <p:spPr>
          <a:xfrm>
            <a:off x="1065366" y="5795042"/>
            <a:ext cx="1901952" cy="411480"/>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300">
                <a:latin typeface="Avenir Next" panose="020B0503020202020204" pitchFamily="34" charset="0"/>
              </a:rPr>
              <a:t>Product Labels</a:t>
            </a:r>
          </a:p>
        </p:txBody>
      </p:sp>
      <p:sp>
        <p:nvSpPr>
          <p:cNvPr id="9" name="Chevron 8"/>
          <p:cNvSpPr/>
          <p:nvPr/>
        </p:nvSpPr>
        <p:spPr>
          <a:xfrm>
            <a:off x="3022182" y="5795042"/>
            <a:ext cx="1901952" cy="411480"/>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300">
                <a:latin typeface="Avenir Next" panose="020B0503020202020204" pitchFamily="34" charset="0"/>
              </a:rPr>
              <a:t>Websites</a:t>
            </a:r>
          </a:p>
        </p:txBody>
      </p:sp>
      <p:sp>
        <p:nvSpPr>
          <p:cNvPr id="10" name="Chevron 9"/>
          <p:cNvSpPr/>
          <p:nvPr/>
        </p:nvSpPr>
        <p:spPr>
          <a:xfrm>
            <a:off x="4978998" y="5795042"/>
            <a:ext cx="1901952" cy="411480"/>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300">
                <a:latin typeface="Avenir Next" panose="020B0503020202020204" pitchFamily="34" charset="0"/>
              </a:rPr>
              <a:t>Sustainability Reports</a:t>
            </a:r>
          </a:p>
        </p:txBody>
      </p:sp>
      <p:sp>
        <p:nvSpPr>
          <p:cNvPr id="11" name="Chevron 10"/>
          <p:cNvSpPr/>
          <p:nvPr/>
        </p:nvSpPr>
        <p:spPr>
          <a:xfrm>
            <a:off x="6935814" y="5795042"/>
            <a:ext cx="1901952" cy="411480"/>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300">
                <a:latin typeface="Avenir Next" panose="020B0503020202020204" pitchFamily="34" charset="0"/>
              </a:rPr>
              <a:t>BRSR / ESG</a:t>
            </a:r>
          </a:p>
        </p:txBody>
      </p:sp>
      <p:sp>
        <p:nvSpPr>
          <p:cNvPr id="12" name="Chevron 11"/>
          <p:cNvSpPr/>
          <p:nvPr/>
        </p:nvSpPr>
        <p:spPr>
          <a:xfrm>
            <a:off x="8892630" y="5795042"/>
            <a:ext cx="2231136" cy="411480"/>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300">
                <a:latin typeface="Avenir Next" panose="020B0503020202020204" pitchFamily="34" charset="0"/>
              </a:rPr>
              <a:t>Green Debt / Net Zero</a:t>
            </a:r>
          </a:p>
        </p:txBody>
      </p:sp>
      <p:sp>
        <p:nvSpPr>
          <p:cNvPr id="19" name="Rounded Rectangle 18"/>
          <p:cNvSpPr/>
          <p:nvPr/>
        </p:nvSpPr>
        <p:spPr>
          <a:xfrm>
            <a:off x="6365299" y="2224958"/>
            <a:ext cx="5431536" cy="1636084"/>
          </a:xfrm>
          <a:prstGeom prst="roundRect">
            <a:avLst/>
          </a:prstGeom>
          <a:solidFill>
            <a:srgbClr val="FFF3F0"/>
          </a:solidFill>
          <a:ln w="12700">
            <a:solidFill>
              <a:srgbClr val="E7B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venir Next" panose="020B0503020202020204" pitchFamily="34" charset="0"/>
            </a:endParaRPr>
          </a:p>
        </p:txBody>
      </p:sp>
      <p:sp>
        <p:nvSpPr>
          <p:cNvPr id="20" name="TextBox 19"/>
          <p:cNvSpPr txBox="1"/>
          <p:nvPr/>
        </p:nvSpPr>
        <p:spPr>
          <a:xfrm>
            <a:off x="6485326" y="2509438"/>
            <a:ext cx="5189589" cy="1077218"/>
          </a:xfrm>
          <a:prstGeom prst="rect">
            <a:avLst/>
          </a:prstGeom>
          <a:noFill/>
        </p:spPr>
        <p:txBody>
          <a:bodyPr wrap="square" lIns="91440" tIns="45720" rIns="91440" bIns="45720" anchor="t">
            <a:spAutoFit/>
          </a:bodyPr>
          <a:lstStyle/>
          <a:p>
            <a:pPr algn="ctr">
              <a:defRPr sz="1600" b="0">
                <a:solidFill>
                  <a:srgbClr val="173F35"/>
                </a:solidFill>
                <a:latin typeface="Georgia"/>
              </a:defRPr>
            </a:pPr>
            <a:r>
              <a:rPr dirty="0">
                <a:latin typeface="Avenir Next" panose="020B0503020202020204" pitchFamily="34" charset="0"/>
              </a:rPr>
              <a:t>Inference: </a:t>
            </a:r>
            <a:r>
              <a:rPr lang="en-US" dirty="0">
                <a:latin typeface="Avenir Next" panose="020B0503020202020204" pitchFamily="34" charset="0"/>
              </a:rPr>
              <a:t>T</a:t>
            </a:r>
            <a:r>
              <a:rPr dirty="0">
                <a:latin typeface="Avenir Next" panose="020B0503020202020204" pitchFamily="34" charset="0"/>
              </a:rPr>
              <a:t>he CCPA Guidelines are a useful first step, but they still operate inside a fragmented architecture with no lead regulator, no shared evidence protocol, and no integrated deterrence model.</a:t>
            </a:r>
          </a:p>
        </p:txBody>
      </p:sp>
      <p:sp>
        <p:nvSpPr>
          <p:cNvPr id="21" name="TextBox 20"/>
          <p:cNvSpPr txBox="1"/>
          <p:nvPr/>
        </p:nvSpPr>
        <p:spPr>
          <a:xfrm>
            <a:off x="566928" y="6400800"/>
            <a:ext cx="2132315" cy="261610"/>
          </a:xfrm>
          <a:prstGeom prst="rect">
            <a:avLst/>
          </a:prstGeom>
          <a:noFill/>
        </p:spPr>
        <p:txBody>
          <a:bodyPr wrap="none" lIns="91440" tIns="45720" rIns="91440" bIns="45720" anchor="t">
            <a:spAutoFit/>
          </a:bodyPr>
          <a:lstStyle/>
          <a:p>
            <a:pPr>
              <a:defRPr sz="850">
                <a:solidFill>
                  <a:srgbClr val="6B6F6A"/>
                </a:solidFill>
                <a:latin typeface="Avenir Next"/>
              </a:defRPr>
            </a:pPr>
            <a:r>
              <a:rPr sz="1100" dirty="0"/>
              <a:t>Source base: Chapter </a:t>
            </a:r>
            <a:r>
              <a:rPr lang="en-US" sz="1100" dirty="0"/>
              <a:t>2</a:t>
            </a:r>
            <a:r>
              <a:rPr sz="1100" dirty="0"/>
              <a:t> </a:t>
            </a:r>
            <a:r>
              <a:rPr lang="en-US" sz="1100" dirty="0"/>
              <a:t>and 5.</a:t>
            </a:r>
            <a:endParaRPr sz="1100" dirty="0"/>
          </a:p>
        </p:txBody>
      </p:sp>
      <p:sp>
        <p:nvSpPr>
          <p:cNvPr id="23" name="Rounded Rectangle 9">
            <a:extLst>
              <a:ext uri="{FF2B5EF4-FFF2-40B4-BE49-F238E27FC236}">
                <a16:creationId xmlns:a16="http://schemas.microsoft.com/office/drawing/2014/main" id="{0E653A44-3F67-9BCF-3AE1-8BC7E169994B}"/>
              </a:ext>
            </a:extLst>
          </p:cNvPr>
          <p:cNvSpPr/>
          <p:nvPr/>
        </p:nvSpPr>
        <p:spPr>
          <a:xfrm>
            <a:off x="646996" y="2199156"/>
            <a:ext cx="5212080" cy="3424466"/>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latin typeface="Avenir Next" panose="020B0503020202020204" pitchFamily="34" charset="0"/>
            </a:endParaRPr>
          </a:p>
        </p:txBody>
      </p:sp>
      <p:sp>
        <p:nvSpPr>
          <p:cNvPr id="24" name="TextBox 11">
            <a:extLst>
              <a:ext uri="{FF2B5EF4-FFF2-40B4-BE49-F238E27FC236}">
                <a16:creationId xmlns:a16="http://schemas.microsoft.com/office/drawing/2014/main" id="{2FA7C47A-7E34-1C32-1E36-4508B062D93C}"/>
              </a:ext>
            </a:extLst>
          </p:cNvPr>
          <p:cNvSpPr txBox="1"/>
          <p:nvPr/>
        </p:nvSpPr>
        <p:spPr>
          <a:xfrm>
            <a:off x="875596" y="2463783"/>
            <a:ext cx="4846320" cy="3159839"/>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300"/>
              </a:spcAft>
              <a:defRPr sz="1500" b="1">
                <a:solidFill>
                  <a:srgbClr val="095E4F"/>
                </a:solidFill>
                <a:latin typeface="Calibri"/>
              </a:defRPr>
            </a:pPr>
            <a:r>
              <a:rPr dirty="0">
                <a:latin typeface="Avenir Next" panose="020B0503020202020204" pitchFamily="34" charset="0"/>
              </a:rPr>
              <a:t>CPA 2019 &amp; CCPA </a:t>
            </a:r>
            <a:r>
              <a:rPr lang="en-US" dirty="0">
                <a:latin typeface="Avenir Next" panose="020B0503020202020204" pitchFamily="34" charset="0"/>
              </a:rPr>
              <a:t>Greenwashing Guidelines</a:t>
            </a:r>
            <a:r>
              <a:rPr dirty="0">
                <a:latin typeface="Avenir Next" panose="020B0503020202020204" pitchFamily="34" charset="0"/>
              </a:rPr>
              <a:t> — </a:t>
            </a:r>
            <a:endParaRPr lang="en-US" dirty="0">
              <a:latin typeface="Avenir Next" panose="020B0503020202020204" pitchFamily="34" charset="0"/>
            </a:endParaRPr>
          </a:p>
          <a:p>
            <a:pPr>
              <a:spcAft>
                <a:spcPts val="300"/>
              </a:spcAft>
              <a:defRPr sz="1500" b="1">
                <a:solidFill>
                  <a:srgbClr val="095E4F"/>
                </a:solidFill>
                <a:latin typeface="Calibri"/>
              </a:defRPr>
            </a:pPr>
            <a:r>
              <a:rPr dirty="0">
                <a:latin typeface="Avenir Next" panose="020B0503020202020204" pitchFamily="34" charset="0"/>
              </a:rPr>
              <a:t>Structural </a:t>
            </a:r>
            <a:r>
              <a:rPr lang="en-US" dirty="0">
                <a:latin typeface="Avenir Next" panose="020B0503020202020204" pitchFamily="34" charset="0"/>
              </a:rPr>
              <a:t>Limitations</a:t>
            </a:r>
            <a:endParaRPr dirty="0">
              <a:latin typeface="Avenir Next" panose="020B0503020202020204" pitchFamily="34" charset="0"/>
            </a:endParaRPr>
          </a:p>
          <a:p>
            <a:pPr algn="l">
              <a:spcAft>
                <a:spcPts val="150"/>
              </a:spcAft>
              <a:defRPr sz="1050" b="0">
                <a:solidFill>
                  <a:srgbClr val="3A3A4A"/>
                </a:solidFill>
                <a:latin typeface="Calibri"/>
              </a:defRPr>
            </a:pPr>
            <a:r>
              <a:rPr sz="1200" dirty="0">
                <a:latin typeface="Avenir Next" panose="020B0503020202020204" pitchFamily="34" charset="0"/>
              </a:rPr>
              <a:t>1. Reactive, complaint-driven architecture — intervention occurs after claims enter the market.</a:t>
            </a:r>
            <a:endParaRPr sz="1200" dirty="0">
              <a:latin typeface="Avenir Next" panose="020B0503020202020204" pitchFamily="34" charset="0"/>
              <a:ea typeface="Calibri"/>
              <a:cs typeface="Calibri"/>
            </a:endParaRPr>
          </a:p>
          <a:p>
            <a:pPr algn="l">
              <a:spcAft>
                <a:spcPts val="150"/>
              </a:spcAft>
              <a:defRPr sz="1050" b="0">
                <a:solidFill>
                  <a:srgbClr val="3A3A4A"/>
                </a:solidFill>
                <a:latin typeface="Calibri"/>
              </a:defRPr>
            </a:pPr>
            <a:r>
              <a:rPr sz="1200" dirty="0">
                <a:latin typeface="Avenir Next" panose="020B0503020202020204" pitchFamily="34" charset="0"/>
              </a:rPr>
              <a:t>2. Transactional conception of harm — treats greenwashing as individual consumer deception, not systemic governance failure.</a:t>
            </a:r>
          </a:p>
          <a:p>
            <a:pPr algn="l">
              <a:spcAft>
                <a:spcPts val="150"/>
              </a:spcAft>
              <a:defRPr sz="1050" b="0">
                <a:solidFill>
                  <a:srgbClr val="3A3A4A"/>
                </a:solidFill>
                <a:latin typeface="Calibri"/>
              </a:defRPr>
            </a:pPr>
            <a:r>
              <a:rPr sz="1200" dirty="0">
                <a:latin typeface="Avenir Next" panose="020B0503020202020204" pitchFamily="34" charset="0"/>
              </a:rPr>
              <a:t>3. Evidentiary asymmetry — burden on complainant; corporations control the information.</a:t>
            </a:r>
          </a:p>
          <a:p>
            <a:pPr algn="l">
              <a:spcAft>
                <a:spcPts val="150"/>
              </a:spcAft>
              <a:defRPr sz="1050" b="0">
                <a:solidFill>
                  <a:srgbClr val="3A3A4A"/>
                </a:solidFill>
                <a:latin typeface="Calibri"/>
              </a:defRPr>
            </a:pPr>
            <a:r>
              <a:rPr sz="1200" dirty="0">
                <a:latin typeface="Avenir Next" panose="020B0503020202020204" pitchFamily="34" charset="0"/>
              </a:rPr>
              <a:t>4. No internal governance mandates — Guidelines regulate the claim, not the organizational conditions producing it.</a:t>
            </a:r>
          </a:p>
          <a:p>
            <a:pPr algn="l">
              <a:spcAft>
                <a:spcPts val="150"/>
              </a:spcAft>
              <a:defRPr sz="1050" b="0">
                <a:solidFill>
                  <a:srgbClr val="3A3A4A"/>
                </a:solidFill>
                <a:latin typeface="Calibri"/>
              </a:defRPr>
            </a:pPr>
            <a:r>
              <a:rPr sz="1200" dirty="0">
                <a:latin typeface="Avenir Next" panose="020B0503020202020204" pitchFamily="34" charset="0"/>
              </a:rPr>
              <a:t>5. Puffery exception — 'obvious hyperboles' carve-out creates loopholes for vague environmental language.</a:t>
            </a:r>
          </a:p>
          <a:p>
            <a:pPr algn="l">
              <a:spcAft>
                <a:spcPts val="0"/>
              </a:spcAft>
              <a:defRPr sz="1050" b="0">
                <a:solidFill>
                  <a:srgbClr val="3A3A4A"/>
                </a:solidFill>
                <a:latin typeface="Calibri"/>
              </a:defRPr>
            </a:pPr>
            <a:r>
              <a:rPr sz="1200" dirty="0">
                <a:latin typeface="Avenir Next" panose="020B0503020202020204" pitchFamily="34" charset="0"/>
              </a:rPr>
              <a:t>6. No director / board-level accountability — fines imposed on entities, not decision-makers.</a:t>
            </a:r>
          </a:p>
          <a:p>
            <a:pPr>
              <a:defRPr sz="1050" b="0">
                <a:solidFill>
                  <a:srgbClr val="3A3A4A"/>
                </a:solidFill>
                <a:latin typeface="Calibri"/>
              </a:defRPr>
            </a:pPr>
            <a:r>
              <a:rPr lang="en-US" sz="1200" dirty="0">
                <a:latin typeface="Avenir Next" panose="020B0503020202020204" pitchFamily="34" charset="0"/>
                <a:ea typeface="Calibri"/>
                <a:cs typeface="Calibri"/>
              </a:rPr>
              <a:t>7. Guidelines only: may not stand legal test</a:t>
            </a:r>
          </a:p>
        </p:txBody>
      </p:sp>
      <p:sp>
        <p:nvSpPr>
          <p:cNvPr id="25" name="Rounded Rectangle 24"/>
          <p:cNvSpPr/>
          <p:nvPr/>
        </p:nvSpPr>
        <p:spPr>
          <a:xfrm>
            <a:off x="6365299" y="3987046"/>
            <a:ext cx="5431536" cy="1533609"/>
          </a:xfrm>
          <a:prstGeom prst="roundRect">
            <a:avLst>
              <a:gd name="adj" fmla="val 14000"/>
            </a:avLst>
          </a:prstGeom>
          <a:solidFill>
            <a:srgbClr val="E8EFE6"/>
          </a:solidFill>
          <a:ln w="12700">
            <a:solidFill>
              <a:srgbClr val="C2D3B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venir Next" panose="020B0503020202020204" pitchFamily="34" charset="0"/>
            </a:endParaRPr>
          </a:p>
        </p:txBody>
      </p:sp>
      <p:sp>
        <p:nvSpPr>
          <p:cNvPr id="26" name="TextBox 25"/>
          <p:cNvSpPr txBox="1"/>
          <p:nvPr/>
        </p:nvSpPr>
        <p:spPr>
          <a:xfrm>
            <a:off x="6485326" y="4054996"/>
            <a:ext cx="5171536" cy="1277273"/>
          </a:xfrm>
          <a:prstGeom prst="rect">
            <a:avLst/>
          </a:prstGeom>
          <a:noFill/>
        </p:spPr>
        <p:txBody>
          <a:bodyPr wrap="square" lIns="45720" tIns="22860" rIns="45720" bIns="22860" anchor="ctr">
            <a:spAutoFit/>
          </a:bodyPr>
          <a:lstStyle/>
          <a:p>
            <a:r>
              <a:rPr lang="en-IN" sz="1000" dirty="0">
                <a:solidFill>
                  <a:srgbClr val="6B6F6A"/>
                </a:solidFill>
                <a:latin typeface="Avenir Next"/>
              </a:rPr>
              <a:t>Research Question 2: </a:t>
            </a:r>
            <a:r>
              <a:rPr lang="en-IN" sz="1000" dirty="0">
                <a:ea typeface="+mn-lt"/>
                <a:cs typeface="+mn-lt"/>
              </a:rPr>
              <a:t>What are the structural limitations of consumer protection and advertising law in addressing greenwashing, and what legal pathways exist through corporate governance?</a:t>
            </a:r>
          </a:p>
          <a:p>
            <a:pPr algn="l"/>
            <a:endParaRPr lang="en-US" sz="1000" b="1" i="0" dirty="0">
              <a:solidFill>
                <a:srgbClr val="095E4F"/>
              </a:solidFill>
              <a:latin typeface="Avenir Next" panose="020B0503020202020204" pitchFamily="34" charset="0"/>
            </a:endParaRPr>
          </a:p>
          <a:p>
            <a:pPr algn="l"/>
            <a:r>
              <a:rPr sz="1000" b="1" i="0" dirty="0">
                <a:solidFill>
                  <a:srgbClr val="095E4F"/>
                </a:solidFill>
                <a:latin typeface="Avenir Next" panose="020B0503020202020204" pitchFamily="34" charset="0"/>
              </a:rPr>
              <a:t>Answer to RQ2:  </a:t>
            </a:r>
            <a:r>
              <a:rPr sz="1000" b="0" i="0" dirty="0">
                <a:solidFill>
                  <a:srgbClr val="3A3A4A"/>
                </a:solidFill>
                <a:latin typeface="Avenir Next" panose="020B0503020202020204" pitchFamily="34" charset="0"/>
              </a:rPr>
              <a:t>consumer law can only reach the claim after it is published. The pathway that reaches the system behind the claim runs through company law — the director’s duty in Section 166(2), board-level ESG oversight, and SEBI’s disclosure and assurance rules.</a:t>
            </a:r>
          </a:p>
        </p:txBody>
      </p:sp>
    </p:spTree>
    <p:extLst>
      <p:ext uri="{BB962C8B-B14F-4D97-AF65-F5344CB8AC3E}">
        <p14:creationId xmlns:p14="http://schemas.microsoft.com/office/powerpoint/2010/main" val="3047954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2126" y="384048"/>
            <a:ext cx="10594902" cy="523220"/>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sz="2800" dirty="0"/>
              <a:t>India Has Legal </a:t>
            </a:r>
            <a:r>
              <a:rPr lang="en-US" sz="2800" dirty="0"/>
              <a:t>Grounds</a:t>
            </a:r>
            <a:r>
              <a:rPr sz="2800" dirty="0"/>
              <a:t>, but the </a:t>
            </a:r>
            <a:r>
              <a:rPr lang="en-US" sz="2800" dirty="0"/>
              <a:t>Enforcement Pathway</a:t>
            </a:r>
            <a:r>
              <a:rPr sz="2800" dirty="0"/>
              <a:t> Is Weak</a:t>
            </a:r>
          </a:p>
        </p:txBody>
      </p:sp>
      <p:sp>
        <p:nvSpPr>
          <p:cNvPr id="5" name="TextBox 4"/>
          <p:cNvSpPr txBox="1"/>
          <p:nvPr/>
        </p:nvSpPr>
        <p:spPr>
          <a:xfrm>
            <a:off x="566928" y="960120"/>
            <a:ext cx="9389173" cy="338554"/>
          </a:xfrm>
          <a:prstGeom prst="rect">
            <a:avLst/>
          </a:prstGeom>
          <a:noFill/>
        </p:spPr>
        <p:txBody>
          <a:bodyPr wrap="none" lIns="91440" tIns="45720" rIns="91440" bIns="45720" anchor="t">
            <a:spAutoFit/>
          </a:bodyPr>
          <a:lstStyle/>
          <a:p>
            <a:pPr>
              <a:defRPr sz="1200">
                <a:solidFill>
                  <a:srgbClr val="6B6F6A"/>
                </a:solidFill>
                <a:latin typeface="Avenir Next"/>
              </a:defRPr>
            </a:pPr>
            <a:r>
              <a:rPr lang="en-US" sz="1600" dirty="0"/>
              <a:t>There is </a:t>
            </a:r>
            <a:r>
              <a:rPr sz="1600" dirty="0"/>
              <a:t>doctrinal strength </a:t>
            </a:r>
            <a:r>
              <a:rPr lang="en-US" sz="1600" dirty="0"/>
              <a:t>in laws but has</a:t>
            </a:r>
            <a:r>
              <a:rPr sz="1600" dirty="0"/>
              <a:t> not yet been converted into visible, routine </a:t>
            </a:r>
            <a:r>
              <a:rPr lang="en-US" sz="1600" dirty="0"/>
              <a:t>enforcement</a:t>
            </a:r>
            <a:r>
              <a:rPr sz="1600" dirty="0"/>
              <a:t>.</a:t>
            </a:r>
          </a:p>
        </p:txBody>
      </p:sp>
      <p:sp>
        <p:nvSpPr>
          <p:cNvPr id="8" name="Rounded Rectangle 7"/>
          <p:cNvSpPr/>
          <p:nvPr/>
        </p:nvSpPr>
        <p:spPr>
          <a:xfrm>
            <a:off x="718950" y="1883232"/>
            <a:ext cx="4919472" cy="2743200"/>
          </a:xfrm>
          <a:prstGeom prst="roundRect">
            <a:avLst/>
          </a:prstGeom>
          <a:solidFill>
            <a:srgbClr val="E8EFE6"/>
          </a:solidFill>
          <a:ln w="12700">
            <a:solidFill>
              <a:srgbClr val="6A8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9" name="Rounded Rectangle 8"/>
          <p:cNvSpPr/>
          <p:nvPr/>
        </p:nvSpPr>
        <p:spPr>
          <a:xfrm>
            <a:off x="920118" y="2084400"/>
            <a:ext cx="1719072" cy="347472"/>
          </a:xfrm>
          <a:prstGeom prst="round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FFFFFF"/>
                </a:solidFill>
                <a:latin typeface="Avenir Next"/>
              </a:defRPr>
            </a:pPr>
            <a:r>
              <a:rPr lang="en-US" sz="1050">
                <a:latin typeface="Avenir Next" panose="020B0503020202020204" pitchFamily="34" charset="0"/>
              </a:rPr>
              <a:t>Already</a:t>
            </a:r>
            <a:r>
              <a:rPr sz="1050">
                <a:latin typeface="Avenir Next" panose="020B0503020202020204" pitchFamily="34" charset="0"/>
              </a:rPr>
              <a:t> in law</a:t>
            </a:r>
          </a:p>
        </p:txBody>
      </p:sp>
      <p:sp>
        <p:nvSpPr>
          <p:cNvPr id="10" name="TextBox 9"/>
          <p:cNvSpPr txBox="1"/>
          <p:nvPr/>
        </p:nvSpPr>
        <p:spPr>
          <a:xfrm>
            <a:off x="956694" y="2541600"/>
            <a:ext cx="4352544" cy="2046714"/>
          </a:xfrm>
          <a:prstGeom prst="rect">
            <a:avLst/>
          </a:prstGeom>
          <a:noFill/>
        </p:spPr>
        <p:txBody>
          <a:bodyPr wrap="square" lIns="91440" tIns="45720" rIns="91440" bIns="45720" anchor="t">
            <a:spAutoFit/>
          </a:bodyPr>
          <a:lstStyle/>
          <a:p>
            <a:pPr marL="171450" indent="-171450">
              <a:spcAft>
                <a:spcPts val="600"/>
              </a:spcAft>
              <a:buFont typeface="Arial"/>
              <a:buChar char="•"/>
              <a:defRPr sz="1220">
                <a:solidFill>
                  <a:srgbClr val="2A2A2A"/>
                </a:solidFill>
                <a:latin typeface="Avenir Next"/>
              </a:defRPr>
            </a:pPr>
            <a:r>
              <a:rPr sz="1400" dirty="0">
                <a:latin typeface="Avenir Next" panose="020B0503020202020204" pitchFamily="34" charset="0"/>
              </a:rPr>
              <a:t>Section 166(2) expressly places environmental protection inside directors' duties.</a:t>
            </a:r>
            <a:endParaRPr lang="en-US" sz="1400" dirty="0">
              <a:latin typeface="Avenir Next" panose="020B0503020202020204" pitchFamily="34" charset="0"/>
            </a:endParaRPr>
          </a:p>
          <a:p>
            <a:pPr marL="171450" indent="-171450">
              <a:spcAft>
                <a:spcPts val="600"/>
              </a:spcAft>
              <a:buFont typeface="Arial"/>
              <a:buChar char="•"/>
              <a:defRPr sz="1220">
                <a:solidFill>
                  <a:srgbClr val="2A2A2A"/>
                </a:solidFill>
                <a:latin typeface="Avenir Next"/>
              </a:defRPr>
            </a:pPr>
            <a:r>
              <a:rPr sz="1400" dirty="0">
                <a:latin typeface="Avenir Next" panose="020B0503020202020204" pitchFamily="34" charset="0"/>
              </a:rPr>
              <a:t>Tata-Mistry and M.K. Ranjitsinh strengthen the seriousness of environmental accountability.</a:t>
            </a:r>
          </a:p>
          <a:p>
            <a:pPr marL="171450" indent="-171450">
              <a:spcAft>
                <a:spcPts val="600"/>
              </a:spcAft>
              <a:buFont typeface="Arial"/>
              <a:buChar char="•"/>
              <a:defRPr sz="1220">
                <a:solidFill>
                  <a:srgbClr val="2A2A2A"/>
                </a:solidFill>
                <a:latin typeface="Avenir Next"/>
              </a:defRPr>
            </a:pPr>
            <a:r>
              <a:rPr sz="1400" dirty="0">
                <a:latin typeface="Avenir Next" panose="020B0503020202020204" pitchFamily="34" charset="0"/>
              </a:rPr>
              <a:t>SEBI's BRSR and BRSR Core </a:t>
            </a:r>
            <a:r>
              <a:rPr sz="1400" dirty="0" err="1">
                <a:latin typeface="Avenir Next" panose="020B0503020202020204" pitchFamily="34" charset="0"/>
              </a:rPr>
              <a:t>formalise</a:t>
            </a:r>
            <a:r>
              <a:rPr sz="1400" dirty="0">
                <a:latin typeface="Avenir Next" panose="020B0503020202020204" pitchFamily="34" charset="0"/>
              </a:rPr>
              <a:t> sustainability disclosure obligations.</a:t>
            </a:r>
          </a:p>
          <a:p>
            <a:pPr marL="171450" indent="-171450">
              <a:spcAft>
                <a:spcPts val="600"/>
              </a:spcAft>
              <a:buFont typeface="Arial"/>
              <a:buChar char="•"/>
              <a:defRPr sz="1220">
                <a:solidFill>
                  <a:srgbClr val="2A2A2A"/>
                </a:solidFill>
                <a:latin typeface="Avenir Next"/>
              </a:defRPr>
            </a:pPr>
            <a:r>
              <a:rPr sz="1400" dirty="0">
                <a:latin typeface="Avenir Next" panose="020B0503020202020204" pitchFamily="34" charset="0"/>
              </a:rPr>
              <a:t>Consumer law and CCPA guidelines already regulate misleading green claims.</a:t>
            </a:r>
          </a:p>
        </p:txBody>
      </p:sp>
      <p:sp>
        <p:nvSpPr>
          <p:cNvPr id="11" name="Rounded Rectangle 10"/>
          <p:cNvSpPr/>
          <p:nvPr/>
        </p:nvSpPr>
        <p:spPr>
          <a:xfrm>
            <a:off x="5839590" y="1883232"/>
            <a:ext cx="5468112" cy="2743200"/>
          </a:xfrm>
          <a:prstGeom prst="roundRect">
            <a:avLst/>
          </a:prstGeom>
          <a:solidFill>
            <a:srgbClr val="FFF3F0"/>
          </a:solidFill>
          <a:ln w="12700">
            <a:solidFill>
              <a:srgbClr val="E7B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2" name="Rounded Rectangle 11"/>
          <p:cNvSpPr/>
          <p:nvPr/>
        </p:nvSpPr>
        <p:spPr>
          <a:xfrm>
            <a:off x="6059046" y="2084400"/>
            <a:ext cx="1883664" cy="347472"/>
          </a:xfrm>
          <a:prstGeom prst="roundRect">
            <a:avLst/>
          </a:prstGeom>
          <a:solidFill>
            <a:srgbClr val="A23E2A"/>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FFFFFF"/>
                </a:solidFill>
                <a:latin typeface="Avenir Next"/>
              </a:defRPr>
            </a:pPr>
            <a:r>
              <a:rPr lang="en-US" sz="1050" dirty="0">
                <a:latin typeface="Avenir Next" panose="020B0503020202020204" pitchFamily="34" charset="0"/>
              </a:rPr>
              <a:t>Lack of Case enforcement</a:t>
            </a:r>
            <a:endParaRPr sz="1050" dirty="0">
              <a:latin typeface="Avenir Next" panose="020B0503020202020204" pitchFamily="34" charset="0"/>
            </a:endParaRPr>
          </a:p>
        </p:txBody>
      </p:sp>
      <p:sp>
        <p:nvSpPr>
          <p:cNvPr id="13" name="TextBox 12"/>
          <p:cNvSpPr txBox="1"/>
          <p:nvPr/>
        </p:nvSpPr>
        <p:spPr>
          <a:xfrm>
            <a:off x="6095622" y="2541600"/>
            <a:ext cx="4846320" cy="2046714"/>
          </a:xfrm>
          <a:prstGeom prst="rect">
            <a:avLst/>
          </a:prstGeom>
          <a:noFill/>
        </p:spPr>
        <p:txBody>
          <a:bodyPr wrap="square" lIns="91440" tIns="45720" rIns="91440" bIns="45720" anchor="t">
            <a:spAutoFit/>
          </a:bodyPr>
          <a:lstStyle/>
          <a:p>
            <a:pPr marL="171450" indent="-171450">
              <a:spcAft>
                <a:spcPts val="600"/>
              </a:spcAft>
              <a:buFont typeface="Arial"/>
              <a:buChar char="•"/>
              <a:defRPr sz="1220">
                <a:solidFill>
                  <a:srgbClr val="2A2A2A"/>
                </a:solidFill>
                <a:latin typeface="Avenir Next"/>
              </a:defRPr>
            </a:pPr>
            <a:r>
              <a:rPr sz="1400">
                <a:latin typeface="Avenir Next" panose="020B0503020202020204" pitchFamily="34" charset="0"/>
              </a:rPr>
              <a:t>No reported director liability under Section 166(2) for environmental misrepresentation.</a:t>
            </a:r>
            <a:endParaRPr lang="en-US" sz="1400">
              <a:latin typeface="Avenir Next" panose="020B0503020202020204" pitchFamily="34" charset="0"/>
            </a:endParaRPr>
          </a:p>
          <a:p>
            <a:pPr marL="171450" indent="-171450">
              <a:spcAft>
                <a:spcPts val="600"/>
              </a:spcAft>
              <a:buFont typeface="Arial"/>
              <a:buChar char="•"/>
              <a:defRPr sz="1220">
                <a:solidFill>
                  <a:srgbClr val="2A2A2A"/>
                </a:solidFill>
                <a:latin typeface="Avenir Next"/>
              </a:defRPr>
            </a:pPr>
            <a:r>
              <a:rPr sz="1400">
                <a:latin typeface="Avenir Next" panose="020B0503020202020204" pitchFamily="34" charset="0"/>
              </a:rPr>
              <a:t>Standing is narrow, so affected stakeholders lack a clear direct route.</a:t>
            </a:r>
          </a:p>
          <a:p>
            <a:pPr marL="171450" indent="-171450">
              <a:spcAft>
                <a:spcPts val="600"/>
              </a:spcAft>
              <a:buFont typeface="Arial"/>
              <a:buChar char="•"/>
              <a:defRPr sz="1220">
                <a:solidFill>
                  <a:srgbClr val="2A2A2A"/>
                </a:solidFill>
                <a:latin typeface="Avenir Next"/>
              </a:defRPr>
            </a:pPr>
            <a:r>
              <a:rPr sz="1400" dirty="0">
                <a:latin typeface="Avenir Next" panose="020B0503020202020204" pitchFamily="34" charset="0"/>
              </a:rPr>
              <a:t>Section 166(7) penalties remain commercially minor for large companies.</a:t>
            </a:r>
          </a:p>
          <a:p>
            <a:pPr marL="171450" indent="-171450">
              <a:spcAft>
                <a:spcPts val="600"/>
              </a:spcAft>
              <a:buFont typeface="Arial"/>
              <a:buChar char="•"/>
              <a:defRPr sz="1220">
                <a:solidFill>
                  <a:srgbClr val="2A2A2A"/>
                </a:solidFill>
                <a:latin typeface="Avenir Next"/>
              </a:defRPr>
            </a:pPr>
            <a:r>
              <a:rPr sz="1400">
                <a:latin typeface="Avenir Next" panose="020B0503020202020204" pitchFamily="34" charset="0"/>
              </a:rPr>
              <a:t>BRSR assurance is partial and delayed, leaving much ESG data effectively self-certified.</a:t>
            </a:r>
          </a:p>
        </p:txBody>
      </p:sp>
      <p:sp>
        <p:nvSpPr>
          <p:cNvPr id="17" name="TextBox 16"/>
          <p:cNvSpPr txBox="1"/>
          <p:nvPr/>
        </p:nvSpPr>
        <p:spPr>
          <a:xfrm>
            <a:off x="569593" y="6548663"/>
            <a:ext cx="5295580" cy="261610"/>
          </a:xfrm>
          <a:prstGeom prst="rect">
            <a:avLst/>
          </a:prstGeom>
          <a:noFill/>
        </p:spPr>
        <p:txBody>
          <a:bodyPr wrap="square" lIns="91440" tIns="45720" rIns="91440" bIns="45720" anchor="t">
            <a:spAutoFit/>
          </a:bodyPr>
          <a:lstStyle/>
          <a:p>
            <a:pPr>
              <a:defRPr sz="850">
                <a:solidFill>
                  <a:srgbClr val="6B6F6A"/>
                </a:solidFill>
                <a:latin typeface="Avenir Next"/>
              </a:defRPr>
            </a:pPr>
            <a:r>
              <a:rPr sz="1100" dirty="0">
                <a:latin typeface="Avenir Next" panose="020B0503020202020204" pitchFamily="34" charset="0"/>
              </a:rPr>
              <a:t>Source base: </a:t>
            </a:r>
            <a:r>
              <a:rPr lang="en-US" sz="1100" dirty="0">
                <a:latin typeface="Avenir Next" panose="020B0503020202020204" pitchFamily="34" charset="0"/>
              </a:rPr>
              <a:t>Chapter</a:t>
            </a:r>
            <a:r>
              <a:rPr sz="1100" dirty="0">
                <a:latin typeface="Avenir Next" panose="020B0503020202020204" pitchFamily="34" charset="0"/>
              </a:rPr>
              <a:t> 3</a:t>
            </a:r>
            <a:r>
              <a:rPr lang="en-US" sz="1100" dirty="0">
                <a:latin typeface="Avenir Next" panose="020B0503020202020204" pitchFamily="34" charset="0"/>
              </a:rPr>
              <a:t>, 4, </a:t>
            </a:r>
            <a:r>
              <a:rPr sz="1100" dirty="0">
                <a:latin typeface="Avenir Next" panose="020B0503020202020204" pitchFamily="34" charset="0"/>
              </a:rPr>
              <a:t>5.</a:t>
            </a:r>
          </a:p>
        </p:txBody>
      </p:sp>
      <p:sp>
        <p:nvSpPr>
          <p:cNvPr id="2" name="Rounded Rectangle 1">
            <a:extLst>
              <a:ext uri="{FF2B5EF4-FFF2-40B4-BE49-F238E27FC236}">
                <a16:creationId xmlns:a16="http://schemas.microsoft.com/office/drawing/2014/main" id="{31D2653C-AA1D-EB96-9FD8-1D9C12FA8911}"/>
              </a:ext>
            </a:extLst>
          </p:cNvPr>
          <p:cNvSpPr/>
          <p:nvPr/>
        </p:nvSpPr>
        <p:spPr>
          <a:xfrm>
            <a:off x="824248" y="4994656"/>
            <a:ext cx="2559032" cy="1479296"/>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6" name="Rectangle 5">
            <a:extLst>
              <a:ext uri="{FF2B5EF4-FFF2-40B4-BE49-F238E27FC236}">
                <a16:creationId xmlns:a16="http://schemas.microsoft.com/office/drawing/2014/main" id="{EA45468F-BB4A-4C6B-D391-61D333C81DAF}"/>
              </a:ext>
            </a:extLst>
          </p:cNvPr>
          <p:cNvSpPr/>
          <p:nvPr/>
        </p:nvSpPr>
        <p:spPr>
          <a:xfrm>
            <a:off x="824248" y="4994656"/>
            <a:ext cx="2559032" cy="93924"/>
          </a:xfrm>
          <a:prstGeom prst="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7" name="TextBox 6">
            <a:extLst>
              <a:ext uri="{FF2B5EF4-FFF2-40B4-BE49-F238E27FC236}">
                <a16:creationId xmlns:a16="http://schemas.microsoft.com/office/drawing/2014/main" id="{E13F0F5A-3BB8-8B7E-7EA6-5EECBB00BD2C}"/>
              </a:ext>
            </a:extLst>
          </p:cNvPr>
          <p:cNvSpPr txBox="1"/>
          <p:nvPr/>
        </p:nvSpPr>
        <p:spPr>
          <a:xfrm>
            <a:off x="970404" y="5122671"/>
            <a:ext cx="2266571" cy="338554"/>
          </a:xfrm>
          <a:prstGeom prst="rect">
            <a:avLst/>
          </a:prstGeom>
          <a:noFill/>
        </p:spPr>
        <p:txBody>
          <a:bodyPr wrap="square" anchor="t">
            <a:spAutoFit/>
          </a:bodyPr>
          <a:lstStyle/>
          <a:p>
            <a:pPr algn="l">
              <a:defRPr sz="1600" b="1">
                <a:solidFill>
                  <a:srgbClr val="173F35"/>
                </a:solidFill>
                <a:latin typeface="Avenir Next Demi Bold"/>
              </a:defRPr>
            </a:pPr>
            <a:r>
              <a:rPr dirty="0">
                <a:latin typeface="Avenir Next" panose="020B0503020202020204" pitchFamily="34" charset="0"/>
              </a:rPr>
              <a:t>Australia</a:t>
            </a:r>
          </a:p>
        </p:txBody>
      </p:sp>
      <p:sp>
        <p:nvSpPr>
          <p:cNvPr id="14" name="TextBox 13">
            <a:extLst>
              <a:ext uri="{FF2B5EF4-FFF2-40B4-BE49-F238E27FC236}">
                <a16:creationId xmlns:a16="http://schemas.microsoft.com/office/drawing/2014/main" id="{331775EE-D103-F149-F830-2F0D5D597336}"/>
              </a:ext>
            </a:extLst>
          </p:cNvPr>
          <p:cNvSpPr txBox="1"/>
          <p:nvPr/>
        </p:nvSpPr>
        <p:spPr>
          <a:xfrm>
            <a:off x="970404" y="5488432"/>
            <a:ext cx="2266571" cy="738664"/>
          </a:xfrm>
          <a:prstGeom prst="rect">
            <a:avLst/>
          </a:prstGeom>
          <a:noFill/>
        </p:spPr>
        <p:txBody>
          <a:bodyPr wrap="square" anchor="t">
            <a:spAutoFit/>
          </a:bodyPr>
          <a:lstStyle/>
          <a:p>
            <a:pPr algn="l">
              <a:defRPr sz="1200" b="0">
                <a:solidFill>
                  <a:srgbClr val="2A2A2A"/>
                </a:solidFill>
                <a:latin typeface="Avenir Next"/>
              </a:defRPr>
            </a:pPr>
            <a:r>
              <a:rPr sz="1400" dirty="0">
                <a:latin typeface="Avenir Next" panose="020B0503020202020204" pitchFamily="34" charset="0"/>
              </a:rPr>
              <a:t>47 interventions in 15 months; AUD 11.3M penalty against Mercer.</a:t>
            </a:r>
          </a:p>
        </p:txBody>
      </p:sp>
      <p:sp>
        <p:nvSpPr>
          <p:cNvPr id="15" name="Rounded Rectangle 14">
            <a:extLst>
              <a:ext uri="{FF2B5EF4-FFF2-40B4-BE49-F238E27FC236}">
                <a16:creationId xmlns:a16="http://schemas.microsoft.com/office/drawing/2014/main" id="{9EEE3F2A-EEE2-7DC1-9ED6-9B10A4742DF4}"/>
              </a:ext>
            </a:extLst>
          </p:cNvPr>
          <p:cNvSpPr/>
          <p:nvPr/>
        </p:nvSpPr>
        <p:spPr>
          <a:xfrm>
            <a:off x="3613168" y="4994656"/>
            <a:ext cx="2559032" cy="1479296"/>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6" name="Rectangle 15">
            <a:extLst>
              <a:ext uri="{FF2B5EF4-FFF2-40B4-BE49-F238E27FC236}">
                <a16:creationId xmlns:a16="http://schemas.microsoft.com/office/drawing/2014/main" id="{84F83AD5-B75A-FAFB-70F3-C09E32B80BAC}"/>
              </a:ext>
            </a:extLst>
          </p:cNvPr>
          <p:cNvSpPr/>
          <p:nvPr/>
        </p:nvSpPr>
        <p:spPr>
          <a:xfrm>
            <a:off x="3613168" y="4994656"/>
            <a:ext cx="2559032" cy="93924"/>
          </a:xfrm>
          <a:prstGeom prst="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8" name="TextBox 17">
            <a:extLst>
              <a:ext uri="{FF2B5EF4-FFF2-40B4-BE49-F238E27FC236}">
                <a16:creationId xmlns:a16="http://schemas.microsoft.com/office/drawing/2014/main" id="{AFD4E64D-B14D-9396-911D-8FEAE51B63FA}"/>
              </a:ext>
            </a:extLst>
          </p:cNvPr>
          <p:cNvSpPr txBox="1"/>
          <p:nvPr/>
        </p:nvSpPr>
        <p:spPr>
          <a:xfrm>
            <a:off x="3759324" y="5122671"/>
            <a:ext cx="2266571" cy="338554"/>
          </a:xfrm>
          <a:prstGeom prst="rect">
            <a:avLst/>
          </a:prstGeom>
          <a:noFill/>
        </p:spPr>
        <p:txBody>
          <a:bodyPr wrap="square" anchor="t">
            <a:spAutoFit/>
          </a:bodyPr>
          <a:lstStyle/>
          <a:p>
            <a:pPr algn="l">
              <a:defRPr sz="1600" b="1">
                <a:solidFill>
                  <a:srgbClr val="173F35"/>
                </a:solidFill>
                <a:latin typeface="Avenir Next Demi Bold"/>
              </a:defRPr>
            </a:pPr>
            <a:r>
              <a:rPr dirty="0">
                <a:latin typeface="Avenir Next" panose="020B0503020202020204" pitchFamily="34" charset="0"/>
              </a:rPr>
              <a:t>Uni</a:t>
            </a:r>
            <a:r>
              <a:rPr lang="en-US" dirty="0">
                <a:latin typeface="Avenir Next" panose="020B0503020202020204" pitchFamily="34" charset="0"/>
              </a:rPr>
              <a:t>ted States</a:t>
            </a:r>
            <a:endParaRPr dirty="0">
              <a:latin typeface="Avenir Next" panose="020B0503020202020204" pitchFamily="34" charset="0"/>
            </a:endParaRPr>
          </a:p>
        </p:txBody>
      </p:sp>
      <p:sp>
        <p:nvSpPr>
          <p:cNvPr id="19" name="TextBox 18">
            <a:extLst>
              <a:ext uri="{FF2B5EF4-FFF2-40B4-BE49-F238E27FC236}">
                <a16:creationId xmlns:a16="http://schemas.microsoft.com/office/drawing/2014/main" id="{B4755C55-9279-EAC2-E8F1-D870948CA206}"/>
              </a:ext>
            </a:extLst>
          </p:cNvPr>
          <p:cNvSpPr txBox="1"/>
          <p:nvPr/>
        </p:nvSpPr>
        <p:spPr>
          <a:xfrm>
            <a:off x="3759324" y="5488432"/>
            <a:ext cx="2266571" cy="954107"/>
          </a:xfrm>
          <a:prstGeom prst="rect">
            <a:avLst/>
          </a:prstGeom>
          <a:noFill/>
        </p:spPr>
        <p:txBody>
          <a:bodyPr wrap="square" anchor="t">
            <a:spAutoFit/>
          </a:bodyPr>
          <a:lstStyle/>
          <a:p>
            <a:pPr algn="l">
              <a:defRPr sz="1200" b="0">
                <a:solidFill>
                  <a:srgbClr val="2A2A2A"/>
                </a:solidFill>
                <a:latin typeface="Avenir Next"/>
              </a:defRPr>
            </a:pPr>
            <a:r>
              <a:rPr lang="en-US" sz="1400" dirty="0">
                <a:latin typeface="Avenir Next" panose="020B0503020202020204" pitchFamily="34" charset="0"/>
              </a:rPr>
              <a:t>US FTC brought 90 greenwashing enforcement actions between 2021-2023</a:t>
            </a:r>
            <a:endParaRPr sz="1400" dirty="0">
              <a:latin typeface="Avenir Next" panose="020B0503020202020204" pitchFamily="34" charset="0"/>
            </a:endParaRPr>
          </a:p>
        </p:txBody>
      </p:sp>
      <p:sp>
        <p:nvSpPr>
          <p:cNvPr id="20" name="Rounded Rectangle 19">
            <a:extLst>
              <a:ext uri="{FF2B5EF4-FFF2-40B4-BE49-F238E27FC236}">
                <a16:creationId xmlns:a16="http://schemas.microsoft.com/office/drawing/2014/main" id="{ECB1D669-893A-BBDD-652A-47D573EA4F54}"/>
              </a:ext>
            </a:extLst>
          </p:cNvPr>
          <p:cNvSpPr/>
          <p:nvPr/>
        </p:nvSpPr>
        <p:spPr>
          <a:xfrm>
            <a:off x="6402088" y="4994655"/>
            <a:ext cx="2559032" cy="1521017"/>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21" name="Rectangle 20">
            <a:extLst>
              <a:ext uri="{FF2B5EF4-FFF2-40B4-BE49-F238E27FC236}">
                <a16:creationId xmlns:a16="http://schemas.microsoft.com/office/drawing/2014/main" id="{564762B8-CB94-4D6E-A9B7-FA824D421ACA}"/>
              </a:ext>
            </a:extLst>
          </p:cNvPr>
          <p:cNvSpPr/>
          <p:nvPr/>
        </p:nvSpPr>
        <p:spPr>
          <a:xfrm>
            <a:off x="6402088" y="4994656"/>
            <a:ext cx="2559032" cy="93924"/>
          </a:xfrm>
          <a:prstGeom prst="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22" name="TextBox 21">
            <a:extLst>
              <a:ext uri="{FF2B5EF4-FFF2-40B4-BE49-F238E27FC236}">
                <a16:creationId xmlns:a16="http://schemas.microsoft.com/office/drawing/2014/main" id="{87D40DC7-91CB-FC5A-49FF-F2E491E28AA9}"/>
              </a:ext>
            </a:extLst>
          </p:cNvPr>
          <p:cNvSpPr txBox="1"/>
          <p:nvPr/>
        </p:nvSpPr>
        <p:spPr>
          <a:xfrm>
            <a:off x="6548244" y="5122671"/>
            <a:ext cx="2266571" cy="338554"/>
          </a:xfrm>
          <a:prstGeom prst="rect">
            <a:avLst/>
          </a:prstGeom>
          <a:noFill/>
        </p:spPr>
        <p:txBody>
          <a:bodyPr wrap="square" anchor="t">
            <a:spAutoFit/>
          </a:bodyPr>
          <a:lstStyle/>
          <a:p>
            <a:pPr algn="l">
              <a:defRPr sz="1600" b="1">
                <a:solidFill>
                  <a:srgbClr val="173F35"/>
                </a:solidFill>
                <a:latin typeface="Avenir Next Demi Bold"/>
              </a:defRPr>
            </a:pPr>
            <a:r>
              <a:rPr>
                <a:latin typeface="Avenir Next" panose="020B0503020202020204" pitchFamily="34" charset="0"/>
              </a:rPr>
              <a:t>European Union</a:t>
            </a:r>
          </a:p>
        </p:txBody>
      </p:sp>
      <p:sp>
        <p:nvSpPr>
          <p:cNvPr id="23" name="TextBox 22">
            <a:extLst>
              <a:ext uri="{FF2B5EF4-FFF2-40B4-BE49-F238E27FC236}">
                <a16:creationId xmlns:a16="http://schemas.microsoft.com/office/drawing/2014/main" id="{AC3EB8E3-E237-96A6-C5E0-5944B4A00204}"/>
              </a:ext>
            </a:extLst>
          </p:cNvPr>
          <p:cNvSpPr txBox="1"/>
          <p:nvPr/>
        </p:nvSpPr>
        <p:spPr>
          <a:xfrm>
            <a:off x="6483211" y="5461226"/>
            <a:ext cx="2412802" cy="1061829"/>
          </a:xfrm>
          <a:prstGeom prst="rect">
            <a:avLst/>
          </a:prstGeom>
          <a:noFill/>
        </p:spPr>
        <p:txBody>
          <a:bodyPr wrap="square" anchor="t">
            <a:spAutoFit/>
          </a:bodyPr>
          <a:lstStyle/>
          <a:p>
            <a:pPr algn="l">
              <a:defRPr sz="1200" b="0">
                <a:solidFill>
                  <a:srgbClr val="2A2A2A"/>
                </a:solidFill>
                <a:latin typeface="Avenir Next"/>
              </a:defRPr>
            </a:pPr>
            <a:r>
              <a:rPr sz="1050" dirty="0">
                <a:latin typeface="Avenir Next" panose="020B0503020202020204" pitchFamily="34" charset="0"/>
              </a:rPr>
              <a:t>Integrated reporting, claim controls, verification, and coordinated sweeps.</a:t>
            </a:r>
            <a:endParaRPr lang="en-US" sz="1050" dirty="0">
              <a:latin typeface="Avenir Next" panose="020B0503020202020204" pitchFamily="34" charset="0"/>
            </a:endParaRPr>
          </a:p>
          <a:p>
            <a:pPr algn="l">
              <a:defRPr sz="1200" b="0">
                <a:solidFill>
                  <a:srgbClr val="2A2A2A"/>
                </a:solidFill>
                <a:latin typeface="Avenir Next"/>
              </a:defRPr>
            </a:pPr>
            <a:r>
              <a:rPr lang="en-IN" sz="1050" dirty="0">
                <a:latin typeface="Avenir Next" panose="020B0503020202020204" pitchFamily="34" charset="0"/>
              </a:rPr>
              <a:t>France alone issued 141 warnings &amp; 114 injunctions-misleading env claims</a:t>
            </a:r>
            <a:endParaRPr sz="1050" dirty="0">
              <a:latin typeface="Avenir Next" panose="020B0503020202020204" pitchFamily="34" charset="0"/>
            </a:endParaRPr>
          </a:p>
        </p:txBody>
      </p:sp>
      <p:sp>
        <p:nvSpPr>
          <p:cNvPr id="24" name="Rounded Rectangle 23">
            <a:extLst>
              <a:ext uri="{FF2B5EF4-FFF2-40B4-BE49-F238E27FC236}">
                <a16:creationId xmlns:a16="http://schemas.microsoft.com/office/drawing/2014/main" id="{DB524ECD-0D2D-5A1D-CF13-897C1810DCE3}"/>
              </a:ext>
            </a:extLst>
          </p:cNvPr>
          <p:cNvSpPr/>
          <p:nvPr/>
        </p:nvSpPr>
        <p:spPr>
          <a:xfrm>
            <a:off x="9190778" y="4994655"/>
            <a:ext cx="2102062" cy="1521017"/>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25" name="Rectangle 24">
            <a:extLst>
              <a:ext uri="{FF2B5EF4-FFF2-40B4-BE49-F238E27FC236}">
                <a16:creationId xmlns:a16="http://schemas.microsoft.com/office/drawing/2014/main" id="{1ED3E6F9-37CC-3768-999F-3D30D75E9687}"/>
              </a:ext>
            </a:extLst>
          </p:cNvPr>
          <p:cNvSpPr/>
          <p:nvPr/>
        </p:nvSpPr>
        <p:spPr>
          <a:xfrm>
            <a:off x="9190778" y="4994656"/>
            <a:ext cx="2102062" cy="93924"/>
          </a:xfrm>
          <a:prstGeom prst="rect">
            <a:avLst/>
          </a:prstGeom>
          <a:solidFill>
            <a:srgbClr val="A2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26" name="TextBox 25">
            <a:extLst>
              <a:ext uri="{FF2B5EF4-FFF2-40B4-BE49-F238E27FC236}">
                <a16:creationId xmlns:a16="http://schemas.microsoft.com/office/drawing/2014/main" id="{7EBBD021-C5EB-6F08-152C-EFC835203AA0}"/>
              </a:ext>
            </a:extLst>
          </p:cNvPr>
          <p:cNvSpPr txBox="1"/>
          <p:nvPr/>
        </p:nvSpPr>
        <p:spPr>
          <a:xfrm>
            <a:off x="9336934" y="5122671"/>
            <a:ext cx="1809601" cy="338554"/>
          </a:xfrm>
          <a:prstGeom prst="rect">
            <a:avLst/>
          </a:prstGeom>
          <a:noFill/>
        </p:spPr>
        <p:txBody>
          <a:bodyPr wrap="square" anchor="t">
            <a:spAutoFit/>
          </a:bodyPr>
          <a:lstStyle/>
          <a:p>
            <a:pPr algn="l">
              <a:defRPr sz="1600" b="1">
                <a:solidFill>
                  <a:srgbClr val="173F35"/>
                </a:solidFill>
                <a:latin typeface="Avenir Next Demi Bold"/>
              </a:defRPr>
            </a:pPr>
            <a:r>
              <a:rPr>
                <a:latin typeface="Avenir Next" panose="020B0503020202020204" pitchFamily="34" charset="0"/>
              </a:rPr>
              <a:t>India</a:t>
            </a:r>
          </a:p>
        </p:txBody>
      </p:sp>
      <p:sp>
        <p:nvSpPr>
          <p:cNvPr id="27" name="TextBox 26">
            <a:extLst>
              <a:ext uri="{FF2B5EF4-FFF2-40B4-BE49-F238E27FC236}">
                <a16:creationId xmlns:a16="http://schemas.microsoft.com/office/drawing/2014/main" id="{8EC782C2-B1A4-EC21-4F07-5D39E28F3BB5}"/>
              </a:ext>
            </a:extLst>
          </p:cNvPr>
          <p:cNvSpPr txBox="1"/>
          <p:nvPr/>
        </p:nvSpPr>
        <p:spPr>
          <a:xfrm>
            <a:off x="9336934" y="5488432"/>
            <a:ext cx="1809601" cy="954107"/>
          </a:xfrm>
          <a:prstGeom prst="rect">
            <a:avLst/>
          </a:prstGeom>
          <a:noFill/>
        </p:spPr>
        <p:txBody>
          <a:bodyPr wrap="square" anchor="t">
            <a:spAutoFit/>
          </a:bodyPr>
          <a:lstStyle/>
          <a:p>
            <a:pPr algn="l">
              <a:defRPr sz="1200" b="0">
                <a:solidFill>
                  <a:srgbClr val="2A2A2A"/>
                </a:solidFill>
                <a:latin typeface="Avenir Next"/>
              </a:defRPr>
            </a:pPr>
            <a:r>
              <a:rPr sz="1400" dirty="0">
                <a:latin typeface="Avenir Next" panose="020B0503020202020204" pitchFamily="34" charset="0"/>
              </a:rPr>
              <a:t>Tools exist, but visible </a:t>
            </a:r>
            <a:r>
              <a:rPr lang="en-US" sz="1400" dirty="0">
                <a:latin typeface="Avenir Next" panose="020B0503020202020204" pitchFamily="34" charset="0"/>
              </a:rPr>
              <a:t>reported </a:t>
            </a:r>
            <a:r>
              <a:rPr sz="1400" dirty="0">
                <a:latin typeface="Avenir Next" panose="020B0503020202020204" pitchFamily="34" charset="0"/>
              </a:rPr>
              <a:t>deterrent </a:t>
            </a:r>
            <a:r>
              <a:rPr lang="en-US" sz="1400" dirty="0">
                <a:latin typeface="Avenir Next" panose="020B0503020202020204" pitchFamily="34" charset="0"/>
              </a:rPr>
              <a:t>case</a:t>
            </a:r>
            <a:r>
              <a:rPr sz="1400" dirty="0">
                <a:latin typeface="Avenir Next" panose="020B0503020202020204" pitchFamily="34" charset="0"/>
              </a:rPr>
              <a:t> is close to zero.</a:t>
            </a:r>
          </a:p>
        </p:txBody>
      </p:sp>
    </p:spTree>
    <p:extLst>
      <p:ext uri="{BB962C8B-B14F-4D97-AF65-F5344CB8AC3E}">
        <p14:creationId xmlns:p14="http://schemas.microsoft.com/office/powerpoint/2010/main" val="266253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55383" y="384048"/>
            <a:ext cx="9880105" cy="553998"/>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sz="3000" dirty="0"/>
              <a:t>India's Enforcement Gap Is </a:t>
            </a:r>
            <a:r>
              <a:rPr lang="en-US" sz="3000" dirty="0"/>
              <a:t>Firstly</a:t>
            </a:r>
            <a:r>
              <a:rPr sz="3000" dirty="0"/>
              <a:t> a Design Problem</a:t>
            </a:r>
          </a:p>
        </p:txBody>
      </p:sp>
      <p:sp>
        <p:nvSpPr>
          <p:cNvPr id="8" name="Chevron 7"/>
          <p:cNvSpPr/>
          <p:nvPr/>
        </p:nvSpPr>
        <p:spPr>
          <a:xfrm>
            <a:off x="632287" y="4068052"/>
            <a:ext cx="1993392" cy="743172"/>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200">
                <a:latin typeface="Avenir Next" panose="020B0503020202020204" pitchFamily="34" charset="0"/>
              </a:rPr>
              <a:t>Board Responsibility</a:t>
            </a:r>
          </a:p>
        </p:txBody>
      </p:sp>
      <p:sp>
        <p:nvSpPr>
          <p:cNvPr id="9" name="Chevron 8"/>
          <p:cNvSpPr/>
          <p:nvPr/>
        </p:nvSpPr>
        <p:spPr>
          <a:xfrm>
            <a:off x="2680543" y="4068052"/>
            <a:ext cx="1993392" cy="743172"/>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200">
                <a:latin typeface="Avenir Next" panose="020B0503020202020204" pitchFamily="34" charset="0"/>
              </a:rPr>
              <a:t>Claim Substantiation</a:t>
            </a:r>
          </a:p>
        </p:txBody>
      </p:sp>
      <p:sp>
        <p:nvSpPr>
          <p:cNvPr id="10" name="Chevron 9"/>
          <p:cNvSpPr/>
          <p:nvPr/>
        </p:nvSpPr>
        <p:spPr>
          <a:xfrm>
            <a:off x="4728799" y="4068052"/>
            <a:ext cx="1993392" cy="743172"/>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200">
                <a:latin typeface="Avenir Next" panose="020B0503020202020204" pitchFamily="34" charset="0"/>
              </a:rPr>
              <a:t>Independent Assurance</a:t>
            </a:r>
          </a:p>
        </p:txBody>
      </p:sp>
      <p:sp>
        <p:nvSpPr>
          <p:cNvPr id="11" name="Chevron 10"/>
          <p:cNvSpPr/>
          <p:nvPr/>
        </p:nvSpPr>
        <p:spPr>
          <a:xfrm>
            <a:off x="6777055" y="4068052"/>
            <a:ext cx="1993392" cy="743172"/>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200">
                <a:latin typeface="Avenir Next" panose="020B0503020202020204" pitchFamily="34" charset="0"/>
              </a:rPr>
              <a:t>Regulator Coordination</a:t>
            </a:r>
          </a:p>
        </p:txBody>
      </p:sp>
      <p:sp>
        <p:nvSpPr>
          <p:cNvPr id="12" name="Chevron 11"/>
          <p:cNvSpPr/>
          <p:nvPr/>
        </p:nvSpPr>
        <p:spPr>
          <a:xfrm>
            <a:off x="8825311" y="4068052"/>
            <a:ext cx="1993392" cy="743172"/>
          </a:xfrm>
          <a:prstGeom prst="chevron">
            <a:avLst/>
          </a:prstGeom>
          <a:solidFill>
            <a:srgbClr val="E8EFE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3F35"/>
                </a:solidFill>
                <a:latin typeface="Avenir Next"/>
              </a:defRPr>
            </a:pPr>
            <a:r>
              <a:rPr sz="1200">
                <a:latin typeface="Avenir Next" panose="020B0503020202020204" pitchFamily="34" charset="0"/>
              </a:rPr>
              <a:t>Visible Penalties</a:t>
            </a:r>
          </a:p>
        </p:txBody>
      </p:sp>
      <p:sp>
        <p:nvSpPr>
          <p:cNvPr id="13" name="Rounded Rectangle 12"/>
          <p:cNvSpPr/>
          <p:nvPr/>
        </p:nvSpPr>
        <p:spPr>
          <a:xfrm>
            <a:off x="697925" y="1214173"/>
            <a:ext cx="5360704" cy="2472361"/>
          </a:xfrm>
          <a:prstGeom prst="roundRect">
            <a:avLst/>
          </a:prstGeom>
          <a:solidFill>
            <a:srgbClr val="E8EFE6"/>
          </a:solidFill>
          <a:ln w="12700">
            <a:solidFill>
              <a:srgbClr val="6A8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4" name="Rounded Rectangle 13"/>
          <p:cNvSpPr/>
          <p:nvPr/>
        </p:nvSpPr>
        <p:spPr>
          <a:xfrm>
            <a:off x="905835" y="1318992"/>
            <a:ext cx="3904947" cy="463942"/>
          </a:xfrm>
          <a:prstGeom prst="round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FFFFFF"/>
                </a:solidFill>
                <a:latin typeface="Avenir Next"/>
              </a:defRPr>
            </a:pPr>
            <a:r>
              <a:rPr lang="en-US" sz="1400" dirty="0">
                <a:latin typeface="Avenir Next" panose="020B0503020202020204" pitchFamily="34" charset="0"/>
                <a:ea typeface="+mn-lt"/>
                <a:cs typeface="+mn-lt"/>
              </a:rPr>
              <a:t>Stronger jurisdictions share common design features</a:t>
            </a:r>
            <a:endParaRPr lang="en-US" sz="1400" dirty="0">
              <a:latin typeface="Avenir Next" panose="020B0503020202020204" pitchFamily="34" charset="0"/>
            </a:endParaRPr>
          </a:p>
        </p:txBody>
      </p:sp>
      <p:sp>
        <p:nvSpPr>
          <p:cNvPr id="15" name="TextBox 14"/>
          <p:cNvSpPr txBox="1"/>
          <p:nvPr/>
        </p:nvSpPr>
        <p:spPr>
          <a:xfrm>
            <a:off x="989616" y="1782934"/>
            <a:ext cx="4880091" cy="1681229"/>
          </a:xfrm>
          <a:prstGeom prst="rect">
            <a:avLst/>
          </a:prstGeom>
          <a:noFill/>
        </p:spPr>
        <p:txBody>
          <a:bodyPr wrap="square" lIns="91440" tIns="45720" rIns="91440" bIns="45720" anchor="t">
            <a:spAutoFit/>
          </a:bodyPr>
          <a:lstStyle/>
          <a:p>
            <a:pPr>
              <a:lnSpc>
                <a:spcPct val="150000"/>
              </a:lnSpc>
              <a:defRPr sz="1200">
                <a:solidFill>
                  <a:srgbClr val="2A2A2A"/>
                </a:solidFill>
                <a:latin typeface="Avenir Next"/>
              </a:defRPr>
            </a:pPr>
            <a:r>
              <a:rPr lang="en-US" sz="1400" dirty="0">
                <a:latin typeface="Avenir Next" panose="020B0503020202020204" pitchFamily="34" charset="0"/>
                <a:ea typeface="+mn-lt"/>
                <a:cs typeface="+mn-lt"/>
              </a:rPr>
              <a:t>- ex ante substantiation requirements</a:t>
            </a:r>
            <a:endParaRPr lang="en-US" sz="1400" dirty="0">
              <a:latin typeface="Avenir Next" panose="020B0503020202020204" pitchFamily="34" charset="0"/>
            </a:endParaRPr>
          </a:p>
          <a:p>
            <a:pPr>
              <a:lnSpc>
                <a:spcPct val="150000"/>
              </a:lnSpc>
              <a:defRPr sz="1200">
                <a:solidFill>
                  <a:srgbClr val="2A2A2A"/>
                </a:solidFill>
                <a:latin typeface="Avenir Next"/>
              </a:defRPr>
            </a:pPr>
            <a:r>
              <a:rPr lang="en-US" sz="1400" dirty="0">
                <a:latin typeface="Avenir Next" panose="020B0503020202020204" pitchFamily="34" charset="0"/>
                <a:ea typeface="+mn-lt"/>
                <a:cs typeface="+mn-lt"/>
              </a:rPr>
              <a:t>- stronger assurance / verification</a:t>
            </a:r>
            <a:endParaRPr lang="en-US" sz="1400" dirty="0">
              <a:latin typeface="Avenir Next" panose="020B0503020202020204" pitchFamily="34" charset="0"/>
            </a:endParaRPr>
          </a:p>
          <a:p>
            <a:pPr>
              <a:lnSpc>
                <a:spcPct val="150000"/>
              </a:lnSpc>
              <a:defRPr sz="1200">
                <a:solidFill>
                  <a:srgbClr val="2A2A2A"/>
                </a:solidFill>
                <a:latin typeface="Avenir Next"/>
              </a:defRPr>
            </a:pPr>
            <a:r>
              <a:rPr lang="en-US" sz="1400" dirty="0">
                <a:latin typeface="Avenir Next" panose="020B0503020202020204" pitchFamily="34" charset="0"/>
                <a:ea typeface="+mn-lt"/>
                <a:cs typeface="+mn-lt"/>
              </a:rPr>
              <a:t>- clear liability architecture</a:t>
            </a:r>
            <a:endParaRPr lang="en-US" sz="1400" dirty="0">
              <a:latin typeface="Avenir Next" panose="020B0503020202020204" pitchFamily="34" charset="0"/>
            </a:endParaRPr>
          </a:p>
          <a:p>
            <a:pPr>
              <a:lnSpc>
                <a:spcPct val="150000"/>
              </a:lnSpc>
              <a:defRPr sz="1200">
                <a:solidFill>
                  <a:srgbClr val="2A2A2A"/>
                </a:solidFill>
                <a:latin typeface="Avenir Next"/>
              </a:defRPr>
            </a:pPr>
            <a:r>
              <a:rPr lang="en-US" sz="1400" dirty="0">
                <a:latin typeface="Avenir Next" panose="020B0503020202020204" pitchFamily="34" charset="0"/>
                <a:ea typeface="+mn-lt"/>
                <a:cs typeface="+mn-lt"/>
              </a:rPr>
              <a:t>- credible and visible penalties</a:t>
            </a:r>
          </a:p>
          <a:p>
            <a:pPr>
              <a:lnSpc>
                <a:spcPct val="150000"/>
              </a:lnSpc>
              <a:spcAft>
                <a:spcPts val="600"/>
              </a:spcAft>
              <a:defRPr sz="1200">
                <a:solidFill>
                  <a:srgbClr val="2A2A2A"/>
                </a:solidFill>
                <a:latin typeface="Avenir Next"/>
              </a:defRPr>
            </a:pPr>
            <a:r>
              <a:rPr lang="en-US" sz="1400" dirty="0">
                <a:latin typeface="Avenir Next" panose="020B0503020202020204" pitchFamily="34" charset="0"/>
                <a:ea typeface="+mn-lt"/>
                <a:cs typeface="+mn-lt"/>
              </a:rPr>
              <a:t>- preventive design across the life cycle of the claim</a:t>
            </a:r>
            <a:endParaRPr sz="1400" dirty="0">
              <a:latin typeface="Avenir Next" panose="020B0503020202020204" pitchFamily="34" charset="0"/>
            </a:endParaRPr>
          </a:p>
        </p:txBody>
      </p:sp>
      <p:sp>
        <p:nvSpPr>
          <p:cNvPr id="16" name="Rounded Rectangle 15"/>
          <p:cNvSpPr/>
          <p:nvPr/>
        </p:nvSpPr>
        <p:spPr>
          <a:xfrm>
            <a:off x="6350320" y="1214172"/>
            <a:ext cx="4897839" cy="2472361"/>
          </a:xfrm>
          <a:prstGeom prst="roundRect">
            <a:avLst/>
          </a:prstGeom>
          <a:solidFill>
            <a:srgbClr val="FFF3F0"/>
          </a:solidFill>
          <a:ln w="12700">
            <a:solidFill>
              <a:srgbClr val="E7B6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7" name="Rounded Rectangle 16"/>
          <p:cNvSpPr/>
          <p:nvPr/>
        </p:nvSpPr>
        <p:spPr>
          <a:xfrm>
            <a:off x="6619088" y="1318992"/>
            <a:ext cx="2667845" cy="435800"/>
          </a:xfrm>
          <a:prstGeom prst="roundRect">
            <a:avLst/>
          </a:prstGeom>
          <a:solidFill>
            <a:srgbClr val="A23E2A"/>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000" b="1">
                <a:solidFill>
                  <a:srgbClr val="FFFFFF"/>
                </a:solidFill>
                <a:latin typeface="Avenir Next"/>
              </a:defRPr>
            </a:pPr>
            <a:r>
              <a:rPr lang="en-US" sz="1400" dirty="0">
                <a:latin typeface="Avenir Next" panose="020B0503020202020204" pitchFamily="34" charset="0"/>
              </a:rPr>
              <a:t>Indian </a:t>
            </a:r>
            <a:r>
              <a:rPr lang="en-US" sz="1400" dirty="0" err="1">
                <a:latin typeface="Avenir Next" panose="020B0503020202020204" pitchFamily="34" charset="0"/>
              </a:rPr>
              <a:t>Regularoty</a:t>
            </a:r>
            <a:r>
              <a:rPr lang="en-US" sz="1400" dirty="0">
                <a:latin typeface="Avenir Next" panose="020B0503020202020204" pitchFamily="34" charset="0"/>
              </a:rPr>
              <a:t> Design</a:t>
            </a:r>
            <a:endParaRPr sz="1400" dirty="0">
              <a:latin typeface="Avenir Next" panose="020B0503020202020204" pitchFamily="34" charset="0"/>
            </a:endParaRPr>
          </a:p>
        </p:txBody>
      </p:sp>
      <p:sp>
        <p:nvSpPr>
          <p:cNvPr id="18" name="TextBox 17"/>
          <p:cNvSpPr txBox="1"/>
          <p:nvPr/>
        </p:nvSpPr>
        <p:spPr>
          <a:xfrm>
            <a:off x="6619089" y="1754792"/>
            <a:ext cx="4717057" cy="1681229"/>
          </a:xfrm>
          <a:prstGeom prst="rect">
            <a:avLst/>
          </a:prstGeom>
          <a:noFill/>
        </p:spPr>
        <p:txBody>
          <a:bodyPr wrap="square" lIns="91440" tIns="45720" rIns="91440" bIns="45720" anchor="t">
            <a:spAutoFit/>
          </a:bodyPr>
          <a:lstStyle/>
          <a:p>
            <a:pPr>
              <a:lnSpc>
                <a:spcPct val="150000"/>
              </a:lnSpc>
              <a:defRPr sz="1200">
                <a:solidFill>
                  <a:srgbClr val="2A2A2A"/>
                </a:solidFill>
                <a:latin typeface="Avenir Next"/>
              </a:defRPr>
            </a:pPr>
            <a:r>
              <a:rPr lang="en-US" sz="1400" dirty="0">
                <a:latin typeface="Avenir Next" panose="020B0503020202020204" pitchFamily="34" charset="0"/>
                <a:ea typeface="+mn-lt"/>
                <a:cs typeface="+mn-lt"/>
              </a:rPr>
              <a:t>- incomplete verification architecture</a:t>
            </a:r>
            <a:endParaRPr lang="en-US" sz="1400" dirty="0">
              <a:latin typeface="Avenir Next" panose="020B0503020202020204" pitchFamily="34" charset="0"/>
            </a:endParaRPr>
          </a:p>
          <a:p>
            <a:pPr>
              <a:lnSpc>
                <a:spcPct val="150000"/>
              </a:lnSpc>
              <a:defRPr sz="1200">
                <a:solidFill>
                  <a:srgbClr val="2A2A2A"/>
                </a:solidFill>
                <a:latin typeface="Avenir Next"/>
              </a:defRPr>
            </a:pPr>
            <a:r>
              <a:rPr lang="en-US" sz="1400" dirty="0">
                <a:latin typeface="Avenir Next" panose="020B0503020202020204" pitchFamily="34" charset="0"/>
                <a:ea typeface="+mn-lt"/>
                <a:cs typeface="+mn-lt"/>
              </a:rPr>
              <a:t>- weak assurance design</a:t>
            </a:r>
            <a:endParaRPr lang="en-US" sz="1400" dirty="0">
              <a:latin typeface="Avenir Next" panose="020B0503020202020204" pitchFamily="34" charset="0"/>
            </a:endParaRPr>
          </a:p>
          <a:p>
            <a:pPr>
              <a:lnSpc>
                <a:spcPct val="150000"/>
              </a:lnSpc>
              <a:defRPr sz="1200">
                <a:solidFill>
                  <a:srgbClr val="2A2A2A"/>
                </a:solidFill>
                <a:latin typeface="Avenir Next"/>
              </a:defRPr>
            </a:pPr>
            <a:r>
              <a:rPr lang="en-US" sz="1400" dirty="0">
                <a:latin typeface="Avenir Next" panose="020B0503020202020204" pitchFamily="34" charset="0"/>
                <a:ea typeface="+mn-lt"/>
                <a:cs typeface="+mn-lt"/>
              </a:rPr>
              <a:t>- no robust ex ante substantiation framework</a:t>
            </a:r>
            <a:endParaRPr lang="en-US" sz="1400" dirty="0">
              <a:latin typeface="Avenir Next" panose="020B0503020202020204" pitchFamily="34" charset="0"/>
            </a:endParaRPr>
          </a:p>
          <a:p>
            <a:pPr>
              <a:lnSpc>
                <a:spcPct val="150000"/>
              </a:lnSpc>
              <a:defRPr sz="1200">
                <a:solidFill>
                  <a:srgbClr val="2A2A2A"/>
                </a:solidFill>
                <a:latin typeface="Avenir Next"/>
              </a:defRPr>
            </a:pPr>
            <a:r>
              <a:rPr lang="en-US" sz="1400" dirty="0">
                <a:latin typeface="Avenir Next" panose="020B0503020202020204" pitchFamily="34" charset="0"/>
                <a:ea typeface="+mn-lt"/>
                <a:cs typeface="+mn-lt"/>
              </a:rPr>
              <a:t>- repeated regulatory relaxations / backsliding</a:t>
            </a:r>
            <a:endParaRPr sz="1400" dirty="0">
              <a:latin typeface="Avenir Next" panose="020B0503020202020204" pitchFamily="34" charset="0"/>
            </a:endParaRPr>
          </a:p>
          <a:p>
            <a:pPr>
              <a:lnSpc>
                <a:spcPct val="150000"/>
              </a:lnSpc>
              <a:spcAft>
                <a:spcPts val="600"/>
              </a:spcAft>
              <a:defRPr sz="1200">
                <a:solidFill>
                  <a:srgbClr val="2A2A2A"/>
                </a:solidFill>
                <a:latin typeface="Avenir Next"/>
              </a:defRPr>
            </a:pPr>
            <a:r>
              <a:rPr lang="en-US" sz="1400" dirty="0">
                <a:latin typeface="Avenir Next" panose="020B0503020202020204" pitchFamily="34" charset="0"/>
                <a:ea typeface="+mn-lt"/>
                <a:cs typeface="+mn-lt"/>
              </a:rPr>
              <a:t>- comparatively modest penalties</a:t>
            </a:r>
          </a:p>
        </p:txBody>
      </p:sp>
      <p:sp>
        <p:nvSpPr>
          <p:cNvPr id="19" name="Rounded Rectangle 18"/>
          <p:cNvSpPr/>
          <p:nvPr/>
        </p:nvSpPr>
        <p:spPr>
          <a:xfrm>
            <a:off x="739195" y="5192742"/>
            <a:ext cx="10508964" cy="743172"/>
          </a:xfrm>
          <a:prstGeom prst="roundRect">
            <a:avLst/>
          </a:prstGeom>
          <a:solidFill>
            <a:srgbClr val="FFF6EA"/>
          </a:solidFill>
          <a:ln w="12700">
            <a:solidFill>
              <a:srgbClr val="E7C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20" name="TextBox 19"/>
          <p:cNvSpPr txBox="1"/>
          <p:nvPr/>
        </p:nvSpPr>
        <p:spPr>
          <a:xfrm>
            <a:off x="978881" y="5389109"/>
            <a:ext cx="9948672" cy="523220"/>
          </a:xfrm>
          <a:prstGeom prst="rect">
            <a:avLst/>
          </a:prstGeom>
          <a:noFill/>
        </p:spPr>
        <p:txBody>
          <a:bodyPr wrap="square" lIns="91440" tIns="45720" rIns="91440" bIns="45720" anchor="t">
            <a:spAutoFit/>
          </a:bodyPr>
          <a:lstStyle/>
          <a:p>
            <a:pPr algn="ctr">
              <a:defRPr sz="1300" b="1">
                <a:solidFill>
                  <a:srgbClr val="173F35"/>
                </a:solidFill>
                <a:latin typeface="Avenir Next Demi Bold"/>
              </a:defRPr>
            </a:pPr>
            <a:r>
              <a:rPr lang="en-US" sz="1400" dirty="0">
                <a:latin typeface="Avenir Next" panose="020B0503020202020204" pitchFamily="34" charset="0"/>
              </a:rPr>
              <a:t>This </a:t>
            </a:r>
            <a:r>
              <a:rPr sz="1400" dirty="0">
                <a:latin typeface="Avenir Next" panose="020B0503020202020204" pitchFamily="34" charset="0"/>
              </a:rPr>
              <a:t>points to </a:t>
            </a:r>
            <a:r>
              <a:rPr lang="en-US" sz="1400" dirty="0">
                <a:latin typeface="Avenir Next" panose="020B0503020202020204" pitchFamily="34" charset="0"/>
                <a:ea typeface="+mn-lt"/>
                <a:cs typeface="+mn-lt"/>
              </a:rPr>
              <a:t>India's stark lack of anti-greenwashing enforcement</a:t>
            </a:r>
            <a:endParaRPr lang="en-US" sz="1400" dirty="0">
              <a:latin typeface="Avenir Next" panose="020B0503020202020204" pitchFamily="34" charset="0"/>
            </a:endParaRPr>
          </a:p>
          <a:p>
            <a:pPr algn="ctr">
              <a:defRPr sz="1300" b="1">
                <a:solidFill>
                  <a:srgbClr val="173F35"/>
                </a:solidFill>
                <a:latin typeface="Avenir Next Demi Bold"/>
              </a:defRPr>
            </a:pPr>
            <a:r>
              <a:rPr lang="en-US" sz="1400" dirty="0">
                <a:latin typeface="Avenir Next" panose="020B0503020202020204" pitchFamily="34" charset="0"/>
                <a:ea typeface="+mn-lt"/>
                <a:cs typeface="+mn-lt"/>
              </a:rPr>
              <a:t>as mainly a result of poor regulatory design</a:t>
            </a:r>
            <a:endParaRPr lang="en-US" sz="1400" dirty="0">
              <a:latin typeface="Avenir Next" panose="020B0503020202020204" pitchFamily="34" charset="0"/>
            </a:endParaRPr>
          </a:p>
        </p:txBody>
      </p:sp>
      <p:sp>
        <p:nvSpPr>
          <p:cNvPr id="21" name="TextBox 20"/>
          <p:cNvSpPr txBox="1"/>
          <p:nvPr/>
        </p:nvSpPr>
        <p:spPr>
          <a:xfrm>
            <a:off x="566928" y="6400800"/>
            <a:ext cx="3137397" cy="261610"/>
          </a:xfrm>
          <a:prstGeom prst="rect">
            <a:avLst/>
          </a:prstGeom>
          <a:noFill/>
        </p:spPr>
        <p:txBody>
          <a:bodyPr wrap="none" lIns="91440" tIns="45720" rIns="91440" bIns="45720" anchor="t">
            <a:spAutoFit/>
          </a:bodyPr>
          <a:lstStyle/>
          <a:p>
            <a:pPr>
              <a:defRPr sz="850">
                <a:solidFill>
                  <a:srgbClr val="6B6F6A"/>
                </a:solidFill>
                <a:latin typeface="Avenir Next"/>
              </a:defRPr>
            </a:pPr>
            <a:r>
              <a:rPr sz="1100" dirty="0"/>
              <a:t>Source base: </a:t>
            </a:r>
            <a:r>
              <a:rPr lang="en-US" sz="1100" dirty="0"/>
              <a:t>Comparative</a:t>
            </a:r>
            <a:r>
              <a:rPr sz="1100" dirty="0"/>
              <a:t> study in Chapter 4.</a:t>
            </a:r>
          </a:p>
        </p:txBody>
      </p:sp>
    </p:spTree>
    <p:extLst>
      <p:ext uri="{BB962C8B-B14F-4D97-AF65-F5344CB8AC3E}">
        <p14:creationId xmlns:p14="http://schemas.microsoft.com/office/powerpoint/2010/main" val="4147296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88556" y="330000"/>
            <a:ext cx="11400000" cy="523220"/>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sz="2800" b="1" dirty="0">
                <a:solidFill>
                  <a:srgbClr val="173F35"/>
                </a:solidFill>
                <a:latin typeface="Avenir Next Demi Bold"/>
              </a:rPr>
              <a:t>More Faults Beyond Poor Regulatory Design</a:t>
            </a:r>
            <a:endParaRPr sz="2800" dirty="0"/>
          </a:p>
        </p:txBody>
      </p:sp>
      <p:sp>
        <p:nvSpPr>
          <p:cNvPr id="34" name="TextBox 33"/>
          <p:cNvSpPr txBox="1"/>
          <p:nvPr/>
        </p:nvSpPr>
        <p:spPr>
          <a:xfrm>
            <a:off x="568904" y="6636169"/>
            <a:ext cx="1596912" cy="246221"/>
          </a:xfrm>
          <a:prstGeom prst="rect">
            <a:avLst/>
          </a:prstGeom>
          <a:noFill/>
        </p:spPr>
        <p:txBody>
          <a:bodyPr wrap="none" lIns="91440" tIns="45720" rIns="91440" bIns="45720" anchor="t">
            <a:spAutoFit/>
          </a:bodyPr>
          <a:lstStyle/>
          <a:p>
            <a:pPr>
              <a:defRPr sz="850">
                <a:solidFill>
                  <a:srgbClr val="6B6F6A"/>
                </a:solidFill>
                <a:latin typeface="Avenir Next"/>
              </a:defRPr>
            </a:pPr>
            <a:r>
              <a:rPr sz="1000" dirty="0"/>
              <a:t>Source base: Chapter 5.</a:t>
            </a:r>
          </a:p>
        </p:txBody>
      </p:sp>
      <p:sp>
        <p:nvSpPr>
          <p:cNvPr id="37" name="Rounded Rectangle 3">
            <a:extLst>
              <a:ext uri="{FF2B5EF4-FFF2-40B4-BE49-F238E27FC236}">
                <a16:creationId xmlns:a16="http://schemas.microsoft.com/office/drawing/2014/main" id="{F86CDA7E-F0A4-7B79-A166-55010829BEB0}"/>
              </a:ext>
            </a:extLst>
          </p:cNvPr>
          <p:cNvSpPr/>
          <p:nvPr/>
        </p:nvSpPr>
        <p:spPr>
          <a:xfrm>
            <a:off x="568904" y="892249"/>
            <a:ext cx="5291452" cy="2369072"/>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39" name="Rounded Rectangle 4">
            <a:extLst>
              <a:ext uri="{FF2B5EF4-FFF2-40B4-BE49-F238E27FC236}">
                <a16:creationId xmlns:a16="http://schemas.microsoft.com/office/drawing/2014/main" id="{F813656E-E48A-6752-245E-8F12A23E2737}"/>
              </a:ext>
            </a:extLst>
          </p:cNvPr>
          <p:cNvSpPr/>
          <p:nvPr/>
        </p:nvSpPr>
        <p:spPr>
          <a:xfrm>
            <a:off x="66143" y="981993"/>
            <a:ext cx="594360" cy="256032"/>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dirty="0">
                <a:solidFill>
                  <a:schemeClr val="tx1"/>
                </a:solidFill>
              </a:rPr>
              <a:t>Gap 1</a:t>
            </a:r>
          </a:p>
        </p:txBody>
      </p:sp>
      <p:sp>
        <p:nvSpPr>
          <p:cNvPr id="41" name="TextBox 40">
            <a:extLst>
              <a:ext uri="{FF2B5EF4-FFF2-40B4-BE49-F238E27FC236}">
                <a16:creationId xmlns:a16="http://schemas.microsoft.com/office/drawing/2014/main" id="{26B4721B-B3A7-881E-57B7-ED843E0D8783}"/>
              </a:ext>
            </a:extLst>
          </p:cNvPr>
          <p:cNvSpPr txBox="1"/>
          <p:nvPr/>
        </p:nvSpPr>
        <p:spPr>
          <a:xfrm>
            <a:off x="679798" y="1027121"/>
            <a:ext cx="5044439" cy="2069797"/>
          </a:xfrm>
          <a:prstGeom prst="rect">
            <a:avLst/>
          </a:prstGeom>
          <a:noFill/>
        </p:spPr>
        <p:txBody>
          <a:bodyPr wrap="square">
            <a:spAutoFit/>
          </a:bodyPr>
          <a:lstStyle/>
          <a:p>
            <a:pPr algn="l">
              <a:spcAft>
                <a:spcPts val="300"/>
              </a:spcAft>
              <a:defRPr sz="1400" b="1">
                <a:solidFill>
                  <a:srgbClr val="095E4F"/>
                </a:solidFill>
                <a:latin typeface="Calibri"/>
              </a:defRPr>
            </a:pPr>
            <a:r>
              <a:rPr dirty="0">
                <a:latin typeface="Avenir Next" panose="020B0503020202020204" pitchFamily="34" charset="0"/>
              </a:rPr>
              <a:t>Definitional Fragmentation</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CCPA, SEBI, ASCI each define greenwashing differently reflecting distinct mandates.</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Technical terms ("carbon neutral," "net zero") remain legally undefined.</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Different legal thresholds: misleading vs. fraudulent vs. good-faith breach.</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Firms invest in "defensible wording" rather than verifiable performance.</a:t>
            </a:r>
            <a:endParaRPr sz="1400" dirty="0">
              <a:latin typeface="Avenir Next" panose="020B0503020202020204" pitchFamily="34" charset="0"/>
            </a:endParaRPr>
          </a:p>
        </p:txBody>
      </p:sp>
      <p:sp>
        <p:nvSpPr>
          <p:cNvPr id="43" name="Rounded Rectangle 6">
            <a:extLst>
              <a:ext uri="{FF2B5EF4-FFF2-40B4-BE49-F238E27FC236}">
                <a16:creationId xmlns:a16="http://schemas.microsoft.com/office/drawing/2014/main" id="{31F74835-6A59-B51C-3E82-E2C7E439ECBB}"/>
              </a:ext>
            </a:extLst>
          </p:cNvPr>
          <p:cNvSpPr/>
          <p:nvPr/>
        </p:nvSpPr>
        <p:spPr>
          <a:xfrm>
            <a:off x="568904" y="3374611"/>
            <a:ext cx="5175557" cy="2861786"/>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45" name="Rounded Rectangle 7">
            <a:extLst>
              <a:ext uri="{FF2B5EF4-FFF2-40B4-BE49-F238E27FC236}">
                <a16:creationId xmlns:a16="http://schemas.microsoft.com/office/drawing/2014/main" id="{32E40E84-6032-A682-A8D9-8B1561127F99}"/>
              </a:ext>
            </a:extLst>
          </p:cNvPr>
          <p:cNvSpPr/>
          <p:nvPr/>
        </p:nvSpPr>
        <p:spPr>
          <a:xfrm>
            <a:off x="91376" y="3542200"/>
            <a:ext cx="594360" cy="256032"/>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dirty="0">
                <a:solidFill>
                  <a:schemeClr val="tx1"/>
                </a:solidFill>
              </a:rPr>
              <a:t>Gap 2</a:t>
            </a:r>
          </a:p>
        </p:txBody>
      </p:sp>
      <p:sp>
        <p:nvSpPr>
          <p:cNvPr id="47" name="TextBox 46">
            <a:extLst>
              <a:ext uri="{FF2B5EF4-FFF2-40B4-BE49-F238E27FC236}">
                <a16:creationId xmlns:a16="http://schemas.microsoft.com/office/drawing/2014/main" id="{03A43F78-A477-AC42-D5E9-73952486FF36}"/>
              </a:ext>
            </a:extLst>
          </p:cNvPr>
          <p:cNvSpPr txBox="1"/>
          <p:nvPr/>
        </p:nvSpPr>
        <p:spPr>
          <a:xfrm>
            <a:off x="689389" y="3510771"/>
            <a:ext cx="5033807" cy="2716128"/>
          </a:xfrm>
          <a:prstGeom prst="rect">
            <a:avLst/>
          </a:prstGeom>
          <a:noFill/>
        </p:spPr>
        <p:txBody>
          <a:bodyPr wrap="square">
            <a:spAutoFit/>
          </a:bodyPr>
          <a:lstStyle/>
          <a:p>
            <a:pPr algn="l">
              <a:spcAft>
                <a:spcPts val="300"/>
              </a:spcAft>
              <a:defRPr sz="1400" b="1">
                <a:solidFill>
                  <a:srgbClr val="095E4F"/>
                </a:solidFill>
                <a:latin typeface="Calibri"/>
              </a:defRPr>
            </a:pPr>
            <a:r>
              <a:rPr lang="en-US" dirty="0">
                <a:latin typeface="Avenir Next" panose="020B0503020202020204" pitchFamily="34" charset="0"/>
              </a:rPr>
              <a:t>Regulatory Proliferation with Sustained Ambiguity</a:t>
            </a:r>
            <a:endParaRPr dirty="0">
              <a:latin typeface="Avenir Next" panose="020B0503020202020204" pitchFamily="34" charset="0"/>
            </a:endParaRP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A single "carbon neutral" claim simultaneously engages CCPA, SEBI, MCA, FSSAI, and </a:t>
            </a:r>
            <a:r>
              <a:rPr lang="en-IN" sz="1400" dirty="0" err="1">
                <a:latin typeface="Avenir Next" panose="020B0503020202020204" pitchFamily="34" charset="0"/>
              </a:rPr>
              <a:t>MoEFCC</a:t>
            </a:r>
            <a:r>
              <a:rPr lang="en-IN" sz="1400" dirty="0">
                <a:latin typeface="Avenir Next" panose="020B0503020202020204" pitchFamily="34" charset="0"/>
              </a:rPr>
              <a:t>.</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Green Taxonomy Paradox: India's May 2025 Climate Finance Taxonomy added a </a:t>
            </a:r>
            <a:r>
              <a:rPr lang="en-IN" sz="1400" i="1" dirty="0">
                <a:latin typeface="Avenir Next" panose="020B0503020202020204" pitchFamily="34" charset="0"/>
              </a:rPr>
              <a:t>new</a:t>
            </a:r>
            <a:r>
              <a:rPr lang="en-IN" sz="1400" dirty="0">
                <a:latin typeface="Avenir Next" panose="020B0503020202020204" pitchFamily="34" charset="0"/>
              </a:rPr>
              <a:t> parallel framework without harmonising any— Finance-sector focused, voluntary, and unintegrated with enforcement.</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No lead-regulator designation, no mandatory information-sharing, no joint investigative capacity.</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CCPA Guidelines' subordination clause ("in addition to and not in derogation of") creates ambiguity rather than resolving it.</a:t>
            </a:r>
            <a:endParaRPr sz="1400" dirty="0">
              <a:latin typeface="Avenir Next" panose="020B0503020202020204" pitchFamily="34" charset="0"/>
            </a:endParaRPr>
          </a:p>
        </p:txBody>
      </p:sp>
      <p:sp>
        <p:nvSpPr>
          <p:cNvPr id="49" name="Rounded Rectangle 9">
            <a:extLst>
              <a:ext uri="{FF2B5EF4-FFF2-40B4-BE49-F238E27FC236}">
                <a16:creationId xmlns:a16="http://schemas.microsoft.com/office/drawing/2014/main" id="{692C4E0B-F254-0100-FC2C-4780D07E16D5}"/>
              </a:ext>
            </a:extLst>
          </p:cNvPr>
          <p:cNvSpPr/>
          <p:nvPr/>
        </p:nvSpPr>
        <p:spPr>
          <a:xfrm>
            <a:off x="6547953" y="4389194"/>
            <a:ext cx="5212080" cy="2027986"/>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51" name="Rounded Rectangle 10">
            <a:extLst>
              <a:ext uri="{FF2B5EF4-FFF2-40B4-BE49-F238E27FC236}">
                <a16:creationId xmlns:a16="http://schemas.microsoft.com/office/drawing/2014/main" id="{76983213-AB3F-B2D6-4A49-5D4535B61986}"/>
              </a:ext>
            </a:extLst>
          </p:cNvPr>
          <p:cNvSpPr/>
          <p:nvPr/>
        </p:nvSpPr>
        <p:spPr>
          <a:xfrm>
            <a:off x="6003191" y="4452966"/>
            <a:ext cx="594360" cy="290020"/>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sz="1000" dirty="0">
                <a:solidFill>
                  <a:schemeClr val="tx1"/>
                </a:solidFill>
                <a:latin typeface="Avenir Next" panose="020B0503020202020204" pitchFamily="34" charset="0"/>
              </a:rPr>
              <a:t>Gap </a:t>
            </a:r>
            <a:r>
              <a:rPr lang="en-US" sz="1000" dirty="0">
                <a:solidFill>
                  <a:schemeClr val="tx1"/>
                </a:solidFill>
                <a:latin typeface="Avenir Next" panose="020B0503020202020204" pitchFamily="34" charset="0"/>
              </a:rPr>
              <a:t>5</a:t>
            </a:r>
            <a:endParaRPr sz="1000" dirty="0">
              <a:solidFill>
                <a:schemeClr val="tx1"/>
              </a:solidFill>
              <a:latin typeface="Avenir Next" panose="020B0503020202020204" pitchFamily="34" charset="0"/>
            </a:endParaRPr>
          </a:p>
        </p:txBody>
      </p:sp>
      <p:sp>
        <p:nvSpPr>
          <p:cNvPr id="53" name="TextBox 52">
            <a:extLst>
              <a:ext uri="{FF2B5EF4-FFF2-40B4-BE49-F238E27FC236}">
                <a16:creationId xmlns:a16="http://schemas.microsoft.com/office/drawing/2014/main" id="{9F4C8B64-1BD3-A8F2-92EC-CC23C73C5485}"/>
              </a:ext>
            </a:extLst>
          </p:cNvPr>
          <p:cNvSpPr txBox="1"/>
          <p:nvPr/>
        </p:nvSpPr>
        <p:spPr>
          <a:xfrm>
            <a:off x="6597551" y="4562826"/>
            <a:ext cx="5067118" cy="1854354"/>
          </a:xfrm>
          <a:prstGeom prst="rect">
            <a:avLst/>
          </a:prstGeom>
          <a:noFill/>
        </p:spPr>
        <p:txBody>
          <a:bodyPr wrap="square">
            <a:spAutoFit/>
          </a:bodyPr>
          <a:lstStyle/>
          <a:p>
            <a:pPr algn="l">
              <a:spcAft>
                <a:spcPts val="300"/>
              </a:spcAft>
              <a:defRPr sz="1400" b="1">
                <a:solidFill>
                  <a:srgbClr val="095E4F"/>
                </a:solidFill>
                <a:latin typeface="Calibri"/>
              </a:defRPr>
            </a:pPr>
            <a:r>
              <a:rPr dirty="0">
                <a:latin typeface="Avenir Next" panose="020B0503020202020204" pitchFamily="34" charset="0"/>
              </a:rPr>
              <a:t>Penalty Arbitrage — Greenwashing as Rational Strategy</a:t>
            </a:r>
            <a:endParaRPr lang="en-IN" dirty="0">
              <a:latin typeface="Avenir Next" panose="020B0503020202020204" pitchFamily="34" charset="0"/>
            </a:endParaRP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Fixed nominal ceilings: CCPA ₹50 lakh, Section 166(7) ₹5 lakh, FSSAI ₹10 lakh</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Orders of magnitude below international benchmarks (EU 10% turnover, UK CMA 10%, Australia 30%)</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Penalties have practically become just another cost of doing business</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Sole exception: NGT's proportionality-based model </a:t>
            </a:r>
          </a:p>
        </p:txBody>
      </p:sp>
      <p:sp>
        <p:nvSpPr>
          <p:cNvPr id="55" name="Rounded Rectangle 12">
            <a:extLst>
              <a:ext uri="{FF2B5EF4-FFF2-40B4-BE49-F238E27FC236}">
                <a16:creationId xmlns:a16="http://schemas.microsoft.com/office/drawing/2014/main" id="{DB62E08F-1B27-5F90-3E28-AE9882C800C6}"/>
              </a:ext>
            </a:extLst>
          </p:cNvPr>
          <p:cNvSpPr/>
          <p:nvPr/>
        </p:nvSpPr>
        <p:spPr>
          <a:xfrm>
            <a:off x="6469960" y="943321"/>
            <a:ext cx="5196834" cy="1751886"/>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57" name="Rounded Rectangle 13">
            <a:extLst>
              <a:ext uri="{FF2B5EF4-FFF2-40B4-BE49-F238E27FC236}">
                <a16:creationId xmlns:a16="http://schemas.microsoft.com/office/drawing/2014/main" id="{9117E4A6-FBF2-60D8-7167-6C995847AB89}"/>
              </a:ext>
            </a:extLst>
          </p:cNvPr>
          <p:cNvSpPr/>
          <p:nvPr/>
        </p:nvSpPr>
        <p:spPr>
          <a:xfrm>
            <a:off x="6003191" y="981993"/>
            <a:ext cx="594360" cy="290020"/>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sz="1000" dirty="0">
                <a:solidFill>
                  <a:schemeClr val="tx1"/>
                </a:solidFill>
                <a:latin typeface="Avenir Next" panose="020B0503020202020204" pitchFamily="34" charset="0"/>
              </a:rPr>
              <a:t>Gap </a:t>
            </a:r>
            <a:r>
              <a:rPr lang="en-US" sz="1000" dirty="0">
                <a:solidFill>
                  <a:schemeClr val="tx1"/>
                </a:solidFill>
                <a:latin typeface="Avenir Next" panose="020B0503020202020204" pitchFamily="34" charset="0"/>
              </a:rPr>
              <a:t>3</a:t>
            </a:r>
            <a:endParaRPr sz="1000" dirty="0">
              <a:solidFill>
                <a:schemeClr val="tx1"/>
              </a:solidFill>
              <a:latin typeface="Avenir Next" panose="020B0503020202020204" pitchFamily="34" charset="0"/>
            </a:endParaRPr>
          </a:p>
        </p:txBody>
      </p:sp>
      <p:sp>
        <p:nvSpPr>
          <p:cNvPr id="59" name="TextBox 58">
            <a:extLst>
              <a:ext uri="{FF2B5EF4-FFF2-40B4-BE49-F238E27FC236}">
                <a16:creationId xmlns:a16="http://schemas.microsoft.com/office/drawing/2014/main" id="{3E4BE53F-F7EA-E3DE-CA52-15E65F293897}"/>
              </a:ext>
            </a:extLst>
          </p:cNvPr>
          <p:cNvSpPr txBox="1"/>
          <p:nvPr/>
        </p:nvSpPr>
        <p:spPr>
          <a:xfrm>
            <a:off x="6581101" y="1074930"/>
            <a:ext cx="5145784" cy="1677382"/>
          </a:xfrm>
          <a:prstGeom prst="rect">
            <a:avLst/>
          </a:prstGeom>
          <a:noFill/>
        </p:spPr>
        <p:txBody>
          <a:bodyPr wrap="square">
            <a:spAutoFit/>
          </a:bodyPr>
          <a:lstStyle/>
          <a:p>
            <a:pPr algn="l">
              <a:spcAft>
                <a:spcPts val="300"/>
              </a:spcAft>
              <a:defRPr sz="1400" b="1">
                <a:solidFill>
                  <a:srgbClr val="095E4F"/>
                </a:solidFill>
                <a:latin typeface="Calibri"/>
              </a:defRPr>
            </a:pPr>
            <a:r>
              <a:rPr dirty="0">
                <a:latin typeface="Avenir Next" panose="020B0503020202020204" pitchFamily="34" charset="0"/>
              </a:rPr>
              <a:t>Regulatory Backsliding</a:t>
            </a:r>
          </a:p>
          <a:p>
            <a:pPr marL="171450" indent="-171450" algn="l">
              <a:spcAft>
                <a:spcPts val="300"/>
              </a:spcAft>
              <a:buFont typeface="Arial" panose="020B0604020202020204" pitchFamily="34" charset="0"/>
              <a:buChar char="•"/>
              <a:defRPr sz="1100" b="0">
                <a:solidFill>
                  <a:srgbClr val="3A3A4A"/>
                </a:solidFill>
                <a:latin typeface="Calibri"/>
              </a:defRPr>
            </a:pPr>
            <a:r>
              <a:rPr sz="1400" dirty="0">
                <a:latin typeface="Avenir Next" panose="020B0503020202020204" pitchFamily="34" charset="0"/>
              </a:rPr>
              <a:t>SEBI (active dilution): value-chain disclosure deferred &amp; narrowed; 'assessment or assurance’ </a:t>
            </a:r>
            <a:r>
              <a:rPr lang="en-US" sz="1400" dirty="0">
                <a:latin typeface="Avenir Next" panose="020B0503020202020204" pitchFamily="34" charset="0"/>
              </a:rPr>
              <a:t>choice replaces earlier</a:t>
            </a:r>
            <a:r>
              <a:rPr sz="1400" dirty="0">
                <a:latin typeface="Avenir Next" panose="020B0503020202020204" pitchFamily="34" charset="0"/>
              </a:rPr>
              <a:t> mandatory assurance.</a:t>
            </a:r>
            <a:endParaRPr lang="en-US" sz="1400" dirty="0">
              <a:latin typeface="Avenir Next" panose="020B0503020202020204" pitchFamily="34" charset="0"/>
            </a:endParaRPr>
          </a:p>
          <a:p>
            <a:pPr marL="171450" indent="-171450" algn="l">
              <a:spcAft>
                <a:spcPts val="300"/>
              </a:spcAft>
              <a:buFont typeface="Arial" panose="020B0604020202020204" pitchFamily="34" charset="0"/>
              <a:buChar char="•"/>
              <a:defRPr sz="1100" b="0">
                <a:solidFill>
                  <a:srgbClr val="3A3A4A"/>
                </a:solidFill>
                <a:latin typeface="Calibri"/>
              </a:defRPr>
            </a:pPr>
            <a:r>
              <a:rPr sz="1400" dirty="0">
                <a:latin typeface="Avenir Next" panose="020B0503020202020204" pitchFamily="34" charset="0"/>
              </a:rPr>
              <a:t>MCA</a:t>
            </a:r>
            <a:r>
              <a:rPr lang="en-US" sz="1400" dirty="0">
                <a:latin typeface="Avenir Next" panose="020B0503020202020204" pitchFamily="34" charset="0"/>
              </a:rPr>
              <a:t> </a:t>
            </a:r>
            <a:r>
              <a:rPr sz="1400" dirty="0">
                <a:latin typeface="Avenir Next" panose="020B0503020202020204" pitchFamily="34" charset="0"/>
              </a:rPr>
              <a:t>Rejected all Parliamentary Standing Committee recommendations for ESG oversight body, turnover-based penalties</a:t>
            </a:r>
            <a:r>
              <a:rPr lang="en-US" sz="1400" dirty="0">
                <a:latin typeface="Avenir Next" panose="020B0503020202020204" pitchFamily="34" charset="0"/>
              </a:rPr>
              <a:t>.</a:t>
            </a:r>
            <a:endParaRPr sz="1400" dirty="0">
              <a:latin typeface="Avenir Next" panose="020B0503020202020204" pitchFamily="34" charset="0"/>
            </a:endParaRPr>
          </a:p>
        </p:txBody>
      </p:sp>
      <p:sp>
        <p:nvSpPr>
          <p:cNvPr id="61" name="Rounded Rectangle 15">
            <a:extLst>
              <a:ext uri="{FF2B5EF4-FFF2-40B4-BE49-F238E27FC236}">
                <a16:creationId xmlns:a16="http://schemas.microsoft.com/office/drawing/2014/main" id="{808FF99C-D07F-5110-36C6-B657D1432D84}"/>
              </a:ext>
            </a:extLst>
          </p:cNvPr>
          <p:cNvSpPr/>
          <p:nvPr/>
        </p:nvSpPr>
        <p:spPr>
          <a:xfrm>
            <a:off x="6547953" y="2781021"/>
            <a:ext cx="5116716" cy="1522359"/>
          </a:xfrm>
          <a:prstGeom prst="roundRect">
            <a:avLst/>
          </a:prstGeom>
          <a:solidFill>
            <a:srgbClr val="FFFFFF"/>
          </a:solidFill>
          <a:ln w="1270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63" name="Rounded Rectangle 16">
            <a:extLst>
              <a:ext uri="{FF2B5EF4-FFF2-40B4-BE49-F238E27FC236}">
                <a16:creationId xmlns:a16="http://schemas.microsoft.com/office/drawing/2014/main" id="{B21D5763-2C0D-7352-B501-5843DEDD9F5E}"/>
              </a:ext>
            </a:extLst>
          </p:cNvPr>
          <p:cNvSpPr/>
          <p:nvPr/>
        </p:nvSpPr>
        <p:spPr>
          <a:xfrm>
            <a:off x="6003191" y="2816084"/>
            <a:ext cx="594360" cy="290020"/>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sz="1000" dirty="0">
                <a:solidFill>
                  <a:schemeClr val="tx1"/>
                </a:solidFill>
                <a:latin typeface="Avenir Next" panose="020B0503020202020204" pitchFamily="34" charset="0"/>
              </a:rPr>
              <a:t>Gap </a:t>
            </a:r>
            <a:r>
              <a:rPr lang="en-US" sz="1000" dirty="0">
                <a:solidFill>
                  <a:schemeClr val="tx1"/>
                </a:solidFill>
                <a:latin typeface="Avenir Next" panose="020B0503020202020204" pitchFamily="34" charset="0"/>
              </a:rPr>
              <a:t>4</a:t>
            </a:r>
            <a:endParaRPr sz="1000" dirty="0">
              <a:solidFill>
                <a:schemeClr val="tx1"/>
              </a:solidFill>
              <a:latin typeface="Avenir Next" panose="020B0503020202020204" pitchFamily="34" charset="0"/>
            </a:endParaRPr>
          </a:p>
        </p:txBody>
      </p:sp>
      <p:sp>
        <p:nvSpPr>
          <p:cNvPr id="65" name="TextBox 64">
            <a:extLst>
              <a:ext uri="{FF2B5EF4-FFF2-40B4-BE49-F238E27FC236}">
                <a16:creationId xmlns:a16="http://schemas.microsoft.com/office/drawing/2014/main" id="{89820C0F-6DBD-53D7-B497-75BEB030986F}"/>
              </a:ext>
            </a:extLst>
          </p:cNvPr>
          <p:cNvSpPr txBox="1"/>
          <p:nvPr/>
        </p:nvSpPr>
        <p:spPr>
          <a:xfrm>
            <a:off x="6597551" y="2899714"/>
            <a:ext cx="5069243" cy="1592744"/>
          </a:xfrm>
          <a:prstGeom prst="rect">
            <a:avLst/>
          </a:prstGeom>
          <a:noFill/>
        </p:spPr>
        <p:txBody>
          <a:bodyPr wrap="square" lIns="91440" tIns="45720" rIns="91440" bIns="45720" anchor="t">
            <a:spAutoFit/>
          </a:bodyPr>
          <a:lstStyle/>
          <a:p>
            <a:pPr>
              <a:spcAft>
                <a:spcPts val="300"/>
              </a:spcAft>
              <a:defRPr sz="1400" b="1">
                <a:solidFill>
                  <a:srgbClr val="095E4F"/>
                </a:solidFill>
                <a:latin typeface="Calibri"/>
              </a:defRPr>
            </a:pPr>
            <a:r>
              <a:rPr lang="en-US" dirty="0">
                <a:latin typeface="Avenir Next" panose="020B0503020202020204" pitchFamily="34" charset="0"/>
                <a:ea typeface="+mn-lt"/>
                <a:cs typeface="+mn-lt"/>
              </a:rPr>
              <a:t>Reactive enforcement &amp;</a:t>
            </a:r>
            <a:r>
              <a:rPr lang="en-US" dirty="0">
                <a:latin typeface="Avenir Next" panose="020B0503020202020204" pitchFamily="34" charset="0"/>
              </a:rPr>
              <a:t> </a:t>
            </a:r>
            <a:r>
              <a:rPr dirty="0">
                <a:latin typeface="Avenir Next" panose="020B0503020202020204" pitchFamily="34" charset="0"/>
              </a:rPr>
              <a:t>Surveillance Limitations</a:t>
            </a:r>
            <a:endParaRPr lang="en-US" sz="1600" dirty="0">
              <a:latin typeface="Avenir Next" panose="020B0503020202020204" pitchFamily="34" charset="0"/>
            </a:endParaRPr>
          </a:p>
          <a:p>
            <a:pPr marL="171450" indent="-171450" algn="l">
              <a:spcAft>
                <a:spcPts val="0"/>
              </a:spcAft>
              <a:buFont typeface="Arial" panose="020B0604020202020204" pitchFamily="34" charset="0"/>
              <a:buChar char="•"/>
              <a:defRPr sz="1100" b="0">
                <a:solidFill>
                  <a:srgbClr val="3A3A4A"/>
                </a:solidFill>
                <a:latin typeface="Calibri"/>
              </a:defRPr>
            </a:pPr>
            <a:r>
              <a:rPr sz="1400" dirty="0">
                <a:latin typeface="Avenir Next" panose="020B0503020202020204" pitchFamily="34" charset="0"/>
              </a:rPr>
              <a:t>Complaint-driven, reactive architecture — no proactive market scanning for environmental claims.</a:t>
            </a:r>
            <a:r>
              <a:rPr lang="en-US" sz="1400" dirty="0">
                <a:latin typeface="Avenir Next" panose="020B0503020202020204" pitchFamily="34" charset="0"/>
              </a:rPr>
              <a:t> </a:t>
            </a:r>
          </a:p>
          <a:p>
            <a:pPr marL="171450" indent="-171450" algn="l">
              <a:spcAft>
                <a:spcPts val="0"/>
              </a:spcAft>
              <a:buFont typeface="Arial" panose="020B0604020202020204" pitchFamily="34" charset="0"/>
              <a:buChar char="•"/>
              <a:defRPr sz="1100" b="0">
                <a:solidFill>
                  <a:srgbClr val="3A3A4A"/>
                </a:solidFill>
                <a:latin typeface="Calibri"/>
              </a:defRPr>
            </a:pPr>
            <a:r>
              <a:rPr lang="en-US" sz="1400" dirty="0">
                <a:latin typeface="Avenir Next" panose="020B0503020202020204" pitchFamily="34" charset="0"/>
              </a:rPr>
              <a:t>Consumer cases take 2–5 years for adjudication.</a:t>
            </a:r>
          </a:p>
          <a:p>
            <a:pPr marL="171450" indent="-171450">
              <a:buFont typeface="Arial" panose="020B0604020202020204" pitchFamily="34" charset="0"/>
              <a:buChar char="•"/>
              <a:defRPr sz="1100" b="0">
                <a:solidFill>
                  <a:srgbClr val="3A3A4A"/>
                </a:solidFill>
                <a:latin typeface="Calibri"/>
              </a:defRPr>
            </a:pPr>
            <a:r>
              <a:rPr lang="en-IN" sz="1400" dirty="0">
                <a:latin typeface="Avenir Next" panose="020B0503020202020204" pitchFamily="34" charset="0"/>
              </a:rPr>
              <a:t>No specialised technical expertise in carbon accounting or lifecycle assessment.</a:t>
            </a:r>
          </a:p>
          <a:p>
            <a:pPr marL="171450" indent="-171450" algn="l">
              <a:spcAft>
                <a:spcPts val="0"/>
              </a:spcAft>
              <a:buFont typeface="Arial" panose="020B0604020202020204" pitchFamily="34" charset="0"/>
              <a:buChar char="•"/>
              <a:defRPr sz="1100" b="0">
                <a:solidFill>
                  <a:srgbClr val="3A3A4A"/>
                </a:solidFill>
                <a:latin typeface="Calibri"/>
              </a:defRPr>
            </a:pPr>
            <a:endParaRPr lang="en-IN" sz="1200" dirty="0">
              <a:latin typeface="Avenir Next" panose="020B0503020202020204" pitchFamily="34" charset="0"/>
            </a:endParaRPr>
          </a:p>
        </p:txBody>
      </p:sp>
      <p:sp>
        <p:nvSpPr>
          <p:cNvPr id="66" name="TextBox 65"/>
          <p:cNvSpPr txBox="1"/>
          <p:nvPr/>
        </p:nvSpPr>
        <p:spPr>
          <a:xfrm>
            <a:off x="568904" y="6480952"/>
            <a:ext cx="11400000" cy="207749"/>
          </a:xfrm>
          <a:prstGeom prst="rect">
            <a:avLst/>
          </a:prstGeom>
          <a:noFill/>
        </p:spPr>
        <p:txBody>
          <a:bodyPr wrap="square" lIns="45720" tIns="22860" rIns="45720" bIns="22860" anchor="t">
            <a:spAutoFit/>
          </a:bodyPr>
          <a:lstStyle/>
          <a:p>
            <a:r>
              <a:rPr sz="1050" b="0" i="0" dirty="0">
                <a:solidFill>
                  <a:srgbClr val="6B6F6A"/>
                </a:solidFill>
                <a:latin typeface="Avenir Next"/>
              </a:rPr>
              <a:t>Research Question 6: </a:t>
            </a:r>
            <a:r>
              <a:rPr lang="en-IN" sz="1050" dirty="0">
                <a:ea typeface="+mn-lt"/>
                <a:cs typeface="+mn-lt"/>
              </a:rPr>
              <a:t>How do fragmentation, overlap, weak coordination, and limited enforcement in India's regulatory ecosystem, impede accountability for greenwashing?</a:t>
            </a:r>
            <a:endParaRPr lang="en-US" sz="1050" dirty="0">
              <a:ea typeface="+mn-lt"/>
              <a:cs typeface="+mn-lt"/>
            </a:endParaRPr>
          </a:p>
        </p:txBody>
      </p:sp>
    </p:spTree>
    <p:extLst>
      <p:ext uri="{BB962C8B-B14F-4D97-AF65-F5344CB8AC3E}">
        <p14:creationId xmlns:p14="http://schemas.microsoft.com/office/powerpoint/2010/main" val="3477384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8357" y="450000"/>
            <a:ext cx="11200000" cy="523220"/>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lang="en-US" sz="2800" dirty="0"/>
              <a:t>Comparative Study: What</a:t>
            </a:r>
            <a:r>
              <a:rPr sz="2800" dirty="0"/>
              <a:t> Stronger Jurisdictions Do Differently</a:t>
            </a:r>
          </a:p>
        </p:txBody>
      </p:sp>
      <p:graphicFrame>
        <p:nvGraphicFramePr>
          <p:cNvPr id="6" name="Table 5"/>
          <p:cNvGraphicFramePr>
            <a:graphicFrameLocks noGrp="1"/>
          </p:cNvGraphicFramePr>
          <p:nvPr>
            <p:extLst>
              <p:ext uri="{D42A27DB-BD31-4B8C-83A1-F6EECF244321}">
                <p14:modId xmlns:p14="http://schemas.microsoft.com/office/powerpoint/2010/main" val="2141061358"/>
              </p:ext>
            </p:extLst>
          </p:nvPr>
        </p:nvGraphicFramePr>
        <p:xfrm>
          <a:off x="627999" y="1193128"/>
          <a:ext cx="10835640" cy="374142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148840">
                  <a:extLst>
                    <a:ext uri="{9D8B030D-6E8A-4147-A177-3AD203B41FA5}">
                      <a16:colId xmlns:a16="http://schemas.microsoft.com/office/drawing/2014/main" val="20004"/>
                    </a:ext>
                  </a:extLst>
                </a:gridCol>
              </a:tblGrid>
              <a:tr h="601980">
                <a:tc>
                  <a:txBody>
                    <a:bodyPr/>
                    <a:lstStyle/>
                    <a:p>
                      <a:pPr algn="ctr">
                        <a:defRPr sz="1100" b="1">
                          <a:solidFill>
                            <a:srgbClr val="FFFFFF"/>
                          </a:solidFill>
                          <a:latin typeface="Avenir Next"/>
                        </a:defRPr>
                      </a:pPr>
                      <a:r>
                        <a:rPr sz="1600"/>
                        <a:t>Design element</a:t>
                      </a:r>
                    </a:p>
                  </a:txBody>
                  <a:tcPr>
                    <a:solidFill>
                      <a:srgbClr val="173F35"/>
                    </a:solidFill>
                  </a:tcPr>
                </a:tc>
                <a:tc>
                  <a:txBody>
                    <a:bodyPr/>
                    <a:lstStyle/>
                    <a:p>
                      <a:pPr algn="ctr">
                        <a:defRPr sz="1100" b="1">
                          <a:solidFill>
                            <a:srgbClr val="FFFFFF"/>
                          </a:solidFill>
                          <a:latin typeface="Avenir Next"/>
                        </a:defRPr>
                      </a:pPr>
                      <a:r>
                        <a:rPr sz="1600"/>
                        <a:t>European Union</a:t>
                      </a:r>
                    </a:p>
                  </a:txBody>
                  <a:tcPr>
                    <a:solidFill>
                      <a:srgbClr val="173F35"/>
                    </a:solidFill>
                  </a:tcPr>
                </a:tc>
                <a:tc>
                  <a:txBody>
                    <a:bodyPr/>
                    <a:lstStyle/>
                    <a:p>
                      <a:pPr algn="ctr">
                        <a:defRPr sz="1100" b="1">
                          <a:solidFill>
                            <a:srgbClr val="FFFFFF"/>
                          </a:solidFill>
                          <a:latin typeface="Avenir Next"/>
                        </a:defRPr>
                      </a:pPr>
                      <a:r>
                        <a:rPr sz="1600"/>
                        <a:t>United Kingdom</a:t>
                      </a:r>
                    </a:p>
                  </a:txBody>
                  <a:tcPr>
                    <a:solidFill>
                      <a:srgbClr val="173F35"/>
                    </a:solidFill>
                  </a:tcPr>
                </a:tc>
                <a:tc>
                  <a:txBody>
                    <a:bodyPr/>
                    <a:lstStyle/>
                    <a:p>
                      <a:pPr algn="ctr">
                        <a:defRPr sz="1100" b="1">
                          <a:solidFill>
                            <a:srgbClr val="FFFFFF"/>
                          </a:solidFill>
                          <a:latin typeface="Avenir Next"/>
                        </a:defRPr>
                      </a:pPr>
                      <a:r>
                        <a:rPr sz="1600" dirty="0"/>
                        <a:t>Australia</a:t>
                      </a:r>
                    </a:p>
                  </a:txBody>
                  <a:tcPr>
                    <a:solidFill>
                      <a:srgbClr val="173F35"/>
                    </a:solidFill>
                  </a:tcPr>
                </a:tc>
                <a:tc>
                  <a:txBody>
                    <a:bodyPr/>
                    <a:lstStyle/>
                    <a:p>
                      <a:pPr algn="ctr">
                        <a:defRPr sz="1100" b="1">
                          <a:solidFill>
                            <a:srgbClr val="FFFFFF"/>
                          </a:solidFill>
                          <a:latin typeface="Avenir Next"/>
                        </a:defRPr>
                      </a:pPr>
                      <a:r>
                        <a:rPr sz="1600"/>
                        <a:t>India</a:t>
                      </a:r>
                    </a:p>
                  </a:txBody>
                  <a:tcPr>
                    <a:solidFill>
                      <a:srgbClr val="173F35"/>
                    </a:solidFill>
                  </a:tcPr>
                </a:tc>
                <a:extLst>
                  <a:ext uri="{0D108BD9-81ED-4DB2-BD59-A6C34878D82A}">
                    <a16:rowId xmlns:a16="http://schemas.microsoft.com/office/drawing/2014/main" val="10000"/>
                  </a:ext>
                </a:extLst>
              </a:tr>
              <a:tr h="601980">
                <a:tc>
                  <a:txBody>
                    <a:bodyPr/>
                    <a:lstStyle/>
                    <a:p>
                      <a:pPr algn="l">
                        <a:defRPr sz="1050" b="1">
                          <a:solidFill>
                            <a:srgbClr val="2A2A2A"/>
                          </a:solidFill>
                          <a:latin typeface="Avenir Next"/>
                        </a:defRPr>
                      </a:pPr>
                      <a:r>
                        <a:rPr sz="1400"/>
                        <a:t>Board-level accountability</a:t>
                      </a:r>
                    </a:p>
                  </a:txBody>
                  <a:tcPr>
                    <a:solidFill>
                      <a:srgbClr val="FFFDF8"/>
                    </a:solidFill>
                  </a:tcPr>
                </a:tc>
                <a:tc>
                  <a:txBody>
                    <a:bodyPr/>
                    <a:lstStyle/>
                    <a:p>
                      <a:pPr algn="ctr">
                        <a:defRPr sz="1050" b="0">
                          <a:solidFill>
                            <a:srgbClr val="2A2A2A"/>
                          </a:solidFill>
                          <a:latin typeface="Avenir Next"/>
                        </a:defRPr>
                      </a:pPr>
                      <a:r>
                        <a:rPr sz="1400"/>
                        <a:t>Strong</a:t>
                      </a:r>
                    </a:p>
                  </a:txBody>
                  <a:tcPr>
                    <a:solidFill>
                      <a:srgbClr val="FFFDF8"/>
                    </a:solidFill>
                  </a:tcPr>
                </a:tc>
                <a:tc>
                  <a:txBody>
                    <a:bodyPr/>
                    <a:lstStyle/>
                    <a:p>
                      <a:pPr algn="ctr">
                        <a:defRPr sz="1050" b="0">
                          <a:solidFill>
                            <a:srgbClr val="2A2A2A"/>
                          </a:solidFill>
                          <a:latin typeface="Avenir Next"/>
                        </a:defRPr>
                      </a:pPr>
                      <a:r>
                        <a:rPr sz="1400"/>
                        <a:t>Strong</a:t>
                      </a:r>
                    </a:p>
                  </a:txBody>
                  <a:tcPr>
                    <a:solidFill>
                      <a:srgbClr val="FFFDF8"/>
                    </a:solidFill>
                  </a:tcPr>
                </a:tc>
                <a:tc>
                  <a:txBody>
                    <a:bodyPr/>
                    <a:lstStyle/>
                    <a:p>
                      <a:pPr algn="ctr">
                        <a:defRPr sz="1050" b="0">
                          <a:solidFill>
                            <a:srgbClr val="2A2A2A"/>
                          </a:solidFill>
                          <a:latin typeface="Avenir Next"/>
                        </a:defRPr>
                      </a:pPr>
                      <a:r>
                        <a:rPr sz="1400"/>
                        <a:t>Partial but real</a:t>
                      </a:r>
                    </a:p>
                  </a:txBody>
                  <a:tcPr>
                    <a:solidFill>
                      <a:srgbClr val="FFFDF8"/>
                    </a:solidFill>
                  </a:tcPr>
                </a:tc>
                <a:tc>
                  <a:txBody>
                    <a:bodyPr/>
                    <a:lstStyle/>
                    <a:p>
                      <a:pPr algn="ctr">
                        <a:defRPr sz="1050" b="0">
                          <a:solidFill>
                            <a:srgbClr val="173F35"/>
                          </a:solidFill>
                          <a:latin typeface="Avenir Next"/>
                        </a:defRPr>
                      </a:pPr>
                      <a:r>
                        <a:rPr sz="1400"/>
                        <a:t>Formal duty, rarely operational</a:t>
                      </a:r>
                    </a:p>
                  </a:txBody>
                  <a:tcPr>
                    <a:solidFill>
                      <a:srgbClr val="FFFDF8"/>
                    </a:solidFill>
                  </a:tcPr>
                </a:tc>
                <a:extLst>
                  <a:ext uri="{0D108BD9-81ED-4DB2-BD59-A6C34878D82A}">
                    <a16:rowId xmlns:a16="http://schemas.microsoft.com/office/drawing/2014/main" val="10001"/>
                  </a:ext>
                </a:extLst>
              </a:tr>
              <a:tr h="601980">
                <a:tc>
                  <a:txBody>
                    <a:bodyPr/>
                    <a:lstStyle/>
                    <a:p>
                      <a:pPr algn="l">
                        <a:defRPr sz="1050" b="1">
                          <a:solidFill>
                            <a:srgbClr val="2A2A2A"/>
                          </a:solidFill>
                          <a:latin typeface="Avenir Next"/>
                        </a:defRPr>
                      </a:pPr>
                      <a:r>
                        <a:rPr sz="1400"/>
                        <a:t>Integrated architecture</a:t>
                      </a:r>
                    </a:p>
                  </a:txBody>
                  <a:tcPr>
                    <a:solidFill>
                      <a:srgbClr val="E8EFE6"/>
                    </a:solidFill>
                  </a:tcPr>
                </a:tc>
                <a:tc>
                  <a:txBody>
                    <a:bodyPr/>
                    <a:lstStyle/>
                    <a:p>
                      <a:pPr algn="ctr">
                        <a:defRPr sz="1050" b="0">
                          <a:solidFill>
                            <a:srgbClr val="2A2A2A"/>
                          </a:solidFill>
                          <a:latin typeface="Avenir Next"/>
                        </a:defRPr>
                      </a:pPr>
                      <a:r>
                        <a:rPr sz="1400"/>
                        <a:t>Reporting + claims + enforcement</a:t>
                      </a:r>
                    </a:p>
                  </a:txBody>
                  <a:tcPr>
                    <a:solidFill>
                      <a:srgbClr val="E8EFE6"/>
                    </a:solidFill>
                  </a:tcPr>
                </a:tc>
                <a:tc>
                  <a:txBody>
                    <a:bodyPr/>
                    <a:lstStyle/>
                    <a:p>
                      <a:pPr algn="ctr">
                        <a:defRPr sz="1050" b="0">
                          <a:solidFill>
                            <a:srgbClr val="2A2A2A"/>
                          </a:solidFill>
                          <a:latin typeface="Avenir Next"/>
                        </a:defRPr>
                      </a:pPr>
                      <a:r>
                        <a:rPr sz="1400"/>
                        <a:t>FCA + CMA + company law</a:t>
                      </a:r>
                    </a:p>
                  </a:txBody>
                  <a:tcPr>
                    <a:solidFill>
                      <a:srgbClr val="E8EFE6"/>
                    </a:solidFill>
                  </a:tcPr>
                </a:tc>
                <a:tc>
                  <a:txBody>
                    <a:bodyPr/>
                    <a:lstStyle/>
                    <a:p>
                      <a:pPr algn="ctr">
                        <a:defRPr sz="1050" b="0">
                          <a:solidFill>
                            <a:srgbClr val="2A2A2A"/>
                          </a:solidFill>
                          <a:latin typeface="Avenir Next"/>
                        </a:defRPr>
                      </a:pPr>
                      <a:r>
                        <a:rPr sz="1400"/>
                        <a:t>Active regulator coordination</a:t>
                      </a:r>
                    </a:p>
                  </a:txBody>
                  <a:tcPr>
                    <a:solidFill>
                      <a:srgbClr val="E8EFE6"/>
                    </a:solidFill>
                  </a:tcPr>
                </a:tc>
                <a:tc>
                  <a:txBody>
                    <a:bodyPr/>
                    <a:lstStyle/>
                    <a:p>
                      <a:pPr algn="ctr">
                        <a:defRPr sz="1050" b="0">
                          <a:solidFill>
                            <a:srgbClr val="173F35"/>
                          </a:solidFill>
                          <a:latin typeface="Avenir Next"/>
                        </a:defRPr>
                      </a:pPr>
                      <a:r>
                        <a:rPr sz="1400"/>
                        <a:t>SEBI / CCPA / MCA remain siloed</a:t>
                      </a:r>
                    </a:p>
                  </a:txBody>
                  <a:tcPr>
                    <a:solidFill>
                      <a:srgbClr val="E8EFE6"/>
                    </a:solidFill>
                  </a:tcPr>
                </a:tc>
                <a:extLst>
                  <a:ext uri="{0D108BD9-81ED-4DB2-BD59-A6C34878D82A}">
                    <a16:rowId xmlns:a16="http://schemas.microsoft.com/office/drawing/2014/main" val="10002"/>
                  </a:ext>
                </a:extLst>
              </a:tr>
              <a:tr h="601980">
                <a:tc>
                  <a:txBody>
                    <a:bodyPr/>
                    <a:lstStyle/>
                    <a:p>
                      <a:pPr algn="l">
                        <a:defRPr sz="1050" b="1">
                          <a:solidFill>
                            <a:srgbClr val="2A2A2A"/>
                          </a:solidFill>
                          <a:latin typeface="Avenir Next"/>
                        </a:defRPr>
                      </a:pPr>
                      <a:r>
                        <a:rPr sz="1400"/>
                        <a:t>Third-party assurance</a:t>
                      </a:r>
                    </a:p>
                  </a:txBody>
                  <a:tcPr>
                    <a:solidFill>
                      <a:srgbClr val="FFFDF8"/>
                    </a:solidFill>
                  </a:tcPr>
                </a:tc>
                <a:tc>
                  <a:txBody>
                    <a:bodyPr/>
                    <a:lstStyle/>
                    <a:p>
                      <a:pPr algn="ctr">
                        <a:defRPr sz="1050" b="0">
                          <a:solidFill>
                            <a:srgbClr val="2A2A2A"/>
                          </a:solidFill>
                          <a:latin typeface="Avenir Next"/>
                        </a:defRPr>
                      </a:pPr>
                      <a:r>
                        <a:rPr sz="1400"/>
                        <a:t>Phased toward stronger assurance</a:t>
                      </a:r>
                    </a:p>
                  </a:txBody>
                  <a:tcPr>
                    <a:solidFill>
                      <a:srgbClr val="FFFDF8"/>
                    </a:solidFill>
                  </a:tcPr>
                </a:tc>
                <a:tc>
                  <a:txBody>
                    <a:bodyPr/>
                    <a:lstStyle/>
                    <a:p>
                      <a:pPr algn="ctr">
                        <a:defRPr sz="1050" b="0">
                          <a:solidFill>
                            <a:srgbClr val="2A2A2A"/>
                          </a:solidFill>
                          <a:latin typeface="Avenir Next"/>
                        </a:defRPr>
                      </a:pPr>
                      <a:r>
                        <a:rPr sz="1400"/>
                        <a:t>Developing</a:t>
                      </a:r>
                    </a:p>
                  </a:txBody>
                  <a:tcPr>
                    <a:solidFill>
                      <a:srgbClr val="FFFDF8"/>
                    </a:solidFill>
                  </a:tcPr>
                </a:tc>
                <a:tc>
                  <a:txBody>
                    <a:bodyPr/>
                    <a:lstStyle/>
                    <a:p>
                      <a:pPr algn="ctr">
                        <a:defRPr sz="1050" b="0">
                          <a:solidFill>
                            <a:srgbClr val="2A2A2A"/>
                          </a:solidFill>
                          <a:latin typeface="Avenir Next"/>
                        </a:defRPr>
                      </a:pPr>
                      <a:r>
                        <a:rPr sz="1400"/>
                        <a:t>Building toward mandatory climate assurance</a:t>
                      </a:r>
                    </a:p>
                  </a:txBody>
                  <a:tcPr>
                    <a:solidFill>
                      <a:srgbClr val="FFFDF8"/>
                    </a:solidFill>
                  </a:tcPr>
                </a:tc>
                <a:tc>
                  <a:txBody>
                    <a:bodyPr/>
                    <a:lstStyle/>
                    <a:p>
                      <a:pPr algn="ctr">
                        <a:defRPr sz="1050" b="0">
                          <a:solidFill>
                            <a:srgbClr val="173F35"/>
                          </a:solidFill>
                          <a:latin typeface="Avenir Next"/>
                        </a:defRPr>
                      </a:pPr>
                      <a:r>
                        <a:rPr sz="1400"/>
                        <a:t>Deferred or diluted</a:t>
                      </a:r>
                    </a:p>
                  </a:txBody>
                  <a:tcPr>
                    <a:solidFill>
                      <a:srgbClr val="FFFDF8"/>
                    </a:solidFill>
                  </a:tcPr>
                </a:tc>
                <a:extLst>
                  <a:ext uri="{0D108BD9-81ED-4DB2-BD59-A6C34878D82A}">
                    <a16:rowId xmlns:a16="http://schemas.microsoft.com/office/drawing/2014/main" val="10003"/>
                  </a:ext>
                </a:extLst>
              </a:tr>
              <a:tr h="601980">
                <a:tc>
                  <a:txBody>
                    <a:bodyPr/>
                    <a:lstStyle/>
                    <a:p>
                      <a:pPr algn="l">
                        <a:defRPr sz="1050" b="1">
                          <a:solidFill>
                            <a:srgbClr val="2A2A2A"/>
                          </a:solidFill>
                          <a:latin typeface="Avenir Next"/>
                        </a:defRPr>
                      </a:pPr>
                      <a:r>
                        <a:rPr sz="1400"/>
                        <a:t>Forward-looking claim controls</a:t>
                      </a:r>
                    </a:p>
                  </a:txBody>
                  <a:tcPr>
                    <a:solidFill>
                      <a:srgbClr val="E8EFE6"/>
                    </a:solidFill>
                  </a:tcPr>
                </a:tc>
                <a:tc>
                  <a:txBody>
                    <a:bodyPr/>
                    <a:lstStyle/>
                    <a:p>
                      <a:pPr algn="ctr">
                        <a:defRPr sz="1050" b="0">
                          <a:solidFill>
                            <a:srgbClr val="2A2A2A"/>
                          </a:solidFill>
                          <a:latin typeface="Avenir Next"/>
                        </a:defRPr>
                      </a:pPr>
                      <a:r>
                        <a:rPr sz="1400"/>
                        <a:t>Offsets and neutrality claims constrained</a:t>
                      </a:r>
                    </a:p>
                  </a:txBody>
                  <a:tcPr>
                    <a:solidFill>
                      <a:srgbClr val="E8EFE6"/>
                    </a:solidFill>
                  </a:tcPr>
                </a:tc>
                <a:tc>
                  <a:txBody>
                    <a:bodyPr/>
                    <a:lstStyle/>
                    <a:p>
                      <a:pPr algn="ctr">
                        <a:defRPr sz="1050" b="0">
                          <a:solidFill>
                            <a:srgbClr val="2A2A2A"/>
                          </a:solidFill>
                          <a:latin typeface="Avenir Next"/>
                        </a:defRPr>
                      </a:pPr>
                      <a:r>
                        <a:rPr sz="1400"/>
                        <a:t>Partial</a:t>
                      </a:r>
                    </a:p>
                  </a:txBody>
                  <a:tcPr>
                    <a:solidFill>
                      <a:srgbClr val="E8EFE6"/>
                    </a:solidFill>
                  </a:tcPr>
                </a:tc>
                <a:tc>
                  <a:txBody>
                    <a:bodyPr/>
                    <a:lstStyle/>
                    <a:p>
                      <a:pPr algn="ctr">
                        <a:defRPr sz="1050" b="0">
                          <a:solidFill>
                            <a:srgbClr val="2A2A2A"/>
                          </a:solidFill>
                          <a:latin typeface="Avenir Next"/>
                        </a:defRPr>
                      </a:pPr>
                      <a:r>
                        <a:rPr sz="1400"/>
                        <a:t>Emerging</a:t>
                      </a:r>
                    </a:p>
                  </a:txBody>
                  <a:tcPr>
                    <a:solidFill>
                      <a:srgbClr val="E8EFE6"/>
                    </a:solidFill>
                  </a:tcPr>
                </a:tc>
                <a:tc>
                  <a:txBody>
                    <a:bodyPr/>
                    <a:lstStyle/>
                    <a:p>
                      <a:pPr algn="ctr">
                        <a:defRPr sz="1050" b="0">
                          <a:solidFill>
                            <a:srgbClr val="173F35"/>
                          </a:solidFill>
                          <a:latin typeface="Avenir Next"/>
                        </a:defRPr>
                      </a:pPr>
                      <a:r>
                        <a:rPr sz="1400"/>
                        <a:t>Weak</a:t>
                      </a:r>
                    </a:p>
                  </a:txBody>
                  <a:tcPr>
                    <a:solidFill>
                      <a:srgbClr val="E8EFE6"/>
                    </a:solidFill>
                  </a:tcPr>
                </a:tc>
                <a:extLst>
                  <a:ext uri="{0D108BD9-81ED-4DB2-BD59-A6C34878D82A}">
                    <a16:rowId xmlns:a16="http://schemas.microsoft.com/office/drawing/2014/main" val="10004"/>
                  </a:ext>
                </a:extLst>
              </a:tr>
              <a:tr h="601980">
                <a:tc>
                  <a:txBody>
                    <a:bodyPr/>
                    <a:lstStyle/>
                    <a:p>
                      <a:pPr algn="l">
                        <a:defRPr sz="1050" b="1">
                          <a:solidFill>
                            <a:srgbClr val="2A2A2A"/>
                          </a:solidFill>
                          <a:latin typeface="Avenir Next"/>
                        </a:defRPr>
                      </a:pPr>
                      <a:r>
                        <a:rPr sz="1400"/>
                        <a:t>Proportionate penalties</a:t>
                      </a:r>
                    </a:p>
                  </a:txBody>
                  <a:tcPr>
                    <a:solidFill>
                      <a:srgbClr val="FFFDF8"/>
                    </a:solidFill>
                  </a:tcPr>
                </a:tc>
                <a:tc>
                  <a:txBody>
                    <a:bodyPr/>
                    <a:lstStyle/>
                    <a:p>
                      <a:pPr algn="ctr">
                        <a:defRPr sz="1050" b="0">
                          <a:solidFill>
                            <a:srgbClr val="2A2A2A"/>
                          </a:solidFill>
                          <a:latin typeface="Avenir Next"/>
                        </a:defRPr>
                      </a:pPr>
                      <a:r>
                        <a:rPr sz="1400"/>
                        <a:t>Turnover-linked</a:t>
                      </a:r>
                    </a:p>
                  </a:txBody>
                  <a:tcPr>
                    <a:solidFill>
                      <a:srgbClr val="FFFDF8"/>
                    </a:solidFill>
                  </a:tcPr>
                </a:tc>
                <a:tc>
                  <a:txBody>
                    <a:bodyPr/>
                    <a:lstStyle/>
                    <a:p>
                      <a:pPr algn="ctr">
                        <a:defRPr sz="1050" b="0">
                          <a:solidFill>
                            <a:srgbClr val="2A2A2A"/>
                          </a:solidFill>
                          <a:latin typeface="Avenir Next"/>
                        </a:defRPr>
                      </a:pPr>
                      <a:r>
                        <a:rPr sz="1400"/>
                        <a:t>Up to 10% global turnover</a:t>
                      </a:r>
                    </a:p>
                  </a:txBody>
                  <a:tcPr>
                    <a:solidFill>
                      <a:srgbClr val="FFFDF8"/>
                    </a:solidFill>
                  </a:tcPr>
                </a:tc>
                <a:tc>
                  <a:txBody>
                    <a:bodyPr/>
                    <a:lstStyle/>
                    <a:p>
                      <a:pPr algn="ctr">
                        <a:defRPr sz="1050" b="0">
                          <a:solidFill>
                            <a:srgbClr val="2A2A2A"/>
                          </a:solidFill>
                          <a:latin typeface="Avenir Next"/>
                        </a:defRPr>
                      </a:pPr>
                      <a:r>
                        <a:rPr sz="1400"/>
                        <a:t>High civil penalty exposure</a:t>
                      </a:r>
                    </a:p>
                  </a:txBody>
                  <a:tcPr>
                    <a:solidFill>
                      <a:srgbClr val="FFFDF8"/>
                    </a:solidFill>
                  </a:tcPr>
                </a:tc>
                <a:tc>
                  <a:txBody>
                    <a:bodyPr/>
                    <a:lstStyle/>
                    <a:p>
                      <a:pPr algn="ctr">
                        <a:defRPr sz="1050" b="0">
                          <a:solidFill>
                            <a:srgbClr val="173F35"/>
                          </a:solidFill>
                          <a:latin typeface="Avenir Next"/>
                        </a:defRPr>
                      </a:pPr>
                      <a:r>
                        <a:rPr sz="1400" dirty="0"/>
                        <a:t>Low fixed penalties dominate</a:t>
                      </a:r>
                    </a:p>
                  </a:txBody>
                  <a:tcPr>
                    <a:solidFill>
                      <a:srgbClr val="FFFDF8"/>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566928" y="6400800"/>
            <a:ext cx="1733167" cy="261610"/>
          </a:xfrm>
          <a:prstGeom prst="rect">
            <a:avLst/>
          </a:prstGeom>
          <a:noFill/>
        </p:spPr>
        <p:txBody>
          <a:bodyPr wrap="none" lIns="91440" tIns="45720" rIns="91440" bIns="45720" anchor="t">
            <a:spAutoFit/>
          </a:bodyPr>
          <a:lstStyle/>
          <a:p>
            <a:pPr>
              <a:defRPr sz="850">
                <a:solidFill>
                  <a:srgbClr val="6B6F6A"/>
                </a:solidFill>
                <a:latin typeface="Avenir Next"/>
              </a:defRPr>
            </a:pPr>
            <a:r>
              <a:rPr sz="1100" dirty="0">
                <a:latin typeface="Avenir Next" panose="020B0503020202020204" pitchFamily="34" charset="0"/>
              </a:rPr>
              <a:t>Source base: Chapter </a:t>
            </a:r>
            <a:r>
              <a:rPr lang="en-US" sz="1100" dirty="0">
                <a:latin typeface="Avenir Next" panose="020B0503020202020204" pitchFamily="34" charset="0"/>
              </a:rPr>
              <a:t>4.</a:t>
            </a:r>
          </a:p>
        </p:txBody>
      </p:sp>
      <p:sp>
        <p:nvSpPr>
          <p:cNvPr id="10" name="TextBox 9"/>
          <p:cNvSpPr txBox="1"/>
          <p:nvPr/>
        </p:nvSpPr>
        <p:spPr>
          <a:xfrm>
            <a:off x="608357" y="5039279"/>
            <a:ext cx="11200000" cy="692497"/>
          </a:xfrm>
          <a:prstGeom prst="rect">
            <a:avLst/>
          </a:prstGeom>
          <a:noFill/>
        </p:spPr>
        <p:txBody>
          <a:bodyPr wrap="square" lIns="45720" tIns="22860" rIns="45720" bIns="22860" anchor="t">
            <a:spAutoFit/>
          </a:bodyPr>
          <a:lstStyle/>
          <a:p>
            <a:r>
              <a:rPr sz="1400" b="0" i="0" dirty="0">
                <a:solidFill>
                  <a:srgbClr val="6B6F6A"/>
                </a:solidFill>
                <a:latin typeface="Avenir Next" panose="020B0503020202020204" pitchFamily="34" charset="0"/>
              </a:rPr>
              <a:t>Research Question 5:</a:t>
            </a:r>
            <a:r>
              <a:rPr lang="en-US" sz="1400" b="0" i="0" dirty="0">
                <a:solidFill>
                  <a:srgbClr val="6B6F6A"/>
                </a:solidFill>
                <a:latin typeface="Avenir Next" panose="020B0503020202020204" pitchFamily="34" charset="0"/>
              </a:rPr>
              <a:t> </a:t>
            </a:r>
            <a:r>
              <a:rPr lang="en-IN" sz="1400" dirty="0">
                <a:latin typeface="Avenir Next" panose="020B0503020202020204" pitchFamily="34" charset="0"/>
                <a:ea typeface="+mn-lt"/>
                <a:cs typeface="+mn-lt"/>
              </a:rPr>
              <a:t>What comparative regulatory models and enforcement techniques have emerged in other jurisdictions to control greenwashing, and what design lessons do they offer?</a:t>
            </a:r>
            <a:endParaRPr lang="en-US" sz="1400" dirty="0">
              <a:latin typeface="Avenir Next" panose="020B0503020202020204" pitchFamily="34" charset="0"/>
              <a:ea typeface="+mn-lt"/>
              <a:cs typeface="+mn-lt"/>
            </a:endParaRPr>
          </a:p>
          <a:p>
            <a:pPr algn="l"/>
            <a:endParaRPr sz="1400" b="0" i="0" dirty="0">
              <a:solidFill>
                <a:srgbClr val="6B6F6A"/>
              </a:solidFill>
              <a:latin typeface="Avenir Next" panose="020B0503020202020204" pitchFamily="34" charset="0"/>
            </a:endParaRPr>
          </a:p>
        </p:txBody>
      </p:sp>
      <p:sp>
        <p:nvSpPr>
          <p:cNvPr id="11" name="Rounded Rectangle 10"/>
          <p:cNvSpPr/>
          <p:nvPr/>
        </p:nvSpPr>
        <p:spPr>
          <a:xfrm>
            <a:off x="566928" y="5584335"/>
            <a:ext cx="10835640" cy="718176"/>
          </a:xfrm>
          <a:prstGeom prst="roundRect">
            <a:avLst>
              <a:gd name="adj" fmla="val 14000"/>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2400">
              <a:latin typeface="Avenir Next" panose="020B0503020202020204" pitchFamily="34" charset="0"/>
            </a:endParaRPr>
          </a:p>
        </p:txBody>
      </p:sp>
      <p:sp>
        <p:nvSpPr>
          <p:cNvPr id="12" name="TextBox 11"/>
          <p:cNvSpPr txBox="1"/>
          <p:nvPr/>
        </p:nvSpPr>
        <p:spPr>
          <a:xfrm>
            <a:off x="608357" y="5669391"/>
            <a:ext cx="10575640" cy="553998"/>
          </a:xfrm>
          <a:prstGeom prst="rect">
            <a:avLst/>
          </a:prstGeom>
          <a:noFill/>
        </p:spPr>
        <p:txBody>
          <a:bodyPr wrap="square" lIns="45720" tIns="22860" rIns="45720" bIns="22860" anchor="ctr">
            <a:spAutoFit/>
          </a:bodyPr>
          <a:lstStyle/>
          <a:p>
            <a:pPr algn="ctr"/>
            <a:r>
              <a:rPr sz="1100" b="1" i="0" dirty="0">
                <a:solidFill>
                  <a:srgbClr val="095E4F"/>
                </a:solidFill>
                <a:latin typeface="Avenir Next" panose="020B0503020202020204" pitchFamily="34" charset="0"/>
              </a:rPr>
              <a:t>Answer to RQ5:  </a:t>
            </a:r>
            <a:r>
              <a:rPr sz="1100" b="0" i="0" dirty="0">
                <a:solidFill>
                  <a:srgbClr val="3A3A4A"/>
                </a:solidFill>
                <a:latin typeface="Avenir Next" panose="020B0503020202020204" pitchFamily="34" charset="0"/>
              </a:rPr>
              <a:t>stronger systems are not stricter on paper, they are better sequenced. They ask for proof before the claim is published, add independent assurance, connect their regulators through automatic referral, and set penalties as a share of turnover so the claim never becomes cheaper than the truth. The next slide sets out the ten design features India can borrow.</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AFC"/>
        </a:solidFill>
        <a:effectLst/>
      </p:bgPr>
    </p:bg>
    <p:spTree>
      <p:nvGrpSpPr>
        <p:cNvPr id="1" name=""/>
        <p:cNvGrpSpPr/>
        <p:nvPr/>
      </p:nvGrpSpPr>
      <p:grpSpPr>
        <a:xfrm>
          <a:off x="0" y="0"/>
          <a:ext cx="0" cy="0"/>
          <a:chOff x="0" y="0"/>
          <a:chExt cx="0" cy="0"/>
        </a:xfrm>
      </p:grpSpPr>
      <p:sp>
        <p:nvSpPr>
          <p:cNvPr id="6" name="Rounded Rectangle 5"/>
          <p:cNvSpPr/>
          <p:nvPr/>
        </p:nvSpPr>
        <p:spPr>
          <a:xfrm>
            <a:off x="717224" y="1048852"/>
            <a:ext cx="5226376" cy="72081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7" name="Rounded Rectangle 6"/>
          <p:cNvSpPr/>
          <p:nvPr/>
        </p:nvSpPr>
        <p:spPr>
          <a:xfrm>
            <a:off x="500033" y="990131"/>
            <a:ext cx="348425" cy="311259"/>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latin typeface="Avenir Next" panose="020B0503020202020204" pitchFamily="34" charset="0"/>
              </a:rPr>
              <a:t>1</a:t>
            </a:r>
          </a:p>
        </p:txBody>
      </p:sp>
      <p:sp>
        <p:nvSpPr>
          <p:cNvPr id="8" name="TextBox 7"/>
          <p:cNvSpPr txBox="1"/>
          <p:nvPr/>
        </p:nvSpPr>
        <p:spPr>
          <a:xfrm>
            <a:off x="890016" y="1049380"/>
            <a:ext cx="4925568" cy="656590"/>
          </a:xfrm>
          <a:prstGeom prst="rect">
            <a:avLst/>
          </a:prstGeom>
          <a:noFill/>
        </p:spPr>
        <p:txBody>
          <a:bodyPr wrap="square">
            <a:spAutoFit/>
          </a:bodyPr>
          <a:lstStyle/>
          <a:p>
            <a:pPr algn="l">
              <a:spcAft>
                <a:spcPts val="200"/>
              </a:spcAft>
              <a:defRPr sz="1100" b="1">
                <a:solidFill>
                  <a:srgbClr val="095E4F"/>
                </a:solidFill>
                <a:latin typeface="Calibri"/>
              </a:defRPr>
            </a:pPr>
            <a:r>
              <a:rPr>
                <a:latin typeface="Avenir Next" panose="020B0503020202020204" pitchFamily="34" charset="0"/>
              </a:rPr>
              <a:t>Ex ante claim approval</a:t>
            </a:r>
          </a:p>
          <a:p>
            <a:pPr algn="l">
              <a:spcAft>
                <a:spcPts val="0"/>
              </a:spcAft>
              <a:defRPr sz="950" b="0">
                <a:solidFill>
                  <a:srgbClr val="3A3A4A"/>
                </a:solidFill>
                <a:latin typeface="Calibri"/>
              </a:defRPr>
            </a:pPr>
            <a:r>
              <a:rPr sz="1200">
                <a:latin typeface="Avenir Next" panose="020B0503020202020204" pitchFamily="34" charset="0"/>
              </a:rPr>
              <a:t>Independent 'Certificate of Conformity' before publication — EU GCD; Colombia Decree 1369.</a:t>
            </a:r>
          </a:p>
        </p:txBody>
      </p:sp>
      <p:sp>
        <p:nvSpPr>
          <p:cNvPr id="9" name="Rounded Rectangle 8"/>
          <p:cNvSpPr/>
          <p:nvPr/>
        </p:nvSpPr>
        <p:spPr>
          <a:xfrm>
            <a:off x="6203624" y="1048852"/>
            <a:ext cx="5226376" cy="759443"/>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10" name="Rounded Rectangle 9"/>
          <p:cNvSpPr/>
          <p:nvPr/>
        </p:nvSpPr>
        <p:spPr>
          <a:xfrm>
            <a:off x="5986433" y="990131"/>
            <a:ext cx="348425" cy="311259"/>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latin typeface="Avenir Next" panose="020B0503020202020204" pitchFamily="34" charset="0"/>
              </a:rPr>
              <a:t>2</a:t>
            </a:r>
          </a:p>
        </p:txBody>
      </p:sp>
      <p:sp>
        <p:nvSpPr>
          <p:cNvPr id="11" name="TextBox 10"/>
          <p:cNvSpPr txBox="1"/>
          <p:nvPr/>
        </p:nvSpPr>
        <p:spPr>
          <a:xfrm>
            <a:off x="6436423" y="1049380"/>
            <a:ext cx="4865561" cy="656590"/>
          </a:xfrm>
          <a:prstGeom prst="rect">
            <a:avLst/>
          </a:prstGeom>
          <a:noFill/>
        </p:spPr>
        <p:txBody>
          <a:bodyPr wrap="square">
            <a:spAutoFit/>
          </a:bodyPr>
          <a:lstStyle/>
          <a:p>
            <a:pPr algn="l">
              <a:spcAft>
                <a:spcPts val="200"/>
              </a:spcAft>
              <a:defRPr sz="1100" b="1">
                <a:solidFill>
                  <a:srgbClr val="095E4F"/>
                </a:solidFill>
                <a:latin typeface="Calibri"/>
              </a:defRPr>
            </a:pPr>
            <a:r>
              <a:rPr dirty="0">
                <a:latin typeface="Avenir Next" panose="020B0503020202020204" pitchFamily="34" charset="0"/>
              </a:rPr>
              <a:t>Mandatory third-party assurance</a:t>
            </a:r>
          </a:p>
          <a:p>
            <a:pPr algn="l">
              <a:spcAft>
                <a:spcPts val="0"/>
              </a:spcAft>
              <a:defRPr sz="950" b="0">
                <a:solidFill>
                  <a:srgbClr val="3A3A4A"/>
                </a:solidFill>
                <a:latin typeface="Calibri"/>
              </a:defRPr>
            </a:pPr>
            <a:r>
              <a:rPr sz="1200" dirty="0">
                <a:latin typeface="Avenir Next" panose="020B0503020202020204" pitchFamily="34" charset="0"/>
              </a:rPr>
              <a:t>Limited assurance from Year 1; escalating to reasonable (audit) assurance — EU CSRD; Australia AASB S2.</a:t>
            </a:r>
          </a:p>
        </p:txBody>
      </p:sp>
      <p:sp>
        <p:nvSpPr>
          <p:cNvPr id="12" name="Rounded Rectangle 11"/>
          <p:cNvSpPr/>
          <p:nvPr/>
        </p:nvSpPr>
        <p:spPr>
          <a:xfrm>
            <a:off x="717224" y="2097833"/>
            <a:ext cx="5226376" cy="821700"/>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13" name="Rounded Rectangle 12"/>
          <p:cNvSpPr/>
          <p:nvPr/>
        </p:nvSpPr>
        <p:spPr>
          <a:xfrm>
            <a:off x="500033" y="2039112"/>
            <a:ext cx="348425" cy="311259"/>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latin typeface="Avenir Next" panose="020B0503020202020204" pitchFamily="34" charset="0"/>
              </a:rPr>
              <a:t>3</a:t>
            </a:r>
          </a:p>
        </p:txBody>
      </p:sp>
      <p:sp>
        <p:nvSpPr>
          <p:cNvPr id="14" name="TextBox 13"/>
          <p:cNvSpPr txBox="1"/>
          <p:nvPr/>
        </p:nvSpPr>
        <p:spPr>
          <a:xfrm>
            <a:off x="890016" y="2098361"/>
            <a:ext cx="4925568" cy="841256"/>
          </a:xfrm>
          <a:prstGeom prst="rect">
            <a:avLst/>
          </a:prstGeom>
          <a:noFill/>
        </p:spPr>
        <p:txBody>
          <a:bodyPr wrap="square">
            <a:spAutoFit/>
          </a:bodyPr>
          <a:lstStyle/>
          <a:p>
            <a:pPr algn="l">
              <a:spcAft>
                <a:spcPts val="200"/>
              </a:spcAft>
              <a:defRPr sz="1100" b="1">
                <a:solidFill>
                  <a:srgbClr val="095E4F"/>
                </a:solidFill>
                <a:latin typeface="Calibri"/>
              </a:defRPr>
            </a:pPr>
            <a:r>
              <a:rPr>
                <a:latin typeface="Avenir Next" panose="020B0503020202020204" pitchFamily="34" charset="0"/>
              </a:rPr>
              <a:t>Double materiality</a:t>
            </a:r>
          </a:p>
          <a:p>
            <a:pPr algn="l">
              <a:spcAft>
                <a:spcPts val="0"/>
              </a:spcAft>
              <a:defRPr sz="950" b="0">
                <a:solidFill>
                  <a:srgbClr val="3A3A4A"/>
                </a:solidFill>
                <a:latin typeface="Calibri"/>
              </a:defRPr>
            </a:pPr>
            <a:r>
              <a:rPr sz="1200">
                <a:latin typeface="Avenir Next" panose="020B0503020202020204" pitchFamily="34" charset="0"/>
              </a:rPr>
              <a:t>Disclose how sustainability affects the firm AND how the firm affects the environment — EU CSRD/ESRS. Single-direction materiality enables selective disclosure.</a:t>
            </a:r>
          </a:p>
        </p:txBody>
      </p:sp>
      <p:sp>
        <p:nvSpPr>
          <p:cNvPr id="15" name="Rounded Rectangle 14"/>
          <p:cNvSpPr/>
          <p:nvPr/>
        </p:nvSpPr>
        <p:spPr>
          <a:xfrm>
            <a:off x="6203624" y="2097833"/>
            <a:ext cx="5226376" cy="856806"/>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16" name="Rounded Rectangle 15"/>
          <p:cNvSpPr/>
          <p:nvPr/>
        </p:nvSpPr>
        <p:spPr>
          <a:xfrm>
            <a:off x="5986433" y="2039112"/>
            <a:ext cx="348425" cy="311259"/>
          </a:xfrm>
          <a:prstGeom prst="roundRect">
            <a:avLst/>
          </a:prstGeom>
          <a:solidFill>
            <a:srgbClr val="0E8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latin typeface="Avenir Next" panose="020B0503020202020204" pitchFamily="34" charset="0"/>
              </a:rPr>
              <a:t>4</a:t>
            </a:r>
          </a:p>
        </p:txBody>
      </p:sp>
      <p:sp>
        <p:nvSpPr>
          <p:cNvPr id="17" name="TextBox 16"/>
          <p:cNvSpPr txBox="1"/>
          <p:nvPr/>
        </p:nvSpPr>
        <p:spPr>
          <a:xfrm>
            <a:off x="6436423" y="2098361"/>
            <a:ext cx="4865561" cy="841256"/>
          </a:xfrm>
          <a:prstGeom prst="rect">
            <a:avLst/>
          </a:prstGeom>
          <a:noFill/>
        </p:spPr>
        <p:txBody>
          <a:bodyPr wrap="square">
            <a:spAutoFit/>
          </a:bodyPr>
          <a:lstStyle/>
          <a:p>
            <a:pPr algn="l">
              <a:spcAft>
                <a:spcPts val="200"/>
              </a:spcAft>
              <a:defRPr sz="1100" b="1">
                <a:solidFill>
                  <a:srgbClr val="095E4F"/>
                </a:solidFill>
                <a:latin typeface="Calibri"/>
              </a:defRPr>
            </a:pPr>
            <a:r>
              <a:rPr dirty="0">
                <a:latin typeface="Avenir Next" panose="020B0503020202020204" pitchFamily="34" charset="0"/>
              </a:rPr>
              <a:t>Mandatory LCA for product claims</a:t>
            </a:r>
          </a:p>
          <a:p>
            <a:pPr algn="l">
              <a:spcAft>
                <a:spcPts val="0"/>
              </a:spcAft>
              <a:defRPr sz="950" b="0">
                <a:solidFill>
                  <a:srgbClr val="3A3A4A"/>
                </a:solidFill>
                <a:latin typeface="Calibri"/>
              </a:defRPr>
            </a:pPr>
            <a:r>
              <a:rPr sz="1200" dirty="0">
                <a:latin typeface="Avenir Next" panose="020B0503020202020204" pitchFamily="34" charset="0"/>
              </a:rPr>
              <a:t>Full lifecycle assessment — raw materials to end-of-life — required for any environmental product claim. EU GCD; UK Green Claims Code.</a:t>
            </a:r>
          </a:p>
        </p:txBody>
      </p:sp>
      <p:sp>
        <p:nvSpPr>
          <p:cNvPr id="18" name="Rounded Rectangle 17"/>
          <p:cNvSpPr/>
          <p:nvPr/>
        </p:nvSpPr>
        <p:spPr>
          <a:xfrm>
            <a:off x="717224" y="3185456"/>
            <a:ext cx="5226376" cy="841256"/>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19" name="Rounded Rectangle 18"/>
          <p:cNvSpPr/>
          <p:nvPr/>
        </p:nvSpPr>
        <p:spPr>
          <a:xfrm>
            <a:off x="500033" y="3126735"/>
            <a:ext cx="348425" cy="311259"/>
          </a:xfrm>
          <a:prstGeom prst="roundRect">
            <a:avLst/>
          </a:prstGeom>
          <a:solidFill>
            <a:srgbClr val="C48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latin typeface="Avenir Next" panose="020B0503020202020204" pitchFamily="34" charset="0"/>
              </a:rPr>
              <a:t>5</a:t>
            </a:r>
          </a:p>
        </p:txBody>
      </p:sp>
      <p:sp>
        <p:nvSpPr>
          <p:cNvPr id="20" name="TextBox 19"/>
          <p:cNvSpPr txBox="1"/>
          <p:nvPr/>
        </p:nvSpPr>
        <p:spPr>
          <a:xfrm>
            <a:off x="890016" y="3185984"/>
            <a:ext cx="4925568" cy="841256"/>
          </a:xfrm>
          <a:prstGeom prst="rect">
            <a:avLst/>
          </a:prstGeom>
          <a:noFill/>
        </p:spPr>
        <p:txBody>
          <a:bodyPr wrap="square">
            <a:spAutoFit/>
          </a:bodyPr>
          <a:lstStyle/>
          <a:p>
            <a:pPr algn="l">
              <a:spcAft>
                <a:spcPts val="200"/>
              </a:spcAft>
              <a:defRPr sz="1100" b="1">
                <a:solidFill>
                  <a:srgbClr val="095E4F"/>
                </a:solidFill>
                <a:latin typeface="Calibri"/>
              </a:defRPr>
            </a:pPr>
            <a:r>
              <a:rPr dirty="0">
                <a:latin typeface="Avenir Next" panose="020B0503020202020204" pitchFamily="34" charset="0"/>
              </a:rPr>
              <a:t>Mandatory Scope 3 reporting</a:t>
            </a:r>
          </a:p>
          <a:p>
            <a:pPr algn="l">
              <a:spcAft>
                <a:spcPts val="0"/>
              </a:spcAft>
              <a:defRPr sz="950" b="0">
                <a:solidFill>
                  <a:srgbClr val="3A3A4A"/>
                </a:solidFill>
                <a:latin typeface="Calibri"/>
              </a:defRPr>
            </a:pPr>
            <a:r>
              <a:rPr sz="1200" dirty="0">
                <a:latin typeface="Avenir Next" panose="020B0503020202020204" pitchFamily="34" charset="0"/>
              </a:rPr>
              <a:t>Supply-chain emissions cannot be excluded — hiding Scope 3 allows 'climate progress' claims while concealing largest source. EU CSRD; Australia AASB S2.</a:t>
            </a:r>
          </a:p>
        </p:txBody>
      </p:sp>
      <p:sp>
        <p:nvSpPr>
          <p:cNvPr id="21" name="Rounded Rectangle 20"/>
          <p:cNvSpPr/>
          <p:nvPr/>
        </p:nvSpPr>
        <p:spPr>
          <a:xfrm>
            <a:off x="6203624" y="3185456"/>
            <a:ext cx="5226376" cy="856806"/>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22" name="Rounded Rectangle 21"/>
          <p:cNvSpPr/>
          <p:nvPr/>
        </p:nvSpPr>
        <p:spPr>
          <a:xfrm>
            <a:off x="5986433" y="3126735"/>
            <a:ext cx="348425" cy="311259"/>
          </a:xfrm>
          <a:prstGeom prst="roundRect">
            <a:avLst/>
          </a:prstGeom>
          <a:solidFill>
            <a:srgbClr val="C48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latin typeface="Avenir Next" panose="020B0503020202020204" pitchFamily="34" charset="0"/>
              </a:rPr>
              <a:t>6</a:t>
            </a:r>
          </a:p>
        </p:txBody>
      </p:sp>
      <p:sp>
        <p:nvSpPr>
          <p:cNvPr id="23" name="TextBox 22"/>
          <p:cNvSpPr txBox="1"/>
          <p:nvPr/>
        </p:nvSpPr>
        <p:spPr>
          <a:xfrm>
            <a:off x="6436423" y="3185984"/>
            <a:ext cx="4865561" cy="841256"/>
          </a:xfrm>
          <a:prstGeom prst="rect">
            <a:avLst/>
          </a:prstGeom>
          <a:noFill/>
        </p:spPr>
        <p:txBody>
          <a:bodyPr wrap="square">
            <a:spAutoFit/>
          </a:bodyPr>
          <a:lstStyle/>
          <a:p>
            <a:pPr algn="l">
              <a:spcAft>
                <a:spcPts val="200"/>
              </a:spcAft>
              <a:defRPr sz="1100" b="1">
                <a:solidFill>
                  <a:srgbClr val="095E4F"/>
                </a:solidFill>
                <a:latin typeface="Calibri"/>
              </a:defRPr>
            </a:pPr>
            <a:r>
              <a:rPr dirty="0">
                <a:latin typeface="Avenir Next" panose="020B0503020202020204" pitchFamily="34" charset="0"/>
              </a:rPr>
              <a:t>Reversed burden of proof</a:t>
            </a:r>
          </a:p>
          <a:p>
            <a:pPr algn="l">
              <a:spcAft>
                <a:spcPts val="0"/>
              </a:spcAft>
              <a:defRPr sz="950" b="0">
                <a:solidFill>
                  <a:srgbClr val="3A3A4A"/>
                </a:solidFill>
                <a:latin typeface="Calibri"/>
              </a:defRPr>
            </a:pPr>
            <a:r>
              <a:rPr sz="1200" dirty="0">
                <a:latin typeface="Avenir Next" panose="020B0503020202020204" pitchFamily="34" charset="0"/>
              </a:rPr>
              <a:t>Company must affirmatively prove each claim — not the complainant. Canada Competition Act; Chile proposed bill; EU GCD.</a:t>
            </a:r>
          </a:p>
        </p:txBody>
      </p:sp>
      <p:sp>
        <p:nvSpPr>
          <p:cNvPr id="24" name="Rounded Rectangle 23"/>
          <p:cNvSpPr/>
          <p:nvPr/>
        </p:nvSpPr>
        <p:spPr>
          <a:xfrm>
            <a:off x="717224" y="4208684"/>
            <a:ext cx="5226376" cy="825698"/>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25" name="Rounded Rectangle 24"/>
          <p:cNvSpPr/>
          <p:nvPr/>
        </p:nvSpPr>
        <p:spPr>
          <a:xfrm>
            <a:off x="500033" y="4137084"/>
            <a:ext cx="348425" cy="311259"/>
          </a:xfrm>
          <a:prstGeom prst="roundRect">
            <a:avLst/>
          </a:prstGeom>
          <a:solidFill>
            <a:srgbClr val="C48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latin typeface="Avenir Next" panose="020B0503020202020204" pitchFamily="34" charset="0"/>
              </a:rPr>
              <a:t>7</a:t>
            </a:r>
          </a:p>
        </p:txBody>
      </p:sp>
      <p:sp>
        <p:nvSpPr>
          <p:cNvPr id="26" name="TextBox 25"/>
          <p:cNvSpPr txBox="1"/>
          <p:nvPr/>
        </p:nvSpPr>
        <p:spPr>
          <a:xfrm>
            <a:off x="890016" y="4183454"/>
            <a:ext cx="4925568" cy="841256"/>
          </a:xfrm>
          <a:prstGeom prst="rect">
            <a:avLst/>
          </a:prstGeom>
          <a:noFill/>
        </p:spPr>
        <p:txBody>
          <a:bodyPr wrap="square">
            <a:spAutoFit/>
          </a:bodyPr>
          <a:lstStyle/>
          <a:p>
            <a:pPr algn="l">
              <a:spcAft>
                <a:spcPts val="200"/>
              </a:spcAft>
              <a:defRPr sz="1100" b="1">
                <a:solidFill>
                  <a:srgbClr val="095E4F"/>
                </a:solidFill>
                <a:latin typeface="Calibri"/>
              </a:defRPr>
            </a:pPr>
            <a:r>
              <a:rPr dirty="0">
                <a:latin typeface="Avenir Next" panose="020B0503020202020204" pitchFamily="34" charset="0"/>
              </a:rPr>
              <a:t>Claim-specific substantiation</a:t>
            </a:r>
          </a:p>
          <a:p>
            <a:pPr algn="l">
              <a:spcAft>
                <a:spcPts val="0"/>
              </a:spcAft>
              <a:defRPr sz="950" b="0">
                <a:solidFill>
                  <a:srgbClr val="3A3A4A"/>
                </a:solidFill>
                <a:latin typeface="Calibri"/>
              </a:defRPr>
            </a:pPr>
            <a:r>
              <a:rPr sz="1200" dirty="0">
                <a:latin typeface="Avenir Next" panose="020B0503020202020204" pitchFamily="34" charset="0"/>
              </a:rPr>
              <a:t>'Carbon neutral' requires LCA + verified credit retirement + methodology disclosure. Generic standards are insufficient — FTC Green Guides; India CCPA 2024 (gap: no claim-specific detail).</a:t>
            </a:r>
          </a:p>
        </p:txBody>
      </p:sp>
      <p:sp>
        <p:nvSpPr>
          <p:cNvPr id="27" name="Rounded Rectangle 26"/>
          <p:cNvSpPr/>
          <p:nvPr/>
        </p:nvSpPr>
        <p:spPr>
          <a:xfrm>
            <a:off x="6203624" y="4208684"/>
            <a:ext cx="5226376" cy="72081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28" name="Rounded Rectangle 27"/>
          <p:cNvSpPr/>
          <p:nvPr/>
        </p:nvSpPr>
        <p:spPr>
          <a:xfrm>
            <a:off x="5986433" y="4137084"/>
            <a:ext cx="348425" cy="311259"/>
          </a:xfrm>
          <a:prstGeom prst="roundRect">
            <a:avLst/>
          </a:prstGeom>
          <a:solidFill>
            <a:srgbClr val="C48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latin typeface="Avenir Next" panose="020B0503020202020204" pitchFamily="34" charset="0"/>
              </a:rPr>
              <a:t>8</a:t>
            </a:r>
          </a:p>
        </p:txBody>
      </p:sp>
      <p:sp>
        <p:nvSpPr>
          <p:cNvPr id="29" name="TextBox 28"/>
          <p:cNvSpPr txBox="1"/>
          <p:nvPr/>
        </p:nvSpPr>
        <p:spPr>
          <a:xfrm>
            <a:off x="6436423" y="4234970"/>
            <a:ext cx="4865561" cy="656590"/>
          </a:xfrm>
          <a:prstGeom prst="rect">
            <a:avLst/>
          </a:prstGeom>
          <a:noFill/>
        </p:spPr>
        <p:txBody>
          <a:bodyPr wrap="square">
            <a:spAutoFit/>
          </a:bodyPr>
          <a:lstStyle/>
          <a:p>
            <a:pPr algn="l">
              <a:spcAft>
                <a:spcPts val="200"/>
              </a:spcAft>
              <a:defRPr sz="1100" b="1">
                <a:solidFill>
                  <a:srgbClr val="095E4F"/>
                </a:solidFill>
                <a:latin typeface="Calibri"/>
              </a:defRPr>
            </a:pPr>
            <a:r>
              <a:rPr dirty="0">
                <a:latin typeface="Avenir Next" panose="020B0503020202020204" pitchFamily="34" charset="0"/>
              </a:rPr>
              <a:t>Ban on vague generic claims</a:t>
            </a:r>
          </a:p>
          <a:p>
            <a:pPr algn="l">
              <a:spcAft>
                <a:spcPts val="0"/>
              </a:spcAft>
              <a:defRPr sz="950" b="0">
                <a:solidFill>
                  <a:srgbClr val="3A3A4A"/>
                </a:solidFill>
                <a:latin typeface="Calibri"/>
              </a:defRPr>
            </a:pPr>
            <a:r>
              <a:rPr sz="1200" dirty="0">
                <a:latin typeface="Avenir Next" panose="020B0503020202020204" pitchFamily="34" charset="0"/>
              </a:rPr>
              <a:t>'Eco-friendly,' 'sustainable,' 'green,' 'climate neutral' without evidence are prohibited — EU ECGT; UK CMA; FTC; CCPA 2024.</a:t>
            </a:r>
          </a:p>
        </p:txBody>
      </p:sp>
      <p:sp>
        <p:nvSpPr>
          <p:cNvPr id="30" name="Rounded Rectangle 29"/>
          <p:cNvSpPr/>
          <p:nvPr/>
        </p:nvSpPr>
        <p:spPr>
          <a:xfrm>
            <a:off x="717224" y="5231912"/>
            <a:ext cx="5226376" cy="72081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31" name="Rounded Rectangle 30"/>
          <p:cNvSpPr/>
          <p:nvPr/>
        </p:nvSpPr>
        <p:spPr>
          <a:xfrm>
            <a:off x="500033" y="5173191"/>
            <a:ext cx="348425" cy="311259"/>
          </a:xfrm>
          <a:prstGeom prst="round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a:latin typeface="Avenir Next" panose="020B0503020202020204" pitchFamily="34" charset="0"/>
              </a:rPr>
              <a:t>9</a:t>
            </a:r>
          </a:p>
        </p:txBody>
      </p:sp>
      <p:sp>
        <p:nvSpPr>
          <p:cNvPr id="32" name="TextBox 31"/>
          <p:cNvSpPr txBox="1"/>
          <p:nvPr/>
        </p:nvSpPr>
        <p:spPr>
          <a:xfrm>
            <a:off x="890016" y="5241584"/>
            <a:ext cx="4925568" cy="656590"/>
          </a:xfrm>
          <a:prstGeom prst="rect">
            <a:avLst/>
          </a:prstGeom>
          <a:noFill/>
        </p:spPr>
        <p:txBody>
          <a:bodyPr wrap="square">
            <a:spAutoFit/>
          </a:bodyPr>
          <a:lstStyle/>
          <a:p>
            <a:pPr algn="l">
              <a:spcAft>
                <a:spcPts val="200"/>
              </a:spcAft>
              <a:defRPr sz="1100" b="1">
                <a:solidFill>
                  <a:srgbClr val="095E4F"/>
                </a:solidFill>
                <a:latin typeface="Calibri"/>
              </a:defRPr>
            </a:pPr>
            <a:r>
              <a:rPr>
                <a:latin typeface="Avenir Next" panose="020B0503020202020204" pitchFamily="34" charset="0"/>
              </a:rPr>
              <a:t>Turnover-linked proportionate penalties</a:t>
            </a:r>
          </a:p>
          <a:p>
            <a:pPr algn="l">
              <a:spcAft>
                <a:spcPts val="0"/>
              </a:spcAft>
              <a:defRPr sz="950" b="0">
                <a:solidFill>
                  <a:srgbClr val="3A3A4A"/>
                </a:solidFill>
                <a:latin typeface="Calibri"/>
              </a:defRPr>
            </a:pPr>
            <a:r>
              <a:rPr sz="1200">
                <a:latin typeface="Avenir Next" panose="020B0503020202020204" pitchFamily="34" charset="0"/>
              </a:rPr>
              <a:t>EU ≥4% | UK 10% | Canada 3% worldwide revenues. Fixed / low-cap penalties (India ₹5L) are insufficient deterrents.</a:t>
            </a:r>
          </a:p>
        </p:txBody>
      </p:sp>
      <p:sp>
        <p:nvSpPr>
          <p:cNvPr id="33" name="Rounded Rectangle 32"/>
          <p:cNvSpPr/>
          <p:nvPr/>
        </p:nvSpPr>
        <p:spPr>
          <a:xfrm>
            <a:off x="6203624" y="5147433"/>
            <a:ext cx="5226376" cy="1110401"/>
          </a:xfrm>
          <a:prstGeom prst="roundRect">
            <a:avLst/>
          </a:prstGeom>
          <a:solidFill>
            <a:srgbClr val="FFFFFF"/>
          </a:solidFill>
          <a:ln w="10160">
            <a:solidFill>
              <a:srgbClr val="DE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latin typeface="Avenir Next" panose="020B0503020202020204" pitchFamily="34" charset="0"/>
            </a:endParaRPr>
          </a:p>
        </p:txBody>
      </p:sp>
      <p:sp>
        <p:nvSpPr>
          <p:cNvPr id="34" name="Rounded Rectangle 33"/>
          <p:cNvSpPr/>
          <p:nvPr/>
        </p:nvSpPr>
        <p:spPr>
          <a:xfrm>
            <a:off x="5986433" y="5083038"/>
            <a:ext cx="449990" cy="311259"/>
          </a:xfrm>
          <a:prstGeom prst="round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sz="1400" dirty="0">
                <a:latin typeface="Avenir Next" panose="020B0503020202020204" pitchFamily="34" charset="0"/>
              </a:rPr>
              <a:t>10</a:t>
            </a:r>
          </a:p>
        </p:txBody>
      </p:sp>
      <p:sp>
        <p:nvSpPr>
          <p:cNvPr id="35" name="TextBox 34"/>
          <p:cNvSpPr txBox="1"/>
          <p:nvPr/>
        </p:nvSpPr>
        <p:spPr>
          <a:xfrm>
            <a:off x="6436423" y="5232440"/>
            <a:ext cx="4865561" cy="1025922"/>
          </a:xfrm>
          <a:prstGeom prst="rect">
            <a:avLst/>
          </a:prstGeom>
          <a:noFill/>
        </p:spPr>
        <p:txBody>
          <a:bodyPr wrap="square">
            <a:spAutoFit/>
          </a:bodyPr>
          <a:lstStyle/>
          <a:p>
            <a:pPr algn="l">
              <a:spcAft>
                <a:spcPts val="200"/>
              </a:spcAft>
              <a:defRPr sz="1100" b="1">
                <a:solidFill>
                  <a:srgbClr val="095E4F"/>
                </a:solidFill>
                <a:latin typeface="Calibri"/>
              </a:defRPr>
            </a:pPr>
            <a:r>
              <a:rPr dirty="0">
                <a:latin typeface="Avenir Next" panose="020B0503020202020204" pitchFamily="34" charset="0"/>
              </a:rPr>
              <a:t>Coordinated multi-agency architecture</a:t>
            </a:r>
          </a:p>
          <a:p>
            <a:pPr algn="l">
              <a:spcAft>
                <a:spcPts val="0"/>
              </a:spcAft>
              <a:defRPr sz="950" b="0">
                <a:solidFill>
                  <a:srgbClr val="3A3A4A"/>
                </a:solidFill>
                <a:latin typeface="Calibri"/>
              </a:defRPr>
            </a:pPr>
            <a:r>
              <a:rPr sz="1200" dirty="0">
                <a:latin typeface="Avenir Next" panose="020B0503020202020204" pitchFamily="34" charset="0"/>
              </a:rPr>
              <a:t>Greenwashing crosses consumer, securities, environmental, and company law — requires automatic referral between agencies. EU model vs. India (CCPA / SEBI / MCA / </a:t>
            </a:r>
            <a:r>
              <a:rPr sz="1200" dirty="0" err="1">
                <a:latin typeface="Avenir Next" panose="020B0503020202020204" pitchFamily="34" charset="0"/>
              </a:rPr>
              <a:t>MoEFCC</a:t>
            </a:r>
            <a:r>
              <a:rPr sz="1200" dirty="0">
                <a:latin typeface="Avenir Next" panose="020B0503020202020204" pitchFamily="34" charset="0"/>
              </a:rPr>
              <a:t>: no formal referral mechanism).</a:t>
            </a:r>
          </a:p>
        </p:txBody>
      </p:sp>
      <p:sp>
        <p:nvSpPr>
          <p:cNvPr id="40" name="Rectangle 39">
            <a:extLst>
              <a:ext uri="{FF2B5EF4-FFF2-40B4-BE49-F238E27FC236}">
                <a16:creationId xmlns:a16="http://schemas.microsoft.com/office/drawing/2014/main" id="{9B9EF730-E284-2563-2D14-B3A471F88163}"/>
              </a:ext>
            </a:extLst>
          </p:cNvPr>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A5CE48DE-9B9C-AA29-E91A-BF63EFFB3466}"/>
              </a:ext>
            </a:extLst>
          </p:cNvPr>
          <p:cNvSpPr txBox="1"/>
          <p:nvPr/>
        </p:nvSpPr>
        <p:spPr>
          <a:xfrm>
            <a:off x="500033" y="377272"/>
            <a:ext cx="9886849" cy="523220"/>
          </a:xfrm>
          <a:prstGeom prst="rect">
            <a:avLst/>
          </a:prstGeom>
          <a:noFill/>
        </p:spPr>
        <p:txBody>
          <a:bodyPr wrap="square" lIns="91440" tIns="45720" rIns="91440" bIns="45720" anchor="t">
            <a:spAutoFit/>
          </a:bodyPr>
          <a:lstStyle/>
          <a:p>
            <a:pPr>
              <a:defRPr sz="2200" b="1">
                <a:solidFill>
                  <a:srgbClr val="173F35"/>
                </a:solidFill>
                <a:latin typeface="Avenir Next Demi Bold"/>
              </a:defRPr>
            </a:pPr>
            <a:r>
              <a:rPr lang="en-US" sz="2800" dirty="0">
                <a:ea typeface="+mn-lt"/>
                <a:cs typeface="+mn-lt"/>
              </a:rPr>
              <a:t>Comparative Benchmark — International Best Practices </a:t>
            </a:r>
            <a:endParaRPr lang="en-US" sz="2800" dirty="0"/>
          </a:p>
        </p:txBody>
      </p:sp>
      <p:sp>
        <p:nvSpPr>
          <p:cNvPr id="2" name="TextBox 1">
            <a:extLst>
              <a:ext uri="{FF2B5EF4-FFF2-40B4-BE49-F238E27FC236}">
                <a16:creationId xmlns:a16="http://schemas.microsoft.com/office/drawing/2014/main" id="{73CA1F73-E102-BBCB-2FBA-B5E42CCEA779}"/>
              </a:ext>
            </a:extLst>
          </p:cNvPr>
          <p:cNvSpPr txBox="1"/>
          <p:nvPr/>
        </p:nvSpPr>
        <p:spPr>
          <a:xfrm>
            <a:off x="386433" y="6396643"/>
            <a:ext cx="11200000" cy="384721"/>
          </a:xfrm>
          <a:prstGeom prst="rect">
            <a:avLst/>
          </a:prstGeom>
          <a:noFill/>
        </p:spPr>
        <p:txBody>
          <a:bodyPr wrap="square" lIns="45720" tIns="22860" rIns="45720" bIns="22860" anchor="t">
            <a:spAutoFit/>
          </a:bodyPr>
          <a:lstStyle/>
          <a:p>
            <a:r>
              <a:rPr sz="1100" b="0" i="0" dirty="0">
                <a:solidFill>
                  <a:srgbClr val="6B6F6A"/>
                </a:solidFill>
                <a:latin typeface="Avenir Next"/>
              </a:rPr>
              <a:t>Research Question 5:</a:t>
            </a:r>
            <a:r>
              <a:rPr lang="en-US" sz="1100" b="0" i="0" dirty="0">
                <a:solidFill>
                  <a:srgbClr val="6B6F6A"/>
                </a:solidFill>
                <a:latin typeface="Avenir Next"/>
              </a:rPr>
              <a:t> </a:t>
            </a:r>
            <a:r>
              <a:rPr lang="en-IN" sz="1100" dirty="0">
                <a:ea typeface="+mn-lt"/>
                <a:cs typeface="+mn-lt"/>
              </a:rPr>
              <a:t>What comparative regulatory models and enforcement techniques have emerged in other jurisdictions to control greenwashing, and what design lessons do they offer?</a:t>
            </a:r>
            <a:endParaRPr lang="en-US" sz="1100" dirty="0">
              <a:ea typeface="+mn-lt"/>
              <a:cs typeface="+mn-lt"/>
            </a:endParaRPr>
          </a:p>
          <a:p>
            <a:pPr algn="l"/>
            <a:endParaRPr sz="1100" b="0" i="0" dirty="0">
              <a:solidFill>
                <a:srgbClr val="6B6F6A"/>
              </a:solidFill>
              <a:latin typeface="Avenir Nex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173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96000" y="380000"/>
            <a:ext cx="11000000" cy="477054"/>
          </a:xfrm>
          <a:prstGeom prst="rect">
            <a:avLst/>
          </a:prstGeom>
          <a:noFill/>
        </p:spPr>
        <p:txBody>
          <a:bodyPr wrap="square" lIns="45720" tIns="22860" rIns="45720" bIns="22860" anchor="t">
            <a:spAutoFit/>
          </a:bodyPr>
          <a:lstStyle/>
          <a:p>
            <a:pPr algn="l"/>
            <a:r>
              <a:rPr sz="2800" b="1" i="0" dirty="0">
                <a:solidFill>
                  <a:srgbClr val="173F35"/>
                </a:solidFill>
                <a:latin typeface="Avenir Next Demi Bold"/>
              </a:rPr>
              <a:t>Research Question</a:t>
            </a:r>
            <a:r>
              <a:rPr lang="en-US" sz="2800" b="1" i="0" dirty="0">
                <a:solidFill>
                  <a:srgbClr val="173F35"/>
                </a:solidFill>
                <a:latin typeface="Avenir Next Demi Bold"/>
              </a:rPr>
              <a:t>s Addressed</a:t>
            </a:r>
            <a:endParaRPr sz="2800" b="1" i="0" dirty="0">
              <a:solidFill>
                <a:srgbClr val="173F35"/>
              </a:solidFill>
              <a:latin typeface="Avenir Next Demi Bold"/>
            </a:endParaRPr>
          </a:p>
        </p:txBody>
      </p:sp>
      <p:graphicFrame>
        <p:nvGraphicFramePr>
          <p:cNvPr id="5" name="Table 4"/>
          <p:cNvGraphicFramePr>
            <a:graphicFrameLocks noGrp="1"/>
          </p:cNvGraphicFramePr>
          <p:nvPr>
            <p:extLst>
              <p:ext uri="{D42A27DB-BD31-4B8C-83A1-F6EECF244321}">
                <p14:modId xmlns:p14="http://schemas.microsoft.com/office/powerpoint/2010/main" val="3120156225"/>
              </p:ext>
            </p:extLst>
          </p:nvPr>
        </p:nvGraphicFramePr>
        <p:xfrm>
          <a:off x="377059" y="943552"/>
          <a:ext cx="11407110" cy="5820919"/>
        </p:xfrm>
        <a:graphic>
          <a:graphicData uri="http://schemas.openxmlformats.org/drawingml/2006/table">
            <a:tbl>
              <a:tblPr firstRow="1">
                <a:tableStyleId>{5C22544A-7EE6-4342-B048-85BDC9FD1C3A}</a:tableStyleId>
              </a:tblPr>
              <a:tblGrid>
                <a:gridCol w="539245">
                  <a:extLst>
                    <a:ext uri="{9D8B030D-6E8A-4147-A177-3AD203B41FA5}">
                      <a16:colId xmlns:a16="http://schemas.microsoft.com/office/drawing/2014/main" val="20000"/>
                    </a:ext>
                  </a:extLst>
                </a:gridCol>
                <a:gridCol w="3505094">
                  <a:extLst>
                    <a:ext uri="{9D8B030D-6E8A-4147-A177-3AD203B41FA5}">
                      <a16:colId xmlns:a16="http://schemas.microsoft.com/office/drawing/2014/main" val="20001"/>
                    </a:ext>
                  </a:extLst>
                </a:gridCol>
                <a:gridCol w="933309">
                  <a:extLst>
                    <a:ext uri="{9D8B030D-6E8A-4147-A177-3AD203B41FA5}">
                      <a16:colId xmlns:a16="http://schemas.microsoft.com/office/drawing/2014/main" val="20002"/>
                    </a:ext>
                  </a:extLst>
                </a:gridCol>
                <a:gridCol w="6429462">
                  <a:extLst>
                    <a:ext uri="{9D8B030D-6E8A-4147-A177-3AD203B41FA5}">
                      <a16:colId xmlns:a16="http://schemas.microsoft.com/office/drawing/2014/main" val="20003"/>
                    </a:ext>
                  </a:extLst>
                </a:gridCol>
              </a:tblGrid>
              <a:tr h="360426">
                <a:tc>
                  <a:txBody>
                    <a:bodyPr/>
                    <a:lstStyle/>
                    <a:p>
                      <a:pPr algn="ctr"/>
                      <a:r>
                        <a:rPr sz="1100" b="1">
                          <a:solidFill>
                            <a:srgbClr val="FFFFFF"/>
                          </a:solidFill>
                          <a:latin typeface="Avenir Next" panose="020B0503020202020204" pitchFamily="34" charset="0"/>
                        </a:rPr>
                        <a:t>RQ</a:t>
                      </a:r>
                    </a:p>
                  </a:txBody>
                  <a:tcPr marL="82296" marR="82296" anchor="ctr">
                    <a:solidFill>
                      <a:srgbClr val="173F35"/>
                    </a:solidFill>
                  </a:tcPr>
                </a:tc>
                <a:tc>
                  <a:txBody>
                    <a:bodyPr/>
                    <a:lstStyle/>
                    <a:p>
                      <a:pPr algn="l"/>
                      <a:r>
                        <a:rPr sz="1100" b="1" dirty="0">
                          <a:solidFill>
                            <a:srgbClr val="FFFFFF"/>
                          </a:solidFill>
                          <a:latin typeface="Avenir Next" panose="020B0503020202020204" pitchFamily="34" charset="0"/>
                        </a:rPr>
                        <a:t>The question, in plain words</a:t>
                      </a:r>
                    </a:p>
                  </a:txBody>
                  <a:tcPr marL="82296" marR="82296" anchor="ctr">
                    <a:solidFill>
                      <a:srgbClr val="173F35"/>
                    </a:solidFill>
                  </a:tcPr>
                </a:tc>
                <a:tc>
                  <a:txBody>
                    <a:bodyPr/>
                    <a:lstStyle/>
                    <a:p>
                      <a:pPr algn="ctr"/>
                      <a:r>
                        <a:rPr sz="1100" b="1">
                          <a:solidFill>
                            <a:srgbClr val="FFFFFF"/>
                          </a:solidFill>
                          <a:latin typeface="Avenir Next" panose="020B0503020202020204" pitchFamily="34" charset="0"/>
                        </a:rPr>
                        <a:t>Slide</a:t>
                      </a:r>
                    </a:p>
                  </a:txBody>
                  <a:tcPr marL="82296" marR="82296" anchor="ctr">
                    <a:solidFill>
                      <a:srgbClr val="173F35"/>
                    </a:solidFill>
                  </a:tcPr>
                </a:tc>
                <a:tc>
                  <a:txBody>
                    <a:bodyPr/>
                    <a:lstStyle/>
                    <a:p>
                      <a:pPr algn="l"/>
                      <a:r>
                        <a:rPr sz="1100" b="1">
                          <a:solidFill>
                            <a:srgbClr val="FFFFFF"/>
                          </a:solidFill>
                          <a:latin typeface="Avenir Next" panose="020B0503020202020204" pitchFamily="34" charset="0"/>
                        </a:rPr>
                        <a:t>The short answer</a:t>
                      </a:r>
                    </a:p>
                  </a:txBody>
                  <a:tcPr marL="82296" marR="82296" anchor="ctr">
                    <a:solidFill>
                      <a:srgbClr val="173F35"/>
                    </a:solidFill>
                  </a:tcPr>
                </a:tc>
                <a:extLst>
                  <a:ext uri="{0D108BD9-81ED-4DB2-BD59-A6C34878D82A}">
                    <a16:rowId xmlns:a16="http://schemas.microsoft.com/office/drawing/2014/main" val="10000"/>
                  </a:ext>
                </a:extLst>
              </a:tr>
              <a:tr h="720853">
                <a:tc>
                  <a:txBody>
                    <a:bodyPr/>
                    <a:lstStyle/>
                    <a:p>
                      <a:pPr algn="ctr"/>
                      <a:r>
                        <a:rPr sz="1100" b="1">
                          <a:solidFill>
                            <a:srgbClr val="095E4F"/>
                          </a:solidFill>
                          <a:latin typeface="Avenir Next" panose="020B0503020202020204" pitchFamily="34" charset="0"/>
                        </a:rPr>
                        <a:t>1</a:t>
                      </a:r>
                    </a:p>
                  </a:txBody>
                  <a:tcPr marL="82296" marR="82296" anchor="ctr">
                    <a:solidFill>
                      <a:srgbClr val="FFF6EA"/>
                    </a:solidFill>
                  </a:tcPr>
                </a:tc>
                <a:tc>
                  <a:txBody>
                    <a:bodyPr/>
                    <a:lstStyle/>
                    <a:p>
                      <a:pPr algn="l"/>
                      <a:r>
                        <a:rPr lang="en-IN" sz="1100" b="0" dirty="0">
                          <a:solidFill>
                            <a:srgbClr val="3A3A4A"/>
                          </a:solidFill>
                          <a:latin typeface="Avenir Next" panose="020B0503020202020204" pitchFamily="34" charset="0"/>
                        </a:rPr>
                        <a:t>What is greenwashing, how has it evolved and what are its consequences?</a:t>
                      </a:r>
                    </a:p>
                  </a:txBody>
                  <a:tcPr marL="82296" marR="82296" anchor="ctr">
                    <a:solidFill>
                      <a:srgbClr val="FFF6EA"/>
                    </a:solidFill>
                  </a:tcPr>
                </a:tc>
                <a:tc>
                  <a:txBody>
                    <a:bodyPr/>
                    <a:lstStyle/>
                    <a:p>
                      <a:pPr algn="ctr"/>
                      <a:r>
                        <a:rPr sz="1100" b="0">
                          <a:solidFill>
                            <a:srgbClr val="095E4F"/>
                          </a:solidFill>
                          <a:latin typeface="Avenir Next" panose="020B0503020202020204" pitchFamily="34" charset="0"/>
                        </a:rPr>
                        <a:t>2–3</a:t>
                      </a:r>
                    </a:p>
                  </a:txBody>
                  <a:tcPr marL="82296" marR="82296" anchor="ctr">
                    <a:solidFill>
                      <a:srgbClr val="FFF6EA"/>
                    </a:solidFill>
                  </a:tcPr>
                </a:tc>
                <a:tc>
                  <a:txBody>
                    <a:bodyPr/>
                    <a:lstStyle/>
                    <a:p>
                      <a:pPr algn="l"/>
                      <a:r>
                        <a:rPr sz="1100" b="0" dirty="0">
                          <a:solidFill>
                            <a:srgbClr val="3A3A4A"/>
                          </a:solidFill>
                          <a:latin typeface="Avenir Next" panose="020B0503020202020204" pitchFamily="34" charset="0"/>
                        </a:rPr>
                        <a:t>It has moved from the product label to the balance sheet. The harm is misdirected capital, weaker market integrity and delayed climate action, not only a misled shopper.</a:t>
                      </a:r>
                    </a:p>
                  </a:txBody>
                  <a:tcPr marL="82296" marR="82296" anchor="ctr">
                    <a:solidFill>
                      <a:srgbClr val="FFF6EA"/>
                    </a:solidFill>
                  </a:tcPr>
                </a:tc>
                <a:extLst>
                  <a:ext uri="{0D108BD9-81ED-4DB2-BD59-A6C34878D82A}">
                    <a16:rowId xmlns:a16="http://schemas.microsoft.com/office/drawing/2014/main" val="10001"/>
                  </a:ext>
                </a:extLst>
              </a:tr>
              <a:tr h="720853">
                <a:tc>
                  <a:txBody>
                    <a:bodyPr/>
                    <a:lstStyle/>
                    <a:p>
                      <a:pPr algn="ctr"/>
                      <a:r>
                        <a:rPr sz="1100" b="1">
                          <a:solidFill>
                            <a:srgbClr val="095E4F"/>
                          </a:solidFill>
                          <a:latin typeface="Avenir Next" panose="020B0503020202020204" pitchFamily="34" charset="0"/>
                        </a:rPr>
                        <a:t>2</a:t>
                      </a:r>
                    </a:p>
                  </a:txBody>
                  <a:tcPr marL="82296" marR="82296" anchor="ctr">
                    <a:solidFill>
                      <a:srgbClr val="E8EFE6"/>
                    </a:solidFill>
                  </a:tcPr>
                </a:tc>
                <a:tc>
                  <a:txBody>
                    <a:bodyPr/>
                    <a:lstStyle/>
                    <a:p>
                      <a:pPr algn="l"/>
                      <a:r>
                        <a:rPr lang="en-IN" sz="1100" b="0" dirty="0">
                          <a:solidFill>
                            <a:srgbClr val="3A3A4A"/>
                          </a:solidFill>
                          <a:latin typeface="Avenir Next" panose="020B0503020202020204" pitchFamily="34" charset="0"/>
                        </a:rPr>
                        <a:t>What are the structural limitations of consumer protection and advertising law in addressing greenwashing and what legal pathways exist through corporate governance?</a:t>
                      </a:r>
                    </a:p>
                  </a:txBody>
                  <a:tcPr marL="82296" marR="82296" anchor="ctr">
                    <a:solidFill>
                      <a:srgbClr val="E8EFE6"/>
                    </a:solidFill>
                  </a:tcPr>
                </a:tc>
                <a:tc>
                  <a:txBody>
                    <a:bodyPr/>
                    <a:lstStyle/>
                    <a:p>
                      <a:pPr algn="ctr"/>
                      <a:r>
                        <a:rPr sz="1100" b="0">
                          <a:solidFill>
                            <a:srgbClr val="095E4F"/>
                          </a:solidFill>
                          <a:latin typeface="Avenir Next" panose="020B0503020202020204" pitchFamily="34" charset="0"/>
                        </a:rPr>
                        <a:t>13</a:t>
                      </a:r>
                    </a:p>
                  </a:txBody>
                  <a:tcPr marL="82296" marR="82296" anchor="ctr">
                    <a:solidFill>
                      <a:srgbClr val="E8EFE6"/>
                    </a:solidFill>
                  </a:tcPr>
                </a:tc>
                <a:tc>
                  <a:txBody>
                    <a:bodyPr/>
                    <a:lstStyle/>
                    <a:p>
                      <a:pPr algn="l"/>
                      <a:r>
                        <a:rPr sz="1100" b="0">
                          <a:solidFill>
                            <a:srgbClr val="3A3A4A"/>
                          </a:solidFill>
                          <a:latin typeface="Avenir Next" panose="020B0503020202020204" pitchFamily="34" charset="0"/>
                        </a:rPr>
                        <a:t>That law only reaches the claim after it is published. Company law reaches the board, the disclosure and the assurance that produced the claim.</a:t>
                      </a:r>
                    </a:p>
                  </a:txBody>
                  <a:tcPr marL="82296" marR="82296" anchor="ctr">
                    <a:solidFill>
                      <a:srgbClr val="E8EFE6"/>
                    </a:solidFill>
                  </a:tcPr>
                </a:tc>
                <a:extLst>
                  <a:ext uri="{0D108BD9-81ED-4DB2-BD59-A6C34878D82A}">
                    <a16:rowId xmlns:a16="http://schemas.microsoft.com/office/drawing/2014/main" val="10002"/>
                  </a:ext>
                </a:extLst>
              </a:tr>
              <a:tr h="720853">
                <a:tc>
                  <a:txBody>
                    <a:bodyPr/>
                    <a:lstStyle/>
                    <a:p>
                      <a:pPr algn="ctr"/>
                      <a:r>
                        <a:rPr sz="1100" b="1">
                          <a:solidFill>
                            <a:srgbClr val="095E4F"/>
                          </a:solidFill>
                          <a:latin typeface="Avenir Next" panose="020B0503020202020204" pitchFamily="34" charset="0"/>
                        </a:rPr>
                        <a:t>3</a:t>
                      </a:r>
                    </a:p>
                  </a:txBody>
                  <a:tcPr marL="82296" marR="82296" anchor="ctr">
                    <a:solidFill>
                      <a:srgbClr val="FFF6EA"/>
                    </a:solidFill>
                  </a:tcPr>
                </a:tc>
                <a:tc>
                  <a:txBody>
                    <a:bodyPr/>
                    <a:lstStyle/>
                    <a:p>
                      <a:pPr algn="l"/>
                      <a:r>
                        <a:rPr lang="en-IN" sz="1100" b="0" dirty="0">
                          <a:solidFill>
                            <a:srgbClr val="3A3A4A"/>
                          </a:solidFill>
                          <a:latin typeface="Avenir Next" panose="020B0503020202020204" pitchFamily="34" charset="0"/>
                        </a:rPr>
                        <a:t>What are the jurisprudential foundations of corporate responsibility that justify treating greenwashing as a failure of corporate accountability?</a:t>
                      </a:r>
                    </a:p>
                  </a:txBody>
                  <a:tcPr marL="82296" marR="82296" anchor="ctr">
                    <a:solidFill>
                      <a:srgbClr val="FFF6EA"/>
                    </a:solidFill>
                  </a:tcPr>
                </a:tc>
                <a:tc>
                  <a:txBody>
                    <a:bodyPr/>
                    <a:lstStyle/>
                    <a:p>
                      <a:pPr algn="ctr"/>
                      <a:r>
                        <a:rPr sz="1100" b="0">
                          <a:solidFill>
                            <a:srgbClr val="095E4F"/>
                          </a:solidFill>
                          <a:latin typeface="Avenir Next" panose="020B0503020202020204" pitchFamily="34" charset="0"/>
                        </a:rPr>
                        <a:t>9</a:t>
                      </a:r>
                    </a:p>
                  </a:txBody>
                  <a:tcPr marL="82296" marR="82296" anchor="ctr">
                    <a:solidFill>
                      <a:srgbClr val="FFF6EA"/>
                    </a:solidFill>
                  </a:tcPr>
                </a:tc>
                <a:tc>
                  <a:txBody>
                    <a:bodyPr/>
                    <a:lstStyle/>
                    <a:p>
                      <a:pPr algn="l"/>
                      <a:r>
                        <a:rPr sz="1100" b="0">
                          <a:solidFill>
                            <a:srgbClr val="3A3A4A"/>
                          </a:solidFill>
                          <a:latin typeface="Avenir Next" panose="020B0503020202020204" pitchFamily="34" charset="0"/>
                        </a:rPr>
                        <a:t>Read through Hohfeld, greenwashing is a breached duty, a misused managerial freedom and an exploited information advantage.</a:t>
                      </a:r>
                    </a:p>
                  </a:txBody>
                  <a:tcPr marL="82296" marR="82296" anchor="ctr">
                    <a:solidFill>
                      <a:srgbClr val="FFF6EA"/>
                    </a:solidFill>
                  </a:tcPr>
                </a:tc>
                <a:extLst>
                  <a:ext uri="{0D108BD9-81ED-4DB2-BD59-A6C34878D82A}">
                    <a16:rowId xmlns:a16="http://schemas.microsoft.com/office/drawing/2014/main" val="10003"/>
                  </a:ext>
                </a:extLst>
              </a:tr>
              <a:tr h="720853">
                <a:tc>
                  <a:txBody>
                    <a:bodyPr/>
                    <a:lstStyle/>
                    <a:p>
                      <a:pPr algn="ctr"/>
                      <a:r>
                        <a:rPr sz="1100" b="1">
                          <a:solidFill>
                            <a:srgbClr val="095E4F"/>
                          </a:solidFill>
                          <a:latin typeface="Avenir Next" panose="020B0503020202020204" pitchFamily="34" charset="0"/>
                        </a:rPr>
                        <a:t>4</a:t>
                      </a:r>
                    </a:p>
                  </a:txBody>
                  <a:tcPr marL="82296" marR="82296" anchor="ctr">
                    <a:solidFill>
                      <a:srgbClr val="E8EFE6"/>
                    </a:solidFill>
                  </a:tcPr>
                </a:tc>
                <a:tc>
                  <a:txBody>
                    <a:bodyPr/>
                    <a:lstStyle/>
                    <a:p>
                      <a:pPr algn="l"/>
                      <a:r>
                        <a:rPr lang="en-IN" sz="1100" b="0" dirty="0">
                          <a:solidFill>
                            <a:srgbClr val="3A3A4A"/>
                          </a:solidFill>
                          <a:latin typeface="Avenir Next" panose="020B0503020202020204" pitchFamily="34" charset="0"/>
                        </a:rPr>
                        <a:t>What duties of directors, disclosure obligations and assurance requirements, under Indian company and securities law, can ground liability for misleading environmental claims?</a:t>
                      </a:r>
                    </a:p>
                  </a:txBody>
                  <a:tcPr marL="82296" marR="82296" anchor="ctr">
                    <a:solidFill>
                      <a:srgbClr val="E8EFE6"/>
                    </a:solidFill>
                  </a:tcPr>
                </a:tc>
                <a:tc>
                  <a:txBody>
                    <a:bodyPr/>
                    <a:lstStyle/>
                    <a:p>
                      <a:pPr algn="ctr"/>
                      <a:r>
                        <a:rPr sz="1100" b="0">
                          <a:solidFill>
                            <a:srgbClr val="095E4F"/>
                          </a:solidFill>
                          <a:latin typeface="Avenir Next" panose="020B0503020202020204" pitchFamily="34" charset="0"/>
                        </a:rPr>
                        <a:t>11–12</a:t>
                      </a:r>
                    </a:p>
                  </a:txBody>
                  <a:tcPr marL="82296" marR="82296" anchor="ctr">
                    <a:solidFill>
                      <a:srgbClr val="E8EFE6"/>
                    </a:solidFill>
                  </a:tcPr>
                </a:tc>
                <a:tc>
                  <a:txBody>
                    <a:bodyPr/>
                    <a:lstStyle/>
                    <a:p>
                      <a:pPr algn="l"/>
                      <a:r>
                        <a:rPr sz="1100" b="0">
                          <a:solidFill>
                            <a:srgbClr val="3A3A4A"/>
                          </a:solidFill>
                          <a:latin typeface="Avenir Next" panose="020B0503020202020204" pitchFamily="34" charset="0"/>
                        </a:rPr>
                        <a:t>Section 166(2), SEBI's BRSR and BRSR Core, and PFUTP already exist. Narrow standing, small penalties and softened assurance stop them from being triggered.</a:t>
                      </a:r>
                    </a:p>
                  </a:txBody>
                  <a:tcPr marL="82296" marR="82296" anchor="ctr">
                    <a:solidFill>
                      <a:srgbClr val="E8EFE6"/>
                    </a:solidFill>
                  </a:tcPr>
                </a:tc>
                <a:extLst>
                  <a:ext uri="{0D108BD9-81ED-4DB2-BD59-A6C34878D82A}">
                    <a16:rowId xmlns:a16="http://schemas.microsoft.com/office/drawing/2014/main" val="10004"/>
                  </a:ext>
                </a:extLst>
              </a:tr>
              <a:tr h="720853">
                <a:tc>
                  <a:txBody>
                    <a:bodyPr/>
                    <a:lstStyle/>
                    <a:p>
                      <a:pPr algn="ctr"/>
                      <a:r>
                        <a:rPr sz="1100" b="1">
                          <a:solidFill>
                            <a:srgbClr val="095E4F"/>
                          </a:solidFill>
                          <a:latin typeface="Avenir Next" panose="020B0503020202020204" pitchFamily="34" charset="0"/>
                        </a:rPr>
                        <a:t>5</a:t>
                      </a:r>
                    </a:p>
                  </a:txBody>
                  <a:tcPr marL="82296" marR="82296" anchor="ctr">
                    <a:solidFill>
                      <a:srgbClr val="FFF6EA"/>
                    </a:solidFill>
                  </a:tcPr>
                </a:tc>
                <a:tc>
                  <a:txBody>
                    <a:bodyPr/>
                    <a:lstStyle/>
                    <a:p>
                      <a:pPr algn="l"/>
                      <a:r>
                        <a:rPr lang="en-IN" sz="1100" b="0" dirty="0">
                          <a:solidFill>
                            <a:srgbClr val="3A3A4A"/>
                          </a:solidFill>
                          <a:latin typeface="Avenir Next" panose="020B0503020202020204" pitchFamily="34" charset="0"/>
                        </a:rPr>
                        <a:t>What comparative regulatory models and enforcement techniques have emerged in other jurisdictions to control greenwashing and what design lessons do they offer?</a:t>
                      </a:r>
                    </a:p>
                  </a:txBody>
                  <a:tcPr marL="82296" marR="82296" anchor="ctr">
                    <a:solidFill>
                      <a:srgbClr val="FFF6EA"/>
                    </a:solidFill>
                  </a:tcPr>
                </a:tc>
                <a:tc>
                  <a:txBody>
                    <a:bodyPr/>
                    <a:lstStyle/>
                    <a:p>
                      <a:pPr algn="ctr"/>
                      <a:r>
                        <a:rPr sz="1100" b="0">
                          <a:solidFill>
                            <a:srgbClr val="095E4F"/>
                          </a:solidFill>
                          <a:latin typeface="Avenir Next" panose="020B0503020202020204" pitchFamily="34" charset="0"/>
                        </a:rPr>
                        <a:t>15, 17–18</a:t>
                      </a:r>
                    </a:p>
                  </a:txBody>
                  <a:tcPr marL="82296" marR="82296" anchor="ctr">
                    <a:solidFill>
                      <a:srgbClr val="FFF6EA"/>
                    </a:solidFill>
                  </a:tcPr>
                </a:tc>
                <a:tc>
                  <a:txBody>
                    <a:bodyPr/>
                    <a:lstStyle/>
                    <a:p>
                      <a:pPr algn="l"/>
                      <a:r>
                        <a:rPr sz="1100" b="0">
                          <a:solidFill>
                            <a:srgbClr val="3A3A4A"/>
                          </a:solidFill>
                          <a:latin typeface="Avenir Next" panose="020B0503020202020204" pitchFamily="34" charset="0"/>
                        </a:rPr>
                        <a:t>Ten design features, led by proof before publication, independent assurance, automatic referral between regulators and turnover-linked penalties.</a:t>
                      </a:r>
                    </a:p>
                  </a:txBody>
                  <a:tcPr marL="82296" marR="82296" anchor="ctr">
                    <a:solidFill>
                      <a:srgbClr val="FFF6EA"/>
                    </a:solidFill>
                  </a:tcPr>
                </a:tc>
                <a:extLst>
                  <a:ext uri="{0D108BD9-81ED-4DB2-BD59-A6C34878D82A}">
                    <a16:rowId xmlns:a16="http://schemas.microsoft.com/office/drawing/2014/main" val="10005"/>
                  </a:ext>
                </a:extLst>
              </a:tr>
              <a:tr h="720853">
                <a:tc>
                  <a:txBody>
                    <a:bodyPr/>
                    <a:lstStyle/>
                    <a:p>
                      <a:pPr algn="ctr"/>
                      <a:r>
                        <a:rPr sz="1100" b="1">
                          <a:solidFill>
                            <a:srgbClr val="095E4F"/>
                          </a:solidFill>
                          <a:latin typeface="Avenir Next" panose="020B0503020202020204" pitchFamily="34" charset="0"/>
                        </a:rPr>
                        <a:t>6</a:t>
                      </a:r>
                    </a:p>
                  </a:txBody>
                  <a:tcPr marL="82296" marR="82296" anchor="ctr">
                    <a:solidFill>
                      <a:srgbClr val="E8EFE6"/>
                    </a:solidFill>
                  </a:tcPr>
                </a:tc>
                <a:tc>
                  <a:txBody>
                    <a:bodyPr/>
                    <a:lstStyle/>
                    <a:p>
                      <a:pPr algn="l"/>
                      <a:r>
                        <a:rPr lang="en-IN" sz="1100" b="0" dirty="0">
                          <a:solidFill>
                            <a:srgbClr val="3A3A4A"/>
                          </a:solidFill>
                          <a:latin typeface="Avenir Next" panose="020B0503020202020204" pitchFamily="34" charset="0"/>
                        </a:rPr>
                        <a:t>How do fragmentation, overlap, weak coordination and limited enforcement in India’s regulatory ecosystem, impede accountability for greenwashing?</a:t>
                      </a:r>
                    </a:p>
                  </a:txBody>
                  <a:tcPr marL="82296" marR="82296" anchor="ctr">
                    <a:solidFill>
                      <a:srgbClr val="E8EFE6"/>
                    </a:solidFill>
                  </a:tcPr>
                </a:tc>
                <a:tc>
                  <a:txBody>
                    <a:bodyPr/>
                    <a:lstStyle/>
                    <a:p>
                      <a:pPr algn="ctr"/>
                      <a:r>
                        <a:rPr sz="1100" b="0">
                          <a:solidFill>
                            <a:srgbClr val="095E4F"/>
                          </a:solidFill>
                          <a:latin typeface="Avenir Next" panose="020B0503020202020204" pitchFamily="34" charset="0"/>
                        </a:rPr>
                        <a:t>10, 16</a:t>
                      </a:r>
                    </a:p>
                  </a:txBody>
                  <a:tcPr marL="82296" marR="82296" anchor="ctr">
                    <a:solidFill>
                      <a:srgbClr val="E8EFE6"/>
                    </a:solidFill>
                  </a:tcPr>
                </a:tc>
                <a:tc>
                  <a:txBody>
                    <a:bodyPr/>
                    <a:lstStyle/>
                    <a:p>
                      <a:pPr algn="l"/>
                      <a:r>
                        <a:rPr sz="1100" b="0">
                          <a:solidFill>
                            <a:srgbClr val="3A3A4A"/>
                          </a:solidFill>
                          <a:latin typeface="Avenir Next" panose="020B0503020202020204" pitchFamily="34" charset="0"/>
                        </a:rPr>
                        <a:t>Five structural gaps: fragmented definitions, unharmonised proliferation, active backsliding, reactive enforcement and penalty arbitrage.</a:t>
                      </a:r>
                    </a:p>
                  </a:txBody>
                  <a:tcPr marL="82296" marR="82296" anchor="ctr">
                    <a:solidFill>
                      <a:srgbClr val="E8EFE6"/>
                    </a:solidFill>
                  </a:tcPr>
                </a:tc>
                <a:extLst>
                  <a:ext uri="{0D108BD9-81ED-4DB2-BD59-A6C34878D82A}">
                    <a16:rowId xmlns:a16="http://schemas.microsoft.com/office/drawing/2014/main" val="10006"/>
                  </a:ext>
                </a:extLst>
              </a:tr>
              <a:tr h="848903">
                <a:tc>
                  <a:txBody>
                    <a:bodyPr/>
                    <a:lstStyle/>
                    <a:p>
                      <a:pPr algn="ctr"/>
                      <a:r>
                        <a:rPr sz="1100" b="1">
                          <a:solidFill>
                            <a:srgbClr val="095E4F"/>
                          </a:solidFill>
                          <a:latin typeface="Avenir Next" panose="020B0503020202020204" pitchFamily="34" charset="0"/>
                        </a:rPr>
                        <a:t>7</a:t>
                      </a:r>
                    </a:p>
                  </a:txBody>
                  <a:tcPr marL="82296" marR="82296" anchor="ctr">
                    <a:solidFill>
                      <a:srgbClr val="FFF6EA"/>
                    </a:solidFill>
                  </a:tcPr>
                </a:tc>
                <a:tc>
                  <a:txBody>
                    <a:bodyPr/>
                    <a:lstStyle/>
                    <a:p>
                      <a:pPr algn="l"/>
                      <a:r>
                        <a:rPr lang="en-IN" sz="1100" b="0" dirty="0">
                          <a:solidFill>
                            <a:srgbClr val="3A3A4A"/>
                          </a:solidFill>
                          <a:latin typeface="Avenir Next" panose="020B0503020202020204" pitchFamily="34" charset="0"/>
                        </a:rPr>
                        <a:t>What legal and policy recommendations can create an integrated liability</a:t>
                      </a:r>
                    </a:p>
                    <a:p>
                      <a:pPr algn="l"/>
                      <a:r>
                        <a:rPr lang="en-IN" sz="1100" b="0" dirty="0">
                          <a:solidFill>
                            <a:srgbClr val="3A3A4A"/>
                          </a:solidFill>
                          <a:latin typeface="Avenir Next" panose="020B0503020202020204" pitchFamily="34" charset="0"/>
                        </a:rPr>
                        <a:t>framework that holds corporations accountable for misleading environmental</a:t>
                      </a:r>
                    </a:p>
                    <a:p>
                      <a:pPr algn="l"/>
                      <a:r>
                        <a:rPr lang="en-IN" sz="1100" b="0" dirty="0">
                          <a:solidFill>
                            <a:srgbClr val="3A3A4A"/>
                          </a:solidFill>
                          <a:latin typeface="Avenir Next" panose="020B0503020202020204" pitchFamily="34" charset="0"/>
                        </a:rPr>
                        <a:t>claims?</a:t>
                      </a:r>
                    </a:p>
                  </a:txBody>
                  <a:tcPr marL="82296" marR="82296" anchor="ctr">
                    <a:solidFill>
                      <a:srgbClr val="FFF6EA"/>
                    </a:solidFill>
                  </a:tcPr>
                </a:tc>
                <a:tc>
                  <a:txBody>
                    <a:bodyPr/>
                    <a:lstStyle/>
                    <a:p>
                      <a:pPr algn="ctr"/>
                      <a:r>
                        <a:rPr sz="1100" b="0">
                          <a:solidFill>
                            <a:srgbClr val="095E4F"/>
                          </a:solidFill>
                          <a:latin typeface="Avenir Next" panose="020B0503020202020204" pitchFamily="34" charset="0"/>
                        </a:rPr>
                        <a:t>19–20</a:t>
                      </a:r>
                    </a:p>
                  </a:txBody>
                  <a:tcPr marL="82296" marR="82296" anchor="ctr">
                    <a:solidFill>
                      <a:srgbClr val="FFF6EA"/>
                    </a:solidFill>
                  </a:tcPr>
                </a:tc>
                <a:tc>
                  <a:txBody>
                    <a:bodyPr/>
                    <a:lstStyle/>
                    <a:p>
                      <a:pPr algn="l"/>
                      <a:r>
                        <a:rPr sz="1100" b="0" dirty="0">
                          <a:solidFill>
                            <a:srgbClr val="3A3A4A"/>
                          </a:solidFill>
                          <a:latin typeface="Avenir Next" panose="020B0503020202020204" pitchFamily="34" charset="0"/>
                        </a:rPr>
                        <a:t>Five system-level moves, plus specific levers inside the Companies Act, SEBI regulations and consumer law, shifting the law from reacting to preventing.</a:t>
                      </a:r>
                    </a:p>
                  </a:txBody>
                  <a:tcPr marL="82296" marR="82296" anchor="ctr">
                    <a:solidFill>
                      <a:srgbClr val="FFF6EA"/>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047954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39" y="340000"/>
            <a:ext cx="9500000" cy="520000"/>
          </a:xfrm>
          <a:prstGeom prst="rect">
            <a:avLst/>
          </a:prstGeom>
          <a:noFill/>
        </p:spPr>
        <p:txBody>
          <a:bodyPr wrap="square" lIns="0" tIns="0" rIns="0" bIns="0">
            <a:spAutoFit/>
          </a:bodyPr>
          <a:lstStyle/>
          <a:p>
            <a:pPr>
              <a:defRPr sz="2500" b="1">
                <a:solidFill>
                  <a:srgbClr val="173F35"/>
                </a:solidFill>
                <a:latin typeface="Avenir Next Demi Bold"/>
              </a:defRPr>
            </a:pPr>
            <a:r>
              <a:t>Testing of Hypotheses</a:t>
            </a:r>
          </a:p>
        </p:txBody>
      </p:sp>
      <p:sp>
        <p:nvSpPr>
          <p:cNvPr id="4" name="TextBox 3"/>
          <p:cNvSpPr txBox="1"/>
          <p:nvPr/>
        </p:nvSpPr>
        <p:spPr>
          <a:xfrm>
            <a:off x="548639" y="860000"/>
            <a:ext cx="11094722" cy="169277"/>
          </a:xfrm>
          <a:prstGeom prst="rect">
            <a:avLst/>
          </a:prstGeom>
          <a:noFill/>
        </p:spPr>
        <p:txBody>
          <a:bodyPr wrap="square" lIns="0" tIns="0" rIns="0" bIns="0">
            <a:spAutoFit/>
          </a:bodyPr>
          <a:lstStyle/>
          <a:p>
            <a:r>
              <a:rPr sz="1100" b="1" dirty="0">
                <a:solidFill>
                  <a:srgbClr val="173F35"/>
                </a:solidFill>
                <a:latin typeface="Avenir Next Demi Bold"/>
              </a:rPr>
              <a:t>Doctrinal &amp; </a:t>
            </a:r>
            <a:r>
              <a:rPr lang="en-IN" sz="1100" b="1" dirty="0">
                <a:solidFill>
                  <a:srgbClr val="173F35"/>
                </a:solidFill>
                <a:latin typeface="Avenir Next Demi Bold"/>
              </a:rPr>
              <a:t>Analytical </a:t>
            </a:r>
            <a:r>
              <a:rPr sz="1100" b="1" dirty="0">
                <a:solidFill>
                  <a:srgbClr val="173F35"/>
                </a:solidFill>
                <a:latin typeface="Avenir Next Demi Bold"/>
              </a:rPr>
              <a:t>Validity-Check</a:t>
            </a:r>
            <a:r>
              <a:rPr lang="en-US" sz="1100" b="1" dirty="0">
                <a:solidFill>
                  <a:srgbClr val="173F35"/>
                </a:solidFill>
                <a:latin typeface="Avenir Next Demi Bold"/>
              </a:rPr>
              <a:t>s</a:t>
            </a:r>
            <a:r>
              <a:rPr sz="1100" b="1" dirty="0">
                <a:solidFill>
                  <a:srgbClr val="173F35"/>
                </a:solidFill>
                <a:latin typeface="Avenir Next Demi Bold"/>
              </a:rPr>
              <a:t>: </a:t>
            </a:r>
            <a:r>
              <a:rPr sz="1100" dirty="0">
                <a:solidFill>
                  <a:srgbClr val="6B6F6A"/>
                </a:solidFill>
                <a:latin typeface="Avenir Next"/>
              </a:rPr>
              <a:t>Four-step structured </a:t>
            </a:r>
            <a:r>
              <a:rPr lang="en-US" sz="1100" dirty="0">
                <a:solidFill>
                  <a:srgbClr val="6B6F6A"/>
                </a:solidFill>
                <a:latin typeface="Avenir Next"/>
              </a:rPr>
              <a:t>validation</a:t>
            </a:r>
            <a:r>
              <a:rPr sz="1100" dirty="0">
                <a:solidFill>
                  <a:srgbClr val="6B6F6A"/>
                </a:solidFill>
                <a:latin typeface="Avenir Next"/>
              </a:rPr>
              <a:t> across Conceptual Scope, Duty-Power Allocation, Enforcement Pathway, and Rival Explanations</a:t>
            </a:r>
          </a:p>
        </p:txBody>
      </p:sp>
      <p:sp>
        <p:nvSpPr>
          <p:cNvPr id="5" name="Rounded Rectangle 4"/>
          <p:cNvSpPr/>
          <p:nvPr/>
        </p:nvSpPr>
        <p:spPr>
          <a:xfrm>
            <a:off x="400433" y="1156936"/>
            <a:ext cx="3683771" cy="4704956"/>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63498" y="1156936"/>
            <a:ext cx="3547872" cy="73152"/>
          </a:xfrm>
          <a:prstGeom prst="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3652" y="1403545"/>
            <a:ext cx="3154654" cy="1077218"/>
          </a:xfrm>
          <a:prstGeom prst="rect">
            <a:avLst/>
          </a:prstGeom>
          <a:noFill/>
        </p:spPr>
        <p:txBody>
          <a:bodyPr wrap="square" lIns="0" tIns="0" rIns="0" bIns="0">
            <a:spAutoFit/>
          </a:bodyPr>
          <a:lstStyle/>
          <a:p>
            <a:pPr>
              <a:spcAft>
                <a:spcPts val="200"/>
              </a:spcAft>
            </a:pPr>
            <a:r>
              <a:rPr sz="1400" b="1" dirty="0">
                <a:solidFill>
                  <a:srgbClr val="173F35"/>
                </a:solidFill>
                <a:latin typeface="Avenir Next Demi Bold"/>
              </a:rPr>
              <a:t>H₁: </a:t>
            </a:r>
            <a:r>
              <a:rPr lang="en-IN" sz="1400" b="1" dirty="0">
                <a:solidFill>
                  <a:srgbClr val="173F35"/>
                </a:solidFill>
                <a:latin typeface="Avenir Next Demi Bold"/>
              </a:rPr>
              <a:t>Greenwashing in India is primarily a consequence of weak corporate governance and the limited operationalisation of board-level environmental responsibility."</a:t>
            </a:r>
            <a:endParaRPr sz="1100" b="1" dirty="0">
              <a:solidFill>
                <a:srgbClr val="173F35"/>
              </a:solidFill>
              <a:latin typeface="Avenir Next Demi Bold"/>
            </a:endParaRPr>
          </a:p>
        </p:txBody>
      </p:sp>
      <p:sp>
        <p:nvSpPr>
          <p:cNvPr id="8" name="TextBox 7"/>
          <p:cNvSpPr txBox="1"/>
          <p:nvPr/>
        </p:nvSpPr>
        <p:spPr>
          <a:xfrm>
            <a:off x="653650" y="2685791"/>
            <a:ext cx="3154654" cy="3036216"/>
          </a:xfrm>
          <a:prstGeom prst="rect">
            <a:avLst/>
          </a:prstGeom>
          <a:noFill/>
        </p:spPr>
        <p:txBody>
          <a:bodyPr wrap="square" lIns="0" tIns="0" rIns="0" bIns="0">
            <a:spAutoFit/>
          </a:bodyPr>
          <a:lstStyle/>
          <a:p>
            <a:pPr>
              <a:lnSpc>
                <a:spcPct val="105000"/>
              </a:lnSpc>
              <a:spcAft>
                <a:spcPts val="500"/>
              </a:spcAft>
            </a:pPr>
            <a:r>
              <a:rPr sz="1100" b="1" dirty="0">
                <a:solidFill>
                  <a:srgbClr val="173F35"/>
                </a:solidFill>
                <a:latin typeface="Avenir Next" panose="020B0503020202020204" pitchFamily="34" charset="0"/>
              </a:rPr>
              <a:t>1. Conceptual Scope: </a:t>
            </a:r>
            <a:r>
              <a:rPr sz="1100" dirty="0">
                <a:solidFill>
                  <a:srgbClr val="2A2A2A"/>
                </a:solidFill>
                <a:latin typeface="Avenir Next" panose="020B0503020202020204" pitchFamily="34" charset="0"/>
              </a:rPr>
              <a:t>Extends beyond consumer ads to investor-facing disclosures (sustainability reports, BRSR, net-zero/transition narratives, </a:t>
            </a:r>
            <a:r>
              <a:rPr sz="1100" dirty="0" err="1">
                <a:solidFill>
                  <a:srgbClr val="2A2A2A"/>
                </a:solidFill>
                <a:latin typeface="Avenir Next" panose="020B0503020202020204" pitchFamily="34" charset="0"/>
              </a:rPr>
              <a:t>futurewashing</a:t>
            </a:r>
            <a:r>
              <a:rPr sz="1100" dirty="0">
                <a:solidFill>
                  <a:srgbClr val="2A2A2A"/>
                </a:solidFill>
                <a:latin typeface="Avenir Next" panose="020B0503020202020204" pitchFamily="34" charset="0"/>
              </a:rPr>
              <a:t>).</a:t>
            </a:r>
          </a:p>
          <a:p>
            <a:pPr>
              <a:lnSpc>
                <a:spcPct val="105000"/>
              </a:lnSpc>
              <a:spcAft>
                <a:spcPts val="500"/>
              </a:spcAft>
            </a:pPr>
            <a:r>
              <a:rPr sz="1100" b="1" dirty="0">
                <a:solidFill>
                  <a:srgbClr val="173F35"/>
                </a:solidFill>
                <a:latin typeface="Avenir Next" panose="020B0503020202020204" pitchFamily="34" charset="0"/>
              </a:rPr>
              <a:t>2. Duty Allocation: </a:t>
            </a:r>
            <a:r>
              <a:rPr sz="1100" dirty="0">
                <a:solidFill>
                  <a:srgbClr val="2A2A2A"/>
                </a:solidFill>
                <a:latin typeface="Avenir Next" panose="020B0503020202020204" pitchFamily="34" charset="0"/>
              </a:rPr>
              <a:t>Consumer law (CPA/ASCI) regulates ads without transferring onus to board decision-makers. Corporate governance is the proper locus for oversight.</a:t>
            </a:r>
          </a:p>
          <a:p>
            <a:pPr>
              <a:lnSpc>
                <a:spcPct val="105000"/>
              </a:lnSpc>
              <a:spcAft>
                <a:spcPts val="500"/>
              </a:spcAft>
            </a:pPr>
            <a:r>
              <a:rPr sz="1100" b="1" dirty="0">
                <a:solidFill>
                  <a:srgbClr val="173F35"/>
                </a:solidFill>
                <a:latin typeface="Avenir Next" panose="020B0503020202020204" pitchFamily="34" charset="0"/>
              </a:rPr>
              <a:t>3. Enforcement Pathway: </a:t>
            </a:r>
            <a:r>
              <a:rPr sz="1100" dirty="0">
                <a:solidFill>
                  <a:srgbClr val="2A2A2A"/>
                </a:solidFill>
                <a:latin typeface="Avenir Next" panose="020B0503020202020204" pitchFamily="34" charset="0"/>
              </a:rPr>
              <a:t>Consumer regime is reactive &amp; complaint-driven; corporate/securities pathways better reach upstream governance (board oversight, internal controls, assurance).</a:t>
            </a:r>
          </a:p>
          <a:p>
            <a:pPr>
              <a:lnSpc>
                <a:spcPct val="105000"/>
              </a:lnSpc>
              <a:spcAft>
                <a:spcPts val="500"/>
              </a:spcAft>
            </a:pPr>
            <a:r>
              <a:rPr sz="1100" b="1" dirty="0">
                <a:solidFill>
                  <a:srgbClr val="173F35"/>
                </a:solidFill>
                <a:latin typeface="Avenir Next" panose="020B0503020202020204" pitchFamily="34" charset="0"/>
              </a:rPr>
              <a:t>4. Rival Explanation: </a:t>
            </a:r>
            <a:r>
              <a:rPr sz="1100" dirty="0">
                <a:solidFill>
                  <a:srgbClr val="2A2A2A"/>
                </a:solidFill>
                <a:latin typeface="Avenir Next" panose="020B0503020202020204" pitchFamily="34" charset="0"/>
              </a:rPr>
              <a:t>MCA/SEBI possess misstatement powers, but the corporate governance framework for greenwashing remains jurisprudentially underdeveloped.</a:t>
            </a:r>
          </a:p>
        </p:txBody>
      </p:sp>
      <p:sp>
        <p:nvSpPr>
          <p:cNvPr id="9" name="Rounded Rectangle 8"/>
          <p:cNvSpPr/>
          <p:nvPr/>
        </p:nvSpPr>
        <p:spPr>
          <a:xfrm>
            <a:off x="4356643" y="1156936"/>
            <a:ext cx="3683771" cy="4704956"/>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25112" y="1156936"/>
            <a:ext cx="3547872" cy="73152"/>
          </a:xfrm>
          <a:prstGeom prst="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09862" y="1403545"/>
            <a:ext cx="3154654" cy="1464503"/>
          </a:xfrm>
          <a:prstGeom prst="rect">
            <a:avLst/>
          </a:prstGeom>
          <a:noFill/>
        </p:spPr>
        <p:txBody>
          <a:bodyPr wrap="square" lIns="0" tIns="0" rIns="0" bIns="0">
            <a:spAutoFit/>
          </a:bodyPr>
          <a:lstStyle/>
          <a:p>
            <a:pPr>
              <a:spcAft>
                <a:spcPts val="200"/>
              </a:spcAft>
            </a:pPr>
            <a:r>
              <a:rPr sz="1400" b="1" dirty="0">
                <a:solidFill>
                  <a:srgbClr val="173F35"/>
                </a:solidFill>
                <a:latin typeface="Avenir Next Demi Bold"/>
              </a:rPr>
              <a:t>H₂:</a:t>
            </a:r>
            <a:r>
              <a:rPr lang="en-US" sz="1400" b="1" dirty="0">
                <a:solidFill>
                  <a:srgbClr val="173F35"/>
                </a:solidFill>
                <a:latin typeface="Avenir Next Demi Bold"/>
              </a:rPr>
              <a:t> </a:t>
            </a:r>
            <a:r>
              <a:rPr lang="en-IN" sz="1400" b="1" dirty="0">
                <a:solidFill>
                  <a:srgbClr val="173F35"/>
                </a:solidFill>
                <a:latin typeface="Avenir Next Demi Bold"/>
              </a:rPr>
              <a:t>The existing legal framework does not impose sufficiently clear, stringent, and deterrent liability for misleading environmental disclosures, thereby enabling corporations to avoid meaningful accountability.</a:t>
            </a:r>
          </a:p>
          <a:p>
            <a:pPr>
              <a:spcAft>
                <a:spcPts val="200"/>
              </a:spcAft>
            </a:pPr>
            <a:endParaRPr sz="950" i="1" dirty="0">
              <a:solidFill>
                <a:srgbClr val="3A3A4A"/>
              </a:solidFill>
              <a:latin typeface="Avenir Next"/>
            </a:endParaRPr>
          </a:p>
        </p:txBody>
      </p:sp>
      <p:sp>
        <p:nvSpPr>
          <p:cNvPr id="12" name="TextBox 11"/>
          <p:cNvSpPr txBox="1"/>
          <p:nvPr/>
        </p:nvSpPr>
        <p:spPr>
          <a:xfrm>
            <a:off x="4609862" y="2796153"/>
            <a:ext cx="3263122" cy="3036216"/>
          </a:xfrm>
          <a:prstGeom prst="rect">
            <a:avLst/>
          </a:prstGeom>
          <a:noFill/>
        </p:spPr>
        <p:txBody>
          <a:bodyPr wrap="square" lIns="0" tIns="0" rIns="0" bIns="0">
            <a:spAutoFit/>
          </a:bodyPr>
          <a:lstStyle/>
          <a:p>
            <a:pPr>
              <a:lnSpc>
                <a:spcPct val="105000"/>
              </a:lnSpc>
              <a:spcAft>
                <a:spcPts val="500"/>
              </a:spcAft>
            </a:pPr>
            <a:r>
              <a:rPr sz="1100" b="1" dirty="0">
                <a:solidFill>
                  <a:srgbClr val="173F35"/>
                </a:solidFill>
                <a:latin typeface="Avenir Next" panose="020B0503020202020204" pitchFamily="34" charset="0"/>
              </a:rPr>
              <a:t>1. Conceptual Scope: </a:t>
            </a:r>
            <a:r>
              <a:rPr sz="1100" dirty="0">
                <a:solidFill>
                  <a:srgbClr val="2A2A2A"/>
                </a:solidFill>
                <a:latin typeface="Avenir Next" panose="020B0503020202020204" pitchFamily="34" charset="0"/>
              </a:rPr>
              <a:t>Tests whether legal costs exceed benefits across all 3 pillars (Company Law, Securities Law, Consumer Protection) rather than just ad fines.</a:t>
            </a:r>
          </a:p>
          <a:p>
            <a:pPr>
              <a:lnSpc>
                <a:spcPct val="105000"/>
              </a:lnSpc>
              <a:spcAft>
                <a:spcPts val="500"/>
              </a:spcAft>
            </a:pPr>
            <a:r>
              <a:rPr sz="1100" b="1" dirty="0">
                <a:solidFill>
                  <a:srgbClr val="173F35"/>
                </a:solidFill>
                <a:latin typeface="Avenir Next" panose="020B0503020202020204" pitchFamily="34" charset="0"/>
              </a:rPr>
              <a:t>2. Duty Allocation: </a:t>
            </a:r>
            <a:r>
              <a:rPr sz="1100" dirty="0">
                <a:solidFill>
                  <a:srgbClr val="2A2A2A"/>
                </a:solidFill>
                <a:latin typeface="Avenir Next" panose="020B0503020202020204" pitchFamily="34" charset="0"/>
              </a:rPr>
              <a:t>Duties exist, but ordinary liability routes are weak. § 166(2) lacks open standing (narrow §§ 241-244 route); consumer penalties (₹5L cap) lack deterrence.</a:t>
            </a:r>
          </a:p>
          <a:p>
            <a:pPr>
              <a:lnSpc>
                <a:spcPct val="105000"/>
              </a:lnSpc>
              <a:spcAft>
                <a:spcPts val="500"/>
              </a:spcAft>
            </a:pPr>
            <a:r>
              <a:rPr sz="1100" b="1" dirty="0">
                <a:solidFill>
                  <a:srgbClr val="173F35"/>
                </a:solidFill>
                <a:latin typeface="Avenir Next" panose="020B0503020202020204" pitchFamily="34" charset="0"/>
              </a:rPr>
              <a:t>3. Enforcement Pathway: </a:t>
            </a:r>
            <a:r>
              <a:rPr sz="1100" dirty="0">
                <a:solidFill>
                  <a:srgbClr val="2A2A2A"/>
                </a:solidFill>
                <a:latin typeface="Avenir Next" panose="020B0503020202020204" pitchFamily="34" charset="0"/>
              </a:rPr>
              <a:t>Detection is fragmented; weak verification raises proof burdens. </a:t>
            </a:r>
            <a:r>
              <a:rPr sz="1100" dirty="0" err="1">
                <a:solidFill>
                  <a:srgbClr val="2A2A2A"/>
                </a:solidFill>
                <a:latin typeface="Avenir Next" panose="020B0503020202020204" pitchFamily="34" charset="0"/>
              </a:rPr>
              <a:t>Hohfeldian</a:t>
            </a:r>
            <a:r>
              <a:rPr sz="1100" dirty="0">
                <a:solidFill>
                  <a:srgbClr val="2A2A2A"/>
                </a:solidFill>
                <a:latin typeface="Avenir Next" panose="020B0503020202020204" pitchFamily="34" charset="0"/>
              </a:rPr>
              <a:t> analysis: legal duties without accessible triggers fail to create real liability.</a:t>
            </a:r>
          </a:p>
          <a:p>
            <a:pPr>
              <a:lnSpc>
                <a:spcPct val="105000"/>
              </a:lnSpc>
              <a:spcAft>
                <a:spcPts val="500"/>
              </a:spcAft>
            </a:pPr>
            <a:r>
              <a:rPr sz="1100" b="1" dirty="0">
                <a:solidFill>
                  <a:srgbClr val="173F35"/>
                </a:solidFill>
                <a:latin typeface="Avenir Next" panose="020B0503020202020204" pitchFamily="34" charset="0"/>
              </a:rPr>
              <a:t>4. Rival Explanation: </a:t>
            </a:r>
            <a:r>
              <a:rPr sz="1100" dirty="0">
                <a:solidFill>
                  <a:srgbClr val="2A2A2A"/>
                </a:solidFill>
                <a:latin typeface="Avenir Next" panose="020B0503020202020204" pitchFamily="34" charset="0"/>
              </a:rPr>
              <a:t>Fraud provisions exist at margins, but are scattered across pillars, face high proof burdens, and lack a routine enforcement pathway.</a:t>
            </a:r>
          </a:p>
        </p:txBody>
      </p:sp>
      <p:sp>
        <p:nvSpPr>
          <p:cNvPr id="13" name="Rounded Rectangle 12"/>
          <p:cNvSpPr/>
          <p:nvPr/>
        </p:nvSpPr>
        <p:spPr>
          <a:xfrm>
            <a:off x="8281316" y="1156936"/>
            <a:ext cx="3683771" cy="4704956"/>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81317" y="1156936"/>
            <a:ext cx="3547872" cy="73152"/>
          </a:xfrm>
          <a:prstGeom prst="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34535" y="1403545"/>
            <a:ext cx="3154654" cy="1077218"/>
          </a:xfrm>
          <a:prstGeom prst="rect">
            <a:avLst/>
          </a:prstGeom>
          <a:noFill/>
        </p:spPr>
        <p:txBody>
          <a:bodyPr wrap="square" lIns="0" tIns="0" rIns="0" bIns="0">
            <a:spAutoFit/>
          </a:bodyPr>
          <a:lstStyle/>
          <a:p>
            <a:r>
              <a:rPr sz="1400" b="1" dirty="0">
                <a:solidFill>
                  <a:srgbClr val="173F35"/>
                </a:solidFill>
                <a:latin typeface="Avenir Next Demi Bold"/>
              </a:rPr>
              <a:t>H₃: </a:t>
            </a:r>
            <a:r>
              <a:rPr lang="en-IN" sz="1400" b="1" dirty="0">
                <a:solidFill>
                  <a:srgbClr val="173F35"/>
                </a:solidFill>
                <a:latin typeface="Avenir Next Demi Bold"/>
              </a:rPr>
              <a:t>In addressing the issue of greenwashing, the present legal mechanism involving different regulatory bodies is inchoate and incomplete.</a:t>
            </a:r>
          </a:p>
        </p:txBody>
      </p:sp>
      <p:sp>
        <p:nvSpPr>
          <p:cNvPr id="16" name="TextBox 15"/>
          <p:cNvSpPr txBox="1"/>
          <p:nvPr/>
        </p:nvSpPr>
        <p:spPr>
          <a:xfrm>
            <a:off x="8534535" y="2685791"/>
            <a:ext cx="3257032" cy="3036216"/>
          </a:xfrm>
          <a:prstGeom prst="rect">
            <a:avLst/>
          </a:prstGeom>
          <a:noFill/>
        </p:spPr>
        <p:txBody>
          <a:bodyPr wrap="square" lIns="0" tIns="0" rIns="0" bIns="0">
            <a:spAutoFit/>
          </a:bodyPr>
          <a:lstStyle/>
          <a:p>
            <a:pPr>
              <a:lnSpc>
                <a:spcPct val="105000"/>
              </a:lnSpc>
              <a:spcAft>
                <a:spcPts val="500"/>
              </a:spcAft>
            </a:pPr>
            <a:r>
              <a:rPr sz="1100" b="1" dirty="0">
                <a:solidFill>
                  <a:srgbClr val="173F35"/>
                </a:solidFill>
                <a:latin typeface="Avenir Next" panose="020B0503020202020204" pitchFamily="34" charset="0"/>
              </a:rPr>
              <a:t>1. Conceptual Scope: </a:t>
            </a:r>
            <a:r>
              <a:rPr sz="1100" dirty="0">
                <a:solidFill>
                  <a:srgbClr val="2A2A2A"/>
                </a:solidFill>
                <a:latin typeface="Avenir Next" panose="020B0503020202020204" pitchFamily="34" charset="0"/>
              </a:rPr>
              <a:t>Greenwashing is a lifecycle phenomenon crossing products, ads, annual reports, ESG filings, and green finance instruments.</a:t>
            </a:r>
          </a:p>
          <a:p>
            <a:pPr>
              <a:lnSpc>
                <a:spcPct val="105000"/>
              </a:lnSpc>
              <a:spcAft>
                <a:spcPts val="500"/>
              </a:spcAft>
            </a:pPr>
            <a:r>
              <a:rPr sz="1100" b="1" dirty="0">
                <a:solidFill>
                  <a:srgbClr val="173F35"/>
                </a:solidFill>
                <a:latin typeface="Avenir Next" panose="020B0503020202020204" pitchFamily="34" charset="0"/>
              </a:rPr>
              <a:t>2. Duty Allocation: </a:t>
            </a:r>
            <a:r>
              <a:rPr sz="1100" dirty="0">
                <a:solidFill>
                  <a:srgbClr val="2A2A2A"/>
                </a:solidFill>
                <a:latin typeface="Avenir Next" panose="020B0503020202020204" pitchFamily="34" charset="0"/>
              </a:rPr>
              <a:t>Multi-pillar allocation creates 'lifecycle gaps': identical claims face fragmented treatment and divergent evidentiary standards across venues.</a:t>
            </a:r>
          </a:p>
          <a:p>
            <a:pPr>
              <a:lnSpc>
                <a:spcPct val="105000"/>
              </a:lnSpc>
              <a:spcAft>
                <a:spcPts val="500"/>
              </a:spcAft>
            </a:pPr>
            <a:r>
              <a:rPr sz="1100" b="1" dirty="0">
                <a:solidFill>
                  <a:srgbClr val="173F35"/>
                </a:solidFill>
                <a:latin typeface="Avenir Next" panose="020B0503020202020204" pitchFamily="34" charset="0"/>
              </a:rPr>
              <a:t>3. Enforcement Pathway: </a:t>
            </a:r>
            <a:r>
              <a:rPr sz="1100" dirty="0">
                <a:solidFill>
                  <a:srgbClr val="2A2A2A"/>
                </a:solidFill>
                <a:latin typeface="Avenir Next" panose="020B0503020202020204" pitchFamily="34" charset="0"/>
              </a:rPr>
              <a:t>Architecture lacks lead-regulator designation, mandatory cross-referrals, joint investigation protocols, and shared verification baselines.</a:t>
            </a:r>
          </a:p>
          <a:p>
            <a:pPr>
              <a:lnSpc>
                <a:spcPct val="105000"/>
              </a:lnSpc>
              <a:spcAft>
                <a:spcPts val="500"/>
              </a:spcAft>
            </a:pPr>
            <a:r>
              <a:rPr sz="1100" b="1" dirty="0">
                <a:solidFill>
                  <a:srgbClr val="173F35"/>
                </a:solidFill>
                <a:latin typeface="Avenir Next" panose="020B0503020202020204" pitchFamily="34" charset="0"/>
              </a:rPr>
              <a:t>4. Rival Explanation: </a:t>
            </a:r>
            <a:r>
              <a:rPr sz="1100" dirty="0">
                <a:solidFill>
                  <a:srgbClr val="2A2A2A"/>
                </a:solidFill>
                <a:latin typeface="Avenir Next" panose="020B0503020202020204" pitchFamily="34" charset="0"/>
              </a:rPr>
              <a:t>Multiple regulators create strength only if </a:t>
            </a:r>
            <a:r>
              <a:rPr sz="1100" dirty="0" err="1">
                <a:solidFill>
                  <a:srgbClr val="2A2A2A"/>
                </a:solidFill>
                <a:latin typeface="Avenir Next" panose="020B0503020202020204" pitchFamily="34" charset="0"/>
              </a:rPr>
              <a:t>harmonised</a:t>
            </a:r>
            <a:r>
              <a:rPr sz="1100" dirty="0">
                <a:solidFill>
                  <a:srgbClr val="2A2A2A"/>
                </a:solidFill>
                <a:latin typeface="Avenir Next" panose="020B0503020202020204" pitchFamily="34" charset="0"/>
              </a:rPr>
              <a:t>; uncoordinated overlap produces forum-shopping, regulatory arbitrage, and 'orphan' cases.</a:t>
            </a:r>
          </a:p>
        </p:txBody>
      </p:sp>
      <p:sp>
        <p:nvSpPr>
          <p:cNvPr id="17" name="Rounded Rectangle 16"/>
          <p:cNvSpPr/>
          <p:nvPr/>
        </p:nvSpPr>
        <p:spPr>
          <a:xfrm>
            <a:off x="731520" y="5948020"/>
            <a:ext cx="10735056" cy="680000"/>
          </a:xfrm>
          <a:prstGeom prst="roundRect">
            <a:avLst/>
          </a:prstGeom>
          <a:solidFill>
            <a:srgbClr val="FFF6EA"/>
          </a:solidFill>
          <a:ln w="12700">
            <a:solidFill>
              <a:srgbClr val="E7C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1520" y="5988020"/>
            <a:ext cx="10475056" cy="604781"/>
          </a:xfrm>
          <a:prstGeom prst="rect">
            <a:avLst/>
          </a:prstGeom>
          <a:noFill/>
        </p:spPr>
        <p:txBody>
          <a:bodyPr wrap="square" lIns="0" tIns="0" rIns="0" bIns="0">
            <a:spAutoFit/>
          </a:bodyPr>
          <a:lstStyle/>
          <a:p>
            <a:pPr algn="l">
              <a:lnSpc>
                <a:spcPct val="110000"/>
              </a:lnSpc>
            </a:pPr>
            <a:r>
              <a:rPr sz="1200" b="1" dirty="0">
                <a:solidFill>
                  <a:srgbClr val="173F35"/>
                </a:solidFill>
                <a:latin typeface="Avenir Next" panose="020B0503020202020204" pitchFamily="34" charset="0"/>
              </a:rPr>
              <a:t>All three hypotheses stand validated. </a:t>
            </a:r>
            <a:r>
              <a:rPr sz="1200" dirty="0">
                <a:solidFill>
                  <a:srgbClr val="3A3A4A"/>
                </a:solidFill>
                <a:latin typeface="Avenir Next" panose="020B0503020202020204" pitchFamily="34" charset="0"/>
              </a:rPr>
              <a:t>Greenwashing in India is an upstream corporate governance failure (H₁), shielded by non-deterrent liability and narrow standing (H₂), and enabled by an uncoordinated, fragmented regulatory architecture (H₃) — confirming that piecemeal fixes fail and an integrated, sequenced corporate liability regime is necessary.</a:t>
            </a:r>
          </a:p>
        </p:txBody>
      </p:sp>
      <p:sp>
        <p:nvSpPr>
          <p:cNvPr id="19" name="TextBox 18"/>
          <p:cNvSpPr txBox="1"/>
          <p:nvPr/>
        </p:nvSpPr>
        <p:spPr>
          <a:xfrm>
            <a:off x="730574" y="6692256"/>
            <a:ext cx="1370568" cy="146194"/>
          </a:xfrm>
          <a:prstGeom prst="rect">
            <a:avLst/>
          </a:prstGeom>
          <a:noFill/>
        </p:spPr>
        <p:txBody>
          <a:bodyPr wrap="none" lIns="0" tIns="0" rIns="0" bIns="0">
            <a:spAutoFit/>
          </a:bodyPr>
          <a:lstStyle/>
          <a:p>
            <a:r>
              <a:rPr sz="950" dirty="0">
                <a:solidFill>
                  <a:srgbClr val="6B6F6A"/>
                </a:solidFill>
                <a:latin typeface="Avenir Next"/>
              </a:rPr>
              <a:t>Source base: Chapter 6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39" y="384048"/>
            <a:ext cx="8968847" cy="584775"/>
          </a:xfrm>
          <a:prstGeom prst="rect">
            <a:avLst/>
          </a:prstGeom>
          <a:noFill/>
        </p:spPr>
        <p:txBody>
          <a:bodyPr wrap="square">
            <a:spAutoFit/>
          </a:bodyPr>
          <a:lstStyle/>
          <a:p>
            <a:pPr>
              <a:defRPr sz="2200" b="1">
                <a:solidFill>
                  <a:srgbClr val="173F35"/>
                </a:solidFill>
                <a:latin typeface="Avenir Next Demi Bold"/>
              </a:defRPr>
            </a:pPr>
            <a:r>
              <a:rPr lang="en-US" sz="3200" dirty="0"/>
              <a:t>General Suggestions For Regulatory Reform</a:t>
            </a:r>
            <a:endParaRPr sz="3200" dirty="0"/>
          </a:p>
        </p:txBody>
      </p:sp>
      <p:sp>
        <p:nvSpPr>
          <p:cNvPr id="5" name="TextBox 4"/>
          <p:cNvSpPr txBox="1"/>
          <p:nvPr/>
        </p:nvSpPr>
        <p:spPr>
          <a:xfrm>
            <a:off x="734355" y="5702107"/>
            <a:ext cx="11000000" cy="692497"/>
          </a:xfrm>
          <a:prstGeom prst="rect">
            <a:avLst/>
          </a:prstGeom>
          <a:noFill/>
        </p:spPr>
        <p:txBody>
          <a:bodyPr wrap="square">
            <a:spAutoFit/>
          </a:bodyPr>
          <a:lstStyle/>
          <a:p>
            <a:pPr>
              <a:defRPr sz="1200">
                <a:solidFill>
                  <a:srgbClr val="6B6F6A"/>
                </a:solidFill>
                <a:latin typeface="Avenir Next"/>
              </a:defRPr>
            </a:pPr>
            <a:r>
              <a:rPr sz="1400" b="0" dirty="0">
                <a:solidFill>
                  <a:srgbClr val="6B6F6A"/>
                </a:solidFill>
                <a:latin typeface="Avenir Next"/>
              </a:rPr>
              <a:t>Research Question 7 (part 1): </a:t>
            </a:r>
            <a:r>
              <a:rPr lang="en-IN" sz="1400" dirty="0">
                <a:ea typeface="+mn-lt"/>
                <a:cs typeface="+mn-lt"/>
              </a:rPr>
              <a:t>What legal and policy recommendations can create an integrated liability framework that holds corporations accountable for misleading environmental claims?</a:t>
            </a:r>
            <a:endParaRPr lang="en-US" sz="1400" dirty="0">
              <a:ea typeface="+mn-lt"/>
              <a:cs typeface="+mn-lt"/>
            </a:endParaRPr>
          </a:p>
          <a:p>
            <a:pPr>
              <a:defRPr sz="1200">
                <a:solidFill>
                  <a:srgbClr val="6B6F6A"/>
                </a:solidFill>
                <a:latin typeface="Avenir Next"/>
              </a:defRPr>
            </a:pPr>
            <a:endParaRPr sz="1100" b="0" dirty="0">
              <a:solidFill>
                <a:srgbClr val="6B6F6A"/>
              </a:solidFill>
              <a:latin typeface="Avenir Next"/>
            </a:endParaRPr>
          </a:p>
        </p:txBody>
      </p:sp>
      <p:sp>
        <p:nvSpPr>
          <p:cNvPr id="6" name="Rounded Rectangle 5"/>
          <p:cNvSpPr/>
          <p:nvPr/>
        </p:nvSpPr>
        <p:spPr>
          <a:xfrm>
            <a:off x="670473" y="1090843"/>
            <a:ext cx="2057400" cy="2971559"/>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7" name="Rectangle 6"/>
          <p:cNvSpPr/>
          <p:nvPr/>
        </p:nvSpPr>
        <p:spPr>
          <a:xfrm>
            <a:off x="670473" y="1090843"/>
            <a:ext cx="2057400" cy="89707"/>
          </a:xfrm>
          <a:prstGeom prst="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8" name="TextBox 7"/>
          <p:cNvSpPr txBox="1"/>
          <p:nvPr/>
        </p:nvSpPr>
        <p:spPr>
          <a:xfrm>
            <a:off x="816777" y="1218860"/>
            <a:ext cx="1764792" cy="584775"/>
          </a:xfrm>
          <a:prstGeom prst="rect">
            <a:avLst/>
          </a:prstGeom>
          <a:noFill/>
        </p:spPr>
        <p:txBody>
          <a:bodyPr wrap="square" anchor="t">
            <a:spAutoFit/>
          </a:bodyPr>
          <a:lstStyle/>
          <a:p>
            <a:pPr algn="l">
              <a:defRPr sz="1600" b="1">
                <a:solidFill>
                  <a:srgbClr val="173F35"/>
                </a:solidFill>
                <a:latin typeface="Avenir Next Demi Bold"/>
              </a:defRPr>
            </a:pPr>
            <a:r>
              <a:rPr>
                <a:latin typeface="Avenir Next" panose="020B0503020202020204" pitchFamily="34" charset="0"/>
              </a:rPr>
              <a:t>1. Institutional integration</a:t>
            </a:r>
          </a:p>
        </p:txBody>
      </p:sp>
      <p:sp>
        <p:nvSpPr>
          <p:cNvPr id="9" name="TextBox 8"/>
          <p:cNvSpPr txBox="1"/>
          <p:nvPr/>
        </p:nvSpPr>
        <p:spPr>
          <a:xfrm>
            <a:off x="816777" y="1730924"/>
            <a:ext cx="1764792" cy="2031325"/>
          </a:xfrm>
          <a:prstGeom prst="rect">
            <a:avLst/>
          </a:prstGeom>
          <a:noFill/>
        </p:spPr>
        <p:txBody>
          <a:bodyPr wrap="square" anchor="t">
            <a:spAutoFit/>
          </a:bodyPr>
          <a:lstStyle/>
          <a:p>
            <a:pPr algn="l">
              <a:defRPr sz="1200" b="0">
                <a:solidFill>
                  <a:srgbClr val="2A2A2A"/>
                </a:solidFill>
                <a:latin typeface="Avenir Next"/>
              </a:defRPr>
            </a:pPr>
            <a:r>
              <a:rPr sz="1400" dirty="0">
                <a:latin typeface="Avenir Next" panose="020B0503020202020204" pitchFamily="34" charset="0"/>
              </a:rPr>
              <a:t>Create a permanent inter-regulatory greenwashing mechanism linking MCA, SEBI, CCPA, </a:t>
            </a:r>
            <a:r>
              <a:rPr sz="1400" dirty="0" err="1">
                <a:latin typeface="Avenir Next" panose="020B0503020202020204" pitchFamily="34" charset="0"/>
              </a:rPr>
              <a:t>MoEFCC</a:t>
            </a:r>
            <a:r>
              <a:rPr sz="1400" dirty="0">
                <a:latin typeface="Avenir Next" panose="020B0503020202020204" pitchFamily="34" charset="0"/>
              </a:rPr>
              <a:t>, CPCB, BIS, FSSAI, and sectoral bodies.</a:t>
            </a:r>
          </a:p>
        </p:txBody>
      </p:sp>
      <p:sp>
        <p:nvSpPr>
          <p:cNvPr id="10" name="Rounded Rectangle 9"/>
          <p:cNvSpPr/>
          <p:nvPr/>
        </p:nvSpPr>
        <p:spPr>
          <a:xfrm>
            <a:off x="2810169" y="1090843"/>
            <a:ext cx="2057400" cy="2971559"/>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1" name="Rectangle 10"/>
          <p:cNvSpPr/>
          <p:nvPr/>
        </p:nvSpPr>
        <p:spPr>
          <a:xfrm>
            <a:off x="2810169" y="1090843"/>
            <a:ext cx="2057400" cy="89707"/>
          </a:xfrm>
          <a:prstGeom prst="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2" name="TextBox 11"/>
          <p:cNvSpPr txBox="1"/>
          <p:nvPr/>
        </p:nvSpPr>
        <p:spPr>
          <a:xfrm>
            <a:off x="2956473" y="1218860"/>
            <a:ext cx="1764792" cy="830997"/>
          </a:xfrm>
          <a:prstGeom prst="rect">
            <a:avLst/>
          </a:prstGeom>
          <a:noFill/>
        </p:spPr>
        <p:txBody>
          <a:bodyPr wrap="square" anchor="t">
            <a:spAutoFit/>
          </a:bodyPr>
          <a:lstStyle/>
          <a:p>
            <a:pPr algn="l">
              <a:defRPr sz="1600" b="1">
                <a:solidFill>
                  <a:srgbClr val="173F35"/>
                </a:solidFill>
                <a:latin typeface="Avenir Next Demi Bold"/>
              </a:defRPr>
            </a:pPr>
            <a:r>
              <a:rPr dirty="0">
                <a:latin typeface="Avenir Next" panose="020B0503020202020204" pitchFamily="34" charset="0"/>
              </a:rPr>
              <a:t>2. Lead regulator model</a:t>
            </a:r>
          </a:p>
        </p:txBody>
      </p:sp>
      <p:sp>
        <p:nvSpPr>
          <p:cNvPr id="13" name="TextBox 12"/>
          <p:cNvSpPr txBox="1"/>
          <p:nvPr/>
        </p:nvSpPr>
        <p:spPr>
          <a:xfrm>
            <a:off x="2956473" y="1730924"/>
            <a:ext cx="1764792" cy="1815882"/>
          </a:xfrm>
          <a:prstGeom prst="rect">
            <a:avLst/>
          </a:prstGeom>
          <a:noFill/>
        </p:spPr>
        <p:txBody>
          <a:bodyPr wrap="square" anchor="t">
            <a:spAutoFit/>
          </a:bodyPr>
          <a:lstStyle/>
          <a:p>
            <a:pPr algn="l">
              <a:defRPr sz="1200" b="0">
                <a:solidFill>
                  <a:srgbClr val="2A2A2A"/>
                </a:solidFill>
                <a:latin typeface="Avenir Next"/>
              </a:defRPr>
            </a:pPr>
            <a:r>
              <a:rPr sz="1400" dirty="0">
                <a:latin typeface="Avenir Next" panose="020B0503020202020204" pitchFamily="34" charset="0"/>
              </a:rPr>
              <a:t>Use mandatory cross-referrals, shared evidence protocols, and a rule for who coordinates a claim that travels across the market.</a:t>
            </a:r>
          </a:p>
        </p:txBody>
      </p:sp>
      <p:sp>
        <p:nvSpPr>
          <p:cNvPr id="14" name="Rounded Rectangle 13"/>
          <p:cNvSpPr/>
          <p:nvPr/>
        </p:nvSpPr>
        <p:spPr>
          <a:xfrm>
            <a:off x="4949865" y="1090843"/>
            <a:ext cx="2057400" cy="2971559"/>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5" name="Rectangle 14"/>
          <p:cNvSpPr/>
          <p:nvPr/>
        </p:nvSpPr>
        <p:spPr>
          <a:xfrm>
            <a:off x="4949865" y="1090843"/>
            <a:ext cx="2057400" cy="89707"/>
          </a:xfrm>
          <a:prstGeom prst="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6" name="TextBox 15"/>
          <p:cNvSpPr txBox="1"/>
          <p:nvPr/>
        </p:nvSpPr>
        <p:spPr>
          <a:xfrm>
            <a:off x="5096169" y="1218860"/>
            <a:ext cx="1764792" cy="584775"/>
          </a:xfrm>
          <a:prstGeom prst="rect">
            <a:avLst/>
          </a:prstGeom>
          <a:noFill/>
        </p:spPr>
        <p:txBody>
          <a:bodyPr wrap="square" anchor="t">
            <a:spAutoFit/>
          </a:bodyPr>
          <a:lstStyle/>
          <a:p>
            <a:pPr algn="l">
              <a:defRPr sz="1600" b="1">
                <a:solidFill>
                  <a:srgbClr val="173F35"/>
                </a:solidFill>
                <a:latin typeface="Avenir Next Demi Bold"/>
              </a:defRPr>
            </a:pPr>
            <a:r>
              <a:rPr>
                <a:latin typeface="Avenir Next" panose="020B0503020202020204" pitchFamily="34" charset="0"/>
              </a:rPr>
              <a:t>3. Standardised substantiation</a:t>
            </a:r>
          </a:p>
        </p:txBody>
      </p:sp>
      <p:sp>
        <p:nvSpPr>
          <p:cNvPr id="17" name="TextBox 16"/>
          <p:cNvSpPr txBox="1"/>
          <p:nvPr/>
        </p:nvSpPr>
        <p:spPr>
          <a:xfrm>
            <a:off x="5096169" y="1758356"/>
            <a:ext cx="1764792" cy="2031325"/>
          </a:xfrm>
          <a:prstGeom prst="rect">
            <a:avLst/>
          </a:prstGeom>
          <a:noFill/>
        </p:spPr>
        <p:txBody>
          <a:bodyPr wrap="square" anchor="t">
            <a:spAutoFit/>
          </a:bodyPr>
          <a:lstStyle/>
          <a:p>
            <a:pPr algn="l">
              <a:defRPr sz="1200" b="0">
                <a:solidFill>
                  <a:srgbClr val="2A2A2A"/>
                </a:solidFill>
                <a:latin typeface="Avenir Next"/>
              </a:defRPr>
            </a:pPr>
            <a:r>
              <a:rPr sz="1400" dirty="0">
                <a:latin typeface="Avenir Next" panose="020B0503020202020204" pitchFamily="34" charset="0"/>
              </a:rPr>
              <a:t>Move toward lifecycle-based verification, product-category rules, accredited verifiers, and common evidentiary standards.</a:t>
            </a:r>
          </a:p>
        </p:txBody>
      </p:sp>
      <p:sp>
        <p:nvSpPr>
          <p:cNvPr id="18" name="Rounded Rectangle 17"/>
          <p:cNvSpPr/>
          <p:nvPr/>
        </p:nvSpPr>
        <p:spPr>
          <a:xfrm>
            <a:off x="7089561" y="1090843"/>
            <a:ext cx="2057400" cy="2971559"/>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19" name="Rectangle 18"/>
          <p:cNvSpPr/>
          <p:nvPr/>
        </p:nvSpPr>
        <p:spPr>
          <a:xfrm>
            <a:off x="7089561" y="1090843"/>
            <a:ext cx="2057400" cy="89707"/>
          </a:xfrm>
          <a:prstGeom prst="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20" name="TextBox 19"/>
          <p:cNvSpPr txBox="1"/>
          <p:nvPr/>
        </p:nvSpPr>
        <p:spPr>
          <a:xfrm>
            <a:off x="7235865" y="1218860"/>
            <a:ext cx="1764792" cy="584775"/>
          </a:xfrm>
          <a:prstGeom prst="rect">
            <a:avLst/>
          </a:prstGeom>
          <a:noFill/>
        </p:spPr>
        <p:txBody>
          <a:bodyPr wrap="square" anchor="t">
            <a:spAutoFit/>
          </a:bodyPr>
          <a:lstStyle/>
          <a:p>
            <a:pPr algn="l">
              <a:defRPr sz="1600" b="1">
                <a:solidFill>
                  <a:srgbClr val="173F35"/>
                </a:solidFill>
                <a:latin typeface="Avenir Next Demi Bold"/>
              </a:defRPr>
            </a:pPr>
            <a:r>
              <a:rPr>
                <a:latin typeface="Avenir Next" panose="020B0503020202020204" pitchFamily="34" charset="0"/>
              </a:rPr>
              <a:t>4. Proactive surveillance</a:t>
            </a:r>
          </a:p>
        </p:txBody>
      </p:sp>
      <p:sp>
        <p:nvSpPr>
          <p:cNvPr id="21" name="TextBox 20"/>
          <p:cNvSpPr txBox="1"/>
          <p:nvPr/>
        </p:nvSpPr>
        <p:spPr>
          <a:xfrm>
            <a:off x="7235865" y="1730924"/>
            <a:ext cx="1764792" cy="1815882"/>
          </a:xfrm>
          <a:prstGeom prst="rect">
            <a:avLst/>
          </a:prstGeom>
          <a:noFill/>
        </p:spPr>
        <p:txBody>
          <a:bodyPr wrap="square" anchor="t">
            <a:spAutoFit/>
          </a:bodyPr>
          <a:lstStyle/>
          <a:p>
            <a:pPr algn="l">
              <a:defRPr sz="1200" b="0">
                <a:solidFill>
                  <a:srgbClr val="2A2A2A"/>
                </a:solidFill>
                <a:latin typeface="Avenir Next"/>
              </a:defRPr>
            </a:pPr>
            <a:r>
              <a:rPr sz="1400" dirty="0">
                <a:latin typeface="Avenir Next" panose="020B0503020202020204" pitchFamily="34" charset="0"/>
              </a:rPr>
              <a:t>Run market sweeps in high-risk sectors and cross-check sustainability claims against pollution, compliance, and finance records.</a:t>
            </a:r>
          </a:p>
        </p:txBody>
      </p:sp>
      <p:sp>
        <p:nvSpPr>
          <p:cNvPr id="22" name="Rounded Rectangle 21"/>
          <p:cNvSpPr/>
          <p:nvPr/>
        </p:nvSpPr>
        <p:spPr>
          <a:xfrm>
            <a:off x="9229257" y="1090843"/>
            <a:ext cx="2057400" cy="2971559"/>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23" name="Rectangle 22"/>
          <p:cNvSpPr/>
          <p:nvPr/>
        </p:nvSpPr>
        <p:spPr>
          <a:xfrm>
            <a:off x="9229257" y="1090843"/>
            <a:ext cx="2057400" cy="89707"/>
          </a:xfrm>
          <a:prstGeom prst="rect">
            <a:avLst/>
          </a:prstGeom>
          <a:solidFill>
            <a:srgbClr val="A23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24" name="TextBox 23"/>
          <p:cNvSpPr txBox="1"/>
          <p:nvPr/>
        </p:nvSpPr>
        <p:spPr>
          <a:xfrm>
            <a:off x="9375561" y="1218860"/>
            <a:ext cx="1764792" cy="584775"/>
          </a:xfrm>
          <a:prstGeom prst="rect">
            <a:avLst/>
          </a:prstGeom>
          <a:noFill/>
        </p:spPr>
        <p:txBody>
          <a:bodyPr wrap="square" anchor="t">
            <a:spAutoFit/>
          </a:bodyPr>
          <a:lstStyle/>
          <a:p>
            <a:pPr algn="l">
              <a:defRPr sz="1600" b="1">
                <a:solidFill>
                  <a:srgbClr val="173F35"/>
                </a:solidFill>
                <a:latin typeface="Avenir Next Demi Bold"/>
              </a:defRPr>
            </a:pPr>
            <a:r>
              <a:rPr>
                <a:latin typeface="Avenir Next" panose="020B0503020202020204" pitchFamily="34" charset="0"/>
              </a:rPr>
              <a:t>5. Enforcement capacity</a:t>
            </a:r>
          </a:p>
        </p:txBody>
      </p:sp>
      <p:sp>
        <p:nvSpPr>
          <p:cNvPr id="25" name="TextBox 24"/>
          <p:cNvSpPr txBox="1"/>
          <p:nvPr/>
        </p:nvSpPr>
        <p:spPr>
          <a:xfrm>
            <a:off x="9375561" y="1758356"/>
            <a:ext cx="1764792" cy="1600438"/>
          </a:xfrm>
          <a:prstGeom prst="rect">
            <a:avLst/>
          </a:prstGeom>
          <a:noFill/>
        </p:spPr>
        <p:txBody>
          <a:bodyPr wrap="square" anchor="t">
            <a:spAutoFit/>
          </a:bodyPr>
          <a:lstStyle/>
          <a:p>
            <a:pPr algn="l">
              <a:defRPr sz="1200" b="0">
                <a:solidFill>
                  <a:srgbClr val="2A2A2A"/>
                </a:solidFill>
                <a:latin typeface="Avenir Next"/>
              </a:defRPr>
            </a:pPr>
            <a:r>
              <a:rPr sz="1400" dirty="0">
                <a:latin typeface="Avenir Next" panose="020B0503020202020204" pitchFamily="34" charset="0"/>
              </a:rPr>
              <a:t>Build shared technical expertise on carbon accounting, offsets, lifecycle analysis, and ESG assurance.</a:t>
            </a:r>
          </a:p>
        </p:txBody>
      </p:sp>
      <p:sp>
        <p:nvSpPr>
          <p:cNvPr id="26" name="Rounded Rectangle 25"/>
          <p:cNvSpPr/>
          <p:nvPr/>
        </p:nvSpPr>
        <p:spPr>
          <a:xfrm>
            <a:off x="1097280" y="4343019"/>
            <a:ext cx="10012680" cy="1121343"/>
          </a:xfrm>
          <a:prstGeom prst="roundRect">
            <a:avLst/>
          </a:prstGeom>
          <a:solidFill>
            <a:srgbClr val="FFF6EA"/>
          </a:solidFill>
          <a:ln w="12700">
            <a:solidFill>
              <a:srgbClr val="E7C8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Avenir Next" panose="020B0503020202020204" pitchFamily="34" charset="0"/>
            </a:endParaRPr>
          </a:p>
        </p:txBody>
      </p:sp>
      <p:sp>
        <p:nvSpPr>
          <p:cNvPr id="27" name="TextBox 26"/>
          <p:cNvSpPr txBox="1"/>
          <p:nvPr/>
        </p:nvSpPr>
        <p:spPr>
          <a:xfrm>
            <a:off x="1353312" y="4580764"/>
            <a:ext cx="9509760" cy="707886"/>
          </a:xfrm>
          <a:prstGeom prst="rect">
            <a:avLst/>
          </a:prstGeom>
          <a:noFill/>
        </p:spPr>
        <p:txBody>
          <a:bodyPr wrap="square" anchor="t">
            <a:spAutoFit/>
          </a:bodyPr>
          <a:lstStyle/>
          <a:p>
            <a:pPr algn="ctr">
              <a:defRPr sz="1800" b="0">
                <a:solidFill>
                  <a:srgbClr val="173F35"/>
                </a:solidFill>
                <a:latin typeface="Georgia"/>
              </a:defRPr>
            </a:pPr>
            <a:r>
              <a:rPr sz="2000" dirty="0">
                <a:latin typeface="Avenir Next" panose="020B0503020202020204" pitchFamily="34" charset="0"/>
              </a:rPr>
              <a:t>Narrative takeaway: credible anti-greenwashing law starts before the claim is published, not after the complaint is filed.</a:t>
            </a:r>
          </a:p>
        </p:txBody>
      </p:sp>
      <p:sp>
        <p:nvSpPr>
          <p:cNvPr id="28" name="TextBox 27"/>
          <p:cNvSpPr txBox="1"/>
          <p:nvPr/>
        </p:nvSpPr>
        <p:spPr>
          <a:xfrm>
            <a:off x="734355" y="6419873"/>
            <a:ext cx="1596912" cy="246221"/>
          </a:xfrm>
          <a:prstGeom prst="rect">
            <a:avLst/>
          </a:prstGeom>
          <a:noFill/>
        </p:spPr>
        <p:txBody>
          <a:bodyPr wrap="none">
            <a:spAutoFit/>
          </a:bodyPr>
          <a:lstStyle/>
          <a:p>
            <a:pPr>
              <a:defRPr sz="850">
                <a:solidFill>
                  <a:srgbClr val="6B6F6A"/>
                </a:solidFill>
                <a:latin typeface="Avenir Next"/>
              </a:defRPr>
            </a:pPr>
            <a:r>
              <a:rPr sz="1000" dirty="0"/>
              <a:t>Source base: Chapter 6</a:t>
            </a:r>
            <a:r>
              <a:rPr lang="en-US" sz="1000" dirty="0"/>
              <a:t>.</a:t>
            </a:r>
            <a:endParaRPr sz="1000" dirty="0"/>
          </a:p>
        </p:txBody>
      </p:sp>
    </p:spTree>
    <p:extLst>
      <p:ext uri="{BB962C8B-B14F-4D97-AF65-F5344CB8AC3E}">
        <p14:creationId xmlns:p14="http://schemas.microsoft.com/office/powerpoint/2010/main" val="918971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39" y="384048"/>
            <a:ext cx="9380971" cy="584775"/>
          </a:xfrm>
          <a:prstGeom prst="rect">
            <a:avLst/>
          </a:prstGeom>
          <a:noFill/>
        </p:spPr>
        <p:txBody>
          <a:bodyPr wrap="square">
            <a:spAutoFit/>
          </a:bodyPr>
          <a:lstStyle/>
          <a:p>
            <a:pPr>
              <a:defRPr sz="2200" b="1">
                <a:solidFill>
                  <a:srgbClr val="173F35"/>
                </a:solidFill>
                <a:latin typeface="Avenir Next Demi Bold"/>
              </a:defRPr>
            </a:pPr>
            <a:r>
              <a:rPr lang="en-US" sz="3200" dirty="0"/>
              <a:t>Specific </a:t>
            </a:r>
            <a:r>
              <a:rPr sz="3200" dirty="0"/>
              <a:t>Recommendations</a:t>
            </a:r>
            <a:r>
              <a:rPr lang="en-US" sz="3200" dirty="0"/>
              <a:t> for</a:t>
            </a:r>
            <a:r>
              <a:rPr sz="3200" dirty="0"/>
              <a:t> Legal Refor</a:t>
            </a:r>
            <a:r>
              <a:rPr lang="en-US" sz="3200" dirty="0"/>
              <a:t>m</a:t>
            </a:r>
            <a:endParaRPr sz="3200" dirty="0"/>
          </a:p>
        </p:txBody>
      </p:sp>
      <p:sp>
        <p:nvSpPr>
          <p:cNvPr id="5" name="TextBox 4"/>
          <p:cNvSpPr txBox="1"/>
          <p:nvPr/>
        </p:nvSpPr>
        <p:spPr>
          <a:xfrm>
            <a:off x="746029" y="5220163"/>
            <a:ext cx="11000000" cy="692497"/>
          </a:xfrm>
          <a:prstGeom prst="rect">
            <a:avLst/>
          </a:prstGeom>
          <a:noFill/>
        </p:spPr>
        <p:txBody>
          <a:bodyPr wrap="square">
            <a:spAutoFit/>
          </a:bodyPr>
          <a:lstStyle/>
          <a:p>
            <a:pPr>
              <a:defRPr sz="1200">
                <a:solidFill>
                  <a:srgbClr val="6B6F6A"/>
                </a:solidFill>
                <a:latin typeface="Avenir Next"/>
              </a:defRPr>
            </a:pPr>
            <a:r>
              <a:rPr sz="1400" b="0" dirty="0">
                <a:solidFill>
                  <a:srgbClr val="6B6F6A"/>
                </a:solidFill>
                <a:latin typeface="Avenir Next"/>
              </a:rPr>
              <a:t>Research Question 7 (part 2): </a:t>
            </a:r>
            <a:r>
              <a:rPr lang="en-IN" sz="1400" dirty="0">
                <a:ea typeface="+mn-lt"/>
                <a:cs typeface="+mn-lt"/>
              </a:rPr>
              <a:t>What legal and policy recommendations can create an integrated liability framework that holds corporations accountable for misleading environmental claims?</a:t>
            </a:r>
            <a:endParaRPr lang="en-US" sz="1400" dirty="0">
              <a:ea typeface="+mn-lt"/>
              <a:cs typeface="+mn-lt"/>
            </a:endParaRPr>
          </a:p>
          <a:p>
            <a:pPr>
              <a:defRPr sz="1200">
                <a:solidFill>
                  <a:srgbClr val="6B6F6A"/>
                </a:solidFill>
                <a:latin typeface="Avenir Next"/>
              </a:defRPr>
            </a:pPr>
            <a:endParaRPr sz="1100" b="0" dirty="0">
              <a:solidFill>
                <a:srgbClr val="6B6F6A"/>
              </a:solidFill>
              <a:latin typeface="Avenir Next"/>
            </a:endParaRPr>
          </a:p>
        </p:txBody>
      </p:sp>
      <p:sp>
        <p:nvSpPr>
          <p:cNvPr id="6" name="Rounded Rectangle 5"/>
          <p:cNvSpPr/>
          <p:nvPr/>
        </p:nvSpPr>
        <p:spPr>
          <a:xfrm>
            <a:off x="731520" y="1096247"/>
            <a:ext cx="3547872" cy="4023360"/>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venir Next" panose="020B0503020202020204" pitchFamily="34" charset="0"/>
            </a:endParaRPr>
          </a:p>
        </p:txBody>
      </p:sp>
      <p:sp>
        <p:nvSpPr>
          <p:cNvPr id="7" name="Rectangle 6"/>
          <p:cNvSpPr/>
          <p:nvPr/>
        </p:nvSpPr>
        <p:spPr>
          <a:xfrm>
            <a:off x="731520" y="1096247"/>
            <a:ext cx="3547872" cy="73152"/>
          </a:xfrm>
          <a:prstGeom prst="rect">
            <a:avLst/>
          </a:prstGeom>
          <a:solidFill>
            <a:srgbClr val="C96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venir Next" panose="020B0503020202020204" pitchFamily="34" charset="0"/>
            </a:endParaRPr>
          </a:p>
        </p:txBody>
      </p:sp>
      <p:sp>
        <p:nvSpPr>
          <p:cNvPr id="8" name="TextBox 7"/>
          <p:cNvSpPr txBox="1"/>
          <p:nvPr/>
        </p:nvSpPr>
        <p:spPr>
          <a:xfrm>
            <a:off x="877824" y="1224263"/>
            <a:ext cx="3255264" cy="338554"/>
          </a:xfrm>
          <a:prstGeom prst="rect">
            <a:avLst/>
          </a:prstGeom>
          <a:noFill/>
        </p:spPr>
        <p:txBody>
          <a:bodyPr wrap="square" anchor="t">
            <a:spAutoFit/>
          </a:bodyPr>
          <a:lstStyle/>
          <a:p>
            <a:pPr algn="l">
              <a:defRPr sz="1600" b="1">
                <a:solidFill>
                  <a:srgbClr val="173F35"/>
                </a:solidFill>
                <a:latin typeface="Avenir Next Demi Bold"/>
              </a:defRPr>
            </a:pPr>
            <a:r>
              <a:rPr>
                <a:latin typeface="Avenir Next" panose="020B0503020202020204" pitchFamily="34" charset="0"/>
              </a:rPr>
              <a:t>Companies Act / MCA</a:t>
            </a:r>
          </a:p>
        </p:txBody>
      </p:sp>
      <p:sp>
        <p:nvSpPr>
          <p:cNvPr id="9" name="TextBox 8"/>
          <p:cNvSpPr txBox="1"/>
          <p:nvPr/>
        </p:nvSpPr>
        <p:spPr>
          <a:xfrm>
            <a:off x="841248" y="1791191"/>
            <a:ext cx="3255264" cy="3046988"/>
          </a:xfrm>
          <a:prstGeom prst="rect">
            <a:avLst/>
          </a:prstGeom>
          <a:noFill/>
        </p:spPr>
        <p:txBody>
          <a:bodyPr wrap="square" anchor="t">
            <a:spAutoFit/>
          </a:bodyPr>
          <a:lstStyle/>
          <a:p>
            <a:pPr algn="l">
              <a:defRPr sz="1200" b="0">
                <a:solidFill>
                  <a:srgbClr val="2A2A2A"/>
                </a:solidFill>
                <a:latin typeface="Avenir Next"/>
              </a:defRPr>
            </a:pPr>
            <a:r>
              <a:rPr sz="1600">
                <a:latin typeface="Avenir Next" panose="020B0503020202020204" pitchFamily="34" charset="0"/>
              </a:rPr>
              <a:t>- Turnover-linked penalties for directors authorising misleading environmental claims.</a:t>
            </a:r>
            <a:br>
              <a:rPr sz="1600">
                <a:latin typeface="Avenir Next" panose="020B0503020202020204" pitchFamily="34" charset="0"/>
              </a:rPr>
            </a:br>
            <a:br>
              <a:rPr sz="1600">
                <a:latin typeface="Avenir Next" panose="020B0503020202020204" pitchFamily="34" charset="0"/>
              </a:rPr>
            </a:br>
            <a:r>
              <a:rPr sz="1600">
                <a:latin typeface="Avenir Next" panose="020B0503020202020204" pitchFamily="34" charset="0"/>
              </a:rPr>
              <a:t>- Clear standing to enforce the environmental duty under Section 166(2).</a:t>
            </a:r>
            <a:br>
              <a:rPr sz="1600">
                <a:latin typeface="Avenir Next" panose="020B0503020202020204" pitchFamily="34" charset="0"/>
              </a:rPr>
            </a:br>
            <a:br>
              <a:rPr sz="1600">
                <a:latin typeface="Avenir Next" panose="020B0503020202020204" pitchFamily="34" charset="0"/>
              </a:rPr>
            </a:br>
            <a:r>
              <a:rPr sz="1600">
                <a:latin typeface="Avenir Next" panose="020B0503020202020204" pitchFamily="34" charset="0"/>
              </a:rPr>
              <a:t>- Board-level ESG committee and stronger whistleblower pathways for environmental misrepresentation.</a:t>
            </a:r>
          </a:p>
        </p:txBody>
      </p:sp>
      <p:sp>
        <p:nvSpPr>
          <p:cNvPr id="10" name="Rounded Rectangle 9"/>
          <p:cNvSpPr/>
          <p:nvPr/>
        </p:nvSpPr>
        <p:spPr>
          <a:xfrm>
            <a:off x="4325112" y="1096247"/>
            <a:ext cx="3547872" cy="4023360"/>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venir Next" panose="020B0503020202020204" pitchFamily="34" charset="0"/>
            </a:endParaRPr>
          </a:p>
        </p:txBody>
      </p:sp>
      <p:sp>
        <p:nvSpPr>
          <p:cNvPr id="11" name="Rectangle 10"/>
          <p:cNvSpPr/>
          <p:nvPr/>
        </p:nvSpPr>
        <p:spPr>
          <a:xfrm>
            <a:off x="4325112" y="1096247"/>
            <a:ext cx="3547872" cy="73152"/>
          </a:xfrm>
          <a:prstGeom prst="rect">
            <a:avLst/>
          </a:prstGeom>
          <a:solidFill>
            <a:srgbClr val="C8A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venir Next" panose="020B0503020202020204" pitchFamily="34" charset="0"/>
            </a:endParaRPr>
          </a:p>
        </p:txBody>
      </p:sp>
      <p:sp>
        <p:nvSpPr>
          <p:cNvPr id="12" name="TextBox 11"/>
          <p:cNvSpPr txBox="1"/>
          <p:nvPr/>
        </p:nvSpPr>
        <p:spPr>
          <a:xfrm>
            <a:off x="4471416" y="1224263"/>
            <a:ext cx="3255264" cy="338554"/>
          </a:xfrm>
          <a:prstGeom prst="rect">
            <a:avLst/>
          </a:prstGeom>
          <a:noFill/>
        </p:spPr>
        <p:txBody>
          <a:bodyPr wrap="square" anchor="t">
            <a:spAutoFit/>
          </a:bodyPr>
          <a:lstStyle/>
          <a:p>
            <a:pPr algn="l">
              <a:defRPr sz="1600" b="1">
                <a:solidFill>
                  <a:srgbClr val="173F35"/>
                </a:solidFill>
                <a:latin typeface="Avenir Next Demi Bold"/>
              </a:defRPr>
            </a:pPr>
            <a:r>
              <a:rPr>
                <a:latin typeface="Avenir Next" panose="020B0503020202020204" pitchFamily="34" charset="0"/>
              </a:rPr>
              <a:t>SEBI / Securities law</a:t>
            </a:r>
          </a:p>
        </p:txBody>
      </p:sp>
      <p:sp>
        <p:nvSpPr>
          <p:cNvPr id="13" name="TextBox 12"/>
          <p:cNvSpPr txBox="1"/>
          <p:nvPr/>
        </p:nvSpPr>
        <p:spPr>
          <a:xfrm>
            <a:off x="4468215" y="1763759"/>
            <a:ext cx="3255264" cy="3046988"/>
          </a:xfrm>
          <a:prstGeom prst="rect">
            <a:avLst/>
          </a:prstGeom>
          <a:noFill/>
        </p:spPr>
        <p:txBody>
          <a:bodyPr wrap="square" anchor="t">
            <a:spAutoFit/>
          </a:bodyPr>
          <a:lstStyle/>
          <a:p>
            <a:pPr algn="l">
              <a:defRPr sz="1200" b="0">
                <a:solidFill>
                  <a:srgbClr val="2A2A2A"/>
                </a:solidFill>
                <a:latin typeface="Avenir Next"/>
              </a:defRPr>
            </a:pPr>
            <a:r>
              <a:rPr sz="1600" dirty="0">
                <a:latin typeface="Avenir Next" panose="020B0503020202020204" pitchFamily="34" charset="0"/>
              </a:rPr>
              <a:t>- Fuller value-chain disclosure and mandatory reasonable assurance over time.</a:t>
            </a:r>
            <a:br>
              <a:rPr sz="1600" dirty="0">
                <a:latin typeface="Avenir Next" panose="020B0503020202020204" pitchFamily="34" charset="0"/>
              </a:rPr>
            </a:br>
            <a:br>
              <a:rPr sz="1600" dirty="0">
                <a:latin typeface="Avenir Next" panose="020B0503020202020204" pitchFamily="34" charset="0"/>
              </a:rPr>
            </a:br>
            <a:r>
              <a:rPr sz="1600" dirty="0">
                <a:latin typeface="Avenir Next" panose="020B0503020202020204" pitchFamily="34" charset="0"/>
              </a:rPr>
              <a:t>- Explicit classification of ESG misrepresentation under PFUTP.</a:t>
            </a:r>
            <a:br>
              <a:rPr sz="1600" dirty="0">
                <a:latin typeface="Avenir Next" panose="020B0503020202020204" pitchFamily="34" charset="0"/>
              </a:rPr>
            </a:br>
            <a:br>
              <a:rPr sz="1600" dirty="0">
                <a:latin typeface="Avenir Next" panose="020B0503020202020204" pitchFamily="34" charset="0"/>
              </a:rPr>
            </a:br>
            <a:r>
              <a:rPr sz="1600" dirty="0">
                <a:latin typeface="Avenir Next" panose="020B0503020202020204" pitchFamily="34" charset="0"/>
              </a:rPr>
              <a:t>- Stronger competence, transparency, and penalty rules for ESG rating providers; movement toward double materiality.</a:t>
            </a:r>
          </a:p>
        </p:txBody>
      </p:sp>
      <p:sp>
        <p:nvSpPr>
          <p:cNvPr id="14" name="Rounded Rectangle 13"/>
          <p:cNvSpPr/>
          <p:nvPr/>
        </p:nvSpPr>
        <p:spPr>
          <a:xfrm>
            <a:off x="7918704" y="1096247"/>
            <a:ext cx="3547872" cy="4023360"/>
          </a:xfrm>
          <a:prstGeom prst="roundRect">
            <a:avLst/>
          </a:prstGeom>
          <a:solidFill>
            <a:srgbClr val="FFFDF8"/>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venir Next" panose="020B0503020202020204" pitchFamily="34" charset="0"/>
            </a:endParaRPr>
          </a:p>
        </p:txBody>
      </p:sp>
      <p:sp>
        <p:nvSpPr>
          <p:cNvPr id="15" name="Rectangle 14"/>
          <p:cNvSpPr/>
          <p:nvPr/>
        </p:nvSpPr>
        <p:spPr>
          <a:xfrm>
            <a:off x="7918704" y="1096247"/>
            <a:ext cx="3547872" cy="73152"/>
          </a:xfrm>
          <a:prstGeom prst="rect">
            <a:avLst/>
          </a:prstGeom>
          <a:solidFill>
            <a:srgbClr val="6A8C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Avenir Next" panose="020B0503020202020204" pitchFamily="34" charset="0"/>
            </a:endParaRPr>
          </a:p>
        </p:txBody>
      </p:sp>
      <p:sp>
        <p:nvSpPr>
          <p:cNvPr id="16" name="TextBox 15"/>
          <p:cNvSpPr txBox="1"/>
          <p:nvPr/>
        </p:nvSpPr>
        <p:spPr>
          <a:xfrm>
            <a:off x="8065008" y="1224263"/>
            <a:ext cx="3255264" cy="338554"/>
          </a:xfrm>
          <a:prstGeom prst="rect">
            <a:avLst/>
          </a:prstGeom>
          <a:noFill/>
        </p:spPr>
        <p:txBody>
          <a:bodyPr wrap="square" anchor="t">
            <a:spAutoFit/>
          </a:bodyPr>
          <a:lstStyle/>
          <a:p>
            <a:pPr algn="l">
              <a:defRPr sz="1600" b="1">
                <a:solidFill>
                  <a:srgbClr val="173F35"/>
                </a:solidFill>
                <a:latin typeface="Avenir Next Demi Bold"/>
              </a:defRPr>
            </a:pPr>
            <a:r>
              <a:rPr>
                <a:latin typeface="Avenir Next" panose="020B0503020202020204" pitchFamily="34" charset="0"/>
              </a:rPr>
              <a:t>CCPA / Consumer law</a:t>
            </a:r>
          </a:p>
        </p:txBody>
      </p:sp>
      <p:sp>
        <p:nvSpPr>
          <p:cNvPr id="17" name="TextBox 16"/>
          <p:cNvSpPr txBox="1"/>
          <p:nvPr/>
        </p:nvSpPr>
        <p:spPr>
          <a:xfrm>
            <a:off x="8016087" y="1736327"/>
            <a:ext cx="3255264" cy="2800767"/>
          </a:xfrm>
          <a:prstGeom prst="rect">
            <a:avLst/>
          </a:prstGeom>
          <a:noFill/>
        </p:spPr>
        <p:txBody>
          <a:bodyPr wrap="square" anchor="t">
            <a:spAutoFit/>
          </a:bodyPr>
          <a:lstStyle/>
          <a:p>
            <a:pPr algn="l">
              <a:defRPr sz="1200" b="0">
                <a:solidFill>
                  <a:srgbClr val="2A2A2A"/>
                </a:solidFill>
                <a:latin typeface="Avenir Next"/>
              </a:defRPr>
            </a:pPr>
            <a:r>
              <a:rPr sz="1600" dirty="0">
                <a:latin typeface="Avenir Next" panose="020B0503020202020204" pitchFamily="34" charset="0"/>
              </a:rPr>
              <a:t>- Convert the 2024 Greenwashing Guidelines into formal delegated legislation.</a:t>
            </a:r>
            <a:br>
              <a:rPr sz="1600" dirty="0">
                <a:latin typeface="Avenir Next" panose="020B0503020202020204" pitchFamily="34" charset="0"/>
              </a:rPr>
            </a:br>
            <a:br>
              <a:rPr sz="1600" dirty="0">
                <a:latin typeface="Avenir Next" panose="020B0503020202020204" pitchFamily="34" charset="0"/>
              </a:rPr>
            </a:br>
            <a:r>
              <a:rPr sz="1600" dirty="0">
                <a:latin typeface="Avenir Next" panose="020B0503020202020204" pitchFamily="34" charset="0"/>
              </a:rPr>
              <a:t>- Use turnover-based penalties and corrective advertising for serious claims.</a:t>
            </a:r>
            <a:br>
              <a:rPr sz="1600" dirty="0">
                <a:latin typeface="Avenir Next" panose="020B0503020202020204" pitchFamily="34" charset="0"/>
              </a:rPr>
            </a:br>
            <a:br>
              <a:rPr sz="1600" dirty="0">
                <a:latin typeface="Avenir Next" panose="020B0503020202020204" pitchFamily="34" charset="0"/>
              </a:rPr>
            </a:br>
            <a:r>
              <a:rPr sz="1600" dirty="0">
                <a:latin typeface="Avenir Next" panose="020B0503020202020204" pitchFamily="34" charset="0"/>
              </a:rPr>
              <a:t>- Narrow the puffery exception and adopt claim-specific substantiation standards.</a:t>
            </a:r>
          </a:p>
        </p:txBody>
      </p:sp>
      <p:sp>
        <p:nvSpPr>
          <p:cNvPr id="18" name="TextBox 17"/>
          <p:cNvSpPr txBox="1"/>
          <p:nvPr/>
        </p:nvSpPr>
        <p:spPr>
          <a:xfrm>
            <a:off x="730574" y="6464013"/>
            <a:ext cx="1733167" cy="261610"/>
          </a:xfrm>
          <a:prstGeom prst="rect">
            <a:avLst/>
          </a:prstGeom>
          <a:noFill/>
        </p:spPr>
        <p:txBody>
          <a:bodyPr wrap="none" lIns="91440" tIns="45720" rIns="91440" bIns="45720" anchor="t">
            <a:spAutoFit/>
          </a:bodyPr>
          <a:lstStyle/>
          <a:p>
            <a:pPr>
              <a:defRPr sz="850">
                <a:solidFill>
                  <a:srgbClr val="6B6F6A"/>
                </a:solidFill>
                <a:latin typeface="Avenir Next"/>
              </a:defRPr>
            </a:pPr>
            <a:r>
              <a:rPr sz="1100" dirty="0">
                <a:latin typeface="Avenir Next" panose="020B0503020202020204" pitchFamily="34" charset="0"/>
              </a:rPr>
              <a:t>Source base: Chapter 6</a:t>
            </a:r>
            <a:r>
              <a:rPr lang="en-US" sz="1100" dirty="0">
                <a:latin typeface="Avenir Next" panose="020B0503020202020204" pitchFamily="34" charset="0"/>
              </a:rPr>
              <a:t>.</a:t>
            </a:r>
            <a:endParaRPr sz="1100" dirty="0">
              <a:latin typeface="Avenir Next" panose="020B0503020202020204" pitchFamily="34" charset="0"/>
            </a:endParaRPr>
          </a:p>
        </p:txBody>
      </p:sp>
      <p:sp>
        <p:nvSpPr>
          <p:cNvPr id="19" name="Rounded Rectangle 18"/>
          <p:cNvSpPr/>
          <p:nvPr/>
        </p:nvSpPr>
        <p:spPr>
          <a:xfrm>
            <a:off x="731520" y="5771516"/>
            <a:ext cx="10735056" cy="600000"/>
          </a:xfrm>
          <a:prstGeom prst="roundRect">
            <a:avLst>
              <a:gd name="adj" fmla="val 14000"/>
            </a:avLst>
          </a:prstGeom>
          <a:solidFill>
            <a:srgbClr val="FFF6EA"/>
          </a:solidFill>
          <a:ln w="12700">
            <a:solidFill>
              <a:srgbClr val="E7C89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2400">
              <a:latin typeface="Avenir Next" panose="020B0503020202020204" pitchFamily="34" charset="0"/>
            </a:endParaRPr>
          </a:p>
        </p:txBody>
      </p:sp>
      <p:sp>
        <p:nvSpPr>
          <p:cNvPr id="20" name="TextBox 19"/>
          <p:cNvSpPr txBox="1"/>
          <p:nvPr/>
        </p:nvSpPr>
        <p:spPr>
          <a:xfrm>
            <a:off x="861520" y="5827640"/>
            <a:ext cx="10475056" cy="384721"/>
          </a:xfrm>
          <a:prstGeom prst="rect">
            <a:avLst/>
          </a:prstGeom>
          <a:noFill/>
        </p:spPr>
        <p:txBody>
          <a:bodyPr wrap="square" lIns="45720" tIns="22860" rIns="45720" bIns="22860" anchor="ctr">
            <a:spAutoFit/>
          </a:bodyPr>
          <a:lstStyle/>
          <a:p>
            <a:pPr algn="ctr"/>
            <a:r>
              <a:rPr sz="1100" b="1" i="0">
                <a:solidFill>
                  <a:srgbClr val="095E4F"/>
                </a:solidFill>
                <a:latin typeface="Avenir Next" panose="020B0503020202020204" pitchFamily="34" charset="0"/>
              </a:rPr>
              <a:t>Answer to RQ7:  </a:t>
            </a:r>
            <a:r>
              <a:rPr sz="1100" b="0" i="0">
                <a:solidFill>
                  <a:srgbClr val="3A3A4A"/>
                </a:solidFill>
                <a:latin typeface="Avenir Next" panose="020B0503020202020204" pitchFamily="34" charset="0"/>
              </a:rPr>
              <a:t>one framework, three statutes, working in sequence — substantiate the claim before it is published, assure it independently, refer it automatically between regulators, and price the penalty to turnover so the board, not only the brand, carries the risk.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201168"/>
          </a:xfrm>
          <a:prstGeom prst="rect">
            <a:avLst/>
          </a:prstGeom>
          <a:solidFill>
            <a:srgbClr val="17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444752"/>
            <a:ext cx="10607040" cy="1200329"/>
          </a:xfrm>
          <a:prstGeom prst="rect">
            <a:avLst/>
          </a:prstGeom>
          <a:noFill/>
        </p:spPr>
        <p:txBody>
          <a:bodyPr wrap="square" lIns="91440" tIns="45720" rIns="91440" bIns="45720" anchor="t">
            <a:spAutoFit/>
          </a:bodyPr>
          <a:lstStyle/>
          <a:p>
            <a:pPr algn="ctr">
              <a:defRPr sz="3000" b="1">
                <a:solidFill>
                  <a:srgbClr val="173F35"/>
                </a:solidFill>
                <a:latin typeface="Georgia"/>
              </a:defRPr>
            </a:pPr>
            <a:r>
              <a:rPr sz="7200" dirty="0"/>
              <a:t>Thank You</a:t>
            </a:r>
            <a:endParaRPr lang="en-US" sz="7200" dirty="0"/>
          </a:p>
        </p:txBody>
      </p:sp>
      <p:sp>
        <p:nvSpPr>
          <p:cNvPr id="19" name="TextBox 18"/>
          <p:cNvSpPr txBox="1"/>
          <p:nvPr/>
        </p:nvSpPr>
        <p:spPr>
          <a:xfrm>
            <a:off x="10972800" y="6364224"/>
            <a:ext cx="548640" cy="228600"/>
          </a:xfrm>
          <a:prstGeom prst="rect">
            <a:avLst/>
          </a:prstGeom>
          <a:noFill/>
        </p:spPr>
        <p:txBody>
          <a:bodyPr wrap="none">
            <a:spAutoFit/>
          </a:bodyPr>
          <a:lstStyle/>
          <a:p>
            <a:pPr algn="r">
              <a:defRPr sz="900">
                <a:solidFill>
                  <a:srgbClr val="6B6F6A"/>
                </a:solidFill>
                <a:latin typeface="Avenir Next"/>
              </a:defRPr>
            </a:pPr>
            <a:r>
              <a:t>13</a:t>
            </a:r>
          </a:p>
        </p:txBody>
      </p:sp>
      <p:sp>
        <p:nvSpPr>
          <p:cNvPr id="20" name="Rounded Rectangle 18">
            <a:extLst>
              <a:ext uri="{FF2B5EF4-FFF2-40B4-BE49-F238E27FC236}">
                <a16:creationId xmlns:a16="http://schemas.microsoft.com/office/drawing/2014/main" id="{E5FEC69F-BC87-C4FC-EB3C-912B120196EF}"/>
              </a:ext>
            </a:extLst>
          </p:cNvPr>
          <p:cNvSpPr/>
          <p:nvPr/>
        </p:nvSpPr>
        <p:spPr>
          <a:xfrm>
            <a:off x="3573332" y="3242048"/>
            <a:ext cx="5212080" cy="2014458"/>
          </a:xfrm>
          <a:prstGeom prst="roundRect">
            <a:avLst/>
          </a:prstGeom>
          <a:solidFill>
            <a:srgbClr val="E8F5F2"/>
          </a:solidFill>
          <a:ln w="15240">
            <a:solidFill>
              <a:srgbClr val="C48A1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TextBox 20">
            <a:extLst>
              <a:ext uri="{FF2B5EF4-FFF2-40B4-BE49-F238E27FC236}">
                <a16:creationId xmlns:a16="http://schemas.microsoft.com/office/drawing/2014/main" id="{E6A07CEB-C350-7E55-A481-F92D3DF2BF71}"/>
              </a:ext>
            </a:extLst>
          </p:cNvPr>
          <p:cNvSpPr txBox="1"/>
          <p:nvPr/>
        </p:nvSpPr>
        <p:spPr>
          <a:xfrm>
            <a:off x="3801932" y="3534881"/>
            <a:ext cx="4846320" cy="1436291"/>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400"/>
              </a:spcAft>
              <a:defRPr sz="1400" b="1">
                <a:solidFill>
                  <a:srgbClr val="095E4F"/>
                </a:solidFill>
                <a:latin typeface="Calibri"/>
              </a:defRPr>
            </a:pPr>
            <a:r>
              <a:rPr dirty="0"/>
              <a:t>Concluding Imperative</a:t>
            </a:r>
          </a:p>
          <a:p>
            <a:pPr algn="l">
              <a:spcAft>
                <a:spcPts val="0"/>
              </a:spcAft>
              <a:defRPr sz="1100" b="0">
                <a:solidFill>
                  <a:srgbClr val="3A3A4A"/>
                </a:solidFill>
                <a:latin typeface="Calibri"/>
              </a:defRPr>
            </a:pPr>
            <a:r>
              <a:rPr sz="1400" dirty="0"/>
              <a:t>Without credible corporate environmental claims, capital cannot flow efficiently to genuine climate solutions and consumers cannot make informed sustainable choices</a:t>
            </a:r>
            <a:r>
              <a:rPr lang="en-US" sz="1400" dirty="0"/>
              <a:t>.</a:t>
            </a:r>
            <a:r>
              <a:rPr sz="1400" dirty="0"/>
              <a:t> Effective anti-greenwashing regulation is essential not only for market integrity but for environmental integrity.</a:t>
            </a:r>
          </a:p>
        </p:txBody>
      </p:sp>
    </p:spTree>
    <p:extLst>
      <p:ext uri="{BB962C8B-B14F-4D97-AF65-F5344CB8AC3E}">
        <p14:creationId xmlns:p14="http://schemas.microsoft.com/office/powerpoint/2010/main" val="35420154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1405</TotalTime>
  <Words>5589</Words>
  <Application>Microsoft Macintosh PowerPoint</Application>
  <PresentationFormat>Widescreen</PresentationFormat>
  <Paragraphs>461</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Avenir Next</vt:lpstr>
      <vt:lpstr>Avenir Next Demi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Saumya Singh</cp:lastModifiedBy>
  <cp:revision>1085</cp:revision>
  <dcterms:created xsi:type="dcterms:W3CDTF">2013-01-27T09:14:16Z</dcterms:created>
  <dcterms:modified xsi:type="dcterms:W3CDTF">2026-08-14T03:52:57Z</dcterms:modified>
  <cp:category/>
</cp:coreProperties>
</file>