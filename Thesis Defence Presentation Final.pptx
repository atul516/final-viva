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79" r:id="rId2"/>
    <p:sldId id="297" r:id="rId3"/>
    <p:sldId id="298" r:id="rId4"/>
    <p:sldId id="300" r:id="rId5"/>
    <p:sldId id="265" r:id="rId6"/>
    <p:sldId id="302" r:id="rId7"/>
    <p:sldId id="301" r:id="rId8"/>
    <p:sldId id="280" r:id="rId9"/>
    <p:sldId id="281" r:id="rId10"/>
    <p:sldId id="284" r:id="rId11"/>
    <p:sldId id="290" r:id="rId12"/>
    <p:sldId id="295" r:id="rId13"/>
    <p:sldId id="293" r:id="rId14"/>
    <p:sldId id="294" r:id="rId15"/>
    <p:sldId id="287" r:id="rId16"/>
    <p:sldId id="262" r:id="rId17"/>
    <p:sldId id="272" r:id="rId18"/>
    <p:sldId id="288" r:id="rId19"/>
    <p:sldId id="289" r:id="rId20"/>
    <p:sldId id="296" r:id="rId21"/>
    <p:sldId id="299" r:id="rId22"/>
    <p:sldId id="291" r:id="rId23"/>
    <p:sldId id="266" r:id="rId24"/>
    <p:sldId id="292"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C4A1F"/>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13208"/>
    <p:restoredTop sz="94629"/>
  </p:normalViewPr>
  <p:slideViewPr>
    <p:cSldViewPr snapToGrid="0" snapToObjects="1">
      <p:cViewPr varScale="1">
        <p:scale>
          <a:sx n="67" d="100"/>
          <a:sy n="67" d="100"/>
        </p:scale>
        <p:origin x="184" y="952"/>
      </p:cViewPr>
      <p:guideLst>
        <p:guide orient="horz" pos="2160"/>
        <p:guide pos="2880"/>
      </p:guideLst>
    </p:cSldViewPr>
  </p:slideViewPr>
  <p:outlineViewPr>
    <p:cViewPr>
      <p:scale>
        <a:sx n="33" d="100"/>
        <a:sy n="33" d="100"/>
      </p:scale>
      <p:origin x="0" y="0"/>
    </p:cViewPr>
    <p:sldLst>
      <p:sld r:id="rId1" collapse="1"/>
    </p:sldLst>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_rels/viewProps.xml.rels><?xml version="1.0" encoding="UTF-8" standalone="yes"?>
<Relationships xmlns="http://schemas.openxmlformats.org/package/2006/relationships"><Relationship Id="rId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4</a:t>
            </a:fld>
            <a:endParaRPr lang="en-US"/>
          </a:p>
        </p:txBody>
      </p:sp>
    </p:spTree>
    <p:extLst>
      <p:ext uri="{BB962C8B-B14F-4D97-AF65-F5344CB8AC3E}">
        <p14:creationId xmlns:p14="http://schemas.microsoft.com/office/powerpoint/2010/main" val="1499214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8/14/26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468193" y="2384770"/>
            <a:ext cx="9195514"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b="1" i="0"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latin typeface="Avenir Next" panose="020B0503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venir Next" panose="020B0503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74750" y="121898"/>
            <a:ext cx="1493949" cy="13767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50157"/>
            <a:ext cx="6060558" cy="3585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Submitte</a:t>
            </a:r>
            <a:r>
              <a:rPr lang="en-US" altLang="en-US" b="1" dirty="0">
                <a:latin typeface="Avenir Next" panose="020B0503020202020204" pitchFamily="34" charset="0"/>
                <a:ea typeface="Aptos" panose="020B0004020202020204" pitchFamily="34" charset="0"/>
                <a:cs typeface="Times New Roman" panose="02020603050405020304" pitchFamily="18" charset="0"/>
              </a:rPr>
              <a:t>d To</a:t>
            </a:r>
            <a:endPar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Chanakya National Law University</a:t>
            </a:r>
            <a:endParaRPr kumimoji="0" lang="en-US" altLang="en-US" b="1" i="0" u="none" strike="noStrike" cap="none" normalizeH="0" baseline="0" dirty="0">
              <a:ln>
                <a:noFill/>
              </a:ln>
              <a:solidFill>
                <a:schemeClr val="tx1"/>
              </a:solidFill>
              <a:effectLst/>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Nyaya Nagar, Patna 800001</a:t>
            </a:r>
            <a:endParaRPr lang="en-US" altLang="en-US" sz="1600" b="1" dirty="0">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8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DR. P. P. RAO</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ASSOCIATE PROFESSOR</a:t>
            </a:r>
          </a:p>
          <a:p>
            <a:pPr lvl="0" algn="ctr" defTabSz="914400"/>
            <a:endParaRPr lang="en-GB" altLang="en-US" sz="5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endParaRPr lang="en-GB" altLang="en-US" sz="16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lang="en-GB" altLang="en-US" sz="1600" b="1" dirty="0">
                <a:latin typeface="Avenir Next" panose="020B0503020202020204" pitchFamily="34" charset="0"/>
                <a:cs typeface="Times New Roman" panose="02020603050405020304" pitchFamily="18" charset="0"/>
              </a:rPr>
              <a:t>Submitted by</a:t>
            </a: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SAUMYA SINGH</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Roll No- PL-2121</a:t>
            </a:r>
          </a:p>
          <a:p>
            <a:pPr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Ph.D. (Batch- 2021)</a:t>
            </a:r>
            <a:endPar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	</a:t>
            </a:r>
            <a:endParaRPr kumimoji="0" lang="en-GB" altLang="en-US" sz="1600" b="1" i="0" u="none" strike="noStrike" cap="none" normalizeH="0" baseline="0" dirty="0">
              <a:ln>
                <a:noFill/>
              </a:ln>
              <a:solidFill>
                <a:schemeClr val="tx1"/>
              </a:solidFill>
              <a:effectLst/>
              <a:latin typeface="Avenir Next" panose="020B0503020202020204" pitchFamily="34" charset="0"/>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820110" y="1498674"/>
            <a:ext cx="3603230" cy="707886"/>
          </a:xfrm>
          <a:prstGeom prst="rect">
            <a:avLst/>
          </a:prstGeom>
          <a:noFill/>
        </p:spPr>
        <p:txBody>
          <a:bodyPr wrap="none" rtlCol="0">
            <a:spAutoFit/>
          </a:bodyPr>
          <a:lstStyle/>
          <a:p>
            <a:pPr algn="ctr"/>
            <a:r>
              <a:rPr lang="en-US" sz="2400" b="1" dirty="0"/>
              <a:t>Final Defense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96667"/>
            <a:ext cx="10698480" cy="677108"/>
          </a:xfrm>
          <a:prstGeom prst="rect">
            <a:avLst/>
          </a:prstGeom>
          <a:noFill/>
        </p:spPr>
        <p:txBody>
          <a:bodyPr wrap="square" tIns="91440" bIns="91440">
            <a:spAutoFit/>
          </a:bodyPr>
          <a:lstStyle/>
          <a:p>
            <a:pPr>
              <a:defRPr sz="3000" b="1">
                <a:solidFill>
                  <a:srgbClr val="173F35"/>
                </a:solidFill>
              </a:defRPr>
            </a:pPr>
            <a:r>
              <a:rPr sz="3200" b="1" dirty="0">
                <a:solidFill>
                  <a:srgbClr val="173F35"/>
                </a:solidFill>
                <a:latin typeface="Avenir Next Demi Bold"/>
              </a:rPr>
              <a:t>W</a:t>
            </a:r>
            <a:r>
              <a:rPr lang="en-US" sz="3200" b="1" dirty="0">
                <a:solidFill>
                  <a:srgbClr val="173F35"/>
                </a:solidFill>
                <a:latin typeface="Avenir Next Demi Bold"/>
              </a:rPr>
              <a:t>hat</a:t>
            </a:r>
            <a:r>
              <a:rPr sz="3200" b="1" dirty="0">
                <a:solidFill>
                  <a:srgbClr val="173F35"/>
                </a:solidFill>
                <a:latin typeface="Avenir Next Demi Bold"/>
              </a:rPr>
              <a:t> I</a:t>
            </a:r>
            <a:r>
              <a:rPr lang="en-US" sz="3200" b="1" dirty="0">
                <a:solidFill>
                  <a:srgbClr val="173F35"/>
                </a:solidFill>
                <a:latin typeface="Avenir Next Demi Bold"/>
              </a:rPr>
              <a:t>s</a:t>
            </a:r>
            <a:r>
              <a:rPr sz="3200" b="1" dirty="0">
                <a:solidFill>
                  <a:srgbClr val="173F35"/>
                </a:solidFill>
                <a:latin typeface="Avenir Next Demi Bold"/>
              </a:rPr>
              <a:t> G</a:t>
            </a:r>
            <a:r>
              <a:rPr lang="en-US" sz="3200" b="1" dirty="0">
                <a:solidFill>
                  <a:srgbClr val="173F35"/>
                </a:solidFill>
                <a:latin typeface="Avenir Next Demi Bold"/>
              </a:rPr>
              <a:t>reenwashing </a:t>
            </a:r>
            <a:r>
              <a:rPr sz="3200" b="1" dirty="0">
                <a:solidFill>
                  <a:srgbClr val="173F35"/>
                </a:solidFill>
                <a:latin typeface="Avenir Next Demi Bold"/>
              </a:rPr>
              <a:t>?</a:t>
            </a:r>
          </a:p>
        </p:txBody>
      </p:sp>
      <p:sp>
        <p:nvSpPr>
          <p:cNvPr id="6" name="Rounded Rectangle 5"/>
          <p:cNvSpPr/>
          <p:nvPr/>
        </p:nvSpPr>
        <p:spPr>
          <a:xfrm>
            <a:off x="594360" y="1787485"/>
            <a:ext cx="5760720" cy="492166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602730" y="1787485"/>
            <a:ext cx="576072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2071145"/>
            <a:ext cx="5486400" cy="4452501"/>
          </a:xfrm>
          <a:prstGeom prst="rect">
            <a:avLst/>
          </a:prstGeom>
          <a:noFill/>
        </p:spPr>
        <p:txBody>
          <a:bodyPr wrap="square" tIns="91440" bIns="91440">
            <a:spAutoFit/>
          </a:bodyPr>
          <a:lstStyle/>
          <a:p>
            <a:pPr>
              <a:spcAft>
                <a:spcPts val="600"/>
              </a:spcAft>
              <a:defRPr sz="1400" b="1">
                <a:solidFill>
                  <a:srgbClr val="12402D"/>
                </a:solidFill>
              </a:defRPr>
            </a:pPr>
            <a:r>
              <a:rPr dirty="0">
                <a:latin typeface="Avenir Next" panose="020B0503020202020204" pitchFamily="34" charset="0"/>
              </a:rPr>
              <a:t>The Green Façade (What Companies Show)</a:t>
            </a:r>
          </a:p>
          <a:p>
            <a:pPr>
              <a:spcBef>
                <a:spcPts val="300"/>
              </a:spcBef>
              <a:spcAft>
                <a:spcPts val="400"/>
              </a:spcAft>
            </a:pPr>
            <a:r>
              <a:rPr sz="1400" b="1" dirty="0">
                <a:solidFill>
                  <a:srgbClr val="22704E"/>
                </a:solidFill>
                <a:latin typeface="Avenir Next" panose="020B0503020202020204" pitchFamily="34" charset="0"/>
              </a:rPr>
              <a:t>• Earthy Imagery &amp; Buzzwords: </a:t>
            </a:r>
            <a:r>
              <a:rPr lang="en-US" sz="1400" dirty="0">
                <a:solidFill>
                  <a:srgbClr val="2D2D2D"/>
                </a:solidFill>
                <a:latin typeface="Avenir Next" panose="020B0503020202020204" pitchFamily="34" charset="0"/>
              </a:rPr>
              <a:t>Earthy </a:t>
            </a:r>
            <a:r>
              <a:rPr sz="1400" dirty="0">
                <a:solidFill>
                  <a:srgbClr val="2D2D2D"/>
                </a:solidFill>
                <a:latin typeface="Avenir Next" panose="020B0503020202020204" pitchFamily="34" charset="0"/>
              </a:rPr>
              <a:t>Brown </a:t>
            </a:r>
            <a:r>
              <a:rPr lang="en-US" sz="1400" dirty="0">
                <a:solidFill>
                  <a:srgbClr val="2D2D2D"/>
                </a:solidFill>
                <a:latin typeface="Avenir Next" panose="020B0503020202020204" pitchFamily="34" charset="0"/>
              </a:rPr>
              <a:t>or green </a:t>
            </a:r>
            <a:r>
              <a:rPr sz="1400" dirty="0">
                <a:solidFill>
                  <a:srgbClr val="2D2D2D"/>
                </a:solidFill>
                <a:latin typeface="Avenir Next" panose="020B0503020202020204" pitchFamily="34" charset="0"/>
              </a:rPr>
              <a:t>packaging, green leaves</a:t>
            </a:r>
            <a:r>
              <a:rPr lang="en-US" sz="1400" dirty="0">
                <a:solidFill>
                  <a:srgbClr val="2D2D2D"/>
                </a:solidFill>
                <a:latin typeface="Avenir Next" panose="020B0503020202020204" pitchFamily="34" charset="0"/>
              </a:rPr>
              <a:t> on packaging</a:t>
            </a:r>
            <a:r>
              <a:rPr sz="1400" dirty="0">
                <a:solidFill>
                  <a:srgbClr val="2D2D2D"/>
                </a:solidFill>
                <a:latin typeface="Avenir Next" panose="020B0503020202020204" pitchFamily="34" charset="0"/>
              </a:rPr>
              <a:t>, and loose terms </a:t>
            </a:r>
            <a:r>
              <a:rPr lang="en-US" sz="1400" dirty="0">
                <a:solidFill>
                  <a:srgbClr val="2D2D2D"/>
                </a:solidFill>
                <a:latin typeface="Avenir Next" panose="020B0503020202020204" pitchFamily="34" charset="0"/>
              </a:rPr>
              <a:t>like </a:t>
            </a:r>
            <a:r>
              <a:rPr sz="1400" dirty="0">
                <a:solidFill>
                  <a:srgbClr val="2D2D2D"/>
                </a:solidFill>
                <a:latin typeface="Avenir Next" panose="020B0503020202020204" pitchFamily="34" charset="0"/>
              </a:rPr>
              <a:t>"100% Eco", "Natural", </a:t>
            </a:r>
            <a:r>
              <a:rPr lang="en-US" sz="1400" dirty="0">
                <a:solidFill>
                  <a:srgbClr val="2D2D2D"/>
                </a:solidFill>
                <a:latin typeface="Avenir Next" panose="020B0503020202020204" pitchFamily="34" charset="0"/>
              </a:rPr>
              <a:t>”Recycled”, etc.</a:t>
            </a:r>
            <a:r>
              <a:rPr sz="1400" dirty="0">
                <a:solidFill>
                  <a:srgbClr val="2D2D2D"/>
                </a:solidFill>
                <a:latin typeface="Avenir Next" panose="020B0503020202020204" pitchFamily="34" charset="0"/>
              </a:rPr>
              <a:t>.</a:t>
            </a:r>
          </a:p>
          <a:p>
            <a:pPr>
              <a:spcBef>
                <a:spcPts val="300"/>
              </a:spcBef>
              <a:spcAft>
                <a:spcPts val="400"/>
              </a:spcAft>
            </a:pPr>
            <a:r>
              <a:rPr sz="1400" b="1" dirty="0">
                <a:solidFill>
                  <a:srgbClr val="22704E"/>
                </a:solidFill>
                <a:latin typeface="Avenir Next" panose="020B0503020202020204" pitchFamily="34" charset="0"/>
              </a:rPr>
              <a:t>• Self-Awarded Badges: </a:t>
            </a:r>
            <a:r>
              <a:rPr sz="1400" dirty="0">
                <a:solidFill>
                  <a:srgbClr val="2D2D2D"/>
                </a:solidFill>
                <a:latin typeface="Avenir Next" panose="020B0503020202020204" pitchFamily="34" charset="0"/>
              </a:rPr>
              <a:t>Inventing custom green stamps that </a:t>
            </a:r>
            <a:r>
              <a:rPr lang="en-US" sz="1400" dirty="0">
                <a:solidFill>
                  <a:srgbClr val="2D2D2D"/>
                </a:solidFill>
                <a:latin typeface="Avenir Next" panose="020B0503020202020204" pitchFamily="34" charset="0"/>
              </a:rPr>
              <a:t>imitate </a:t>
            </a:r>
            <a:r>
              <a:rPr sz="1400" dirty="0">
                <a:solidFill>
                  <a:srgbClr val="2D2D2D"/>
                </a:solidFill>
                <a:latin typeface="Avenir Next" panose="020B0503020202020204" pitchFamily="34" charset="0"/>
              </a:rPr>
              <a:t>official third-party certifications.</a:t>
            </a:r>
          </a:p>
          <a:p>
            <a:pPr>
              <a:spcBef>
                <a:spcPts val="300"/>
              </a:spcBef>
              <a:spcAft>
                <a:spcPts val="1000"/>
              </a:spcAft>
            </a:pPr>
            <a:r>
              <a:rPr sz="1400" b="1" dirty="0">
                <a:solidFill>
                  <a:srgbClr val="22704E"/>
                </a:solidFill>
                <a:latin typeface="Avenir Next" panose="020B0503020202020204" pitchFamily="34" charset="0"/>
              </a:rPr>
              <a:t>• Halo Marketing: </a:t>
            </a:r>
            <a:r>
              <a:rPr sz="1400" dirty="0">
                <a:solidFill>
                  <a:srgbClr val="2D2D2D"/>
                </a:solidFill>
                <a:latin typeface="Avenir Next" panose="020B0503020202020204" pitchFamily="34" charset="0"/>
              </a:rPr>
              <a:t>High-budget PR </a:t>
            </a:r>
            <a:r>
              <a:rPr lang="en-US" sz="1400" dirty="0">
                <a:solidFill>
                  <a:srgbClr val="2D2D2D"/>
                </a:solidFill>
                <a:latin typeface="Avenir Next" panose="020B0503020202020204" pitchFamily="34" charset="0"/>
              </a:rPr>
              <a:t>campaigns </a:t>
            </a:r>
            <a:r>
              <a:rPr sz="1400" dirty="0">
                <a:solidFill>
                  <a:srgbClr val="2D2D2D"/>
                </a:solidFill>
                <a:latin typeface="Avenir Next" panose="020B0503020202020204" pitchFamily="34" charset="0"/>
              </a:rPr>
              <a:t>highlighting 1 minor eco-feature while ignoring heavy pollution in core operations.</a:t>
            </a:r>
          </a:p>
          <a:p>
            <a:pPr>
              <a:spcBef>
                <a:spcPts val="800"/>
              </a:spcBef>
              <a:spcAft>
                <a:spcPts val="600"/>
              </a:spcAft>
              <a:defRPr sz="1400" b="1">
                <a:solidFill>
                  <a:srgbClr val="A8552F"/>
                </a:solidFill>
              </a:defRPr>
            </a:pPr>
            <a:r>
              <a:rPr dirty="0">
                <a:latin typeface="Avenir Next" panose="020B0503020202020204" pitchFamily="34" charset="0"/>
              </a:rPr>
              <a:t>The Hidden Reality (What Stays Concealed)</a:t>
            </a:r>
          </a:p>
          <a:p>
            <a:pPr>
              <a:spcBef>
                <a:spcPts val="300"/>
              </a:spcBef>
              <a:spcAft>
                <a:spcPts val="400"/>
              </a:spcAft>
            </a:pPr>
            <a:r>
              <a:rPr sz="1400" b="1" dirty="0">
                <a:solidFill>
                  <a:srgbClr val="A8552F"/>
                </a:solidFill>
                <a:latin typeface="Avenir Next" panose="020B0503020202020204" pitchFamily="34" charset="0"/>
              </a:rPr>
              <a:t>• Unchanged Operations: </a:t>
            </a:r>
            <a:r>
              <a:rPr sz="1400" dirty="0">
                <a:solidFill>
                  <a:srgbClr val="2D2D2D"/>
                </a:solidFill>
                <a:latin typeface="Avenir Next" panose="020B0503020202020204" pitchFamily="34" charset="0"/>
              </a:rPr>
              <a:t>Core operations stay heavily dependent on fossil fuels, toxic emissions, and plastic waste.</a:t>
            </a:r>
          </a:p>
          <a:p>
            <a:pPr>
              <a:spcBef>
                <a:spcPts val="300"/>
              </a:spcBef>
              <a:spcAft>
                <a:spcPts val="400"/>
              </a:spcAft>
            </a:pPr>
            <a:r>
              <a:rPr sz="1400" b="1" dirty="0">
                <a:solidFill>
                  <a:srgbClr val="A8552F"/>
                </a:solidFill>
                <a:latin typeface="Avenir Next" panose="020B0503020202020204" pitchFamily="34" charset="0"/>
              </a:rPr>
              <a:t>• </a:t>
            </a:r>
            <a:r>
              <a:rPr lang="en-US" sz="1400" b="1" dirty="0">
                <a:solidFill>
                  <a:srgbClr val="A8552F"/>
                </a:solidFill>
                <a:latin typeface="Avenir Next" panose="020B0503020202020204" pitchFamily="34" charset="0"/>
              </a:rPr>
              <a:t>Claim </a:t>
            </a:r>
            <a:r>
              <a:rPr sz="1400" b="1" dirty="0">
                <a:solidFill>
                  <a:srgbClr val="A8552F"/>
                </a:solidFill>
                <a:latin typeface="Avenir Next" panose="020B0503020202020204" pitchFamily="34" charset="0"/>
              </a:rPr>
              <a:t>Verification Deficit: </a:t>
            </a:r>
            <a:r>
              <a:rPr sz="1400" dirty="0">
                <a:solidFill>
                  <a:srgbClr val="2D2D2D"/>
                </a:solidFill>
                <a:latin typeface="Avenir Next" panose="020B0503020202020204" pitchFamily="34" charset="0"/>
              </a:rPr>
              <a:t>Zero scientific proof,</a:t>
            </a:r>
            <a:r>
              <a:rPr lang="en-US" sz="1400" dirty="0">
                <a:solidFill>
                  <a:srgbClr val="2D2D2D"/>
                </a:solidFill>
                <a:latin typeface="Avenir Next" panose="020B0503020202020204" pitchFamily="34" charset="0"/>
              </a:rPr>
              <a:t> no</a:t>
            </a:r>
            <a:r>
              <a:rPr sz="1400" dirty="0">
                <a:solidFill>
                  <a:srgbClr val="2D2D2D"/>
                </a:solidFill>
                <a:latin typeface="Avenir Next" panose="020B0503020202020204" pitchFamily="34" charset="0"/>
              </a:rPr>
              <a:t> independent audits, or verifiable data backing up the claims.</a:t>
            </a:r>
          </a:p>
          <a:p>
            <a:pPr>
              <a:spcBef>
                <a:spcPts val="300"/>
              </a:spcBef>
              <a:spcAft>
                <a:spcPts val="400"/>
              </a:spcAft>
            </a:pPr>
            <a:r>
              <a:rPr sz="1400" b="1" dirty="0">
                <a:solidFill>
                  <a:srgbClr val="A8552F"/>
                </a:solidFill>
                <a:latin typeface="Avenir Next" panose="020B0503020202020204" pitchFamily="34" charset="0"/>
              </a:rPr>
              <a:t>• Disconnected Governance: </a:t>
            </a:r>
            <a:r>
              <a:rPr sz="1400" dirty="0">
                <a:solidFill>
                  <a:srgbClr val="2D2D2D"/>
                </a:solidFill>
                <a:latin typeface="Avenir Next" panose="020B0503020202020204" pitchFamily="34" charset="0"/>
              </a:rPr>
              <a:t>PR and marketing operate independently from boardroom decisions and oversight.</a:t>
            </a:r>
          </a:p>
        </p:txBody>
      </p:sp>
      <p:pic>
        <p:nvPicPr>
          <p:cNvPr id="11" name="Picture 10">
            <a:extLst>
              <a:ext uri="{FF2B5EF4-FFF2-40B4-BE49-F238E27FC236}">
                <a16:creationId xmlns:a16="http://schemas.microsoft.com/office/drawing/2014/main" id="{16A96FB4-60E9-C6D9-B0FD-C931CEDC2A8D}"/>
              </a:ext>
            </a:extLst>
          </p:cNvPr>
          <p:cNvPicPr>
            <a:picLocks noChangeAspect="1"/>
          </p:cNvPicPr>
          <p:nvPr/>
        </p:nvPicPr>
        <p:blipFill>
          <a:blip r:embed="rId2"/>
          <a:stretch>
            <a:fillRect/>
          </a:stretch>
        </p:blipFill>
        <p:spPr>
          <a:xfrm>
            <a:off x="6620027" y="489397"/>
            <a:ext cx="5395961" cy="5874661"/>
          </a:xfrm>
          <a:prstGeom prst="rect">
            <a:avLst/>
          </a:prstGeom>
        </p:spPr>
      </p:pic>
      <p:sp>
        <p:nvSpPr>
          <p:cNvPr id="5" name="TextBox 4"/>
          <p:cNvSpPr txBox="1"/>
          <p:nvPr/>
        </p:nvSpPr>
        <p:spPr>
          <a:xfrm>
            <a:off x="731520" y="1041256"/>
            <a:ext cx="7717021" cy="677108"/>
          </a:xfrm>
          <a:prstGeom prst="rect">
            <a:avLst/>
          </a:prstGeom>
          <a:noFill/>
        </p:spPr>
        <p:txBody>
          <a:bodyPr wrap="square" tIns="91440" bIns="91440">
            <a:spAutoFit/>
          </a:bodyPr>
          <a:lstStyle/>
          <a:p>
            <a:pPr>
              <a:defRPr sz="2200" b="1">
                <a:solidFill>
                  <a:srgbClr val="173F35"/>
                </a:solidFill>
                <a:latin typeface="Georgia"/>
              </a:defRPr>
            </a:pPr>
            <a:r>
              <a:rPr lang="en-IN" sz="1600" dirty="0">
                <a:latin typeface="Avenir Next" panose="020B0503020202020204" pitchFamily="34" charset="0"/>
              </a:rPr>
              <a:t>Greenwashing is defined as any misleading, exaggerated, vague, or unsubstantiated environmental claim made by an entity.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70909"/>
            <a:ext cx="10698480" cy="677108"/>
          </a:xfrm>
          <a:prstGeom prst="rect">
            <a:avLst/>
          </a:prstGeom>
          <a:noFill/>
        </p:spPr>
        <p:txBody>
          <a:bodyPr wrap="square" tIns="91440" bIns="91440">
            <a:spAutoFit/>
          </a:bodyPr>
          <a:lstStyle/>
          <a:p>
            <a:pPr>
              <a:defRPr sz="3000" b="1">
                <a:solidFill>
                  <a:srgbClr val="173F35"/>
                </a:solidFill>
              </a:defRPr>
            </a:pPr>
            <a:r>
              <a:rPr lang="en-US" sz="3200" b="1" dirty="0">
                <a:solidFill>
                  <a:srgbClr val="173F35"/>
                </a:solidFill>
                <a:latin typeface="Avenir Next Demi Bold"/>
              </a:rPr>
              <a:t>Why Greenwashing Matters To Us ?</a:t>
            </a:r>
            <a:endParaRPr sz="3200" b="1" dirty="0">
              <a:solidFill>
                <a:srgbClr val="173F35"/>
              </a:solidFill>
              <a:latin typeface="Avenir Next Demi Bold"/>
            </a:endParaRPr>
          </a:p>
        </p:txBody>
      </p:sp>
      <p:sp>
        <p:nvSpPr>
          <p:cNvPr id="5" name="TextBox 4"/>
          <p:cNvSpPr txBox="1"/>
          <p:nvPr/>
        </p:nvSpPr>
        <p:spPr>
          <a:xfrm>
            <a:off x="731520" y="1067013"/>
            <a:ext cx="10698480" cy="430887"/>
          </a:xfrm>
          <a:prstGeom prst="rect">
            <a:avLst/>
          </a:prstGeom>
          <a:noFill/>
        </p:spPr>
        <p:txBody>
          <a:bodyPr wrap="square" tIns="91440" bIns="91440">
            <a:spAutoFit/>
          </a:bodyPr>
          <a:lstStyle/>
          <a:p>
            <a:pPr>
              <a:defRPr sz="1350" b="1" i="1">
                <a:solidFill>
                  <a:srgbClr val="12402D"/>
                </a:solidFill>
              </a:defRPr>
            </a:pPr>
            <a:r>
              <a:rPr sz="1600" dirty="0">
                <a:latin typeface="Avenir Next" panose="020B0503020202020204" pitchFamily="34" charset="0"/>
              </a:rPr>
              <a:t>Greenwashing is not just a distant corporate issue—it directly affects our wallets, our choices, and our future.</a:t>
            </a:r>
          </a:p>
        </p:txBody>
      </p:sp>
      <p:sp>
        <p:nvSpPr>
          <p:cNvPr id="6" name="Rounded Rectangle 5"/>
          <p:cNvSpPr/>
          <p:nvPr/>
        </p:nvSpPr>
        <p:spPr>
          <a:xfrm>
            <a:off x="731520" y="1737360"/>
            <a:ext cx="3383280" cy="347472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731520" y="1737360"/>
            <a:ext cx="3383280" cy="109728"/>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1920240"/>
            <a:ext cx="3108960" cy="2908489"/>
          </a:xfrm>
          <a:prstGeom prst="rect">
            <a:avLst/>
          </a:prstGeom>
          <a:noFill/>
        </p:spPr>
        <p:txBody>
          <a:bodyPr wrap="square" tIns="91440" bIns="91440">
            <a:spAutoFit/>
          </a:bodyPr>
          <a:lstStyle/>
          <a:p>
            <a:pPr>
              <a:spcAft>
                <a:spcPts val="200"/>
              </a:spcAft>
              <a:defRPr sz="1600" b="1">
                <a:solidFill>
                  <a:srgbClr val="22704E"/>
                </a:solidFill>
              </a:defRPr>
            </a:pPr>
            <a:r>
              <a:rPr dirty="0">
                <a:latin typeface="Avenir Next" panose="020B0503020202020204" pitchFamily="34" charset="0"/>
              </a:rPr>
              <a:t>OUR WALLET</a:t>
            </a:r>
          </a:p>
          <a:p>
            <a:pPr>
              <a:spcAft>
                <a:spcPts val="1200"/>
              </a:spcAft>
              <a:defRPr sz="1300" b="1">
                <a:solidFill>
                  <a:srgbClr val="2D2D2D"/>
                </a:solidFill>
              </a:defRPr>
            </a:pPr>
            <a:r>
              <a:rPr dirty="0">
                <a:latin typeface="Avenir Next" panose="020B0503020202020204" pitchFamily="34" charset="0"/>
              </a:rPr>
              <a:t>"</a:t>
            </a:r>
            <a:r>
              <a:rPr lang="en-IN" dirty="0">
                <a:latin typeface="Avenir Next" panose="020B0503020202020204" pitchFamily="34" charset="0"/>
              </a:rPr>
              <a:t>The Premium We Pay</a:t>
            </a:r>
            <a:r>
              <a:rPr dirty="0">
                <a:latin typeface="Avenir Next" panose="020B0503020202020204" pitchFamily="34" charset="0"/>
              </a:rPr>
              <a:t>"</a:t>
            </a:r>
          </a:p>
          <a:p>
            <a:pPr>
              <a:spcAft>
                <a:spcPts val="1000"/>
              </a:spcAft>
              <a:defRPr sz="1200">
                <a:solidFill>
                  <a:srgbClr val="2D2D2D"/>
                </a:solidFill>
              </a:defRPr>
            </a:pPr>
            <a:r>
              <a:rPr sz="1600" dirty="0">
                <a:latin typeface="Avenir Next" panose="020B0503020202020204" pitchFamily="34" charset="0"/>
              </a:rPr>
              <a:t>• When we deliberately pay extra for 'eco-friendly' goods, we spend hard-earned money in good faith.</a:t>
            </a:r>
          </a:p>
          <a:p>
            <a:pPr>
              <a:defRPr sz="1200">
                <a:solidFill>
                  <a:srgbClr val="2D2D2D"/>
                </a:solidFill>
              </a:defRPr>
            </a:pPr>
            <a:r>
              <a:rPr sz="1600" dirty="0">
                <a:latin typeface="Avenir Next" panose="020B0503020202020204" pitchFamily="34" charset="0"/>
              </a:rPr>
              <a:t>• Too often, that extra premium ends up funding expensive PR campaigns instead of genuine environmental solutions.</a:t>
            </a:r>
          </a:p>
        </p:txBody>
      </p:sp>
      <p:sp>
        <p:nvSpPr>
          <p:cNvPr id="9" name="Rounded Rectangle 8"/>
          <p:cNvSpPr/>
          <p:nvPr/>
        </p:nvSpPr>
        <p:spPr>
          <a:xfrm>
            <a:off x="4389120" y="1737360"/>
            <a:ext cx="3383280" cy="3474720"/>
          </a:xfrm>
          <a:prstGeom prst="roundRect">
            <a:avLst/>
          </a:prstGeom>
          <a:solidFill>
            <a:srgbClr val="FFFFFF"/>
          </a:solidFill>
          <a:ln w="12700">
            <a:solidFill>
              <a:srgbClr val="DC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Rectangle 9"/>
          <p:cNvSpPr/>
          <p:nvPr/>
        </p:nvSpPr>
        <p:spPr>
          <a:xfrm>
            <a:off x="4389120" y="1737360"/>
            <a:ext cx="338328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TextBox 10"/>
          <p:cNvSpPr txBox="1"/>
          <p:nvPr/>
        </p:nvSpPr>
        <p:spPr>
          <a:xfrm>
            <a:off x="4526280" y="1920240"/>
            <a:ext cx="3108960" cy="3154710"/>
          </a:xfrm>
          <a:prstGeom prst="rect">
            <a:avLst/>
          </a:prstGeom>
          <a:noFill/>
        </p:spPr>
        <p:txBody>
          <a:bodyPr wrap="square" tIns="91440" bIns="91440">
            <a:spAutoFit/>
          </a:bodyPr>
          <a:lstStyle/>
          <a:p>
            <a:pPr>
              <a:spcAft>
                <a:spcPts val="200"/>
              </a:spcAft>
              <a:defRPr sz="1600" b="1">
                <a:solidFill>
                  <a:srgbClr val="12402D"/>
                </a:solidFill>
              </a:defRPr>
            </a:pPr>
            <a:r>
              <a:rPr dirty="0">
                <a:latin typeface="Avenir Next" panose="020B0503020202020204" pitchFamily="34" charset="0"/>
              </a:rPr>
              <a:t>OUR CHOICES</a:t>
            </a:r>
          </a:p>
          <a:p>
            <a:pPr>
              <a:spcAft>
                <a:spcPts val="1200"/>
              </a:spcAft>
              <a:defRPr sz="1300" b="1">
                <a:solidFill>
                  <a:srgbClr val="2D2D2D"/>
                </a:solidFill>
              </a:defRPr>
            </a:pPr>
            <a:r>
              <a:rPr dirty="0">
                <a:latin typeface="Avenir Next" panose="020B0503020202020204" pitchFamily="34" charset="0"/>
              </a:rPr>
              <a:t>"The Illusion of Impact"</a:t>
            </a:r>
          </a:p>
          <a:p>
            <a:pPr>
              <a:spcAft>
                <a:spcPts val="1000"/>
              </a:spcAft>
              <a:defRPr sz="1200">
                <a:solidFill>
                  <a:srgbClr val="2D2D2D"/>
                </a:solidFill>
              </a:defRPr>
            </a:pPr>
            <a:r>
              <a:rPr sz="1600" dirty="0">
                <a:latin typeface="Avenir Next" panose="020B0503020202020204" pitchFamily="34" charset="0"/>
              </a:rPr>
              <a:t>• Millions adopt sustainable habits</a:t>
            </a:r>
            <a:r>
              <a:rPr lang="en-US" sz="1600" dirty="0">
                <a:latin typeface="Avenir Next" panose="020B0503020202020204" pitchFamily="34" charset="0"/>
              </a:rPr>
              <a:t>, </a:t>
            </a:r>
            <a:r>
              <a:rPr sz="1600" dirty="0">
                <a:latin typeface="Avenir Next" panose="020B0503020202020204" pitchFamily="34" charset="0"/>
              </a:rPr>
              <a:t>carrying cloth bags, sorting waste, and choosing conscious brands.</a:t>
            </a:r>
          </a:p>
          <a:p>
            <a:pPr>
              <a:defRPr sz="1200">
                <a:solidFill>
                  <a:srgbClr val="2D2D2D"/>
                </a:solidFill>
              </a:defRPr>
            </a:pPr>
            <a:r>
              <a:rPr sz="1600" dirty="0">
                <a:latin typeface="Avenir Next" panose="020B0503020202020204" pitchFamily="34" charset="0"/>
              </a:rPr>
              <a:t>• Deceptive corporate claims make these honest lifestyle choices meaningless while industrial pollution continues unchecked.</a:t>
            </a:r>
          </a:p>
        </p:txBody>
      </p:sp>
      <p:sp>
        <p:nvSpPr>
          <p:cNvPr id="12" name="Rounded Rectangle 11"/>
          <p:cNvSpPr/>
          <p:nvPr/>
        </p:nvSpPr>
        <p:spPr>
          <a:xfrm>
            <a:off x="8046720" y="1737360"/>
            <a:ext cx="3383280" cy="3474720"/>
          </a:xfrm>
          <a:prstGeom prst="roundRect">
            <a:avLst/>
          </a:prstGeom>
          <a:solidFill>
            <a:srgbClr val="FFFFFF"/>
          </a:solidFill>
          <a:ln w="12700">
            <a:solidFill>
              <a:srgbClr val="E6BE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ectangle 12"/>
          <p:cNvSpPr/>
          <p:nvPr/>
        </p:nvSpPr>
        <p:spPr>
          <a:xfrm>
            <a:off x="8046720" y="1737360"/>
            <a:ext cx="3383280" cy="109728"/>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TextBox 13"/>
          <p:cNvSpPr txBox="1"/>
          <p:nvPr/>
        </p:nvSpPr>
        <p:spPr>
          <a:xfrm>
            <a:off x="8183880" y="1920240"/>
            <a:ext cx="3108960" cy="3154710"/>
          </a:xfrm>
          <a:prstGeom prst="rect">
            <a:avLst/>
          </a:prstGeom>
          <a:noFill/>
        </p:spPr>
        <p:txBody>
          <a:bodyPr wrap="square" tIns="91440" bIns="91440">
            <a:spAutoFit/>
          </a:bodyPr>
          <a:lstStyle/>
          <a:p>
            <a:pPr>
              <a:spcAft>
                <a:spcPts val="200"/>
              </a:spcAft>
              <a:defRPr sz="1600" b="1">
                <a:solidFill>
                  <a:srgbClr val="A8552F"/>
                </a:solidFill>
              </a:defRPr>
            </a:pPr>
            <a:r>
              <a:rPr dirty="0">
                <a:latin typeface="Avenir Next" panose="020B0503020202020204" pitchFamily="34" charset="0"/>
              </a:rPr>
              <a:t>OUR FUTURE</a:t>
            </a:r>
          </a:p>
          <a:p>
            <a:pPr>
              <a:spcAft>
                <a:spcPts val="1200"/>
              </a:spcAft>
              <a:defRPr sz="1300" b="1">
                <a:solidFill>
                  <a:srgbClr val="2D2D2D"/>
                </a:solidFill>
              </a:defRPr>
            </a:pPr>
            <a:r>
              <a:rPr dirty="0">
                <a:latin typeface="Avenir Next" panose="020B0503020202020204" pitchFamily="34" charset="0"/>
              </a:rPr>
              <a:t>"The False Comfort"</a:t>
            </a:r>
          </a:p>
          <a:p>
            <a:pPr>
              <a:spcAft>
                <a:spcPts val="1000"/>
              </a:spcAft>
              <a:defRPr sz="1200">
                <a:solidFill>
                  <a:srgbClr val="2D2D2D"/>
                </a:solidFill>
              </a:defRPr>
            </a:pPr>
            <a:r>
              <a:rPr sz="1600" dirty="0">
                <a:latin typeface="Avenir Next" panose="020B0503020202020204" pitchFamily="34" charset="0"/>
              </a:rPr>
              <a:t>• Corporate slogans like 'Net-Zero by 2050' create a false comfort that someone else is solving the climate crisis.</a:t>
            </a:r>
          </a:p>
          <a:p>
            <a:pPr>
              <a:defRPr sz="1200">
                <a:solidFill>
                  <a:srgbClr val="2D2D2D"/>
                </a:solidFill>
              </a:defRPr>
            </a:pPr>
            <a:r>
              <a:rPr sz="1600" dirty="0">
                <a:latin typeface="Avenir Next" panose="020B0503020202020204" pitchFamily="34" charset="0"/>
              </a:rPr>
              <a:t>• This false</a:t>
            </a:r>
            <a:r>
              <a:rPr lang="en-US" sz="1600" dirty="0">
                <a:latin typeface="Avenir Next" panose="020B0503020202020204" pitchFamily="34" charset="0"/>
              </a:rPr>
              <a:t> sense of</a:t>
            </a:r>
            <a:r>
              <a:rPr sz="1600" dirty="0">
                <a:latin typeface="Avenir Next" panose="020B0503020202020204" pitchFamily="34" charset="0"/>
              </a:rPr>
              <a:t> </a:t>
            </a:r>
            <a:r>
              <a:rPr lang="en-US" sz="1600" dirty="0">
                <a:latin typeface="Avenir Next" panose="020B0503020202020204" pitchFamily="34" charset="0"/>
              </a:rPr>
              <a:t>security </a:t>
            </a:r>
            <a:r>
              <a:rPr sz="1600" dirty="0">
                <a:latin typeface="Avenir Next" panose="020B0503020202020204" pitchFamily="34" charset="0"/>
              </a:rPr>
              <a:t>delays urgent action, while extreme weather and toxic pollution directly threaten our families.</a:t>
            </a:r>
          </a:p>
        </p:txBody>
      </p:sp>
      <p:sp>
        <p:nvSpPr>
          <p:cNvPr id="15" name="Rounded Rectangle 14"/>
          <p:cNvSpPr/>
          <p:nvPr/>
        </p:nvSpPr>
        <p:spPr>
          <a:xfrm>
            <a:off x="731520" y="5394960"/>
            <a:ext cx="10698480" cy="1005840"/>
          </a:xfrm>
          <a:prstGeom prst="round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wrap="square" lIns="274320" tIns="137160" rIns="274320" rtlCol="0" anchor="ctr"/>
          <a:lstStyle/>
          <a:p>
            <a:pPr algn="ctr">
              <a:spcAft>
                <a:spcPts val="400"/>
              </a:spcAft>
              <a:defRPr sz="1100" b="1">
                <a:solidFill>
                  <a:srgbClr val="F5C542"/>
                </a:solidFill>
              </a:defRPr>
            </a:pPr>
            <a:r>
              <a:rPr dirty="0">
                <a:latin typeface="Avenir Next" panose="020B0503020202020204" pitchFamily="34" charset="0"/>
              </a:rPr>
              <a:t>THE </a:t>
            </a:r>
            <a:r>
              <a:rPr lang="en-US" dirty="0">
                <a:latin typeface="Avenir Next" panose="020B0503020202020204" pitchFamily="34" charset="0"/>
              </a:rPr>
              <a:t>PROBLEM</a:t>
            </a:r>
            <a:r>
              <a:rPr dirty="0">
                <a:latin typeface="Avenir Next" panose="020B0503020202020204" pitchFamily="34" charset="0"/>
              </a:rPr>
              <a:t> </a:t>
            </a:r>
            <a:r>
              <a:rPr lang="en-US" dirty="0">
                <a:latin typeface="Avenir Next" panose="020B0503020202020204" pitchFamily="34" charset="0"/>
              </a:rPr>
              <a:t>IN FRONT OF</a:t>
            </a:r>
            <a:r>
              <a:rPr dirty="0">
                <a:latin typeface="Avenir Next" panose="020B0503020202020204" pitchFamily="34" charset="0"/>
              </a:rPr>
              <a:t> US:</a:t>
            </a:r>
          </a:p>
          <a:p>
            <a:pPr algn="ctr">
              <a:defRPr sz="1500" b="1" i="1">
                <a:solidFill>
                  <a:srgbClr val="FFFFFF"/>
                </a:solidFill>
              </a:defRPr>
            </a:pPr>
            <a:r>
              <a:rPr dirty="0">
                <a:latin typeface="Avenir Next" panose="020B0503020202020204" pitchFamily="34" charset="0"/>
              </a:rPr>
              <a:t>“When every label claims to be 'green', how do </a:t>
            </a:r>
            <a:r>
              <a:rPr lang="en-US" dirty="0">
                <a:latin typeface="Avenir Next" panose="020B0503020202020204" pitchFamily="34" charset="0"/>
              </a:rPr>
              <a:t>we</a:t>
            </a:r>
            <a:r>
              <a:rPr dirty="0">
                <a:latin typeface="Avenir Next" panose="020B0503020202020204" pitchFamily="34" charset="0"/>
              </a:rPr>
              <a:t> protect our wallet, our trust and our family's future?”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612791"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The Scale of the Problem</a:t>
            </a:r>
            <a:r>
              <a:rPr lang="en-US" sz="3200" b="1" dirty="0">
                <a:solidFill>
                  <a:srgbClr val="173F35"/>
                </a:solidFill>
                <a:latin typeface="Avenir Next Demi Bold"/>
              </a:rPr>
              <a:t>: As </a:t>
            </a:r>
            <a:r>
              <a:rPr sz="3200" b="1" dirty="0">
                <a:solidFill>
                  <a:srgbClr val="173F35"/>
                </a:solidFill>
                <a:latin typeface="Avenir Next Demi Bold"/>
              </a:rPr>
              <a:t>Visible in India</a:t>
            </a:r>
          </a:p>
        </p:txBody>
      </p:sp>
      <p:sp>
        <p:nvSpPr>
          <p:cNvPr id="8" name="Rounded Rectangle 7"/>
          <p:cNvSpPr/>
          <p:nvPr/>
        </p:nvSpPr>
        <p:spPr>
          <a:xfrm>
            <a:off x="783524" y="1614768"/>
            <a:ext cx="3166684" cy="296885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ounded Rectangle 8"/>
          <p:cNvSpPr/>
          <p:nvPr/>
        </p:nvSpPr>
        <p:spPr>
          <a:xfrm>
            <a:off x="948116" y="1721529"/>
            <a:ext cx="2207454" cy="553533"/>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sz="1400" dirty="0">
                <a:latin typeface="Avenir Next" panose="020B0503020202020204" pitchFamily="34" charset="0"/>
              </a:rPr>
              <a:t>Consumer-facing deception</a:t>
            </a:r>
            <a:r>
              <a:rPr lang="en-US" sz="1400" dirty="0">
                <a:latin typeface="Avenir Next" panose="020B0503020202020204" pitchFamily="34" charset="0"/>
              </a:rPr>
              <a:t> – ASCI Data</a:t>
            </a:r>
            <a:endParaRPr sz="1400" dirty="0">
              <a:latin typeface="Avenir Next" panose="020B0503020202020204" pitchFamily="34" charset="0"/>
            </a:endParaRPr>
          </a:p>
        </p:txBody>
      </p:sp>
      <p:sp>
        <p:nvSpPr>
          <p:cNvPr id="10" name="TextBox 9"/>
          <p:cNvSpPr txBox="1"/>
          <p:nvPr/>
        </p:nvSpPr>
        <p:spPr>
          <a:xfrm>
            <a:off x="987552" y="2268243"/>
            <a:ext cx="1893914" cy="461665"/>
          </a:xfrm>
          <a:prstGeom prst="rect">
            <a:avLst/>
          </a:prstGeom>
          <a:noFill/>
        </p:spPr>
        <p:txBody>
          <a:bodyPr wrap="square" anchor="t">
            <a:spAutoFit/>
          </a:bodyPr>
          <a:lstStyle/>
          <a:p>
            <a:pPr algn="l">
              <a:defRPr sz="2400" b="1">
                <a:solidFill>
                  <a:srgbClr val="173F35"/>
                </a:solidFill>
                <a:latin typeface="Georgia"/>
              </a:defRPr>
            </a:pPr>
            <a:r>
              <a:rPr dirty="0">
                <a:latin typeface="Avenir Next" panose="020B0503020202020204" pitchFamily="34" charset="0"/>
              </a:rPr>
              <a:t>211 / 211</a:t>
            </a:r>
          </a:p>
        </p:txBody>
      </p:sp>
      <p:sp>
        <p:nvSpPr>
          <p:cNvPr id="11" name="TextBox 10"/>
          <p:cNvSpPr txBox="1"/>
          <p:nvPr/>
        </p:nvSpPr>
        <p:spPr>
          <a:xfrm>
            <a:off x="987552" y="2752875"/>
            <a:ext cx="2670048" cy="1384995"/>
          </a:xfrm>
          <a:prstGeom prst="rect">
            <a:avLst/>
          </a:prstGeom>
          <a:noFill/>
        </p:spPr>
        <p:txBody>
          <a:bodyPr wrap="square" lIns="91440" tIns="45720" rIns="91440" bIns="45720" anchor="t">
            <a:spAutoFit/>
          </a:bodyPr>
          <a:lstStyle/>
          <a:p>
            <a:pPr>
              <a:defRPr sz="1150" b="0">
                <a:solidFill>
                  <a:srgbClr val="2A2A2A"/>
                </a:solidFill>
                <a:latin typeface="Avenir Next"/>
              </a:defRPr>
            </a:pPr>
            <a:r>
              <a:rPr sz="1400" dirty="0">
                <a:latin typeface="Avenir Next" panose="020B0503020202020204" pitchFamily="34" charset="0"/>
              </a:rPr>
              <a:t>ASCI reviewed 211 environmental ads in </a:t>
            </a:r>
            <a:r>
              <a:rPr lang="en-US" sz="1400" dirty="0">
                <a:latin typeface="Avenir Next" panose="020B0503020202020204" pitchFamily="34" charset="0"/>
              </a:rPr>
              <a:t>its 2024-25 Annual Report </a:t>
            </a:r>
            <a:r>
              <a:rPr sz="1400" dirty="0">
                <a:latin typeface="Avenir Next" panose="020B0503020202020204" pitchFamily="34" charset="0"/>
              </a:rPr>
              <a:t>and every one </a:t>
            </a:r>
            <a:r>
              <a:rPr lang="en-US" sz="1400" dirty="0">
                <a:latin typeface="Avenir Next" panose="020B0503020202020204" pitchFamily="34" charset="0"/>
              </a:rPr>
              <a:t>of them </a:t>
            </a:r>
            <a:r>
              <a:rPr sz="1400" dirty="0">
                <a:latin typeface="Avenir Next" panose="020B0503020202020204" pitchFamily="34" charset="0"/>
              </a:rPr>
              <a:t>required modification for lack of substantiation.</a:t>
            </a:r>
          </a:p>
        </p:txBody>
      </p:sp>
      <p:sp>
        <p:nvSpPr>
          <p:cNvPr id="13" name="Rounded Rectangle 12"/>
          <p:cNvSpPr/>
          <p:nvPr/>
        </p:nvSpPr>
        <p:spPr>
          <a:xfrm>
            <a:off x="4133087" y="1614768"/>
            <a:ext cx="3127248" cy="315061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Rounded Rectangle 13"/>
          <p:cNvSpPr/>
          <p:nvPr/>
        </p:nvSpPr>
        <p:spPr>
          <a:xfrm>
            <a:off x="4315968" y="1721528"/>
            <a:ext cx="2542032" cy="55318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ea typeface="+mn-lt"/>
                <a:cs typeface="+mn-lt"/>
              </a:rPr>
              <a:t>Secondary Data from </a:t>
            </a:r>
            <a:r>
              <a:rPr lang="en-US" sz="1400" dirty="0">
                <a:latin typeface="Avenir Next" panose="020B0503020202020204" pitchFamily="34" charset="0"/>
              </a:rPr>
              <a:t>Listed-company</a:t>
            </a:r>
            <a:r>
              <a:rPr sz="1400" dirty="0">
                <a:latin typeface="Avenir Next" panose="020B0503020202020204" pitchFamily="34" charset="0"/>
              </a:rPr>
              <a:t> </a:t>
            </a:r>
            <a:r>
              <a:rPr lang="en-US" sz="1400" dirty="0">
                <a:latin typeface="Avenir Next" panose="020B0503020202020204" pitchFamily="34" charset="0"/>
              </a:rPr>
              <a:t> studies</a:t>
            </a:r>
          </a:p>
        </p:txBody>
      </p:sp>
      <p:sp>
        <p:nvSpPr>
          <p:cNvPr id="15" name="TextBox 14"/>
          <p:cNvSpPr txBox="1"/>
          <p:nvPr/>
        </p:nvSpPr>
        <p:spPr>
          <a:xfrm>
            <a:off x="4226470" y="2299101"/>
            <a:ext cx="2722970" cy="738664"/>
          </a:xfrm>
          <a:prstGeom prst="rect">
            <a:avLst/>
          </a:prstGeom>
          <a:noFill/>
        </p:spPr>
        <p:txBody>
          <a:bodyPr wrap="square" lIns="91440" tIns="45720" rIns="91440" bIns="45720" anchor="t">
            <a:spAutoFit/>
          </a:bodyPr>
          <a:lstStyle/>
          <a:p>
            <a:pPr marL="285750" indent="-285750" algn="l">
              <a:buFont typeface="Arial" panose="020B0604020202020204" pitchFamily="34" charset="0"/>
              <a:buChar char="•"/>
              <a:defRPr sz="1150" b="1">
                <a:solidFill>
                  <a:srgbClr val="2A2A2A"/>
                </a:solidFill>
                <a:latin typeface="Avenir Next"/>
              </a:defRPr>
            </a:pPr>
            <a:r>
              <a:rPr sz="1400" dirty="0">
                <a:latin typeface="Avenir Next" panose="020B0503020202020204" pitchFamily="34" charset="0"/>
              </a:rPr>
              <a:t>54% of NSE-listed firms in one study engaged in greenwashing.</a:t>
            </a:r>
            <a:endParaRPr lang="en-US" sz="1400" dirty="0">
              <a:latin typeface="Avenir Next" panose="020B0503020202020204" pitchFamily="34" charset="0"/>
            </a:endParaRPr>
          </a:p>
        </p:txBody>
      </p:sp>
      <p:sp>
        <p:nvSpPr>
          <p:cNvPr id="16" name="TextBox 15"/>
          <p:cNvSpPr txBox="1"/>
          <p:nvPr/>
        </p:nvSpPr>
        <p:spPr>
          <a:xfrm>
            <a:off x="4226470" y="3008074"/>
            <a:ext cx="2722970" cy="738664"/>
          </a:xfrm>
          <a:prstGeom prst="rect">
            <a:avLst/>
          </a:prstGeom>
          <a:noFill/>
        </p:spPr>
        <p:txBody>
          <a:bodyPr wrap="square" lIns="91440" tIns="45720" rIns="91440" bIns="45720" anchor="t">
            <a:spAutoFit/>
          </a:bodyPr>
          <a:lstStyle/>
          <a:p>
            <a:pPr marL="342900" indent="-342900">
              <a:buFont typeface="Arial" panose="020B0604020202020204" pitchFamily="34" charset="0"/>
              <a:buChar char="•"/>
              <a:defRPr sz="1150" b="1">
                <a:solidFill>
                  <a:srgbClr val="2A2A2A"/>
                </a:solidFill>
                <a:latin typeface="Avenir Next"/>
              </a:defRPr>
            </a:pPr>
            <a:r>
              <a:rPr sz="1400" dirty="0">
                <a:latin typeface="Avenir Next" panose="020B0503020202020204" pitchFamily="34" charset="0"/>
              </a:rPr>
              <a:t>47% of NIFTY 50 companies were flagged in </a:t>
            </a:r>
            <a:r>
              <a:rPr lang="en-US" sz="1400" dirty="0">
                <a:latin typeface="Avenir Next" panose="020B0503020202020204" pitchFamily="34" charset="0"/>
              </a:rPr>
              <a:t>another research</a:t>
            </a:r>
            <a:r>
              <a:rPr sz="1400" dirty="0">
                <a:latin typeface="Avenir Next" panose="020B0503020202020204" pitchFamily="34" charset="0"/>
              </a:rPr>
              <a:t>.</a:t>
            </a:r>
            <a:endParaRPr lang="en-US" sz="1400" dirty="0">
              <a:latin typeface="Avenir Next" panose="020B0503020202020204" pitchFamily="34" charset="0"/>
            </a:endParaRPr>
          </a:p>
        </p:txBody>
      </p:sp>
      <p:sp>
        <p:nvSpPr>
          <p:cNvPr id="17" name="TextBox 16"/>
          <p:cNvSpPr txBox="1"/>
          <p:nvPr/>
        </p:nvSpPr>
        <p:spPr>
          <a:xfrm>
            <a:off x="4212151" y="3692983"/>
            <a:ext cx="2938457" cy="954107"/>
          </a:xfrm>
          <a:prstGeom prst="rect">
            <a:avLst/>
          </a:prstGeom>
          <a:noFill/>
        </p:spPr>
        <p:txBody>
          <a:bodyPr wrap="square" anchor="t">
            <a:spAutoFit/>
          </a:bodyPr>
          <a:lstStyle/>
          <a:p>
            <a:pPr marL="285750" indent="-285750" algn="l">
              <a:buFont typeface="Arial" panose="020B0604020202020204" pitchFamily="34" charset="0"/>
              <a:buChar char="•"/>
              <a:defRPr sz="1080" b="0">
                <a:solidFill>
                  <a:srgbClr val="2A2A2A"/>
                </a:solidFill>
                <a:latin typeface="Avenir Next"/>
              </a:defRPr>
            </a:pPr>
            <a:r>
              <a:rPr sz="1400" dirty="0">
                <a:latin typeface="Avenir Next" panose="020B0503020202020204" pitchFamily="34" charset="0"/>
              </a:rPr>
              <a:t>CRISIL also found nearly 80% of 586 companies scored below average or weak on ESG parameters.</a:t>
            </a:r>
          </a:p>
        </p:txBody>
      </p:sp>
      <p:sp>
        <p:nvSpPr>
          <p:cNvPr id="18" name="Rounded Rectangle 17"/>
          <p:cNvSpPr/>
          <p:nvPr/>
        </p:nvSpPr>
        <p:spPr>
          <a:xfrm>
            <a:off x="7443216" y="1614769"/>
            <a:ext cx="4224528" cy="335222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9" name="Rounded Rectangle 18"/>
          <p:cNvSpPr/>
          <p:nvPr/>
        </p:nvSpPr>
        <p:spPr>
          <a:xfrm>
            <a:off x="7644382" y="1721529"/>
            <a:ext cx="1792223" cy="4265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rPr sz="1400" dirty="0">
                <a:solidFill>
                  <a:schemeClr val="bg1"/>
                </a:solidFill>
                <a:latin typeface="Avenir Next" panose="020B0503020202020204" pitchFamily="34" charset="0"/>
              </a:rPr>
              <a:t>ESG market scale</a:t>
            </a:r>
          </a:p>
        </p:txBody>
      </p:sp>
      <p:sp>
        <p:nvSpPr>
          <p:cNvPr id="20" name="TextBox 19"/>
          <p:cNvSpPr txBox="1"/>
          <p:nvPr/>
        </p:nvSpPr>
        <p:spPr>
          <a:xfrm>
            <a:off x="7699248" y="2289590"/>
            <a:ext cx="1591056"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dirty="0">
                <a:latin typeface="Avenir Next" panose="020B0503020202020204" pitchFamily="34" charset="0"/>
              </a:rPr>
              <a:t>USD 1.2</a:t>
            </a:r>
            <a:r>
              <a:rPr lang="en-US" sz="2000" dirty="0">
                <a:latin typeface="Avenir Next" panose="020B0503020202020204" pitchFamily="34" charset="0"/>
              </a:rPr>
              <a:t> </a:t>
            </a:r>
            <a:r>
              <a:rPr sz="2000" dirty="0">
                <a:latin typeface="Avenir Next" panose="020B0503020202020204" pitchFamily="34" charset="0"/>
              </a:rPr>
              <a:t>B</a:t>
            </a:r>
            <a:endParaRPr lang="en-US" sz="2000" dirty="0">
              <a:latin typeface="Avenir Next" panose="020B0503020202020204" pitchFamily="34" charset="0"/>
            </a:endParaRPr>
          </a:p>
        </p:txBody>
      </p:sp>
      <p:sp>
        <p:nvSpPr>
          <p:cNvPr id="21" name="TextBox 20"/>
          <p:cNvSpPr txBox="1"/>
          <p:nvPr/>
        </p:nvSpPr>
        <p:spPr>
          <a:xfrm>
            <a:off x="7719478" y="2634238"/>
            <a:ext cx="1591056" cy="830997"/>
          </a:xfrm>
          <a:prstGeom prst="rect">
            <a:avLst/>
          </a:prstGeom>
          <a:noFill/>
        </p:spPr>
        <p:txBody>
          <a:bodyPr wrap="square" anchor="t">
            <a:spAutoFit/>
          </a:bodyPr>
          <a:lstStyle/>
          <a:p>
            <a:pPr algn="ctr">
              <a:defRPr sz="1050" b="0">
                <a:solidFill>
                  <a:srgbClr val="2A2A2A"/>
                </a:solidFill>
                <a:latin typeface="Avenir Next"/>
              </a:defRPr>
            </a:pPr>
            <a:r>
              <a:rPr sz="1200" dirty="0">
                <a:latin typeface="Avenir Next" panose="020B0503020202020204" pitchFamily="34" charset="0"/>
              </a:rPr>
              <a:t>ESG fund assets by March 2024, up from USD 331M in 2020.</a:t>
            </a:r>
          </a:p>
        </p:txBody>
      </p:sp>
      <p:sp>
        <p:nvSpPr>
          <p:cNvPr id="22" name="TextBox 21"/>
          <p:cNvSpPr txBox="1"/>
          <p:nvPr/>
        </p:nvSpPr>
        <p:spPr>
          <a:xfrm>
            <a:off x="9400032" y="2289590"/>
            <a:ext cx="1792224"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dirty="0">
                <a:latin typeface="Avenir Next" panose="020B0503020202020204" pitchFamily="34" charset="0"/>
              </a:rPr>
              <a:t>USD 55.9</a:t>
            </a:r>
            <a:r>
              <a:rPr lang="en-US" sz="2000" dirty="0">
                <a:latin typeface="Avenir Next" panose="020B0503020202020204" pitchFamily="34" charset="0"/>
              </a:rPr>
              <a:t> </a:t>
            </a:r>
            <a:r>
              <a:rPr sz="2000" dirty="0">
                <a:latin typeface="Avenir Next" panose="020B0503020202020204" pitchFamily="34" charset="0"/>
              </a:rPr>
              <a:t>B</a:t>
            </a:r>
            <a:endParaRPr lang="en-US" sz="2000" dirty="0">
              <a:latin typeface="Avenir Next" panose="020B0503020202020204" pitchFamily="34" charset="0"/>
            </a:endParaRPr>
          </a:p>
        </p:txBody>
      </p:sp>
      <p:sp>
        <p:nvSpPr>
          <p:cNvPr id="23" name="TextBox 22"/>
          <p:cNvSpPr txBox="1"/>
          <p:nvPr/>
        </p:nvSpPr>
        <p:spPr>
          <a:xfrm>
            <a:off x="9349052" y="2701672"/>
            <a:ext cx="1901952" cy="830997"/>
          </a:xfrm>
          <a:prstGeom prst="rect">
            <a:avLst/>
          </a:prstGeom>
          <a:noFill/>
        </p:spPr>
        <p:txBody>
          <a:bodyPr wrap="square" anchor="t">
            <a:spAutoFit/>
          </a:bodyPr>
          <a:lstStyle/>
          <a:p>
            <a:pPr algn="ctr">
              <a:defRPr sz="1050" b="0">
                <a:solidFill>
                  <a:srgbClr val="2A2A2A"/>
                </a:solidFill>
                <a:latin typeface="Avenir Next"/>
              </a:defRPr>
            </a:pPr>
            <a:r>
              <a:rPr sz="1200" dirty="0">
                <a:latin typeface="Avenir Next" panose="020B0503020202020204" pitchFamily="34" charset="0"/>
              </a:rPr>
              <a:t>Cumulative green, social, and sustainability-linked debt by Dec 2024.</a:t>
            </a:r>
          </a:p>
        </p:txBody>
      </p:sp>
      <p:sp>
        <p:nvSpPr>
          <p:cNvPr id="24" name="TextBox 23"/>
          <p:cNvSpPr txBox="1"/>
          <p:nvPr/>
        </p:nvSpPr>
        <p:spPr>
          <a:xfrm>
            <a:off x="7702107" y="3585394"/>
            <a:ext cx="3657600" cy="1384995"/>
          </a:xfrm>
          <a:prstGeom prst="rect">
            <a:avLst/>
          </a:prstGeom>
          <a:noFill/>
        </p:spPr>
        <p:txBody>
          <a:bodyPr wrap="square" lIns="91440" tIns="45720" rIns="91440" bIns="45720" anchor="t">
            <a:spAutoFit/>
          </a:bodyPr>
          <a:lstStyle/>
          <a:p>
            <a:pPr algn="ctr">
              <a:defRPr sz="1070" b="1">
                <a:solidFill>
                  <a:srgbClr val="A23E2A"/>
                </a:solidFill>
                <a:latin typeface="Avenir Next"/>
              </a:defRPr>
            </a:pPr>
            <a:r>
              <a:rPr sz="1400" dirty="0">
                <a:latin typeface="Avenir Next" panose="020B0503020202020204" pitchFamily="34" charset="0"/>
              </a:rPr>
              <a:t>India is already the fourth-largest emerging-market source of sustainable debt globally, </a:t>
            </a:r>
            <a:endParaRPr lang="en-US" sz="1400" dirty="0">
              <a:latin typeface="Avenir Next" panose="020B0503020202020204" pitchFamily="34" charset="0"/>
            </a:endParaRPr>
          </a:p>
          <a:p>
            <a:pPr algn="ctr">
              <a:defRPr sz="1070" b="1">
                <a:solidFill>
                  <a:srgbClr val="A23E2A"/>
                </a:solidFill>
                <a:latin typeface="Avenir Next"/>
              </a:defRPr>
            </a:pPr>
            <a:r>
              <a:rPr lang="en-US" sz="1400" dirty="0">
                <a:latin typeface="Avenir Next" panose="020B0503020202020204" pitchFamily="34" charset="0"/>
              </a:rPr>
              <a:t>And</a:t>
            </a:r>
            <a:r>
              <a:rPr sz="1400" dirty="0">
                <a:latin typeface="Avenir Next" panose="020B0503020202020204" pitchFamily="34" charset="0"/>
              </a:rPr>
              <a:t> RBI research finds ESG </a:t>
            </a:r>
            <a:r>
              <a:rPr lang="en-US" sz="1400" dirty="0">
                <a:latin typeface="Avenir Next" panose="020B0503020202020204" pitchFamily="34" charset="0"/>
              </a:rPr>
              <a:t>claim based stocks have returns</a:t>
            </a:r>
            <a:r>
              <a:rPr sz="1400" dirty="0">
                <a:latin typeface="Avenir Next" panose="020B0503020202020204" pitchFamily="34" charset="0"/>
              </a:rPr>
              <a:t> above market predictions.</a:t>
            </a:r>
          </a:p>
        </p:txBody>
      </p:sp>
      <p:sp>
        <p:nvSpPr>
          <p:cNvPr id="25" name="Rounded Rectangle 24"/>
          <p:cNvSpPr/>
          <p:nvPr/>
        </p:nvSpPr>
        <p:spPr>
          <a:xfrm>
            <a:off x="770037" y="4909764"/>
            <a:ext cx="4931936" cy="145365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6" name="Rounded Rectangle 25"/>
          <p:cNvSpPr/>
          <p:nvPr/>
        </p:nvSpPr>
        <p:spPr>
          <a:xfrm>
            <a:off x="948116" y="5038696"/>
            <a:ext cx="3459291" cy="487833"/>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sz="1400" dirty="0">
                <a:latin typeface="Avenir Next" panose="020B0503020202020204" pitchFamily="34" charset="0"/>
              </a:rPr>
              <a:t>Compliance </a:t>
            </a:r>
            <a:r>
              <a:rPr lang="en-US" sz="1400" dirty="0">
                <a:latin typeface="Avenir Next" panose="020B0503020202020204" pitchFamily="34" charset="0"/>
              </a:rPr>
              <a:t>infrastructure lacks proper Verification</a:t>
            </a:r>
            <a:endParaRPr sz="1400" dirty="0">
              <a:latin typeface="Avenir Next" panose="020B0503020202020204" pitchFamily="34" charset="0"/>
            </a:endParaRPr>
          </a:p>
        </p:txBody>
      </p:sp>
      <p:sp>
        <p:nvSpPr>
          <p:cNvPr id="27" name="TextBox 26"/>
          <p:cNvSpPr txBox="1"/>
          <p:nvPr/>
        </p:nvSpPr>
        <p:spPr>
          <a:xfrm>
            <a:off x="783524" y="5555990"/>
            <a:ext cx="4918449" cy="830997"/>
          </a:xfrm>
          <a:prstGeom prst="rect">
            <a:avLst/>
          </a:prstGeom>
          <a:noFill/>
        </p:spPr>
        <p:txBody>
          <a:bodyPr wrap="square" lIns="91440" tIns="45720" rIns="91440" bIns="45720" anchor="t">
            <a:spAutoFit/>
          </a:bodyPr>
          <a:lstStyle/>
          <a:p>
            <a:pPr algn="ctr">
              <a:defRPr sz="1100" b="0">
                <a:solidFill>
                  <a:srgbClr val="2A2A2A"/>
                </a:solidFill>
                <a:latin typeface="Avenir Next"/>
              </a:defRPr>
            </a:pPr>
            <a:r>
              <a:rPr sz="1200" dirty="0">
                <a:latin typeface="Avenir Next" panose="020B0503020202020204" pitchFamily="34" charset="0"/>
              </a:rPr>
              <a:t>CPCB uncovered about 600,000 fake EPR certificates in 2024, </a:t>
            </a:r>
            <a:r>
              <a:rPr lang="en-US" sz="1200" dirty="0">
                <a:latin typeface="Avenir Next" panose="020B0503020202020204" pitchFamily="34" charset="0"/>
              </a:rPr>
              <a:t>and NGT took </a:t>
            </a:r>
            <a:r>
              <a:rPr lang="en-US" sz="1200" dirty="0" err="1">
                <a:latin typeface="Avenir Next" panose="020B0503020202020204" pitchFamily="34" charset="0"/>
              </a:rPr>
              <a:t>suo</a:t>
            </a:r>
            <a:r>
              <a:rPr lang="en-US" sz="1200" dirty="0">
                <a:latin typeface="Avenir Next" panose="020B0503020202020204" pitchFamily="34" charset="0"/>
              </a:rPr>
              <a:t> moto cognizance of it; </a:t>
            </a:r>
          </a:p>
          <a:p>
            <a:pPr algn="ctr">
              <a:defRPr sz="1100" b="0">
                <a:solidFill>
                  <a:srgbClr val="2A2A2A"/>
                </a:solidFill>
                <a:latin typeface="Avenir Next"/>
              </a:defRPr>
            </a:pPr>
            <a:r>
              <a:rPr lang="en-US" sz="1200" dirty="0">
                <a:latin typeface="Avenir Next" panose="020B0503020202020204" pitchFamily="34" charset="0"/>
              </a:rPr>
              <a:t>showing</a:t>
            </a:r>
            <a:r>
              <a:rPr sz="1200" dirty="0">
                <a:latin typeface="Avenir Next" panose="020B0503020202020204" pitchFamily="34" charset="0"/>
              </a:rPr>
              <a:t> that the verification deficit reaches the infrastructure of environmental compliance itself.</a:t>
            </a:r>
          </a:p>
        </p:txBody>
      </p:sp>
      <p:sp>
        <p:nvSpPr>
          <p:cNvPr id="28" name="Rounded Rectangle 27"/>
          <p:cNvSpPr/>
          <p:nvPr/>
        </p:nvSpPr>
        <p:spPr>
          <a:xfrm>
            <a:off x="5925312" y="5390971"/>
            <a:ext cx="5742432" cy="934460"/>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9" name="TextBox 28"/>
          <p:cNvSpPr txBox="1"/>
          <p:nvPr/>
        </p:nvSpPr>
        <p:spPr>
          <a:xfrm>
            <a:off x="5987728" y="5464473"/>
            <a:ext cx="5266944" cy="738664"/>
          </a:xfrm>
          <a:prstGeom prst="rect">
            <a:avLst/>
          </a:prstGeom>
          <a:noFill/>
        </p:spPr>
        <p:txBody>
          <a:bodyPr wrap="square" lIns="91440" tIns="45720" rIns="91440" bIns="45720" anchor="t">
            <a:spAutoFit/>
          </a:bodyPr>
          <a:lstStyle/>
          <a:p>
            <a:pPr algn="ctr">
              <a:defRPr sz="1150" b="1">
                <a:solidFill>
                  <a:srgbClr val="12402D"/>
                </a:solidFill>
                <a:latin typeface="Avenir Next Demi Bold"/>
              </a:defRPr>
            </a:pPr>
            <a:r>
              <a:rPr lang="en-IN" sz="1400" dirty="0">
                <a:latin typeface="Avenir Next" panose="020B0503020202020204" pitchFamily="34" charset="0"/>
              </a:rPr>
              <a:t>Key Takeaway: At this scale, greenwashing is not harmless marketing hype. It distorts both consumer choice and capital allocation.</a:t>
            </a:r>
            <a:endParaRPr lang="en-IN" sz="1600" dirty="0">
              <a:latin typeface="Avenir Next" panose="020B0503020202020204" pitchFamily="34" charset="0"/>
            </a:endParaRPr>
          </a:p>
        </p:txBody>
      </p:sp>
      <p:sp>
        <p:nvSpPr>
          <p:cNvPr id="30" name="TextBox 29"/>
          <p:cNvSpPr txBox="1"/>
          <p:nvPr/>
        </p:nvSpPr>
        <p:spPr>
          <a:xfrm>
            <a:off x="593901" y="6545178"/>
            <a:ext cx="6784230"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ASCI</a:t>
            </a:r>
            <a:r>
              <a:rPr sz="1100" dirty="0"/>
              <a:t>, CRISIL, RBI, CPCB figures</a:t>
            </a:r>
            <a:r>
              <a:rPr lang="en-US" sz="1100" dirty="0"/>
              <a:t> and NSE/NIFTY peer-reviewed studies, </a:t>
            </a:r>
            <a:r>
              <a:rPr sz="1100" dirty="0"/>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695718" y="1088910"/>
            <a:ext cx="4844596"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latin typeface="Avenir Next" panose="020B0503020202020204" pitchFamily="34" charset="0"/>
              </a:rPr>
              <a:t>Based on available data from authority-based sources</a:t>
            </a:r>
          </a:p>
        </p:txBody>
      </p:sp>
    </p:spTree>
    <p:extLst>
      <p:ext uri="{BB962C8B-B14F-4D97-AF65-F5344CB8AC3E}">
        <p14:creationId xmlns:p14="http://schemas.microsoft.com/office/powerpoint/2010/main" val="25441768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914400" y="428064"/>
            <a:ext cx="10058400" cy="584775"/>
          </a:xfrm>
          <a:prstGeom prst="rect">
            <a:avLst/>
          </a:prstGeom>
          <a:noFill/>
        </p:spPr>
        <p:txBody>
          <a:bodyPr wrap="square">
            <a:spAutoFit/>
          </a:bodyPr>
          <a:lstStyle/>
          <a:p>
            <a:pPr algn="l">
              <a:spcAft>
                <a:spcPts val="600"/>
              </a:spcAft>
              <a:defRPr sz="3000" b="1">
                <a:solidFill>
                  <a:srgbClr val="1B1B2F"/>
                </a:solidFill>
                <a:latin typeface="Calibri Light"/>
              </a:defRPr>
            </a:pPr>
            <a:r>
              <a:rPr sz="3200" b="1" dirty="0">
                <a:solidFill>
                  <a:srgbClr val="173F35"/>
                </a:solidFill>
                <a:latin typeface="Avenir Next Demi Bold"/>
              </a:rPr>
              <a:t>Research Gap</a:t>
            </a:r>
          </a:p>
        </p:txBody>
      </p:sp>
      <p:sp>
        <p:nvSpPr>
          <p:cNvPr id="4" name="TextBox 3"/>
          <p:cNvSpPr txBox="1"/>
          <p:nvPr/>
        </p:nvSpPr>
        <p:spPr>
          <a:xfrm>
            <a:off x="731520" y="1251794"/>
            <a:ext cx="10698480" cy="584775"/>
          </a:xfrm>
          <a:prstGeom prst="rect">
            <a:avLst/>
          </a:prstGeom>
          <a:noFill/>
        </p:spPr>
        <p:txBody>
          <a:bodyPr wrap="square" lIns="91440" tIns="45720" rIns="91440" bIns="45720" anchor="t">
            <a:spAutoFit/>
          </a:bodyPr>
          <a:lstStyle/>
          <a:p>
            <a:pPr>
              <a:defRPr sz="1200" b="0">
                <a:solidFill>
                  <a:srgbClr val="6B6B7B"/>
                </a:solidFill>
                <a:latin typeface="Calibri"/>
              </a:defRPr>
            </a:pPr>
            <a:r>
              <a:rPr sz="1600" b="1" dirty="0"/>
              <a:t>Existing scholarship treats greenwashing primarily as a marketing issue. This research investigates the structural flaws in legal accountability.</a:t>
            </a:r>
            <a:endParaRPr lang="en-US" sz="1600" b="1" dirty="0">
              <a:ea typeface="Calibri"/>
              <a:cs typeface="Calibri"/>
            </a:endParaRPr>
          </a:p>
        </p:txBody>
      </p:sp>
      <p:sp>
        <p:nvSpPr>
          <p:cNvPr id="5" name="Rounded Rectangle 4"/>
          <p:cNvSpPr/>
          <p:nvPr/>
        </p:nvSpPr>
        <p:spPr>
          <a:xfrm>
            <a:off x="746974" y="18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6" name="Rounded Rectangle 5"/>
          <p:cNvSpPr/>
          <p:nvPr/>
        </p:nvSpPr>
        <p:spPr>
          <a:xfrm>
            <a:off x="824586" y="19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1</a:t>
            </a:r>
          </a:p>
        </p:txBody>
      </p:sp>
      <p:sp>
        <p:nvSpPr>
          <p:cNvPr id="7" name="TextBox 6"/>
          <p:cNvSpPr txBox="1"/>
          <p:nvPr/>
        </p:nvSpPr>
        <p:spPr>
          <a:xfrm>
            <a:off x="1475918" y="19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Board-Level Accountability</a:t>
            </a:r>
          </a:p>
          <a:p>
            <a:pPr>
              <a:defRPr sz="1050"/>
            </a:pPr>
            <a:r>
              <a:rPr sz="1400" dirty="0">
                <a:latin typeface="Avenir Next" panose="020B0503020202020204" pitchFamily="34" charset="0"/>
              </a:rPr>
              <a:t>Limited </a:t>
            </a:r>
            <a:r>
              <a:rPr lang="en-US" sz="1400" dirty="0">
                <a:latin typeface="Avenir Next" panose="020B0503020202020204" pitchFamily="34" charset="0"/>
              </a:rPr>
              <a:t>existing doctrinal </a:t>
            </a:r>
            <a:r>
              <a:rPr sz="1400" dirty="0">
                <a:latin typeface="Avenir Next" panose="020B0503020202020204" pitchFamily="34" charset="0"/>
              </a:rPr>
              <a:t>work on invoking Section 166(2) against misleading sustainability claims in corporate reports and ESG disclosures.</a:t>
            </a:r>
          </a:p>
        </p:txBody>
      </p:sp>
      <p:sp>
        <p:nvSpPr>
          <p:cNvPr id="8" name="Rounded Rectangle 7"/>
          <p:cNvSpPr/>
          <p:nvPr/>
        </p:nvSpPr>
        <p:spPr>
          <a:xfrm>
            <a:off x="746974" y="30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9" name="Rounded Rectangle 8"/>
          <p:cNvSpPr/>
          <p:nvPr/>
        </p:nvSpPr>
        <p:spPr>
          <a:xfrm>
            <a:off x="824586" y="31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2</a:t>
            </a:r>
          </a:p>
        </p:txBody>
      </p:sp>
      <p:sp>
        <p:nvSpPr>
          <p:cNvPr id="10" name="TextBox 9"/>
          <p:cNvSpPr txBox="1"/>
          <p:nvPr/>
        </p:nvSpPr>
        <p:spPr>
          <a:xfrm>
            <a:off x="1475918" y="31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Regulatory Fragmentation</a:t>
            </a:r>
          </a:p>
          <a:p>
            <a:pPr>
              <a:defRPr sz="1050"/>
            </a:pPr>
            <a:r>
              <a:rPr sz="1400" dirty="0">
                <a:latin typeface="Avenir Next" panose="020B0503020202020204" pitchFamily="34" charset="0"/>
              </a:rPr>
              <a:t>Green claims are policed across siloed regimes (MCA, SEBI, CCPA/ASCI), creating jurisdictional overlap and an accountability vacuum.</a:t>
            </a:r>
          </a:p>
        </p:txBody>
      </p:sp>
      <p:sp>
        <p:nvSpPr>
          <p:cNvPr id="11" name="Rounded Rectangle 10"/>
          <p:cNvSpPr/>
          <p:nvPr/>
        </p:nvSpPr>
        <p:spPr>
          <a:xfrm>
            <a:off x="746974" y="42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2" name="Rounded Rectangle 11"/>
          <p:cNvSpPr/>
          <p:nvPr/>
        </p:nvSpPr>
        <p:spPr>
          <a:xfrm>
            <a:off x="824586" y="43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3</a:t>
            </a:r>
          </a:p>
        </p:txBody>
      </p:sp>
      <p:sp>
        <p:nvSpPr>
          <p:cNvPr id="13" name="TextBox 12"/>
          <p:cNvSpPr txBox="1"/>
          <p:nvPr/>
        </p:nvSpPr>
        <p:spPr>
          <a:xfrm>
            <a:off x="1475918" y="43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a:latin typeface="Avenir Next" panose="020B0503020202020204" pitchFamily="34" charset="0"/>
              </a:rPr>
              <a:t>Verification &amp; Assurance Gap</a:t>
            </a:r>
          </a:p>
          <a:p>
            <a:pPr>
              <a:defRPr sz="1050"/>
            </a:pPr>
            <a:r>
              <a:rPr sz="1400">
                <a:latin typeface="Avenir Next" panose="020B0503020202020204" pitchFamily="34" charset="0"/>
              </a:rPr>
              <a:t>Mandatory ESG disclosure has expanded without mandatory third-party verification, leaving claims unverified.</a:t>
            </a:r>
          </a:p>
        </p:txBody>
      </p:sp>
      <p:sp>
        <p:nvSpPr>
          <p:cNvPr id="14" name="Rounded Rectangle 13"/>
          <p:cNvSpPr/>
          <p:nvPr/>
        </p:nvSpPr>
        <p:spPr>
          <a:xfrm>
            <a:off x="6233374" y="18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5" name="Rounded Rectangle 14"/>
          <p:cNvSpPr/>
          <p:nvPr/>
        </p:nvSpPr>
        <p:spPr>
          <a:xfrm>
            <a:off x="6310986" y="19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4</a:t>
            </a:r>
          </a:p>
        </p:txBody>
      </p:sp>
      <p:sp>
        <p:nvSpPr>
          <p:cNvPr id="16" name="TextBox 15"/>
          <p:cNvSpPr txBox="1"/>
          <p:nvPr/>
        </p:nvSpPr>
        <p:spPr>
          <a:xfrm>
            <a:off x="6962318" y="19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Evolving </a:t>
            </a:r>
            <a:r>
              <a:rPr lang="en-US" dirty="0">
                <a:latin typeface="Avenir Next" panose="020B0503020202020204" pitchFamily="34" charset="0"/>
              </a:rPr>
              <a:t>Forms of Greenwashing: Legal Vacuum</a:t>
            </a:r>
            <a:endParaRPr dirty="0">
              <a:latin typeface="Avenir Next" panose="020B0503020202020204" pitchFamily="34" charset="0"/>
            </a:endParaRPr>
          </a:p>
          <a:p>
            <a:pPr>
              <a:defRPr sz="1050"/>
            </a:pPr>
            <a:r>
              <a:rPr sz="1400" dirty="0">
                <a:latin typeface="Avenir Next" panose="020B0503020202020204" pitchFamily="34" charset="0"/>
              </a:rPr>
              <a:t>Distant net-zero pledges (e.g. 2070) and questionable carbon-offset claims remain unaddressed in current frameworks.</a:t>
            </a:r>
          </a:p>
        </p:txBody>
      </p:sp>
      <p:sp>
        <p:nvSpPr>
          <p:cNvPr id="17" name="Rounded Rectangle 16"/>
          <p:cNvSpPr/>
          <p:nvPr/>
        </p:nvSpPr>
        <p:spPr>
          <a:xfrm>
            <a:off x="6233374" y="30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8" name="Rounded Rectangle 17"/>
          <p:cNvSpPr/>
          <p:nvPr/>
        </p:nvSpPr>
        <p:spPr>
          <a:xfrm>
            <a:off x="6310986" y="31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5</a:t>
            </a:r>
          </a:p>
        </p:txBody>
      </p:sp>
      <p:sp>
        <p:nvSpPr>
          <p:cNvPr id="19" name="TextBox 18"/>
          <p:cNvSpPr txBox="1"/>
          <p:nvPr/>
        </p:nvSpPr>
        <p:spPr>
          <a:xfrm>
            <a:off x="6962318" y="31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Real-World Enforcement Analysis</a:t>
            </a:r>
          </a:p>
          <a:p>
            <a:pPr>
              <a:defRPr sz="1050"/>
            </a:pPr>
            <a:r>
              <a:rPr sz="1400" dirty="0">
                <a:latin typeface="Avenir Next" panose="020B0503020202020204" pitchFamily="34" charset="0"/>
              </a:rPr>
              <a:t>Lack of </a:t>
            </a:r>
            <a:r>
              <a:rPr lang="en-US" sz="1400" dirty="0">
                <a:latin typeface="Avenir Next" panose="020B0503020202020204" pitchFamily="34" charset="0"/>
              </a:rPr>
              <a:t>doctrinal </a:t>
            </a:r>
            <a:r>
              <a:rPr sz="1400" dirty="0">
                <a:latin typeface="Avenir Next" panose="020B0503020202020204" pitchFamily="34" charset="0"/>
              </a:rPr>
              <a:t>studies evaluating why regulators rarely bring deterrent enforcement actions against greenwashing.</a:t>
            </a:r>
          </a:p>
        </p:txBody>
      </p:sp>
      <p:sp>
        <p:nvSpPr>
          <p:cNvPr id="20" name="Rounded Rectangle 19"/>
          <p:cNvSpPr/>
          <p:nvPr/>
        </p:nvSpPr>
        <p:spPr>
          <a:xfrm>
            <a:off x="731520" y="5665372"/>
            <a:ext cx="10698480" cy="94444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21" name="TextBox 20"/>
          <p:cNvSpPr txBox="1"/>
          <p:nvPr/>
        </p:nvSpPr>
        <p:spPr>
          <a:xfrm>
            <a:off x="914400" y="5711092"/>
            <a:ext cx="10332720" cy="820738"/>
          </a:xfrm>
          <a:prstGeom prst="rect">
            <a:avLst/>
          </a:prstGeom>
          <a:noFill/>
        </p:spPr>
        <p:txBody>
          <a:bodyPr wrap="square">
            <a:spAutoFit/>
          </a:bodyPr>
          <a:lstStyle/>
          <a:p>
            <a:pPr algn="l">
              <a:spcAft>
                <a:spcPts val="400"/>
              </a:spcAft>
              <a:defRPr sz="1100" b="1">
                <a:solidFill>
                  <a:srgbClr val="12402D"/>
                </a:solidFill>
                <a:latin typeface="Calibri"/>
              </a:defRPr>
            </a:pPr>
            <a:r>
              <a:rPr sz="1600" dirty="0">
                <a:latin typeface="Avenir Next" panose="020B0503020202020204" pitchFamily="34" charset="0"/>
              </a:rPr>
              <a:t>THIS STUDY ADDRESSES THESE GAPS BY:</a:t>
            </a:r>
          </a:p>
          <a:p>
            <a:pPr>
              <a:defRPr sz="1050"/>
            </a:pPr>
            <a:r>
              <a:rPr sz="1400" dirty="0">
                <a:latin typeface="Avenir Next" panose="020B0503020202020204" pitchFamily="34" charset="0"/>
              </a:rPr>
              <a:t>Treating greenwashing as a corporate governance failure at the intersection of company law, securities disclosure, and consumer protection</a:t>
            </a:r>
            <a:r>
              <a:rPr lang="en-US" sz="1400" dirty="0">
                <a:latin typeface="Avenir Next" panose="020B0503020202020204" pitchFamily="34" charset="0"/>
              </a:rPr>
              <a:t>, </a:t>
            </a:r>
            <a:r>
              <a:rPr sz="1400" dirty="0">
                <a:latin typeface="Avenir Next" panose="020B0503020202020204" pitchFamily="34" charset="0"/>
              </a:rPr>
              <a:t>proposing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30846" y="357075"/>
            <a:ext cx="10058400" cy="877163"/>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Research Methodology</a:t>
            </a:r>
          </a:p>
          <a:p>
            <a:pPr>
              <a:defRPr sz="1300" b="0">
                <a:solidFill>
                  <a:srgbClr val="6B6B7B"/>
                </a:solidFill>
                <a:latin typeface="Calibri"/>
              </a:defRPr>
            </a:pPr>
            <a:r>
              <a:rPr lang="en-US" sz="1400" dirty="0">
                <a:latin typeface="Avenir Next" panose="020B0503020202020204" pitchFamily="34" charset="0"/>
              </a:rPr>
              <a:t>Comparative and Analytical </a:t>
            </a:r>
            <a:r>
              <a:rPr sz="1400" dirty="0">
                <a:latin typeface="Avenir Next" panose="020B0503020202020204" pitchFamily="34" charset="0"/>
              </a:rPr>
              <a:t>Legal Research</a:t>
            </a:r>
            <a:endParaRPr sz="1400" dirty="0">
              <a:latin typeface="Avenir Next" panose="020B0503020202020204" pitchFamily="34" charset="0"/>
              <a:ea typeface="Calibri"/>
              <a:cs typeface="Calibri"/>
            </a:endParaRPr>
          </a:p>
        </p:txBody>
      </p:sp>
      <p:sp>
        <p:nvSpPr>
          <p:cNvPr id="4" name="Rounded Rectangle 3"/>
          <p:cNvSpPr/>
          <p:nvPr/>
        </p:nvSpPr>
        <p:spPr>
          <a:xfrm>
            <a:off x="731520" y="1508760"/>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5" name="Rectangle 4"/>
          <p:cNvSpPr/>
          <p:nvPr/>
        </p:nvSpPr>
        <p:spPr>
          <a:xfrm>
            <a:off x="8229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6" name="TextBox 5"/>
          <p:cNvSpPr txBox="1"/>
          <p:nvPr/>
        </p:nvSpPr>
        <p:spPr>
          <a:xfrm>
            <a:off x="1005840" y="1600200"/>
            <a:ext cx="2926080" cy="2385268"/>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Primary &amp; Secondary Sources</a:t>
            </a:r>
          </a:p>
          <a:p>
            <a:pPr>
              <a:defRPr sz="1200" b="0">
                <a:solidFill>
                  <a:srgbClr val="3A3A4A"/>
                </a:solidFill>
                <a:latin typeface="Calibri"/>
              </a:defRPr>
            </a:pPr>
            <a:r>
              <a:rPr lang="en-IN" sz="1400" dirty="0">
                <a:latin typeface="Avenir Next" panose="020B0503020202020204" pitchFamily="34" charset="0"/>
              </a:rPr>
              <a:t>Indian statutes, judicial decisions (Supreme Court, NGT, foreign courts), regulatory instruments (SEBI BRSR, CCPA Guidelines, ASCI Guidelines, etc.), parliamentary reports, research papers.</a:t>
            </a:r>
            <a:endParaRPr lang="en-IN" sz="1400" dirty="0">
              <a:latin typeface="Avenir Next" panose="020B0503020202020204" pitchFamily="34" charset="0"/>
              <a:ea typeface="Calibri"/>
              <a:cs typeface="Calibri"/>
            </a:endParaRPr>
          </a:p>
          <a:p>
            <a:pPr algn="l">
              <a:spcAft>
                <a:spcPts val="0"/>
              </a:spcAft>
              <a:defRPr sz="1200" b="0">
                <a:solidFill>
                  <a:srgbClr val="3A3A4A"/>
                </a:solidFill>
                <a:latin typeface="Calibri"/>
              </a:defRPr>
            </a:pPr>
            <a:endParaRPr sz="1400" dirty="0">
              <a:latin typeface="Avenir Next" panose="020B0503020202020204" pitchFamily="34" charset="0"/>
            </a:endParaRPr>
          </a:p>
        </p:txBody>
      </p:sp>
      <p:sp>
        <p:nvSpPr>
          <p:cNvPr id="7" name="Rounded Rectangle 6"/>
          <p:cNvSpPr/>
          <p:nvPr/>
        </p:nvSpPr>
        <p:spPr>
          <a:xfrm>
            <a:off x="4389120" y="1508760"/>
            <a:ext cx="3383280" cy="2251324"/>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8" name="Rectangle 7"/>
          <p:cNvSpPr/>
          <p:nvPr/>
        </p:nvSpPr>
        <p:spPr>
          <a:xfrm>
            <a:off x="44805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9" name="TextBox 8"/>
          <p:cNvSpPr txBox="1"/>
          <p:nvPr/>
        </p:nvSpPr>
        <p:spPr>
          <a:xfrm>
            <a:off x="4663440" y="1600200"/>
            <a:ext cx="2926080" cy="1708160"/>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Jurisprudential Analysis</a:t>
            </a:r>
          </a:p>
          <a:p>
            <a:pPr>
              <a:defRPr sz="1200" b="0">
                <a:solidFill>
                  <a:srgbClr val="3A3A4A"/>
                </a:solidFill>
                <a:latin typeface="Calibri"/>
              </a:defRPr>
            </a:pPr>
            <a:r>
              <a:rPr sz="1400" dirty="0">
                <a:latin typeface="Avenir Next" panose="020B0503020202020204" pitchFamily="34" charset="0"/>
              </a:rPr>
              <a:t>Hohfeldian decomposition of corporate duties into precise legal relations. </a:t>
            </a:r>
            <a:endParaRPr lang="en-US" sz="1400" dirty="0">
              <a:latin typeface="Avenir Next" panose="020B0503020202020204" pitchFamily="34" charset="0"/>
            </a:endParaRPr>
          </a:p>
          <a:p>
            <a:pPr algn="l">
              <a:spcAft>
                <a:spcPts val="0"/>
              </a:spcAft>
              <a:defRPr sz="1200" b="0">
                <a:solidFill>
                  <a:srgbClr val="3A3A4A"/>
                </a:solidFill>
                <a:latin typeface="Calibri"/>
              </a:defRPr>
            </a:pPr>
            <a:r>
              <a:rPr lang="en-US" sz="1400" dirty="0">
                <a:latin typeface="Avenir Next" panose="020B0503020202020204" pitchFamily="34" charset="0"/>
              </a:rPr>
              <a:t>Principal-agent, legitimacy, stakeholder, decoupling, and institutional theory frameworks.</a:t>
            </a:r>
            <a:endParaRPr lang="en-US" sz="1200" dirty="0">
              <a:latin typeface="Avenir Next" panose="020B0503020202020204" pitchFamily="34" charset="0"/>
            </a:endParaRPr>
          </a:p>
        </p:txBody>
      </p:sp>
      <p:sp>
        <p:nvSpPr>
          <p:cNvPr id="10" name="Rounded Rectangle 9"/>
          <p:cNvSpPr/>
          <p:nvPr/>
        </p:nvSpPr>
        <p:spPr>
          <a:xfrm>
            <a:off x="8046720" y="1508760"/>
            <a:ext cx="3383280" cy="21006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1" name="Rectangle 10"/>
          <p:cNvSpPr/>
          <p:nvPr/>
        </p:nvSpPr>
        <p:spPr>
          <a:xfrm>
            <a:off x="81381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2" name="TextBox 11"/>
          <p:cNvSpPr txBox="1"/>
          <p:nvPr/>
        </p:nvSpPr>
        <p:spPr>
          <a:xfrm>
            <a:off x="8321040" y="1600200"/>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Comparative Legal Analysis</a:t>
            </a:r>
          </a:p>
          <a:p>
            <a:pPr>
              <a:defRPr sz="1200" b="0">
                <a:solidFill>
                  <a:srgbClr val="3A3A4A"/>
                </a:solidFill>
                <a:latin typeface="Calibri"/>
              </a:defRPr>
            </a:pPr>
            <a:r>
              <a:rPr sz="1400" dirty="0">
                <a:latin typeface="Avenir Next" panose="020B0503020202020204" pitchFamily="34" charset="0"/>
              </a:rPr>
              <a:t>Cross-jurisdictional study of EU (CSRD, Green Claims Directive), US (SEC Rules, FTC Green Guides), UK (FCA Rule, CMA),</a:t>
            </a:r>
            <a:r>
              <a:rPr lang="en-US" sz="1400" dirty="0">
                <a:latin typeface="Avenir Next" panose="020B0503020202020204" pitchFamily="34" charset="0"/>
              </a:rPr>
              <a:t> </a:t>
            </a:r>
            <a:r>
              <a:rPr sz="1400" dirty="0">
                <a:latin typeface="Avenir Next" panose="020B0503020202020204" pitchFamily="34" charset="0"/>
              </a:rPr>
              <a:t>Australia, and others.</a:t>
            </a:r>
          </a:p>
        </p:txBody>
      </p:sp>
      <p:sp>
        <p:nvSpPr>
          <p:cNvPr id="13" name="Rounded Rectangle 12"/>
          <p:cNvSpPr/>
          <p:nvPr/>
        </p:nvSpPr>
        <p:spPr>
          <a:xfrm>
            <a:off x="7315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4" name="Rectangle 13"/>
          <p:cNvSpPr/>
          <p:nvPr/>
        </p:nvSpPr>
        <p:spPr>
          <a:xfrm>
            <a:off x="8229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6" name="Rounded Rectangle 15"/>
          <p:cNvSpPr/>
          <p:nvPr/>
        </p:nvSpPr>
        <p:spPr>
          <a:xfrm>
            <a:off x="43891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7" name="Rectangle 16"/>
          <p:cNvSpPr/>
          <p:nvPr/>
        </p:nvSpPr>
        <p:spPr>
          <a:xfrm>
            <a:off x="44805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8" name="TextBox 17"/>
          <p:cNvSpPr txBox="1"/>
          <p:nvPr/>
        </p:nvSpPr>
        <p:spPr>
          <a:xfrm>
            <a:off x="960223" y="4080669"/>
            <a:ext cx="2926080" cy="1708160"/>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Statutory Interpretation</a:t>
            </a:r>
          </a:p>
          <a:p>
            <a:pPr>
              <a:defRPr sz="1200" b="0">
                <a:solidFill>
                  <a:srgbClr val="3A3A4A"/>
                </a:solidFill>
                <a:latin typeface="Calibri"/>
              </a:defRPr>
            </a:pPr>
            <a:r>
              <a:rPr lang="en-IN" sz="1400" dirty="0">
                <a:latin typeface="Avenir Next" panose="020B0503020202020204" pitchFamily="34" charset="0"/>
              </a:rPr>
              <a:t>Textual, contextual and purposive analysis of the Companies Act 2013, Consumer Protection Act 2019, Environment Protection Act 1986 (EPA), and SEBI LODR Regulations.</a:t>
            </a:r>
            <a:endParaRPr lang="en-IN" sz="1400" dirty="0">
              <a:latin typeface="Avenir Next" panose="020B0503020202020204" pitchFamily="34" charset="0"/>
              <a:ea typeface="Calibri"/>
              <a:cs typeface="Calibri"/>
            </a:endParaRPr>
          </a:p>
        </p:txBody>
      </p:sp>
      <p:sp>
        <p:nvSpPr>
          <p:cNvPr id="19" name="Rounded Rectangle 18"/>
          <p:cNvSpPr/>
          <p:nvPr/>
        </p:nvSpPr>
        <p:spPr>
          <a:xfrm>
            <a:off x="80467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0" name="Rectangle 19"/>
          <p:cNvSpPr/>
          <p:nvPr/>
        </p:nvSpPr>
        <p:spPr>
          <a:xfrm>
            <a:off x="81381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1" name="TextBox 20"/>
          <p:cNvSpPr txBox="1"/>
          <p:nvPr/>
        </p:nvSpPr>
        <p:spPr>
          <a:xfrm>
            <a:off x="4632807" y="4080669"/>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Lex Lata vs. Lex Ferenda</a:t>
            </a:r>
          </a:p>
          <a:p>
            <a:pPr algn="l">
              <a:spcAft>
                <a:spcPts val="0"/>
              </a:spcAft>
              <a:defRPr sz="1200" b="0">
                <a:solidFill>
                  <a:srgbClr val="3A3A4A"/>
                </a:solidFill>
                <a:latin typeface="Calibri"/>
              </a:defRPr>
            </a:pPr>
            <a:r>
              <a:rPr sz="1400" dirty="0">
                <a:latin typeface="Avenir Next" panose="020B0503020202020204" pitchFamily="34" charset="0"/>
              </a:rPr>
              <a:t>Explicit distinction between what the law currently provides (analysis) and what it should provide (normative reform proposals).</a:t>
            </a:r>
          </a:p>
        </p:txBody>
      </p:sp>
      <p:sp>
        <p:nvSpPr>
          <p:cNvPr id="22" name="TextBox 21"/>
          <p:cNvSpPr txBox="1"/>
          <p:nvPr/>
        </p:nvSpPr>
        <p:spPr>
          <a:xfrm>
            <a:off x="731520" y="6268719"/>
            <a:ext cx="10698480" cy="307777"/>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rPr sz="1400" dirty="0"/>
              <a:t>Nature of Study:  Qualitative, analytical, and comparative — focused on identification, analysis and synthesis of legal rules and standards.</a:t>
            </a:r>
          </a:p>
        </p:txBody>
      </p:sp>
      <p:sp>
        <p:nvSpPr>
          <p:cNvPr id="15" name="TextBox 14"/>
          <p:cNvSpPr txBox="1"/>
          <p:nvPr/>
        </p:nvSpPr>
        <p:spPr>
          <a:xfrm>
            <a:off x="8284464" y="4080669"/>
            <a:ext cx="2926080" cy="1954381"/>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Critical Regulatory Assessment</a:t>
            </a:r>
          </a:p>
          <a:p>
            <a:pPr>
              <a:defRPr sz="1200" b="0">
                <a:solidFill>
                  <a:srgbClr val="3A3A4A"/>
                </a:solidFill>
                <a:latin typeface="Calibri"/>
              </a:defRPr>
            </a:pPr>
            <a:r>
              <a:rPr sz="1400" dirty="0">
                <a:latin typeface="Avenir Next" panose="020B0503020202020204" pitchFamily="34" charset="0"/>
              </a:rPr>
              <a:t>Mapping </a:t>
            </a:r>
            <a:r>
              <a:rPr lang="en-US" sz="1400" dirty="0">
                <a:latin typeface="Avenir Next" panose="020B0503020202020204" pitchFamily="34" charset="0"/>
              </a:rPr>
              <a:t>design issues and coordination issues </a:t>
            </a:r>
            <a:r>
              <a:rPr sz="1400" dirty="0">
                <a:latin typeface="Avenir Next" panose="020B0503020202020204" pitchFamily="34" charset="0"/>
              </a:rPr>
              <a:t>between MCA, SEBI, CCPA, ASCI, FSSAI, NGT, and BIS — 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51076" y="424508"/>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Hypotheses</a:t>
            </a:r>
          </a:p>
        </p:txBody>
      </p:sp>
      <p:sp>
        <p:nvSpPr>
          <p:cNvPr id="4" name="Rounded Rectangle 3"/>
          <p:cNvSpPr/>
          <p:nvPr/>
        </p:nvSpPr>
        <p:spPr>
          <a:xfrm>
            <a:off x="728707" y="1508760"/>
            <a:ext cx="3386093" cy="352718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5" name="Oval 4"/>
          <p:cNvSpPr/>
          <p:nvPr/>
        </p:nvSpPr>
        <p:spPr>
          <a:xfrm>
            <a:off x="9739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1</a:t>
            </a:r>
          </a:p>
        </p:txBody>
      </p:sp>
      <p:sp>
        <p:nvSpPr>
          <p:cNvPr id="6" name="TextBox 5"/>
          <p:cNvSpPr txBox="1"/>
          <p:nvPr/>
        </p:nvSpPr>
        <p:spPr>
          <a:xfrm>
            <a:off x="893724" y="2148840"/>
            <a:ext cx="3038196"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latin typeface="Avenir Next" panose="020B0503020202020204" pitchFamily="34" charset="0"/>
              </a:rPr>
              <a:t>H₁  —  Accountability Failure</a:t>
            </a:r>
          </a:p>
          <a:p>
            <a:r>
              <a:rPr lang="en-IN" dirty="0">
                <a:latin typeface="Avenir Next" panose="020B0503020202020204" pitchFamily="34" charset="0"/>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65938" y="1508759"/>
            <a:ext cx="3406462" cy="3732942"/>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Oval 7"/>
          <p:cNvSpPr/>
          <p:nvPr/>
        </p:nvSpPr>
        <p:spPr>
          <a:xfrm>
            <a:off x="46315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2</a:t>
            </a:r>
          </a:p>
        </p:txBody>
      </p:sp>
      <p:sp>
        <p:nvSpPr>
          <p:cNvPr id="9" name="TextBox 8"/>
          <p:cNvSpPr txBox="1"/>
          <p:nvPr/>
        </p:nvSpPr>
        <p:spPr>
          <a:xfrm>
            <a:off x="4551324" y="2148840"/>
            <a:ext cx="3038196" cy="2918748"/>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latin typeface="Avenir Next" panose="020B0503020202020204" pitchFamily="34" charset="0"/>
              </a:rPr>
              <a:t>H₂  —  Liability Shield</a:t>
            </a:r>
          </a:p>
          <a:p>
            <a:r>
              <a:rPr lang="en-IN" dirty="0">
                <a:latin typeface="Avenir Next" panose="020B0503020202020204" pitchFamily="34" charset="0"/>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23538" y="1508759"/>
            <a:ext cx="3406462" cy="3218547"/>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Oval 10"/>
          <p:cNvSpPr/>
          <p:nvPr/>
        </p:nvSpPr>
        <p:spPr>
          <a:xfrm>
            <a:off x="82891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3</a:t>
            </a:r>
          </a:p>
        </p:txBody>
      </p:sp>
      <p:sp>
        <p:nvSpPr>
          <p:cNvPr id="12" name="TextBox 11"/>
          <p:cNvSpPr txBox="1"/>
          <p:nvPr/>
        </p:nvSpPr>
        <p:spPr>
          <a:xfrm>
            <a:off x="8208924" y="2148840"/>
            <a:ext cx="3038196" cy="2087751"/>
          </a:xfrm>
          <a:prstGeom prst="rect">
            <a:avLst/>
          </a:prstGeom>
          <a:noFill/>
        </p:spPr>
        <p:txBody>
          <a:bodyPr wrap="square">
            <a:spAutoFit/>
          </a:bodyPr>
          <a:lstStyle/>
          <a:p>
            <a:pPr algn="l">
              <a:spcAft>
                <a:spcPts val="800"/>
              </a:spcAft>
              <a:defRPr sz="1500" b="1">
                <a:solidFill>
                  <a:srgbClr val="095E4F"/>
                </a:solidFill>
                <a:latin typeface="Calibri"/>
              </a:defRPr>
            </a:pPr>
            <a:r>
              <a:rPr dirty="0">
                <a:latin typeface="Avenir Next" panose="020B0503020202020204" pitchFamily="34" charset="0"/>
              </a:rPr>
              <a:t>H₃  —  Regulatory Inchoateness</a:t>
            </a:r>
          </a:p>
          <a:p>
            <a:r>
              <a:rPr lang="en-IN" dirty="0">
                <a:latin typeface="Avenir Next" panose="020B0503020202020204" pitchFamily="34" charset="0"/>
              </a:rPr>
              <a:t>In addressing the issue of greenwashing, the present legal mechanism involving different regulatory bodies is inchoate and incomplete.</a:t>
            </a:r>
          </a:p>
        </p:txBody>
      </p:sp>
      <p:sp>
        <p:nvSpPr>
          <p:cNvPr id="13" name="TextBox 12"/>
          <p:cNvSpPr txBox="1"/>
          <p:nvPr/>
        </p:nvSpPr>
        <p:spPr>
          <a:xfrm>
            <a:off x="731520" y="5436858"/>
            <a:ext cx="11014012" cy="661720"/>
          </a:xfrm>
          <a:prstGeom prst="rect">
            <a:avLst/>
          </a:prstGeom>
          <a:noFill/>
        </p:spPr>
        <p:txBody>
          <a:bodyPr wrap="square" lIns="91440" tIns="45720" rIns="91440" bIns="45720" anchor="t">
            <a:spAutoFit/>
          </a:bodyPr>
          <a:lstStyle/>
          <a:p>
            <a:pPr algn="ctr">
              <a:spcAft>
                <a:spcPts val="600"/>
              </a:spcAft>
              <a:defRPr sz="1400" b="0">
                <a:solidFill>
                  <a:srgbClr val="6B6B7B"/>
                </a:solidFill>
                <a:latin typeface="Calibri"/>
              </a:defRPr>
            </a:pPr>
            <a:r>
              <a:rPr sz="1600" dirty="0">
                <a:latin typeface="Avenir Next" panose="020B0503020202020204" pitchFamily="34" charset="0"/>
              </a:rPr>
              <a:t>These hypotheses are mutually reinforcing: </a:t>
            </a:r>
            <a:endParaRPr lang="en-US" sz="1600" dirty="0">
              <a:latin typeface="Avenir Next" panose="020B0503020202020204" pitchFamily="34" charset="0"/>
            </a:endParaRPr>
          </a:p>
          <a:p>
            <a:pPr algn="ctr">
              <a:spcAft>
                <a:spcPts val="600"/>
              </a:spcAft>
              <a:defRPr sz="1400" b="0">
                <a:solidFill>
                  <a:srgbClr val="6B6B7B"/>
                </a:solidFill>
                <a:latin typeface="Calibri"/>
              </a:defRPr>
            </a:pPr>
            <a:r>
              <a:rPr sz="1600" dirty="0">
                <a:latin typeface="Avenir Next" panose="020B0503020202020204" pitchFamily="34" charset="0"/>
              </a:rPr>
              <a:t>governance-level gaps (H₁) are amplified by non-deterrent sanctions (H₂) and enabled by fragmented regulators (H₃).</a:t>
            </a:r>
            <a:endParaRPr lang="en-US" sz="1600" dirty="0">
              <a:latin typeface="Avenir Next" panose="020B0503020202020204" pitchFamily="34" charset="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200" b="1" dirty="0" err="1">
                <a:solidFill>
                  <a:srgbClr val="173F35"/>
                </a:solidFill>
                <a:latin typeface="Avenir Next Demi Bold"/>
              </a:rPr>
              <a:t>Chapterization</a:t>
            </a:r>
            <a:r>
              <a:rPr lang="en-US" sz="3200" b="1" dirty="0">
                <a:solidFill>
                  <a:srgbClr val="173F35"/>
                </a:solidFill>
                <a:latin typeface="Avenir Next Demi Bold"/>
              </a:rPr>
              <a:t> Scheme</a:t>
            </a:r>
            <a:r>
              <a:rPr lang="en-IN" sz="3200" b="1" dirty="0">
                <a:solidFill>
                  <a:srgbClr val="173F35"/>
                </a:solidFill>
                <a:latin typeface="Avenir Next Demi Bold"/>
              </a:rPr>
              <a:t> </a:t>
            </a:r>
            <a:endParaRPr sz="3200" b="1" dirty="0">
              <a:solidFill>
                <a:srgbClr val="173F35"/>
              </a:solidFill>
              <a:latin typeface="Avenir Next Demi Bold"/>
            </a:endParaRPr>
          </a:p>
        </p:txBody>
      </p:sp>
      <p:sp>
        <p:nvSpPr>
          <p:cNvPr id="20" name="Rounded Rectangle 19">
            <a:extLst>
              <a:ext uri="{FF2B5EF4-FFF2-40B4-BE49-F238E27FC236}">
                <a16:creationId xmlns:a16="http://schemas.microsoft.com/office/drawing/2014/main" id="{4BB8293B-4D33-088C-E1E0-5243AAA66B85}"/>
              </a:ext>
            </a:extLst>
          </p:cNvPr>
          <p:cNvSpPr/>
          <p:nvPr/>
        </p:nvSpPr>
        <p:spPr>
          <a:xfrm>
            <a:off x="0" y="0"/>
            <a:ext cx="0" cy="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0" y="0"/>
            <a:ext cx="0" cy="0"/>
          </a:xfrm>
          <a:prstGeom prst="rect">
            <a:avLst/>
          </a:prstGeom>
          <a:noFill/>
        </p:spPr>
        <p:txBody>
          <a:bodyPr wrap="square" lIns="91440" tIns="45720" rIns="91440" bIns="45720" anchor="t">
            <a:spAutoFit/>
          </a:bodyPr>
          <a:lstStyle/>
          <a:p>
            <a:pPr algn="l">
              <a:spcAft>
                <a:spcPts val="1400"/>
              </a:spcAft>
              <a:defRPr sz="1400" b="1">
                <a:solidFill>
                  <a:srgbClr val="12402D"/>
                </a:solidFill>
                <a:latin typeface="Calibri"/>
              </a:defRPr>
            </a:pPr>
            <a:endParaRPr/>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a:extLst>
              <a:ext uri="{FF2B5EF4-FFF2-40B4-BE49-F238E27FC236}">
                <a16:creationId xmlns:a16="http://schemas.microsoft.com/office/drawing/2014/main" id="{E5A98227-A602-7C6C-F27B-A1F5ABA5BDF6}"/>
              </a:ext>
            </a:extLst>
          </p:cNvPr>
          <p:cNvSpPr/>
          <p:nvPr/>
        </p:nvSpPr>
        <p:spPr>
          <a:xfrm>
            <a:off x="716530" y="1638110"/>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6" name="TextBox 5">
            <a:extLst>
              <a:ext uri="{FF2B5EF4-FFF2-40B4-BE49-F238E27FC236}">
                <a16:creationId xmlns:a16="http://schemas.microsoft.com/office/drawing/2014/main" id="{9E68BA75-3E5C-9BBE-D130-9C152BC72F38}"/>
              </a:ext>
            </a:extLst>
          </p:cNvPr>
          <p:cNvSpPr txBox="1"/>
          <p:nvPr/>
        </p:nvSpPr>
        <p:spPr>
          <a:xfrm>
            <a:off x="1416327" y="2149667"/>
            <a:ext cx="7549117" cy="3088025"/>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dirty="0">
                <a:latin typeface="Avenir Next" panose="020B0503020202020204" pitchFamily="34" charset="0"/>
              </a:rPr>
              <a:t>THIS STUDY</a:t>
            </a:r>
            <a:r>
              <a:rPr lang="en-US" dirty="0">
                <a:latin typeface="Avenir Next" panose="020B0503020202020204" pitchFamily="34" charset="0"/>
              </a:rPr>
              <a:t> COMPRISES OF FOLLOWING SIX CHAPTERS-</a:t>
            </a:r>
          </a:p>
          <a:p>
            <a:pPr algn="l">
              <a:spcAft>
                <a:spcPts val="400"/>
              </a:spcAft>
              <a:defRPr sz="1200" b="1">
                <a:solidFill>
                  <a:srgbClr val="095E4F"/>
                </a:solidFill>
                <a:latin typeface="Calibri"/>
              </a:defRPr>
            </a:pPr>
            <a:endParaRPr lang="en-US" sz="1400" dirty="0">
              <a:latin typeface="Avenir Next" panose="020B0503020202020204" pitchFamily="34" charset="0"/>
            </a:endParaRPr>
          </a:p>
          <a:p>
            <a:pPr marL="228600" indent="-228600" algn="l">
              <a:lnSpc>
                <a:spcPct val="150000"/>
              </a:lnSpc>
              <a:spcAft>
                <a:spcPts val="400"/>
              </a:spcAft>
              <a:buAutoNum type="arabicPeriod"/>
              <a:defRPr sz="1200" b="1">
                <a:solidFill>
                  <a:srgbClr val="095E4F"/>
                </a:solidFill>
                <a:latin typeface="Calibri"/>
              </a:defRPr>
            </a:pPr>
            <a:r>
              <a:rPr lang="en-US" sz="1400" cap="small" dirty="0">
                <a:latin typeface="Avenir Next" panose="020B0503020202020204" pitchFamily="34" charset="0"/>
              </a:rPr>
              <a:t>Introduction</a:t>
            </a:r>
            <a:endParaRPr lang="en-US" sz="1400"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Conceptualizing Greenwashing And Corporate Governance Intervention</a:t>
            </a:r>
            <a:endParaRPr lang="en-US"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Greenwashing: Corporate Responsibility And Accountability</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Prevention Of Greenwashing: International Perspective</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Indian Regulatory Ecosystem To Prevent Greenwashing</a:t>
            </a:r>
            <a:r>
              <a:rPr lang="en-IN" sz="1400" b="1" cap="small" dirty="0">
                <a:latin typeface="Avenir Next" panose="020B0503020202020204" pitchFamily="34" charset="0"/>
              </a:rPr>
              <a:t> </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Conclusion</a:t>
            </a:r>
            <a:endParaRPr lang="en-IN" sz="1400" b="1" cap="small" dirty="0">
              <a:latin typeface="Avenir Next" panose="020B0503020202020204" pitchFamily="34" charset="0"/>
              <a:ea typeface="Calibri"/>
              <a:cs typeface="Calibri"/>
            </a:endParaRPr>
          </a:p>
          <a:p>
            <a:pPr marL="228600" indent="-228600" algn="l">
              <a:spcAft>
                <a:spcPts val="400"/>
              </a:spcAft>
              <a:buAutoNum type="arabicPeriod"/>
              <a:defRPr sz="1200" b="1">
                <a:solidFill>
                  <a:srgbClr val="095E4F"/>
                </a:solidFill>
                <a:latin typeface="Calibri"/>
              </a:defRPr>
            </a:pPr>
            <a:endParaRPr lang="en-US" sz="1600" dirty="0">
              <a:latin typeface="Avenir Next" panose="020B0503020202020204" pitchFamily="34" charset="0"/>
            </a:endParaRPr>
          </a:p>
        </p:txBody>
      </p:sp>
    </p:spTree>
    <p:extLst>
      <p:ext uri="{BB962C8B-B14F-4D97-AF65-F5344CB8AC3E}">
        <p14:creationId xmlns:p14="http://schemas.microsoft.com/office/powerpoint/2010/main" val="1978392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57784" y="347472"/>
            <a:ext cx="10972800"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How Greenwashing evolved and why it matters</a:t>
            </a:r>
            <a:r>
              <a:rPr lang="en-US" sz="3200" b="1" dirty="0">
                <a:solidFill>
                  <a:srgbClr val="173F35"/>
                </a:solidFill>
                <a:latin typeface="Avenir Next Demi Bold"/>
              </a:rPr>
              <a:t> </a:t>
            </a:r>
            <a:r>
              <a:rPr sz="3200" b="1" dirty="0">
                <a:solidFill>
                  <a:srgbClr val="173F35"/>
                </a:solidFill>
                <a:latin typeface="Avenir Next Demi Bold"/>
              </a:rPr>
              <a:t>?</a:t>
            </a:r>
          </a:p>
        </p:txBody>
      </p:sp>
      <p:sp>
        <p:nvSpPr>
          <p:cNvPr id="5" name="Rounded Rectangle 4"/>
          <p:cNvSpPr/>
          <p:nvPr/>
        </p:nvSpPr>
        <p:spPr>
          <a:xfrm>
            <a:off x="557784" y="1056067"/>
            <a:ext cx="3557016" cy="4043967"/>
          </a:xfrm>
          <a:prstGeom prst="roundRect">
            <a:avLst/>
          </a:prstGeom>
          <a:solidFill>
            <a:srgbClr val="FFFDF8"/>
          </a:solidFill>
          <a:ln w="15240">
            <a:solidFill>
              <a:srgbClr val="D6C9B8"/>
            </a:solidFill>
          </a:ln>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spcAft>
                <a:spcPts val="1000"/>
              </a:spcAft>
              <a:defRPr sz="1400" b="1">
                <a:solidFill>
                  <a:srgbClr val="12402D"/>
                </a:solidFill>
                <a:latin typeface="Calibri"/>
              </a:defRPr>
            </a:pPr>
            <a:r>
              <a:rPr sz="1200" dirty="0">
                <a:latin typeface="Avenir Next" panose="020B0503020202020204" pitchFamily="34" charset="0"/>
              </a:rPr>
              <a:t>1. Definition &amp; Core Trick</a:t>
            </a:r>
          </a:p>
          <a:p>
            <a:pPr>
              <a:spcAft>
                <a:spcPts val="800"/>
              </a:spcAft>
            </a:pPr>
            <a:r>
              <a:rPr sz="1200" b="1" dirty="0">
                <a:solidFill>
                  <a:srgbClr val="22704E"/>
                </a:solidFill>
                <a:latin typeface="Avenir Next" panose="020B0503020202020204" pitchFamily="34" charset="0"/>
              </a:rPr>
              <a:t>• CCPA 2024 </a:t>
            </a:r>
            <a:r>
              <a:rPr lang="en-US" sz="1200" b="1" dirty="0">
                <a:solidFill>
                  <a:srgbClr val="22704E"/>
                </a:solidFill>
                <a:latin typeface="Avenir Next" panose="020B0503020202020204" pitchFamily="34" charset="0"/>
              </a:rPr>
              <a:t>Definition</a:t>
            </a:r>
            <a:r>
              <a:rPr sz="1200" b="1" dirty="0">
                <a:solidFill>
                  <a:srgbClr val="22704E"/>
                </a:solidFill>
                <a:latin typeface="Avenir Next" panose="020B0503020202020204" pitchFamily="34" charset="0"/>
              </a:rPr>
              <a:t>: </a:t>
            </a:r>
            <a:r>
              <a:rPr lang="en-IN" sz="1200" dirty="0">
                <a:solidFill>
                  <a:srgbClr val="2D2D2D"/>
                </a:solidFill>
                <a:latin typeface="Avenir Next" panose="020B0503020202020204" pitchFamily="34" charset="0"/>
              </a:rPr>
              <a:t>India’s CCPA Guidelines define greenwashing as "any deceptive or misleading practice" involving: (</a:t>
            </a:r>
            <a:r>
              <a:rPr lang="en-IN" sz="1200" dirty="0" err="1">
                <a:solidFill>
                  <a:srgbClr val="2D2D2D"/>
                </a:solidFill>
                <a:latin typeface="Avenir Next" panose="020B0503020202020204" pitchFamily="34" charset="0"/>
              </a:rPr>
              <a:t>i</a:t>
            </a:r>
            <a:r>
              <a:rPr lang="en-IN" sz="1200" dirty="0">
                <a:solidFill>
                  <a:srgbClr val="2D2D2D"/>
                </a:solidFill>
                <a:latin typeface="Avenir Next" panose="020B0503020202020204" pitchFamily="34" charset="0"/>
              </a:rPr>
              <a:t>) concealing or omitting info; (ii) making vague, false, or unsubstantiated claims; or (iii) using misleading words/imagery emphasizing positive aspects while downplaying harmful attributes.</a:t>
            </a:r>
          </a:p>
          <a:p>
            <a:pPr>
              <a:spcAft>
                <a:spcPts val="800"/>
              </a:spcAft>
            </a:pPr>
            <a:r>
              <a:rPr sz="1200" b="1" dirty="0">
                <a:solidFill>
                  <a:srgbClr val="22704E"/>
                </a:solidFill>
                <a:latin typeface="Avenir Next" panose="020B0503020202020204" pitchFamily="34" charset="0"/>
              </a:rPr>
              <a:t>• Global Scope (ESMA): </a:t>
            </a:r>
            <a:r>
              <a:rPr lang="en-IN" sz="1200" dirty="0">
                <a:solidFill>
                  <a:srgbClr val="2D2D2D"/>
                </a:solidFill>
                <a:latin typeface="Avenir Next" panose="020B0503020202020204" pitchFamily="34" charset="0"/>
              </a:rPr>
              <a:t>ESMA &amp; Greenpeace view it as sustainability communications that fail to fairly reflect the true environmental profile of an entity, product, or financial service.</a:t>
            </a:r>
          </a:p>
          <a:p>
            <a:pPr>
              <a:spcAft>
                <a:spcPts val="400"/>
              </a:spcAft>
            </a:pPr>
            <a:r>
              <a:rPr lang="en-IN" sz="1200" b="1" dirty="0">
                <a:solidFill>
                  <a:srgbClr val="22704E"/>
                </a:solidFill>
                <a:latin typeface="Avenir Next" panose="020B0503020202020204" pitchFamily="34" charset="0"/>
              </a:rPr>
              <a:t>• Core Mechanism: </a:t>
            </a:r>
            <a:r>
              <a:rPr lang="en-IN" sz="1200" dirty="0">
                <a:solidFill>
                  <a:srgbClr val="2D2D2D"/>
                </a:solidFill>
                <a:latin typeface="Avenir Next" panose="020B0503020202020204" pitchFamily="34" charset="0"/>
              </a:rPr>
              <a:t>Organizational Decoupling — public green commitments operating detached from day-to-day operations.</a:t>
            </a:r>
          </a:p>
        </p:txBody>
      </p:sp>
      <p:sp>
        <p:nvSpPr>
          <p:cNvPr id="6" name="Rounded Rectangle 5"/>
          <p:cNvSpPr/>
          <p:nvPr/>
        </p:nvSpPr>
        <p:spPr>
          <a:xfrm>
            <a:off x="4315968" y="1056067"/>
            <a:ext cx="3557016" cy="4043967"/>
          </a:xfrm>
          <a:prstGeom prst="roundRect">
            <a:avLst/>
          </a:prstGeom>
          <a:solidFill>
            <a:srgbClr val="EEF4ED"/>
          </a:solidFill>
          <a:ln w="15240">
            <a:solidFill>
              <a:srgbClr val="9EB89D"/>
            </a:solidFill>
          </a:ln>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spcAft>
                <a:spcPts val="1000"/>
              </a:spcAft>
              <a:defRPr sz="1400" b="1">
                <a:solidFill>
                  <a:srgbClr val="12402D"/>
                </a:solidFill>
                <a:latin typeface="Calibri"/>
              </a:defRPr>
            </a:pPr>
            <a:r>
              <a:rPr sz="1400" dirty="0">
                <a:latin typeface="Avenir Next" panose="020B0503020202020204" pitchFamily="34" charset="0"/>
              </a:rPr>
              <a:t>2. How It Has Grown</a:t>
            </a:r>
          </a:p>
          <a:p>
            <a:pPr>
              <a:spcAft>
                <a:spcPts val="800"/>
              </a:spcAft>
            </a:pPr>
            <a:r>
              <a:rPr sz="1400" b="1" dirty="0">
                <a:solidFill>
                  <a:srgbClr val="22704E"/>
                </a:solidFill>
                <a:latin typeface="Avenir Next" panose="020B0503020202020204" pitchFamily="34" charset="0"/>
              </a:rPr>
              <a:t>• Product Level (1986–): </a:t>
            </a:r>
            <a:r>
              <a:rPr lang="en-IN" sz="1400" dirty="0" err="1">
                <a:solidFill>
                  <a:srgbClr val="2D2D2D"/>
                </a:solidFill>
                <a:latin typeface="Avenir Next" panose="020B0503020202020204" pitchFamily="34" charset="0"/>
              </a:rPr>
              <a:t>TerraChoice</a:t>
            </a:r>
            <a:r>
              <a:rPr lang="en-IN" sz="1400" dirty="0">
                <a:solidFill>
                  <a:srgbClr val="2D2D2D"/>
                </a:solidFill>
                <a:latin typeface="Avenir Next" panose="020B0503020202020204" pitchFamily="34" charset="0"/>
              </a:rPr>
              <a:t> "7 Sins": vagueness, hidden trade-offs, false seals, irrelevance, lesser of two evils, plus nature imagery &amp; </a:t>
            </a:r>
            <a:r>
              <a:rPr lang="en-IN" sz="1400" dirty="0" err="1">
                <a:solidFill>
                  <a:srgbClr val="2D2D2D"/>
                </a:solidFill>
                <a:latin typeface="Avenir Next" panose="020B0503020202020204" pitchFamily="34" charset="0"/>
              </a:rPr>
              <a:t>color</a:t>
            </a:r>
            <a:r>
              <a:rPr lang="en-IN" sz="1400" dirty="0">
                <a:solidFill>
                  <a:srgbClr val="2D2D2D"/>
                </a:solidFill>
                <a:latin typeface="Avenir Next" panose="020B0503020202020204" pitchFamily="34" charset="0"/>
              </a:rPr>
              <a:t> trickery.</a:t>
            </a:r>
          </a:p>
          <a:p>
            <a:pPr>
              <a:spcAft>
                <a:spcPts val="800"/>
              </a:spcAft>
            </a:pPr>
            <a:r>
              <a:rPr sz="1400" b="1" dirty="0">
                <a:solidFill>
                  <a:srgbClr val="22704E"/>
                </a:solidFill>
                <a:latin typeface="Avenir Next" panose="020B0503020202020204" pitchFamily="34" charset="0"/>
              </a:rPr>
              <a:t>• Corporate Level (1990s–): </a:t>
            </a:r>
            <a:r>
              <a:rPr sz="1400" dirty="0">
                <a:solidFill>
                  <a:srgbClr val="2D2D2D"/>
                </a:solidFill>
                <a:latin typeface="Avenir Next" panose="020B0503020202020204" pitchFamily="34" charset="0"/>
              </a:rPr>
              <a:t>Brand image makeover and halo </a:t>
            </a:r>
            <a:r>
              <a:rPr lang="en-US" sz="1400" dirty="0">
                <a:solidFill>
                  <a:srgbClr val="2D2D2D"/>
                </a:solidFill>
                <a:latin typeface="Avenir Next" panose="020B0503020202020204" pitchFamily="34" charset="0"/>
              </a:rPr>
              <a:t>marketing</a:t>
            </a:r>
            <a:r>
              <a:rPr sz="1400" dirty="0">
                <a:solidFill>
                  <a:srgbClr val="2D2D2D"/>
                </a:solidFill>
                <a:latin typeface="Avenir Next" panose="020B0503020202020204" pitchFamily="34" charset="0"/>
              </a:rPr>
              <a:t> to deflect attention from polluting core business.</a:t>
            </a:r>
          </a:p>
          <a:p>
            <a:pPr>
              <a:spcAft>
                <a:spcPts val="400"/>
              </a:spcAft>
            </a:pPr>
            <a:r>
              <a:rPr sz="1400" b="1" dirty="0">
                <a:solidFill>
                  <a:srgbClr val="22704E"/>
                </a:solidFill>
                <a:latin typeface="Avenir Next" panose="020B0503020202020204" pitchFamily="34" charset="0"/>
              </a:rPr>
              <a:t>• ESG &amp; Financial (Today): </a:t>
            </a:r>
            <a:r>
              <a:rPr lang="en-IN" sz="1400" dirty="0" err="1">
                <a:solidFill>
                  <a:srgbClr val="2D2D2D"/>
                </a:solidFill>
                <a:latin typeface="Avenir Next" panose="020B0503020202020204" pitchFamily="34" charset="0"/>
              </a:rPr>
              <a:t>Crosswashing</a:t>
            </a:r>
            <a:r>
              <a:rPr lang="en-IN" sz="1400" dirty="0">
                <a:solidFill>
                  <a:srgbClr val="2D2D2D"/>
                </a:solidFill>
                <a:latin typeface="Avenir Next" panose="020B0503020202020204" pitchFamily="34" charset="0"/>
              </a:rPr>
              <a:t> (selective ESG PR), Reporting Manipulation (omitting Scope 3 value-chain emissions), &amp; </a:t>
            </a:r>
            <a:r>
              <a:rPr lang="en-IN" sz="1400" dirty="0" err="1">
                <a:solidFill>
                  <a:srgbClr val="2D2D2D"/>
                </a:solidFill>
                <a:latin typeface="Avenir Next" panose="020B0503020202020204" pitchFamily="34" charset="0"/>
              </a:rPr>
              <a:t>Futurewashing</a:t>
            </a:r>
            <a:r>
              <a:rPr lang="en-IN" sz="1400" dirty="0">
                <a:solidFill>
                  <a:srgbClr val="2D2D2D"/>
                </a:solidFill>
                <a:latin typeface="Avenir Next" panose="020B0503020202020204" pitchFamily="34" charset="0"/>
              </a:rPr>
              <a:t> (unverified net-zero pledges lacking interim milestones).</a:t>
            </a:r>
            <a:endParaRPr sz="1400" dirty="0">
              <a:solidFill>
                <a:srgbClr val="2D2D2D"/>
              </a:solidFill>
              <a:latin typeface="Avenir Next" panose="020B0503020202020204" pitchFamily="34" charset="0"/>
            </a:endParaRPr>
          </a:p>
        </p:txBody>
      </p:sp>
      <p:sp>
        <p:nvSpPr>
          <p:cNvPr id="7" name="Rounded Rectangle 6"/>
          <p:cNvSpPr/>
          <p:nvPr/>
        </p:nvSpPr>
        <p:spPr>
          <a:xfrm>
            <a:off x="8074152" y="1056067"/>
            <a:ext cx="3557016" cy="4043967"/>
          </a:xfrm>
          <a:prstGeom prst="roundRect">
            <a:avLst/>
          </a:prstGeom>
          <a:solidFill>
            <a:srgbClr val="FDF6EE"/>
          </a:solidFill>
          <a:ln w="15240">
            <a:solidFill>
              <a:srgbClr val="E5C494"/>
            </a:solidFill>
          </a:ln>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spcAft>
                <a:spcPts val="1000"/>
              </a:spcAft>
              <a:defRPr sz="1400" b="1">
                <a:solidFill>
                  <a:srgbClr val="12402D"/>
                </a:solidFill>
                <a:latin typeface="Calibri"/>
              </a:defRPr>
            </a:pPr>
            <a:r>
              <a:rPr sz="1400" dirty="0">
                <a:latin typeface="Avenir Next" panose="020B0503020202020204" pitchFamily="34" charset="0"/>
              </a:rPr>
              <a:t>3. Multi-Layered Harm</a:t>
            </a:r>
          </a:p>
          <a:p>
            <a:pPr>
              <a:spcAft>
                <a:spcPts val="800"/>
              </a:spcAft>
            </a:pPr>
            <a:r>
              <a:rPr sz="1400" b="1" dirty="0">
                <a:solidFill>
                  <a:srgbClr val="22704E"/>
                </a:solidFill>
                <a:latin typeface="Avenir Next" panose="020B0503020202020204" pitchFamily="34" charset="0"/>
              </a:rPr>
              <a:t>• </a:t>
            </a:r>
            <a:r>
              <a:rPr lang="en-US" sz="1400" b="1" dirty="0">
                <a:solidFill>
                  <a:srgbClr val="22704E"/>
                </a:solidFill>
                <a:latin typeface="Avenir Next" panose="020B0503020202020204" pitchFamily="34" charset="0"/>
              </a:rPr>
              <a:t>Climate and Environmental</a:t>
            </a:r>
            <a:r>
              <a:rPr sz="1400" b="1" dirty="0">
                <a:solidFill>
                  <a:srgbClr val="22704E"/>
                </a:solidFill>
                <a:latin typeface="Avenir Next" panose="020B0503020202020204" pitchFamily="34" charset="0"/>
              </a:rPr>
              <a:t>: </a:t>
            </a:r>
            <a:r>
              <a:rPr sz="1400" dirty="0">
                <a:solidFill>
                  <a:srgbClr val="2D2D2D"/>
                </a:solidFill>
                <a:latin typeface="Avenir Next" panose="020B0503020202020204" pitchFamily="34" charset="0"/>
              </a:rPr>
              <a:t>Delays real </a:t>
            </a:r>
            <a:r>
              <a:rPr sz="1400" dirty="0" err="1">
                <a:solidFill>
                  <a:srgbClr val="2D2D2D"/>
                </a:solidFill>
                <a:latin typeface="Avenir Next" panose="020B0503020202020204" pitchFamily="34" charset="0"/>
              </a:rPr>
              <a:t>decarbonisation</a:t>
            </a:r>
            <a:r>
              <a:rPr sz="1400" dirty="0">
                <a:solidFill>
                  <a:srgbClr val="2D2D2D"/>
                </a:solidFill>
                <a:latin typeface="Avenir Next" panose="020B0503020202020204" pitchFamily="34" charset="0"/>
              </a:rPr>
              <a:t> and keeps high-emission business alive under transition slogans.</a:t>
            </a:r>
            <a:r>
              <a:rPr lang="en-US" sz="1400" dirty="0">
                <a:solidFill>
                  <a:srgbClr val="2D2D2D"/>
                </a:solidFill>
                <a:latin typeface="Avenir Next" panose="020B0503020202020204" pitchFamily="34" charset="0"/>
              </a:rPr>
              <a:t> Creates false comfort.</a:t>
            </a:r>
            <a:endParaRPr sz="1400" dirty="0">
              <a:solidFill>
                <a:srgbClr val="2D2D2D"/>
              </a:solidFill>
              <a:latin typeface="Avenir Next" panose="020B0503020202020204" pitchFamily="34" charset="0"/>
            </a:endParaRPr>
          </a:p>
          <a:p>
            <a:pPr>
              <a:spcAft>
                <a:spcPts val="800"/>
              </a:spcAft>
            </a:pPr>
            <a:r>
              <a:rPr sz="1400" b="1" dirty="0">
                <a:solidFill>
                  <a:srgbClr val="22704E"/>
                </a:solidFill>
                <a:latin typeface="Avenir Next" panose="020B0503020202020204" pitchFamily="34" charset="0"/>
              </a:rPr>
              <a:t>• Financial: </a:t>
            </a:r>
            <a:r>
              <a:rPr sz="1400" dirty="0">
                <a:solidFill>
                  <a:srgbClr val="2D2D2D"/>
                </a:solidFill>
                <a:latin typeface="Avenir Next" panose="020B0503020202020204" pitchFamily="34" charset="0"/>
              </a:rPr>
              <a:t>Misdirects green capital ($55.9B ESG debt in India); dishonest claims </a:t>
            </a:r>
            <a:r>
              <a:rPr lang="en-US" sz="1400" dirty="0">
                <a:solidFill>
                  <a:srgbClr val="2D2D2D"/>
                </a:solidFill>
                <a:latin typeface="Avenir Next" panose="020B0503020202020204" pitchFamily="34" charset="0"/>
              </a:rPr>
              <a:t>drive</a:t>
            </a:r>
            <a:r>
              <a:rPr sz="1400" dirty="0">
                <a:solidFill>
                  <a:srgbClr val="2D2D2D"/>
                </a:solidFill>
                <a:latin typeface="Avenir Next" panose="020B0503020202020204" pitchFamily="34" charset="0"/>
              </a:rPr>
              <a:t> out genuine green businesses.</a:t>
            </a:r>
          </a:p>
          <a:p>
            <a:pPr>
              <a:spcAft>
                <a:spcPts val="400"/>
              </a:spcAft>
            </a:pPr>
            <a:r>
              <a:rPr sz="1400" b="1" dirty="0">
                <a:solidFill>
                  <a:srgbClr val="22704E"/>
                </a:solidFill>
                <a:latin typeface="Avenir Next" panose="020B0503020202020204" pitchFamily="34" charset="0"/>
              </a:rPr>
              <a:t>• Market Trust:</a:t>
            </a:r>
            <a:r>
              <a:rPr lang="en-US" sz="1400" b="1" dirty="0">
                <a:solidFill>
                  <a:srgbClr val="22704E"/>
                </a:solidFill>
                <a:latin typeface="Avenir Next" panose="020B0503020202020204" pitchFamily="34" charset="0"/>
              </a:rPr>
              <a:t> </a:t>
            </a:r>
            <a:r>
              <a:rPr lang="en-IN" sz="1400" dirty="0">
                <a:solidFill>
                  <a:srgbClr val="2D2D2D"/>
                </a:solidFill>
                <a:latin typeface="Avenir Next" panose="020B0503020202020204" pitchFamily="34" charset="0"/>
              </a:rPr>
              <a:t>Erodes investor/consumer trust. Small fixed fines make greenwashing a cheap business gamble.</a:t>
            </a:r>
            <a:endParaRPr sz="1400" dirty="0">
              <a:solidFill>
                <a:srgbClr val="2D2D2D"/>
              </a:solidFill>
              <a:latin typeface="Avenir Next" panose="020B0503020202020204" pitchFamily="34" charset="0"/>
            </a:endParaRPr>
          </a:p>
        </p:txBody>
      </p:sp>
      <p:sp>
        <p:nvSpPr>
          <p:cNvPr id="8" name="TextBox 7"/>
          <p:cNvSpPr txBox="1"/>
          <p:nvPr/>
        </p:nvSpPr>
        <p:spPr>
          <a:xfrm>
            <a:off x="519684" y="6508941"/>
            <a:ext cx="1908984" cy="307777"/>
          </a:xfrm>
          <a:prstGeom prst="rect">
            <a:avLst/>
          </a:prstGeom>
          <a:noFill/>
        </p:spPr>
        <p:txBody>
          <a:bodyPr wrap="none">
            <a:spAutoFit/>
          </a:bodyPr>
          <a:lstStyle/>
          <a:p>
            <a:pPr>
              <a:defRPr sz="950">
                <a:solidFill>
                  <a:srgbClr val="4A4A4A"/>
                </a:solidFill>
                <a:latin typeface="Calibri"/>
              </a:defRPr>
            </a:pPr>
            <a:r>
              <a:rPr sz="1400" dirty="0"/>
              <a:t>Source base: Chapter </a:t>
            </a:r>
            <a:r>
              <a:rPr lang="en-US" sz="1400" dirty="0"/>
              <a:t>2.</a:t>
            </a:r>
            <a:endParaRPr sz="1400" dirty="0"/>
          </a:p>
        </p:txBody>
      </p:sp>
      <p:sp>
        <p:nvSpPr>
          <p:cNvPr id="9" name="Rounded Rectangle 8">
            <a:extLst>
              <a:ext uri="{FF2B5EF4-FFF2-40B4-BE49-F238E27FC236}">
                <a16:creationId xmlns:a16="http://schemas.microsoft.com/office/drawing/2014/main" id="{3828D458-2210-BD31-6238-1A5B8AA11B3C}"/>
              </a:ext>
            </a:extLst>
          </p:cNvPr>
          <p:cNvSpPr/>
          <p:nvPr/>
        </p:nvSpPr>
        <p:spPr>
          <a:xfrm>
            <a:off x="557784" y="5442933"/>
            <a:ext cx="11073384" cy="804672"/>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dirty="0">
                <a:latin typeface="Avenir Next" panose="020B0503020202020204" pitchFamily="34" charset="0"/>
              </a:rPr>
              <a:t>Research Question 1: What is greenwashing, how has it evolved, and what are its consequences?</a:t>
            </a:r>
          </a:p>
          <a:p>
            <a:pPr>
              <a:defRPr sz="1150" i="1">
                <a:solidFill>
                  <a:srgbClr val="4A4A4A"/>
                </a:solidFill>
                <a:latin typeface="Calibri"/>
              </a:defRPr>
            </a:pPr>
            <a:r>
              <a:rPr lang="en-IN" dirty="0">
                <a:latin typeface="Avenir Next" panose="020B0503020202020204" pitchFamily="34" charset="0"/>
              </a:rPr>
              <a:t>Answer to RQ1: Greenwashing has shifted from product labels to corporate disclosures and balance sheets. Its harm extends beyond consumer deception to capital misallocation, market distortion, and delayed climate action.</a:t>
            </a:r>
          </a:p>
        </p:txBody>
      </p:sp>
    </p:spTree>
    <p:extLst>
      <p:ext uri="{BB962C8B-B14F-4D97-AF65-F5344CB8AC3E}">
        <p14:creationId xmlns:p14="http://schemas.microsoft.com/office/powerpoint/2010/main" val="40122662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4" name="TextBox 3"/>
          <p:cNvSpPr txBox="1"/>
          <p:nvPr/>
        </p:nvSpPr>
        <p:spPr>
          <a:xfrm>
            <a:off x="413495" y="423308"/>
            <a:ext cx="11868966" cy="492443"/>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600" dirty="0">
                <a:latin typeface="Avenir Next" panose="020B0503020202020204" pitchFamily="34" charset="0"/>
              </a:rPr>
              <a:t>India</a:t>
            </a:r>
            <a:r>
              <a:rPr lang="en-US" sz="2600" dirty="0">
                <a:latin typeface="Avenir Next" panose="020B0503020202020204" pitchFamily="34" charset="0"/>
              </a:rPr>
              <a:t>’s</a:t>
            </a:r>
            <a:r>
              <a:rPr sz="2600" dirty="0">
                <a:latin typeface="Avenir Next" panose="020B0503020202020204" pitchFamily="34" charset="0"/>
              </a:rPr>
              <a:t> Legal Ecosystem</a:t>
            </a:r>
            <a:r>
              <a:rPr lang="en-US" sz="2600" dirty="0">
                <a:latin typeface="Avenir Next" panose="020B0503020202020204" pitchFamily="34" charset="0"/>
              </a:rPr>
              <a:t> For Tackling Misleading Environmental Claims</a:t>
            </a:r>
            <a:endParaRPr lang="en-IN" sz="2600" dirty="0">
              <a:latin typeface="Avenir Next" panose="020B0503020202020204" pitchFamily="34" charset="0"/>
            </a:endParaRPr>
          </a:p>
        </p:txBody>
      </p:sp>
      <p:sp>
        <p:nvSpPr>
          <p:cNvPr id="6" name="Rounded Rectangle 5"/>
          <p:cNvSpPr/>
          <p:nvPr/>
        </p:nvSpPr>
        <p:spPr>
          <a:xfrm>
            <a:off x="980082" y="1091429"/>
            <a:ext cx="10058400" cy="777240"/>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7" name="TextBox 6"/>
          <p:cNvSpPr txBox="1"/>
          <p:nvPr/>
        </p:nvSpPr>
        <p:spPr>
          <a:xfrm>
            <a:off x="980083" y="1120753"/>
            <a:ext cx="9829800" cy="738664"/>
          </a:xfrm>
          <a:prstGeom prst="rect">
            <a:avLst/>
          </a:prstGeom>
          <a:noFill/>
        </p:spPr>
        <p:txBody>
          <a:bodyPr wrap="square" anchor="t">
            <a:spAutoFit/>
          </a:bodyPr>
          <a:lstStyle/>
          <a:p>
            <a:pPr algn="ctr">
              <a:defRPr sz="1150" b="1">
                <a:solidFill>
                  <a:srgbClr val="12402D"/>
                </a:solidFill>
                <a:latin typeface="Avenir Next"/>
              </a:defRPr>
            </a:pPr>
            <a:r>
              <a:rPr sz="1400" dirty="0">
                <a:latin typeface="Avenir Next" panose="020B0503020202020204" pitchFamily="34" charset="0"/>
              </a:rPr>
              <a:t>Constitutional Bedrock: </a:t>
            </a:r>
            <a:endParaRPr lang="en-US" sz="1400" dirty="0">
              <a:latin typeface="Avenir Next" panose="020B0503020202020204" pitchFamily="34" charset="0"/>
            </a:endParaRPr>
          </a:p>
          <a:p>
            <a:pPr algn="ctr">
              <a:defRPr sz="1150" b="1">
                <a:solidFill>
                  <a:srgbClr val="12402D"/>
                </a:solidFill>
                <a:latin typeface="Avenir Next"/>
              </a:defRPr>
            </a:pPr>
            <a:r>
              <a:rPr sz="1400" dirty="0">
                <a:latin typeface="Avenir Next" panose="020B0503020202020204" pitchFamily="34" charset="0"/>
              </a:rPr>
              <a:t>Articles 21, 48A, 51A(g), and the landmark M.K. Ranjitsinh ruling establish a strong duty to take environmental claims seriously.</a:t>
            </a:r>
          </a:p>
        </p:txBody>
      </p:sp>
      <p:sp>
        <p:nvSpPr>
          <p:cNvPr id="8" name="Rounded Rectangle 7"/>
          <p:cNvSpPr/>
          <p:nvPr/>
        </p:nvSpPr>
        <p:spPr>
          <a:xfrm>
            <a:off x="877824" y="2088637"/>
            <a:ext cx="3425798" cy="256890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9" name="Rectangle 8"/>
          <p:cNvSpPr/>
          <p:nvPr/>
        </p:nvSpPr>
        <p:spPr>
          <a:xfrm>
            <a:off x="877824" y="2021203"/>
            <a:ext cx="3291840" cy="8063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0" name="TextBox 9"/>
          <p:cNvSpPr txBox="1"/>
          <p:nvPr/>
        </p:nvSpPr>
        <p:spPr>
          <a:xfrm>
            <a:off x="1024127" y="2216653"/>
            <a:ext cx="3279495"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1: Consumer Protection</a:t>
            </a:r>
          </a:p>
        </p:txBody>
      </p:sp>
      <p:sp>
        <p:nvSpPr>
          <p:cNvPr id="11" name="TextBox 10"/>
          <p:cNvSpPr txBox="1"/>
          <p:nvPr/>
        </p:nvSpPr>
        <p:spPr>
          <a:xfrm>
            <a:off x="1024128" y="2542072"/>
            <a:ext cx="3145536" cy="2121093"/>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CPA 2019, CCPA, Consumer Courts, and ASCI govern misleading product ads.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Broad jurisdiction over advertisements.</a:t>
            </a:r>
          </a:p>
          <a:p>
            <a:pPr>
              <a:defRPr sz="1000" b="1"/>
            </a:pPr>
            <a:r>
              <a:rPr sz="1400" dirty="0">
                <a:latin typeface="Avenir Next" panose="020B0503020202020204" pitchFamily="34" charset="0"/>
              </a:rPr>
              <a:t>• Limitation: Reactive, downstream, and consumer-facing only.</a:t>
            </a:r>
          </a:p>
        </p:txBody>
      </p:sp>
      <p:sp>
        <p:nvSpPr>
          <p:cNvPr id="12" name="Rounded Rectangle 11"/>
          <p:cNvSpPr/>
          <p:nvPr/>
        </p:nvSpPr>
        <p:spPr>
          <a:xfrm>
            <a:off x="4462272" y="2088637"/>
            <a:ext cx="3425798" cy="268059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3" name="Rectangle 12"/>
          <p:cNvSpPr/>
          <p:nvPr/>
        </p:nvSpPr>
        <p:spPr>
          <a:xfrm>
            <a:off x="4462272" y="2021203"/>
            <a:ext cx="3291840" cy="8063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4" name="TextBox 13"/>
          <p:cNvSpPr txBox="1"/>
          <p:nvPr/>
        </p:nvSpPr>
        <p:spPr>
          <a:xfrm>
            <a:off x="4608576" y="2216653"/>
            <a:ext cx="3304186"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2: Securities and Finance</a:t>
            </a:r>
          </a:p>
        </p:txBody>
      </p:sp>
      <p:sp>
        <p:nvSpPr>
          <p:cNvPr id="15" name="TextBox 14"/>
          <p:cNvSpPr txBox="1"/>
          <p:nvPr/>
        </p:nvSpPr>
        <p:spPr>
          <a:xfrm>
            <a:off x="4596230" y="2560360"/>
            <a:ext cx="3316531" cy="2336537"/>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SEBI, BRSR, BRSR Core, ESG debt rules, and PFUTP cover investor disclosures.</a:t>
            </a:r>
            <a:endParaRPr lang="en-US" sz="1400" dirty="0">
              <a:latin typeface="Avenir Next" panose="020B0503020202020204" pitchFamily="34" charset="0"/>
            </a:endParaRPr>
          </a:p>
          <a:p>
            <a:pPr>
              <a:spcAft>
                <a:spcPts val="200"/>
              </a:spcAft>
              <a:defRPr sz="1000" b="1"/>
            </a:pPr>
            <a:endParaRPr lang="en-US" sz="1050" dirty="0">
              <a:latin typeface="Avenir Next" panose="020B0503020202020204" pitchFamily="34" charset="0"/>
            </a:endParaRPr>
          </a:p>
          <a:p>
            <a:pPr>
              <a:spcAft>
                <a:spcPts val="200"/>
              </a:spcAft>
              <a:defRPr sz="1000" b="1"/>
            </a:pPr>
            <a:r>
              <a:rPr sz="1400" dirty="0">
                <a:latin typeface="Avenir Next" panose="020B0503020202020204" pitchFamily="34" charset="0"/>
              </a:rPr>
              <a:t>• Strength: Formalized ESG reporting structure.</a:t>
            </a:r>
          </a:p>
          <a:p>
            <a:pPr>
              <a:defRPr sz="1000" b="1"/>
            </a:pPr>
            <a:r>
              <a:rPr sz="1400" dirty="0">
                <a:latin typeface="Avenir Next" panose="020B0503020202020204" pitchFamily="34" charset="0"/>
              </a:rPr>
              <a:t>• Limitation:</a:t>
            </a:r>
            <a:r>
              <a:rPr lang="en-US" sz="1400" dirty="0">
                <a:latin typeface="Avenir Next" panose="020B0503020202020204" pitchFamily="34" charset="0"/>
              </a:rPr>
              <a:t> Single Materiality,</a:t>
            </a:r>
            <a:r>
              <a:rPr sz="1400" dirty="0">
                <a:latin typeface="Avenir Next" panose="020B0503020202020204" pitchFamily="34" charset="0"/>
              </a:rPr>
              <a:t> </a:t>
            </a:r>
            <a:r>
              <a:rPr lang="en-US" sz="1400" dirty="0">
                <a:latin typeface="Avenir Next" panose="020B0503020202020204" pitchFamily="34" charset="0"/>
              </a:rPr>
              <a:t>Limited Assurance, Diluted Verification </a:t>
            </a:r>
            <a:r>
              <a:rPr sz="1400" dirty="0">
                <a:latin typeface="Avenir Next" panose="020B0503020202020204" pitchFamily="34" charset="0"/>
              </a:rPr>
              <a:t>&amp; delayed third-party audit.</a:t>
            </a:r>
          </a:p>
        </p:txBody>
      </p:sp>
      <p:sp>
        <p:nvSpPr>
          <p:cNvPr id="16" name="Rounded Rectangle 15"/>
          <p:cNvSpPr/>
          <p:nvPr/>
        </p:nvSpPr>
        <p:spPr>
          <a:xfrm>
            <a:off x="8046720" y="2088637"/>
            <a:ext cx="3425798" cy="256890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7" name="Rectangle 16"/>
          <p:cNvSpPr/>
          <p:nvPr/>
        </p:nvSpPr>
        <p:spPr>
          <a:xfrm>
            <a:off x="8046720" y="2021203"/>
            <a:ext cx="3291840" cy="8063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8" name="TextBox 17"/>
          <p:cNvSpPr txBox="1"/>
          <p:nvPr/>
        </p:nvSpPr>
        <p:spPr>
          <a:xfrm>
            <a:off x="8193024" y="2216653"/>
            <a:ext cx="327949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3: Corporate Governance</a:t>
            </a:r>
          </a:p>
        </p:txBody>
      </p:sp>
      <p:sp>
        <p:nvSpPr>
          <p:cNvPr id="19" name="TextBox 18"/>
          <p:cNvSpPr txBox="1"/>
          <p:nvPr/>
        </p:nvSpPr>
        <p:spPr>
          <a:xfrm>
            <a:off x="8260002" y="2584713"/>
            <a:ext cx="3212515" cy="1905650"/>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MCA and Companies Act place environmental care inside directors' duties.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Section 166(2) is textually strong.</a:t>
            </a:r>
          </a:p>
          <a:p>
            <a:pPr>
              <a:defRPr sz="1000" b="1"/>
            </a:pPr>
            <a:r>
              <a:rPr sz="1400" dirty="0">
                <a:latin typeface="Avenir Next" panose="020B0503020202020204" pitchFamily="34" charset="0"/>
              </a:rPr>
              <a:t>• Limitation: Narrow standing, ₹1–5L fines, zero reported cases.</a:t>
            </a:r>
          </a:p>
        </p:txBody>
      </p:sp>
      <p:sp>
        <p:nvSpPr>
          <p:cNvPr id="20" name="Rounded Rectangle 19"/>
          <p:cNvSpPr/>
          <p:nvPr/>
        </p:nvSpPr>
        <p:spPr>
          <a:xfrm>
            <a:off x="1249519" y="4906074"/>
            <a:ext cx="9775867" cy="17062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21" name="TextBox 20"/>
          <p:cNvSpPr txBox="1"/>
          <p:nvPr/>
        </p:nvSpPr>
        <p:spPr>
          <a:xfrm>
            <a:off x="1405426" y="4996455"/>
            <a:ext cx="9576650" cy="1615827"/>
          </a:xfrm>
          <a:prstGeom prst="rect">
            <a:avLst/>
          </a:prstGeom>
          <a:noFill/>
        </p:spPr>
        <p:txBody>
          <a:bodyPr wrap="square" lIns="91440" tIns="45720" rIns="91440" bIns="45720" anchor="t">
            <a:spAutoFit/>
          </a:bodyPr>
          <a:lstStyle/>
          <a:p>
            <a:pPr>
              <a:spcAft>
                <a:spcPts val="200"/>
              </a:spcAft>
              <a:defRPr sz="1100" b="1">
                <a:solidFill>
                  <a:srgbClr val="12402D"/>
                </a:solidFill>
                <a:latin typeface="Avenir Next"/>
              </a:defRPr>
            </a:pPr>
            <a:r>
              <a:rPr lang="en-US" sz="1400" dirty="0">
                <a:latin typeface="Avenir Next" panose="020B0503020202020204" pitchFamily="34" charset="0"/>
              </a:rPr>
              <a:t>Other </a:t>
            </a:r>
            <a:r>
              <a:rPr sz="1400" dirty="0">
                <a:latin typeface="Avenir Next" panose="020B0503020202020204" pitchFamily="34" charset="0"/>
              </a:rPr>
              <a:t>Complementary Laws &amp; Regulators:</a:t>
            </a:r>
            <a:endParaRPr lang="en-US" sz="1400" b="1" dirty="0">
              <a:solidFill>
                <a:srgbClr val="2A2A2A"/>
              </a:solidFill>
              <a:latin typeface="Avenir Next" panose="020B0503020202020204" pitchFamily="34" charset="0"/>
              <a:ea typeface="Calibri"/>
              <a:cs typeface="Calibri"/>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EPA 1986 (environmental standards</a:t>
            </a:r>
            <a:r>
              <a:rPr lang="en-US" sz="1400" dirty="0">
                <a:latin typeface="Avenir Next" panose="020B0503020202020204" pitchFamily="34" charset="0"/>
              </a:rPr>
              <a:t> as objective benchmarks</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NGT (</a:t>
            </a:r>
            <a:r>
              <a:rPr sz="1400" dirty="0" err="1">
                <a:latin typeface="Avenir Next" panose="020B0503020202020204" pitchFamily="34" charset="0"/>
              </a:rPr>
              <a:t>suo</a:t>
            </a:r>
            <a:r>
              <a:rPr sz="1400" dirty="0">
                <a:latin typeface="Avenir Next" panose="020B0503020202020204" pitchFamily="34" charset="0"/>
              </a:rPr>
              <a:t> motu powers</a:t>
            </a:r>
            <a:r>
              <a:rPr lang="en-US" sz="1400" dirty="0">
                <a:latin typeface="Avenir Next" panose="020B0503020202020204" pitchFamily="34" charset="0"/>
              </a:rPr>
              <a:t>, broad remedial powers, </a:t>
            </a:r>
            <a:r>
              <a:rPr sz="1400" dirty="0">
                <a:latin typeface="Avenir Next" panose="020B0503020202020204" pitchFamily="34" charset="0"/>
              </a:rPr>
              <a:t>proportional fines</a:t>
            </a:r>
            <a:r>
              <a:rPr lang="en-US" sz="1400" dirty="0">
                <a:latin typeface="Avenir Next" panose="020B0503020202020204" pitchFamily="34" charset="0"/>
              </a:rPr>
              <a:t>, but is a tribunal not regulator</a:t>
            </a:r>
            <a:r>
              <a:rPr sz="1400" dirty="0">
                <a:latin typeface="Avenir Next" panose="020B0503020202020204" pitchFamily="34" charset="0"/>
              </a:rPr>
              <a:t>) </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FSSAI (</a:t>
            </a:r>
            <a:r>
              <a:rPr lang="en-US" sz="1400" dirty="0">
                <a:latin typeface="Avenir Next" panose="020B0503020202020204" pitchFamily="34" charset="0"/>
              </a:rPr>
              <a:t>sector specific, varied enforcement</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BIS </a:t>
            </a:r>
            <a:r>
              <a:rPr sz="1400" dirty="0" err="1">
                <a:latin typeface="Avenir Next" panose="020B0503020202020204" pitchFamily="34" charset="0"/>
              </a:rPr>
              <a:t>Ecomark</a:t>
            </a:r>
            <a:r>
              <a:rPr sz="1400" dirty="0">
                <a:latin typeface="Avenir Next" panose="020B0503020202020204" pitchFamily="34" charset="0"/>
              </a:rPr>
              <a:t> (voluntary certification)</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Trade Marks Act § 9(1)(b) (</a:t>
            </a:r>
            <a:r>
              <a:rPr lang="en-IN" sz="1400" dirty="0">
                <a:solidFill>
                  <a:srgbClr val="3A3A4A"/>
                </a:solidFill>
                <a:latin typeface="Avenir Next" panose="020B0503020202020204" pitchFamily="34" charset="0"/>
                <a:ea typeface="Calibri"/>
                <a:cs typeface="Calibri"/>
              </a:rPr>
              <a:t>provides indirect protection by refusing registration of deceptive 'green’ trademarks</a:t>
            </a:r>
            <a:r>
              <a:rPr sz="1400" dirty="0">
                <a:latin typeface="Avenir Next" panose="020B0503020202020204" pitchFamily="34" charset="0"/>
              </a:rPr>
              <a:t>).</a:t>
            </a:r>
          </a:p>
        </p:txBody>
      </p:sp>
      <p:sp>
        <p:nvSpPr>
          <p:cNvPr id="22" name="TextBox 21">
            <a:extLst>
              <a:ext uri="{FF2B5EF4-FFF2-40B4-BE49-F238E27FC236}">
                <a16:creationId xmlns:a16="http://schemas.microsoft.com/office/drawing/2014/main" id="{D5AC17E7-B862-394E-AABA-62A96475E223}"/>
              </a:ext>
            </a:extLst>
          </p:cNvPr>
          <p:cNvSpPr txBox="1"/>
          <p:nvPr/>
        </p:nvSpPr>
        <p:spPr>
          <a:xfrm>
            <a:off x="925833" y="6664060"/>
            <a:ext cx="4000000" cy="246221"/>
          </a:xfrm>
          <a:prstGeom prst="rect">
            <a:avLst/>
          </a:prstGeom>
          <a:noFill/>
        </p:spPr>
        <p:txBody>
          <a:bodyPr wrap="square" lIns="45720" tIns="22860" rIns="45720" bIns="22860" anchor="t">
            <a:spAutoFit/>
          </a:bodyPr>
          <a:lstStyle/>
          <a:p>
            <a:pPr algn="l"/>
            <a:r>
              <a:rPr sz="1300" b="0" i="0" dirty="0">
                <a:latin typeface="Avenir Next" panose="020B0503020202020204" pitchFamily="34" charset="0"/>
              </a:rPr>
              <a:t>Source base: Chapte</a:t>
            </a:r>
            <a:r>
              <a:rPr lang="en-US" sz="1300" b="0" i="0" dirty="0">
                <a:latin typeface="Avenir Next" panose="020B0503020202020204" pitchFamily="34" charset="0"/>
              </a:rPr>
              <a:t>r 5.</a:t>
            </a:r>
            <a:endParaRPr sz="1300" b="0" i="0" dirty="0">
              <a:latin typeface="Avenir Next" panose="020B0503020202020204" pitchFamily="34" charset="0"/>
            </a:endParaRPr>
          </a:p>
        </p:txBody>
      </p:sp>
    </p:spTree>
    <p:extLst>
      <p:ext uri="{BB962C8B-B14F-4D97-AF65-F5344CB8AC3E}">
        <p14:creationId xmlns:p14="http://schemas.microsoft.com/office/powerpoint/2010/main" val="25139195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584775"/>
          </a:xfrm>
          <a:prstGeom prst="rect">
            <a:avLst/>
          </a:prstGeom>
          <a:noFill/>
        </p:spPr>
        <p:txBody>
          <a:bodyPr wrap="square" lIns="91440" tIns="45720" rIns="91440" bIns="45720" anchor="t">
            <a:spAutoFit/>
          </a:bodyPr>
          <a:lstStyle/>
          <a:p>
            <a:pPr algn="ctr">
              <a:defRPr sz="2200" b="1">
                <a:solidFill>
                  <a:srgbClr val="173F35"/>
                </a:solidFill>
                <a:latin typeface="Avenir Next Demi Bold"/>
              </a:defRPr>
            </a:pPr>
            <a:r>
              <a:rPr lang="en-US" sz="3200" dirty="0"/>
              <a:t>Limitations of Consumer Law In Tackling Greenwashing</a:t>
            </a:r>
          </a:p>
        </p:txBody>
      </p:sp>
      <p:sp>
        <p:nvSpPr>
          <p:cNvPr id="8" name="Chevron 7"/>
          <p:cNvSpPr/>
          <p:nvPr/>
        </p:nvSpPr>
        <p:spPr>
          <a:xfrm>
            <a:off x="1065366" y="5858837"/>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Product Labels</a:t>
            </a:r>
          </a:p>
        </p:txBody>
      </p:sp>
      <p:sp>
        <p:nvSpPr>
          <p:cNvPr id="9" name="Chevron 8"/>
          <p:cNvSpPr/>
          <p:nvPr/>
        </p:nvSpPr>
        <p:spPr>
          <a:xfrm>
            <a:off x="3022182" y="5858837"/>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Websites</a:t>
            </a:r>
          </a:p>
        </p:txBody>
      </p:sp>
      <p:sp>
        <p:nvSpPr>
          <p:cNvPr id="10" name="Chevron 9"/>
          <p:cNvSpPr/>
          <p:nvPr/>
        </p:nvSpPr>
        <p:spPr>
          <a:xfrm>
            <a:off x="4978998" y="5858837"/>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Sustainability Reports</a:t>
            </a:r>
          </a:p>
        </p:txBody>
      </p:sp>
      <p:sp>
        <p:nvSpPr>
          <p:cNvPr id="11" name="Chevron 10"/>
          <p:cNvSpPr/>
          <p:nvPr/>
        </p:nvSpPr>
        <p:spPr>
          <a:xfrm>
            <a:off x="6935814" y="5858837"/>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BRSR / ESG</a:t>
            </a:r>
          </a:p>
        </p:txBody>
      </p:sp>
      <p:sp>
        <p:nvSpPr>
          <p:cNvPr id="12" name="Chevron 11"/>
          <p:cNvSpPr/>
          <p:nvPr/>
        </p:nvSpPr>
        <p:spPr>
          <a:xfrm>
            <a:off x="8892630" y="5858837"/>
            <a:ext cx="2231136"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Green Debt / Net Zero</a:t>
            </a:r>
          </a:p>
        </p:txBody>
      </p:sp>
      <p:sp>
        <p:nvSpPr>
          <p:cNvPr id="19" name="Rounded Rectangle 18"/>
          <p:cNvSpPr/>
          <p:nvPr/>
        </p:nvSpPr>
        <p:spPr>
          <a:xfrm>
            <a:off x="7570381" y="1438153"/>
            <a:ext cx="4226454" cy="2386996"/>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0" name="TextBox 19"/>
          <p:cNvSpPr txBox="1"/>
          <p:nvPr/>
        </p:nvSpPr>
        <p:spPr>
          <a:xfrm>
            <a:off x="7740502" y="1593195"/>
            <a:ext cx="3934413" cy="2164695"/>
          </a:xfrm>
          <a:prstGeom prst="rect">
            <a:avLst/>
          </a:prstGeom>
          <a:noFill/>
        </p:spPr>
        <p:txBody>
          <a:bodyPr wrap="square" lIns="91440" tIns="45720" rIns="91440" bIns="45720" anchor="t">
            <a:spAutoFit/>
          </a:bodyPr>
          <a:lstStyle/>
          <a:p>
            <a:pPr algn="ctr">
              <a:spcAft>
                <a:spcPts val="400"/>
              </a:spcAft>
              <a:defRPr sz="1400" b="1">
                <a:solidFill>
                  <a:srgbClr val="A8552F"/>
                </a:solidFill>
                <a:latin typeface="Georgia"/>
              </a:defRPr>
            </a:pPr>
            <a:r>
              <a:rPr sz="1600" dirty="0">
                <a:latin typeface="Avenir Next" panose="020B0503020202020204" pitchFamily="34" charset="0"/>
              </a:rPr>
              <a:t>The Corporate Governance Solution</a:t>
            </a:r>
          </a:p>
          <a:p>
            <a:pPr>
              <a:spcAft>
                <a:spcPts val="400"/>
              </a:spcAft>
              <a:defRPr sz="1150">
                <a:solidFill>
                  <a:srgbClr val="2D2D2D"/>
                </a:solidFill>
              </a:defRPr>
            </a:pPr>
            <a:r>
              <a:rPr sz="1600" dirty="0">
                <a:latin typeface="Avenir Next" panose="020B0503020202020204" pitchFamily="34" charset="0"/>
              </a:rPr>
              <a:t>• Moves enforcement </a:t>
            </a:r>
            <a:r>
              <a:rPr sz="1600" dirty="0" err="1">
                <a:latin typeface="Avenir Next" panose="020B0503020202020204" pitchFamily="34" charset="0"/>
              </a:rPr>
              <a:t>upstrea</a:t>
            </a:r>
            <a:r>
              <a:rPr lang="en-IN" sz="1600" dirty="0">
                <a:latin typeface="Avenir Next" panose="020B0503020202020204" pitchFamily="34" charset="0"/>
              </a:rPr>
              <a:t>m</a:t>
            </a:r>
            <a:r>
              <a:rPr lang="en-US" sz="1600" dirty="0">
                <a:latin typeface="Avenir Next" panose="020B0503020202020204" pitchFamily="34" charset="0"/>
              </a:rPr>
              <a:t>, </a:t>
            </a:r>
            <a:r>
              <a:rPr sz="1600" dirty="0">
                <a:latin typeface="Avenir Next" panose="020B0503020202020204" pitchFamily="34" charset="0"/>
              </a:rPr>
              <a:t>requiring verified data before any claim leaves the boardroom.</a:t>
            </a:r>
          </a:p>
          <a:p>
            <a:pPr>
              <a:defRPr sz="1150">
                <a:solidFill>
                  <a:srgbClr val="2D2D2D"/>
                </a:solidFill>
              </a:defRPr>
            </a:pPr>
            <a:r>
              <a:rPr sz="1600" dirty="0">
                <a:latin typeface="Avenir Next" panose="020B0503020202020204" pitchFamily="34" charset="0"/>
              </a:rPr>
              <a:t>• Uses Section 166(2) and audit committees to hold leadership personally responsible for truth in sustainability.</a:t>
            </a:r>
          </a:p>
        </p:txBody>
      </p:sp>
      <p:sp>
        <p:nvSpPr>
          <p:cNvPr id="21" name="TextBox 20"/>
          <p:cNvSpPr txBox="1"/>
          <p:nvPr/>
        </p:nvSpPr>
        <p:spPr>
          <a:xfrm>
            <a:off x="566928" y="6570920"/>
            <a:ext cx="2132315"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Chapter </a:t>
            </a:r>
            <a:r>
              <a:rPr lang="en-US" sz="1100" dirty="0"/>
              <a:t>2</a:t>
            </a:r>
            <a:r>
              <a:rPr sz="1100" dirty="0"/>
              <a:t> </a:t>
            </a:r>
            <a:r>
              <a:rPr lang="en-US" sz="1100" dirty="0"/>
              <a:t>and 5.</a:t>
            </a:r>
            <a:endParaRPr sz="1100" dirty="0"/>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1054085"/>
            <a:ext cx="6678424" cy="457906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latin typeface="Avenir Next" panose="020B0503020202020204" pitchFamily="34" charset="0"/>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1012755" y="1344127"/>
            <a:ext cx="6089793" cy="4337085"/>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600"/>
              </a:spcAft>
              <a:defRPr sz="1350" b="1">
                <a:solidFill>
                  <a:srgbClr val="12402D"/>
                </a:solidFill>
                <a:latin typeface="Calibri"/>
              </a:defRPr>
            </a:pPr>
            <a:r>
              <a:rPr sz="1600" dirty="0">
                <a:latin typeface="Avenir Next" panose="020B0503020202020204" pitchFamily="34" charset="0"/>
              </a:rPr>
              <a:t>Limitations of Consumer Law (CPA 2019 / CCPA)</a:t>
            </a:r>
            <a:endParaRPr lang="en-US" sz="1600" dirty="0">
              <a:latin typeface="Avenir Next" panose="020B0503020202020204" pitchFamily="34" charset="0"/>
            </a:endParaRPr>
          </a:p>
          <a:p>
            <a:pPr>
              <a:spcBef>
                <a:spcPts val="200"/>
              </a:spcBef>
              <a:spcAft>
                <a:spcPts val="300"/>
              </a:spcAft>
            </a:pPr>
            <a:r>
              <a:rPr sz="1600" b="1" dirty="0">
                <a:solidFill>
                  <a:srgbClr val="22704E"/>
                </a:solidFill>
                <a:latin typeface="Avenir Next" panose="020B0503020202020204" pitchFamily="34" charset="0"/>
              </a:rPr>
              <a:t>1. Reactive by Nature: </a:t>
            </a:r>
            <a:r>
              <a:rPr sz="1600" dirty="0">
                <a:solidFill>
                  <a:srgbClr val="2D2D2D"/>
                </a:solidFill>
                <a:latin typeface="Avenir Next" panose="020B0503020202020204" pitchFamily="34" charset="0"/>
              </a:rPr>
              <a:t>Intervenes only after deceptive claims enter the market.</a:t>
            </a:r>
          </a:p>
          <a:p>
            <a:pPr>
              <a:spcBef>
                <a:spcPts val="200"/>
              </a:spcBef>
              <a:spcAft>
                <a:spcPts val="300"/>
              </a:spcAft>
            </a:pPr>
            <a:r>
              <a:rPr sz="1600" b="1" dirty="0">
                <a:solidFill>
                  <a:srgbClr val="22704E"/>
                </a:solidFill>
                <a:latin typeface="Avenir Next" panose="020B0503020202020204" pitchFamily="34" charset="0"/>
              </a:rPr>
              <a:t>2. Individual Harm Focus: </a:t>
            </a:r>
            <a:r>
              <a:rPr sz="1600" dirty="0">
                <a:solidFill>
                  <a:srgbClr val="2D2D2D"/>
                </a:solidFill>
                <a:latin typeface="Avenir Next" panose="020B0503020202020204" pitchFamily="34" charset="0"/>
              </a:rPr>
              <a:t>Treats greenwashing as single consumer disputes, not systemic governance failure.</a:t>
            </a:r>
          </a:p>
          <a:p>
            <a:pPr>
              <a:spcBef>
                <a:spcPts val="200"/>
              </a:spcBef>
              <a:spcAft>
                <a:spcPts val="300"/>
              </a:spcAft>
            </a:pPr>
            <a:r>
              <a:rPr sz="1600" b="1" dirty="0">
                <a:solidFill>
                  <a:srgbClr val="22704E"/>
                </a:solidFill>
                <a:latin typeface="Avenir Next" panose="020B0503020202020204" pitchFamily="34" charset="0"/>
              </a:rPr>
              <a:t>3. Information Asymmetry: </a:t>
            </a:r>
            <a:r>
              <a:rPr sz="1600" dirty="0">
                <a:solidFill>
                  <a:srgbClr val="2D2D2D"/>
                </a:solidFill>
                <a:latin typeface="Avenir Next" panose="020B0503020202020204" pitchFamily="34" charset="0"/>
              </a:rPr>
              <a:t>Burden of proof falls on ordinary consumers who lack technical data.</a:t>
            </a:r>
          </a:p>
          <a:p>
            <a:pPr>
              <a:spcBef>
                <a:spcPts val="200"/>
              </a:spcBef>
              <a:spcAft>
                <a:spcPts val="300"/>
              </a:spcAft>
            </a:pPr>
            <a:r>
              <a:rPr sz="1600" b="1" dirty="0">
                <a:solidFill>
                  <a:srgbClr val="22704E"/>
                </a:solidFill>
                <a:latin typeface="Avenir Next" panose="020B0503020202020204" pitchFamily="34" charset="0"/>
              </a:rPr>
              <a:t>4. No Boardroom Mandates: </a:t>
            </a:r>
            <a:r>
              <a:rPr sz="1600" dirty="0">
                <a:solidFill>
                  <a:srgbClr val="2D2D2D"/>
                </a:solidFill>
                <a:latin typeface="Avenir Next" panose="020B0503020202020204" pitchFamily="34" charset="0"/>
              </a:rPr>
              <a:t>Regulates ad copy, not internal corporate systems or decision-making.</a:t>
            </a:r>
          </a:p>
          <a:p>
            <a:pPr>
              <a:spcBef>
                <a:spcPts val="200"/>
              </a:spcBef>
              <a:spcAft>
                <a:spcPts val="300"/>
              </a:spcAft>
            </a:pPr>
            <a:r>
              <a:rPr sz="1600" b="1" dirty="0">
                <a:solidFill>
                  <a:srgbClr val="22704E"/>
                </a:solidFill>
                <a:latin typeface="Avenir Next" panose="020B0503020202020204" pitchFamily="34" charset="0"/>
              </a:rPr>
              <a:t>5. The Puffery Loophole: </a:t>
            </a:r>
            <a:r>
              <a:rPr lang="en-US" sz="1600" dirty="0">
                <a:solidFill>
                  <a:srgbClr val="2D2D2D"/>
                </a:solidFill>
                <a:latin typeface="Avenir Next" panose="020B0503020202020204" pitchFamily="34" charset="0"/>
              </a:rPr>
              <a:t>Allowing scope for </a:t>
            </a:r>
            <a:r>
              <a:rPr sz="1600" dirty="0">
                <a:solidFill>
                  <a:srgbClr val="2D2D2D"/>
                </a:solidFill>
                <a:latin typeface="Avenir Next" panose="020B0503020202020204" pitchFamily="34" charset="0"/>
              </a:rPr>
              <a:t>exaggerations creates loopholes for vague green buzzwords.</a:t>
            </a:r>
          </a:p>
          <a:p>
            <a:pPr>
              <a:spcBef>
                <a:spcPts val="200"/>
              </a:spcBef>
              <a:spcAft>
                <a:spcPts val="300"/>
              </a:spcAft>
            </a:pPr>
            <a:r>
              <a:rPr sz="1600" b="1" dirty="0">
                <a:solidFill>
                  <a:srgbClr val="22704E"/>
                </a:solidFill>
                <a:latin typeface="Avenir Next" panose="020B0503020202020204" pitchFamily="34" charset="0"/>
              </a:rPr>
              <a:t>6. Entity-Only Fines: </a:t>
            </a:r>
            <a:r>
              <a:rPr sz="1600" dirty="0">
                <a:solidFill>
                  <a:srgbClr val="2D2D2D"/>
                </a:solidFill>
                <a:latin typeface="Avenir Next" panose="020B0503020202020204" pitchFamily="34" charset="0"/>
              </a:rPr>
              <a:t>Fines the company budget rather than holding directors accountable.</a:t>
            </a:r>
            <a:endParaRPr lang="en-US" sz="1600" dirty="0">
              <a:solidFill>
                <a:srgbClr val="2D2D2D"/>
              </a:solidFill>
              <a:latin typeface="Avenir Next" panose="020B0503020202020204" pitchFamily="34" charset="0"/>
            </a:endParaRPr>
          </a:p>
          <a:p>
            <a:pPr>
              <a:spcBef>
                <a:spcPts val="200"/>
              </a:spcBef>
              <a:spcAft>
                <a:spcPts val="300"/>
              </a:spcAft>
            </a:pPr>
            <a:r>
              <a:rPr lang="en-IN" sz="1600" b="1" dirty="0">
                <a:solidFill>
                  <a:srgbClr val="22704E"/>
                </a:solidFill>
                <a:latin typeface="Avenir Next" panose="020B0503020202020204" pitchFamily="34" charset="0"/>
              </a:rPr>
              <a:t>7. </a:t>
            </a:r>
            <a:r>
              <a:rPr lang="en-US" sz="1600" b="1" dirty="0">
                <a:solidFill>
                  <a:srgbClr val="22704E"/>
                </a:solidFill>
                <a:latin typeface="Avenir Next" panose="020B0503020202020204" pitchFamily="34" charset="0"/>
              </a:rPr>
              <a:t>Guidelines only: </a:t>
            </a:r>
            <a:r>
              <a:rPr lang="en-US" sz="1600" dirty="0">
                <a:latin typeface="Avenir Next" panose="020B0503020202020204" pitchFamily="34" charset="0"/>
                <a:ea typeface="Calibri"/>
                <a:cs typeface="Calibri"/>
              </a:rPr>
              <a:t>may not stand legal test</a:t>
            </a:r>
          </a:p>
          <a:p>
            <a:pPr>
              <a:spcBef>
                <a:spcPts val="200"/>
              </a:spcBef>
              <a:spcAft>
                <a:spcPts val="300"/>
              </a:spcAft>
            </a:pPr>
            <a:endParaRPr sz="1600" dirty="0">
              <a:solidFill>
                <a:srgbClr val="2D2D2D"/>
              </a:solidFill>
              <a:latin typeface="Avenir Next" panose="020B0503020202020204" pitchFamily="34" charset="0"/>
            </a:endParaRPr>
          </a:p>
        </p:txBody>
      </p:sp>
      <p:sp>
        <p:nvSpPr>
          <p:cNvPr id="25" name="Rounded Rectangle 24"/>
          <p:cNvSpPr/>
          <p:nvPr/>
        </p:nvSpPr>
        <p:spPr>
          <a:xfrm>
            <a:off x="7570381" y="3987046"/>
            <a:ext cx="4226454" cy="1646099"/>
          </a:xfrm>
          <a:prstGeom prst="roundRect">
            <a:avLst>
              <a:gd name="adj" fmla="val 14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26" name="TextBox 25"/>
          <p:cNvSpPr txBox="1"/>
          <p:nvPr/>
        </p:nvSpPr>
        <p:spPr>
          <a:xfrm>
            <a:off x="7740502" y="4143355"/>
            <a:ext cx="3920726" cy="1377300"/>
          </a:xfrm>
          <a:prstGeom prst="rect">
            <a:avLst/>
          </a:prstGeom>
          <a:noFill/>
        </p:spPr>
        <p:txBody>
          <a:bodyPr wrap="square" lIns="45720" tIns="22860" rIns="45720" bIns="22860" anchor="ctr">
            <a:spAutoFit/>
          </a:bodyPr>
          <a:lstStyle/>
          <a:p>
            <a:pPr>
              <a:spcAft>
                <a:spcPts val="300"/>
              </a:spcAft>
              <a:defRPr sz="1100" b="1">
                <a:solidFill>
                  <a:srgbClr val="12402D"/>
                </a:solidFill>
              </a:defRPr>
            </a:pPr>
            <a:r>
              <a:rPr sz="1400" dirty="0">
                <a:latin typeface="Avenir Next" panose="020B0503020202020204" pitchFamily="34" charset="0"/>
              </a:rPr>
              <a:t>Research Question 2: Why can't consumer law solve greenwashing alone?</a:t>
            </a:r>
          </a:p>
          <a:p>
            <a:pPr>
              <a:defRPr sz="1050">
                <a:solidFill>
                  <a:srgbClr val="282828"/>
                </a:solidFill>
              </a:defRPr>
            </a:pPr>
            <a:r>
              <a:rPr sz="1400" dirty="0">
                <a:latin typeface="Avenir Next" panose="020B0503020202020204" pitchFamily="34" charset="0"/>
              </a:rPr>
              <a:t>Answer: Consumer law only polices the end-product ad; corporate governance polices the internal systems, board oversight, and verified data that produced the claim.</a:t>
            </a:r>
          </a:p>
        </p:txBody>
      </p:sp>
    </p:spTree>
    <p:extLst>
      <p:ext uri="{BB962C8B-B14F-4D97-AF65-F5344CB8AC3E}">
        <p14:creationId xmlns:p14="http://schemas.microsoft.com/office/powerpoint/2010/main" val="30479542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3" name="TextBox 2"/>
          <p:cNvSpPr txBox="1"/>
          <p:nvPr/>
        </p:nvSpPr>
        <p:spPr>
          <a:xfrm>
            <a:off x="440000" y="370000"/>
            <a:ext cx="11300000" cy="507831"/>
          </a:xfrm>
          <a:prstGeom prst="rect">
            <a:avLst/>
          </a:prstGeom>
          <a:noFill/>
        </p:spPr>
        <p:txBody>
          <a:bodyPr wrap="square" lIns="45720" tIns="22860" rIns="45720" bIns="22860" anchor="t">
            <a:spAutoFit/>
          </a:bodyPr>
          <a:lstStyle/>
          <a:p>
            <a:pPr algn="l"/>
            <a:r>
              <a:rPr sz="3000" b="1" dirty="0">
                <a:solidFill>
                  <a:srgbClr val="173F35"/>
                </a:solidFill>
                <a:latin typeface="Avenir Next" panose="020B0503020202020204" pitchFamily="34" charset="0"/>
              </a:rPr>
              <a:t>Why Greenwashing Is a Corporate Accountability Failure</a:t>
            </a:r>
            <a:r>
              <a:rPr lang="en-US" sz="3000" b="1" dirty="0">
                <a:solidFill>
                  <a:srgbClr val="173F35"/>
                </a:solidFill>
                <a:latin typeface="Avenir Next" panose="020B0503020202020204" pitchFamily="34" charset="0"/>
              </a:rPr>
              <a:t> ?</a:t>
            </a:r>
            <a:endParaRPr sz="3000" b="1" dirty="0">
              <a:solidFill>
                <a:srgbClr val="173F35"/>
              </a:solidFill>
              <a:latin typeface="Avenir Next" panose="020B0503020202020204" pitchFamily="34" charset="0"/>
            </a:endParaRPr>
          </a:p>
        </p:txBody>
      </p:sp>
      <p:sp>
        <p:nvSpPr>
          <p:cNvPr id="5" name="Rounded Rectangle 4"/>
          <p:cNvSpPr/>
          <p:nvPr/>
        </p:nvSpPr>
        <p:spPr>
          <a:xfrm>
            <a:off x="500000" y="1049409"/>
            <a:ext cx="5411403" cy="1801368"/>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6" name="TextBox 5"/>
          <p:cNvSpPr txBox="1"/>
          <p:nvPr/>
        </p:nvSpPr>
        <p:spPr>
          <a:xfrm>
            <a:off x="630000" y="1136631"/>
            <a:ext cx="5155405" cy="1549142"/>
          </a:xfrm>
          <a:prstGeom prst="rect">
            <a:avLst/>
          </a:prstGeom>
          <a:noFill/>
        </p:spPr>
        <p:txBody>
          <a:bodyPr wrap="square" lIns="45720" tIns="22860" rIns="45720" bIns="22860" anchor="t">
            <a:spAutoFit/>
          </a:bodyPr>
          <a:lstStyle/>
          <a:p>
            <a:pPr algn="l">
              <a:spcAft>
                <a:spcPts val="600"/>
              </a:spcAft>
              <a:defRPr sz="1350" b="1">
                <a:solidFill>
                  <a:srgbClr val="12402D"/>
                </a:solidFill>
              </a:defRPr>
            </a:pPr>
            <a:r>
              <a:rPr sz="1600" dirty="0">
                <a:latin typeface="Avenir Next" panose="020B0503020202020204" pitchFamily="34" charset="0"/>
              </a:rPr>
              <a:t>1. What </a:t>
            </a:r>
            <a:r>
              <a:rPr lang="en-US" sz="1600" dirty="0">
                <a:latin typeface="Avenir Next" panose="020B0503020202020204" pitchFamily="34" charset="0"/>
              </a:rPr>
              <a:t>actually a </a:t>
            </a:r>
            <a:r>
              <a:rPr sz="1600" dirty="0">
                <a:latin typeface="Avenir Next" panose="020B0503020202020204" pitchFamily="34" charset="0"/>
              </a:rPr>
              <a:t>Company</a:t>
            </a:r>
            <a:r>
              <a:rPr lang="en-US" sz="1600" dirty="0">
                <a:latin typeface="Avenir Next" panose="020B0503020202020204" pitchFamily="34" charset="0"/>
              </a:rPr>
              <a:t> is</a:t>
            </a:r>
            <a:r>
              <a:rPr sz="1600" dirty="0">
                <a:latin typeface="Avenir Next" panose="020B0503020202020204" pitchFamily="34" charset="0"/>
              </a:rPr>
              <a:t>?</a:t>
            </a:r>
          </a:p>
          <a:p>
            <a:pPr>
              <a:spcAft>
                <a:spcPts val="400"/>
              </a:spcAft>
              <a:defRPr sz="1150">
                <a:solidFill>
                  <a:srgbClr val="2D2D2D"/>
                </a:solidFill>
              </a:defRPr>
            </a:pPr>
            <a:r>
              <a:rPr lang="en-IN" sz="1400" dirty="0">
                <a:latin typeface="Avenir Next" panose="020B0503020202020204" pitchFamily="34" charset="0"/>
              </a:rPr>
              <a:t>•  The thesis tests five classic theories of corporate personality.</a:t>
            </a:r>
          </a:p>
          <a:p>
            <a:pPr>
              <a:spcAft>
                <a:spcPts val="400"/>
              </a:spcAft>
              <a:defRPr sz="1150">
                <a:solidFill>
                  <a:srgbClr val="2D2D2D"/>
                </a:solidFill>
              </a:defRPr>
            </a:pPr>
            <a:r>
              <a:rPr sz="1400" dirty="0">
                <a:latin typeface="Avenir Next" panose="020B0503020202020204" pitchFamily="34" charset="0"/>
              </a:rPr>
              <a:t>• </a:t>
            </a:r>
            <a:r>
              <a:rPr lang="en-US" sz="1400" dirty="0">
                <a:latin typeface="Avenir Next" panose="020B0503020202020204" pitchFamily="34" charset="0"/>
              </a:rPr>
              <a:t>The theories support the view that a</a:t>
            </a:r>
            <a:r>
              <a:rPr sz="1400" dirty="0">
                <a:latin typeface="Avenir Next" panose="020B0503020202020204" pitchFamily="34" charset="0"/>
              </a:rPr>
              <a:t> company is a real social actor: its public green promises create real legal expectations.</a:t>
            </a:r>
          </a:p>
          <a:p>
            <a:pPr>
              <a:defRPr sz="1150">
                <a:solidFill>
                  <a:srgbClr val="2D2D2D"/>
                </a:solidFill>
              </a:defRPr>
            </a:pPr>
            <a:r>
              <a:rPr sz="1400" dirty="0">
                <a:latin typeface="Avenir Next" panose="020B0503020202020204" pitchFamily="34" charset="0"/>
              </a:rPr>
              <a:t>• </a:t>
            </a:r>
            <a:r>
              <a:rPr lang="en-US" sz="1400" dirty="0">
                <a:latin typeface="Avenir Next" panose="020B0503020202020204" pitchFamily="34" charset="0"/>
              </a:rPr>
              <a:t>Specifically, </a:t>
            </a:r>
            <a:r>
              <a:rPr sz="1400" dirty="0">
                <a:latin typeface="Avenir Next" panose="020B0503020202020204" pitchFamily="34" charset="0"/>
              </a:rPr>
              <a:t>Indian law </a:t>
            </a:r>
            <a:r>
              <a:rPr lang="en-US" sz="1400" dirty="0">
                <a:latin typeface="Avenir Next" panose="020B0503020202020204" pitchFamily="34" charset="0"/>
              </a:rPr>
              <a:t>closely </a:t>
            </a:r>
            <a:r>
              <a:rPr sz="1400" dirty="0">
                <a:latin typeface="Avenir Next" panose="020B0503020202020204" pitchFamily="34" charset="0"/>
              </a:rPr>
              <a:t>follows stakeholder </a:t>
            </a:r>
            <a:r>
              <a:rPr lang="en-US" sz="1400" dirty="0">
                <a:latin typeface="Avenir Next" panose="020B0503020202020204" pitchFamily="34" charset="0"/>
              </a:rPr>
              <a:t>position</a:t>
            </a:r>
            <a:r>
              <a:rPr sz="1400" dirty="0">
                <a:latin typeface="Avenir Next" panose="020B0503020202020204" pitchFamily="34" charset="0"/>
              </a:rPr>
              <a:t>: Section 166(2) makes environmental care an inherent duty.</a:t>
            </a:r>
          </a:p>
        </p:txBody>
      </p:sp>
      <p:sp>
        <p:nvSpPr>
          <p:cNvPr id="7" name="Rounded Rectangle 6"/>
          <p:cNvSpPr/>
          <p:nvPr/>
        </p:nvSpPr>
        <p:spPr>
          <a:xfrm>
            <a:off x="6196000" y="1049407"/>
            <a:ext cx="5411403" cy="2415711"/>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8" name="TextBox 7"/>
          <p:cNvSpPr txBox="1"/>
          <p:nvPr/>
        </p:nvSpPr>
        <p:spPr>
          <a:xfrm>
            <a:off x="6326000" y="1136631"/>
            <a:ext cx="5155405" cy="2246769"/>
          </a:xfrm>
          <a:prstGeom prst="rect">
            <a:avLst/>
          </a:prstGeom>
          <a:noFill/>
        </p:spPr>
        <p:txBody>
          <a:bodyPr wrap="square" lIns="45720" tIns="22860" rIns="45720" bIns="22860" anchor="t">
            <a:spAutoFit/>
          </a:bodyPr>
          <a:lstStyle/>
          <a:p>
            <a:pPr algn="l">
              <a:spcAft>
                <a:spcPts val="600"/>
              </a:spcAft>
              <a:defRPr sz="1350" b="1">
                <a:solidFill>
                  <a:srgbClr val="12402D"/>
                </a:solidFill>
              </a:defRPr>
            </a:pPr>
            <a:r>
              <a:rPr sz="1600" dirty="0">
                <a:latin typeface="Avenir Next" panose="020B0503020202020204" pitchFamily="34" charset="0"/>
              </a:rPr>
              <a:t>2. Hohfeld</a:t>
            </a:r>
            <a:r>
              <a:rPr lang="en-US" sz="1600" dirty="0">
                <a:latin typeface="Avenir Next" panose="020B0503020202020204" pitchFamily="34" charset="0"/>
              </a:rPr>
              <a:t>ian Analysis</a:t>
            </a:r>
            <a:r>
              <a:rPr sz="1600" dirty="0">
                <a:latin typeface="Avenir Next" panose="020B0503020202020204" pitchFamily="34" charset="0"/>
              </a:rPr>
              <a:t>: Clarifying Legal Relations</a:t>
            </a:r>
          </a:p>
          <a:p>
            <a:pPr>
              <a:spcAft>
                <a:spcPts val="400"/>
              </a:spcAft>
              <a:defRPr sz="1150">
                <a:solidFill>
                  <a:srgbClr val="2D2D2D"/>
                </a:solidFill>
              </a:defRPr>
            </a:pPr>
            <a:r>
              <a:rPr sz="1400" dirty="0">
                <a:latin typeface="Avenir Next" panose="020B0503020202020204" pitchFamily="34" charset="0"/>
              </a:rPr>
              <a:t>• </a:t>
            </a:r>
            <a:r>
              <a:rPr lang="en-IN" sz="1400" dirty="0">
                <a:latin typeface="Avenir Next" panose="020B0503020202020204" pitchFamily="34" charset="0"/>
              </a:rPr>
              <a:t>Duty breached — the duty not to mislead, owed to the State and to investors.</a:t>
            </a:r>
          </a:p>
          <a:p>
            <a:pPr>
              <a:spcAft>
                <a:spcPts val="400"/>
              </a:spcAft>
              <a:defRPr sz="1150">
                <a:solidFill>
                  <a:srgbClr val="2D2D2D"/>
                </a:solidFill>
              </a:defRPr>
            </a:pPr>
            <a:r>
              <a:rPr lang="en-IN" sz="1400" dirty="0">
                <a:latin typeface="Avenir Next" panose="020B0503020202020204" pitchFamily="34" charset="0"/>
              </a:rPr>
              <a:t>•  Privilege misused — managers may choose how to communicate, but that freedom stops at deception.</a:t>
            </a:r>
          </a:p>
          <a:p>
            <a:pPr>
              <a:spcAft>
                <a:spcPts val="400"/>
              </a:spcAft>
              <a:defRPr sz="1150">
                <a:solidFill>
                  <a:srgbClr val="2D2D2D"/>
                </a:solidFill>
              </a:defRPr>
            </a:pPr>
            <a:r>
              <a:rPr lang="en-IN" sz="1400" dirty="0">
                <a:latin typeface="Avenir Next" panose="020B0503020202020204" pitchFamily="34" charset="0"/>
              </a:rPr>
              <a:t>•  Power held — companies control the ESG information that everyone else acts on.</a:t>
            </a:r>
          </a:p>
          <a:p>
            <a:pPr>
              <a:spcAft>
                <a:spcPts val="400"/>
              </a:spcAft>
              <a:defRPr sz="1150">
                <a:solidFill>
                  <a:srgbClr val="2D2D2D"/>
                </a:solidFill>
              </a:defRPr>
            </a:pPr>
            <a:r>
              <a:rPr lang="en-IN" sz="1400" dirty="0">
                <a:latin typeface="Avenir Next" panose="020B0503020202020204" pitchFamily="34" charset="0"/>
              </a:rPr>
              <a:t>•  Immunity retained — limited liability insulates those who gain from a green reputation.</a:t>
            </a:r>
          </a:p>
        </p:txBody>
      </p:sp>
      <p:sp>
        <p:nvSpPr>
          <p:cNvPr id="9" name="Rounded Rectangle 8"/>
          <p:cNvSpPr/>
          <p:nvPr/>
        </p:nvSpPr>
        <p:spPr>
          <a:xfrm>
            <a:off x="500000" y="3098082"/>
            <a:ext cx="5411403" cy="2246768"/>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10" name="TextBox 9"/>
          <p:cNvSpPr txBox="1"/>
          <p:nvPr/>
        </p:nvSpPr>
        <p:spPr>
          <a:xfrm>
            <a:off x="630000" y="3122843"/>
            <a:ext cx="5155405" cy="2462213"/>
          </a:xfrm>
          <a:prstGeom prst="rect">
            <a:avLst/>
          </a:prstGeom>
          <a:noFill/>
        </p:spPr>
        <p:txBody>
          <a:bodyPr wrap="square" lIns="45720" tIns="22860" rIns="45720" bIns="22860" anchor="t">
            <a:spAutoFit/>
          </a:bodyPr>
          <a:lstStyle/>
          <a:p>
            <a:pPr algn="l">
              <a:spcAft>
                <a:spcPts val="600"/>
              </a:spcAft>
              <a:defRPr sz="1350" b="1">
                <a:solidFill>
                  <a:srgbClr val="12402D"/>
                </a:solidFill>
              </a:defRPr>
            </a:pPr>
            <a:r>
              <a:rPr sz="1600" dirty="0">
                <a:latin typeface="Avenir Next" panose="020B0503020202020204" pitchFamily="34" charset="0"/>
              </a:rPr>
              <a:t>3. </a:t>
            </a:r>
            <a:r>
              <a:rPr lang="en-US" sz="1600" dirty="0">
                <a:latin typeface="Avenir Next" panose="020B0503020202020204" pitchFamily="34" charset="0"/>
              </a:rPr>
              <a:t>To whom the duty is owed</a:t>
            </a:r>
            <a:r>
              <a:rPr sz="1600" dirty="0">
                <a:latin typeface="Avenir Next" panose="020B0503020202020204" pitchFamily="34" charset="0"/>
              </a:rPr>
              <a:t>?</a:t>
            </a:r>
            <a:endParaRPr lang="en-IN" sz="1600" dirty="0">
              <a:latin typeface="Avenir Next" panose="020B0503020202020204" pitchFamily="34" charset="0"/>
            </a:endParaRPr>
          </a:p>
          <a:p>
            <a:pPr>
              <a:spcAft>
                <a:spcPts val="300"/>
              </a:spcAft>
            </a:pPr>
            <a:r>
              <a:rPr lang="en-IN" sz="1400" dirty="0">
                <a:latin typeface="Avenir Next" panose="020B0503020202020204" pitchFamily="34" charset="0"/>
              </a:rPr>
              <a:t>•  </a:t>
            </a:r>
            <a:r>
              <a:rPr lang="en-IN" sz="1400" dirty="0">
                <a:solidFill>
                  <a:srgbClr val="3A3A4A"/>
                </a:solidFill>
                <a:latin typeface="Avenir Next" panose="020B0503020202020204" pitchFamily="34" charset="0"/>
              </a:rPr>
              <a:t>A duty only bites if somebody can enforce it.</a:t>
            </a:r>
          </a:p>
          <a:p>
            <a:pPr>
              <a:spcAft>
                <a:spcPts val="300"/>
              </a:spcAft>
            </a:pPr>
            <a:r>
              <a:rPr lang="en-IN" sz="1400" dirty="0">
                <a:solidFill>
                  <a:srgbClr val="3A3A4A"/>
                </a:solidFill>
                <a:latin typeface="Avenir Next" panose="020B0503020202020204" pitchFamily="34" charset="0"/>
              </a:rPr>
              <a:t>•  Duties owed to the State are strongest — the CCPA and SEBI can act to enforce them.</a:t>
            </a:r>
          </a:p>
          <a:p>
            <a:pPr>
              <a:spcAft>
                <a:spcPts val="300"/>
              </a:spcAft>
            </a:pPr>
            <a:r>
              <a:rPr lang="en-IN" sz="1400" dirty="0">
                <a:solidFill>
                  <a:srgbClr val="3A3A4A"/>
                </a:solidFill>
                <a:latin typeface="Avenir Next" panose="020B0503020202020204" pitchFamily="34" charset="0"/>
              </a:rPr>
              <a:t>•  Investor-facing duties are also enforceable, but only through narrow disclosure channels.</a:t>
            </a:r>
          </a:p>
          <a:p>
            <a:pPr>
              <a:spcAft>
                <a:spcPts val="300"/>
              </a:spcAft>
            </a:pPr>
            <a:r>
              <a:rPr lang="en-IN" sz="1400" dirty="0">
                <a:solidFill>
                  <a:srgbClr val="3A3A4A"/>
                </a:solidFill>
                <a:latin typeface="Avenir Next" panose="020B0503020202020204" pitchFamily="34" charset="0"/>
              </a:rPr>
              <a:t>•  Section 166(2)'s environmental duty has no clear claimant, so it reads merely as an aspiration rather than law. That is the gap this thesis targets.</a:t>
            </a:r>
          </a:p>
          <a:p>
            <a:pPr>
              <a:spcAft>
                <a:spcPts val="400"/>
              </a:spcAft>
              <a:defRPr sz="1150">
                <a:solidFill>
                  <a:srgbClr val="2D2D2D"/>
                </a:solidFill>
              </a:defRPr>
            </a:pPr>
            <a:endParaRPr lang="en-IN" sz="1400" dirty="0">
              <a:latin typeface="Avenir Next" panose="020B0503020202020204" pitchFamily="34" charset="0"/>
            </a:endParaRPr>
          </a:p>
        </p:txBody>
      </p:sp>
      <p:sp>
        <p:nvSpPr>
          <p:cNvPr id="11" name="Rounded Rectangle 10"/>
          <p:cNvSpPr/>
          <p:nvPr/>
        </p:nvSpPr>
        <p:spPr>
          <a:xfrm>
            <a:off x="6196000" y="3700001"/>
            <a:ext cx="5411403" cy="1463669"/>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12" name="TextBox 11"/>
          <p:cNvSpPr txBox="1"/>
          <p:nvPr/>
        </p:nvSpPr>
        <p:spPr>
          <a:xfrm>
            <a:off x="6326000" y="3795193"/>
            <a:ext cx="5155405" cy="1282402"/>
          </a:xfrm>
          <a:prstGeom prst="rect">
            <a:avLst/>
          </a:prstGeom>
          <a:noFill/>
        </p:spPr>
        <p:txBody>
          <a:bodyPr wrap="square" lIns="45720" tIns="22860" rIns="45720" bIns="22860" anchor="t">
            <a:spAutoFit/>
          </a:bodyPr>
          <a:lstStyle/>
          <a:p>
            <a:pPr algn="l">
              <a:spcAft>
                <a:spcPts val="600"/>
              </a:spcAft>
              <a:defRPr sz="1350" b="1">
                <a:solidFill>
                  <a:srgbClr val="12402D"/>
                </a:solidFill>
              </a:defRPr>
            </a:pPr>
            <a:r>
              <a:rPr sz="1600" dirty="0">
                <a:latin typeface="Avenir Next" panose="020B0503020202020204" pitchFamily="34" charset="0"/>
              </a:rPr>
              <a:t>4. Why the Duty Fails in Practice</a:t>
            </a:r>
          </a:p>
          <a:p>
            <a:pPr>
              <a:spcAft>
                <a:spcPts val="400"/>
              </a:spcAft>
              <a:defRPr sz="1150">
                <a:solidFill>
                  <a:srgbClr val="2D2D2D"/>
                </a:solidFill>
              </a:defRPr>
            </a:pPr>
            <a:r>
              <a:rPr sz="1400" dirty="0">
                <a:latin typeface="Avenir Next" panose="020B0503020202020204" pitchFamily="34" charset="0"/>
              </a:rPr>
              <a:t>• </a:t>
            </a:r>
            <a:r>
              <a:rPr lang="en-US" sz="1400" dirty="0">
                <a:latin typeface="Avenir Next" panose="020B0503020202020204" pitchFamily="34" charset="0"/>
              </a:rPr>
              <a:t>Information Asymmetry</a:t>
            </a:r>
            <a:r>
              <a:rPr sz="1400" dirty="0">
                <a:latin typeface="Avenir Next" panose="020B0503020202020204" pitchFamily="34" charset="0"/>
              </a:rPr>
              <a:t>: Insiders know true pollution; outsiders only see polished PR.</a:t>
            </a:r>
          </a:p>
          <a:p>
            <a:pPr>
              <a:spcAft>
                <a:spcPts val="400"/>
              </a:spcAft>
              <a:defRPr sz="1150">
                <a:solidFill>
                  <a:srgbClr val="2D2D2D"/>
                </a:solidFill>
              </a:defRPr>
            </a:pPr>
            <a:r>
              <a:rPr sz="1400" dirty="0">
                <a:latin typeface="Avenir Next" panose="020B0503020202020204" pitchFamily="34" charset="0"/>
              </a:rPr>
              <a:t>• Verifying claims requires technical expertise </a:t>
            </a:r>
            <a:r>
              <a:rPr lang="en-US" sz="1400" dirty="0">
                <a:latin typeface="Avenir Next" panose="020B0503020202020204" pitchFamily="34" charset="0"/>
              </a:rPr>
              <a:t>that </a:t>
            </a:r>
            <a:r>
              <a:rPr sz="1400" dirty="0">
                <a:latin typeface="Avenir Next" panose="020B0503020202020204" pitchFamily="34" charset="0"/>
              </a:rPr>
              <a:t>ordinary citizens lack.</a:t>
            </a:r>
          </a:p>
        </p:txBody>
      </p:sp>
      <p:sp>
        <p:nvSpPr>
          <p:cNvPr id="13" name="Rounded Rectangle 12"/>
          <p:cNvSpPr/>
          <p:nvPr/>
        </p:nvSpPr>
        <p:spPr>
          <a:xfrm>
            <a:off x="500000" y="5559916"/>
            <a:ext cx="11192000" cy="928083"/>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4" name="TextBox 13"/>
          <p:cNvSpPr txBox="1"/>
          <p:nvPr/>
        </p:nvSpPr>
        <p:spPr>
          <a:xfrm>
            <a:off x="640000" y="5553029"/>
            <a:ext cx="10912000" cy="938719"/>
          </a:xfrm>
          <a:prstGeom prst="rect">
            <a:avLst/>
          </a:prstGeom>
          <a:noFill/>
        </p:spPr>
        <p:txBody>
          <a:bodyPr wrap="square" lIns="45720" tIns="22860" rIns="45720" bIns="22860" anchor="ctr">
            <a:spAutoFit/>
          </a:bodyPr>
          <a:lstStyle/>
          <a:p>
            <a:pPr algn="just">
              <a:defRPr sz="1100">
                <a:solidFill>
                  <a:srgbClr val="282828"/>
                </a:solidFill>
              </a:defRPr>
            </a:pPr>
            <a:r>
              <a:rPr lang="en-IN" sz="1300" b="1" dirty="0">
                <a:solidFill>
                  <a:srgbClr val="3C4A1F"/>
                </a:solidFill>
                <a:latin typeface="Avenir Next" panose="020B0503020202020204" pitchFamily="34" charset="0"/>
              </a:rPr>
              <a:t>Research Question 3: </a:t>
            </a:r>
            <a:r>
              <a:rPr lang="en-IN" sz="1300" b="1" dirty="0">
                <a:solidFill>
                  <a:srgbClr val="3C4A1F"/>
                </a:solidFill>
                <a:latin typeface="Avenir Next" panose="020B0503020202020204" pitchFamily="34" charset="0"/>
                <a:ea typeface="+mn-lt"/>
                <a:cs typeface="+mn-lt"/>
              </a:rPr>
              <a:t>What are the jurisprudential foundations of corporate responsibility that justify treating greenwashing as a failure of corporate accountability?</a:t>
            </a:r>
          </a:p>
          <a:p>
            <a:pPr algn="just">
              <a:defRPr sz="1100">
                <a:solidFill>
                  <a:srgbClr val="282828"/>
                </a:solidFill>
              </a:defRPr>
            </a:pPr>
            <a:endParaRPr lang="en-IN" sz="600" b="1" dirty="0">
              <a:solidFill>
                <a:srgbClr val="3C4A1F"/>
              </a:solidFill>
              <a:latin typeface="Avenir Next" panose="020B0503020202020204" pitchFamily="34" charset="0"/>
              <a:ea typeface="+mn-lt"/>
              <a:cs typeface="+mn-lt"/>
            </a:endParaRPr>
          </a:p>
          <a:p>
            <a:pPr algn="just">
              <a:defRPr sz="1100">
                <a:solidFill>
                  <a:srgbClr val="282828"/>
                </a:solidFill>
              </a:defRPr>
            </a:pPr>
            <a:r>
              <a:rPr sz="1300" dirty="0">
                <a:latin typeface="Avenir Next" panose="020B0503020202020204" pitchFamily="34" charset="0"/>
              </a:rPr>
              <a:t>Answer: Breaking corporate responsibility into precise legal relations shows greenwashing is not an innocent PR slip. It is a broken duty, an abuse of communication freedom, and an exploitation of information power</a:t>
            </a:r>
            <a:r>
              <a:rPr lang="en-US" sz="1300" dirty="0">
                <a:latin typeface="Avenir Next" panose="020B0503020202020204" pitchFamily="34" charset="0"/>
              </a:rPr>
              <a:t>, </a:t>
            </a:r>
            <a:r>
              <a:rPr sz="1300" dirty="0">
                <a:latin typeface="Avenir Next" panose="020B0503020202020204" pitchFamily="34" charset="0"/>
              </a:rPr>
              <a:t>which </a:t>
            </a:r>
            <a:r>
              <a:rPr lang="en-US" sz="1300" dirty="0">
                <a:latin typeface="Avenir Next" panose="020B0503020202020204" pitchFamily="34" charset="0"/>
              </a:rPr>
              <a:t>must be addressed by corporate </a:t>
            </a:r>
            <a:r>
              <a:rPr sz="1300" dirty="0">
                <a:latin typeface="Avenir Next" panose="020B0503020202020204" pitchFamily="34" charset="0"/>
              </a:rPr>
              <a:t>law.</a:t>
            </a:r>
          </a:p>
        </p:txBody>
      </p:sp>
      <p:sp>
        <p:nvSpPr>
          <p:cNvPr id="15" name="TextBox 14"/>
          <p:cNvSpPr txBox="1"/>
          <p:nvPr/>
        </p:nvSpPr>
        <p:spPr>
          <a:xfrm>
            <a:off x="500000" y="6609023"/>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Chapter 3.</a:t>
            </a:r>
          </a:p>
        </p:txBody>
      </p:sp>
    </p:spTree>
    <p:extLst>
      <p:ext uri="{BB962C8B-B14F-4D97-AF65-F5344CB8AC3E}">
        <p14:creationId xmlns:p14="http://schemas.microsoft.com/office/powerpoint/2010/main" val="30479542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043" y="391600"/>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Why</a:t>
            </a:r>
            <a:r>
              <a:rPr sz="2800" dirty="0"/>
              <a:t> Section 166(2) </a:t>
            </a:r>
            <a:r>
              <a:rPr lang="en-US" sz="2800" dirty="0"/>
              <a:t>of Companies Act </a:t>
            </a:r>
            <a:r>
              <a:rPr sz="2800" dirty="0"/>
              <a:t>Remains Weakly Enforced</a:t>
            </a:r>
            <a:r>
              <a:rPr lang="en-US" sz="2800" dirty="0"/>
              <a:t> ?</a:t>
            </a:r>
            <a:endParaRPr sz="2800" dirty="0"/>
          </a:p>
        </p:txBody>
      </p:sp>
      <p:sp>
        <p:nvSpPr>
          <p:cNvPr id="6" name="Rounded Rectangle 5"/>
          <p:cNvSpPr/>
          <p:nvPr/>
        </p:nvSpPr>
        <p:spPr>
          <a:xfrm>
            <a:off x="786384" y="1004068"/>
            <a:ext cx="10607040" cy="4764721"/>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TextBox 9"/>
          <p:cNvSpPr txBox="1"/>
          <p:nvPr/>
        </p:nvSpPr>
        <p:spPr>
          <a:xfrm>
            <a:off x="1111962" y="1254045"/>
            <a:ext cx="10073490" cy="4349909"/>
          </a:xfrm>
          <a:prstGeom prst="rect">
            <a:avLst/>
          </a:prstGeom>
          <a:noFill/>
        </p:spPr>
        <p:txBody>
          <a:bodyPr wrap="square" lIns="91440" tIns="45720" rIns="91440" bIns="45720" anchor="t">
            <a:spAutoFit/>
          </a:bodyPr>
          <a:lstStyle/>
          <a:p>
            <a:pPr algn="just">
              <a:spcAft>
                <a:spcPts val="400"/>
              </a:spcAft>
              <a:defRPr sz="1400" b="1">
                <a:solidFill>
                  <a:srgbClr val="12402D"/>
                </a:solidFill>
                <a:latin typeface="Avenir Next"/>
              </a:defRPr>
            </a:pPr>
            <a:r>
              <a:rPr sz="1600" dirty="0">
                <a:latin typeface="Avenir Next" panose="020B0503020202020204" pitchFamily="34" charset="0"/>
              </a:rPr>
              <a:t>1. Substantive &amp; Doctrinal Hurdles</a:t>
            </a:r>
          </a:p>
          <a:p>
            <a:pPr>
              <a:spcAft>
                <a:spcPts val="300"/>
              </a:spcAft>
              <a:defRPr sz="1150">
                <a:solidFill>
                  <a:srgbClr val="2D2D2D"/>
                </a:solidFill>
              </a:defRPr>
            </a:pPr>
            <a:r>
              <a:rPr sz="1600" dirty="0">
                <a:latin typeface="Avenir Next" panose="020B0503020202020204" pitchFamily="34" charset="0"/>
              </a:rPr>
              <a:t>• Vague Statutory Terms: </a:t>
            </a:r>
            <a:r>
              <a:rPr lang="en-US" sz="1600" dirty="0">
                <a:latin typeface="Avenir Next" panose="020B0503020202020204" pitchFamily="34" charset="0"/>
                <a:ea typeface="+mn-lt"/>
                <a:cs typeface="+mn-lt"/>
              </a:rPr>
              <a:t>The terms "community," "environment," and "best interests of stakeholders" are broad and undefined. </a:t>
            </a:r>
          </a:p>
          <a:p>
            <a:pPr>
              <a:spcAft>
                <a:spcPts val="300"/>
              </a:spcAft>
              <a:defRPr sz="1150">
                <a:solidFill>
                  <a:srgbClr val="2D2D2D"/>
                </a:solidFill>
              </a:defRPr>
            </a:pPr>
            <a:r>
              <a:rPr lang="en-US" sz="1600" dirty="0">
                <a:latin typeface="Avenir Next" panose="020B0503020202020204" pitchFamily="34" charset="0"/>
              </a:rPr>
              <a:t>• Business Judgment Rule: Courts hesitate to question commercial decisions under fiduciary duties.</a:t>
            </a:r>
          </a:p>
          <a:p>
            <a:pPr>
              <a:spcAft>
                <a:spcPts val="1000"/>
              </a:spcAft>
              <a:defRPr sz="1150">
                <a:solidFill>
                  <a:srgbClr val="2D2D2D"/>
                </a:solidFill>
              </a:defRPr>
            </a:pPr>
            <a:r>
              <a:rPr sz="1600" dirty="0">
                <a:latin typeface="Avenir Next" panose="020B0503020202020204" pitchFamily="34" charset="0"/>
              </a:rPr>
              <a:t>• Precedent Gap: No established case law connects environmental misstatements directly to a director's breach of duty.</a:t>
            </a:r>
          </a:p>
          <a:p>
            <a:pPr>
              <a:spcAft>
                <a:spcPts val="400"/>
              </a:spcAft>
              <a:defRPr sz="1400" b="1">
                <a:solidFill>
                  <a:srgbClr val="12402D"/>
                </a:solidFill>
              </a:defRPr>
            </a:pPr>
            <a:r>
              <a:rPr sz="1600" dirty="0">
                <a:latin typeface="Avenir Next" panose="020B0503020202020204" pitchFamily="34" charset="0"/>
              </a:rPr>
              <a:t>2. Procedural &amp; Standing Barriers</a:t>
            </a:r>
          </a:p>
          <a:p>
            <a:pPr>
              <a:spcAft>
                <a:spcPts val="300"/>
              </a:spcAft>
              <a:defRPr sz="1150">
                <a:solidFill>
                  <a:srgbClr val="2D2D2D"/>
                </a:solidFill>
              </a:defRPr>
            </a:pPr>
            <a:r>
              <a:rPr sz="1600" dirty="0">
                <a:latin typeface="Avenir Next" panose="020B0503020202020204" pitchFamily="34" charset="0"/>
              </a:rPr>
              <a:t>• Narrow Standing: Mismanagement petitions (Sections 241–244) are open only to shareholders; external stakeholders are excluded.</a:t>
            </a:r>
          </a:p>
          <a:p>
            <a:pPr>
              <a:spcAft>
                <a:spcPts val="1000"/>
              </a:spcAft>
              <a:defRPr sz="1150">
                <a:solidFill>
                  <a:srgbClr val="2D2D2D"/>
                </a:solidFill>
              </a:defRPr>
            </a:pPr>
            <a:r>
              <a:rPr sz="1600" dirty="0">
                <a:latin typeface="Avenir Next" panose="020B0503020202020204" pitchFamily="34" charset="0"/>
              </a:rPr>
              <a:t>• Missing Referral Bridge: CCPA or SEBI greenwashing findings do not automatically trigger MCA action under Section 166(2).</a:t>
            </a:r>
          </a:p>
          <a:p>
            <a:pPr>
              <a:spcAft>
                <a:spcPts val="400"/>
              </a:spcAft>
              <a:defRPr sz="1400" b="1">
                <a:solidFill>
                  <a:srgbClr val="A8552F"/>
                </a:solidFill>
              </a:defRPr>
            </a:pPr>
            <a:r>
              <a:rPr sz="1600" b="1" dirty="0">
                <a:solidFill>
                  <a:srgbClr val="12402D"/>
                </a:solidFill>
                <a:latin typeface="Avenir Next" panose="020B0503020202020204" pitchFamily="34" charset="0"/>
              </a:rPr>
              <a:t>3. Remedial &amp; Economic Deficits</a:t>
            </a:r>
          </a:p>
          <a:p>
            <a:pPr>
              <a:spcAft>
                <a:spcPts val="300"/>
              </a:spcAft>
              <a:defRPr sz="1150">
                <a:solidFill>
                  <a:srgbClr val="2D2D2D"/>
                </a:solidFill>
              </a:defRPr>
            </a:pPr>
            <a:r>
              <a:rPr sz="1600" dirty="0">
                <a:latin typeface="Avenir Next" panose="020B0503020202020204" pitchFamily="34" charset="0"/>
              </a:rPr>
              <a:t>• Ineffective Fines: Section 166(7) caps penalties at ₹1–5 Lakhs</a:t>
            </a:r>
            <a:r>
              <a:rPr lang="en-US" sz="1600" dirty="0">
                <a:latin typeface="Avenir Next" panose="020B0503020202020204" pitchFamily="34" charset="0"/>
              </a:rPr>
              <a:t>, </a:t>
            </a:r>
            <a:r>
              <a:rPr sz="1600" dirty="0">
                <a:latin typeface="Avenir Next" panose="020B0503020202020204" pitchFamily="34" charset="0"/>
              </a:rPr>
              <a:t>far too small to deter board-level greenwashing.</a:t>
            </a:r>
          </a:p>
          <a:p>
            <a:pPr>
              <a:defRPr sz="1150">
                <a:solidFill>
                  <a:srgbClr val="2D2D2D"/>
                </a:solidFill>
              </a:defRPr>
            </a:pPr>
            <a:r>
              <a:rPr sz="1600" dirty="0">
                <a:latin typeface="Avenir Next" panose="020B0503020202020204" pitchFamily="34" charset="0"/>
              </a:rPr>
              <a:t>• Short-Term Bias: Directors prioritize </a:t>
            </a:r>
            <a:r>
              <a:rPr lang="en-US" sz="1600" dirty="0">
                <a:latin typeface="Avenir Next" panose="020B0503020202020204" pitchFamily="34" charset="0"/>
              </a:rPr>
              <a:t>short term</a:t>
            </a:r>
            <a:r>
              <a:rPr sz="1600" dirty="0">
                <a:latin typeface="Avenir Next" panose="020B0503020202020204" pitchFamily="34" charset="0"/>
              </a:rPr>
              <a:t> commercial profit over </a:t>
            </a:r>
            <a:r>
              <a:rPr lang="en-US" sz="1600" dirty="0">
                <a:latin typeface="Avenir Next" panose="020B0503020202020204" pitchFamily="34" charset="0"/>
              </a:rPr>
              <a:t>un-penalized </a:t>
            </a:r>
            <a:r>
              <a:rPr sz="1600" dirty="0">
                <a:latin typeface="Avenir Next" panose="020B0503020202020204" pitchFamily="34" charset="0"/>
              </a:rPr>
              <a:t>environmental duties.</a:t>
            </a:r>
          </a:p>
        </p:txBody>
      </p:sp>
      <p:sp>
        <p:nvSpPr>
          <p:cNvPr id="17" name="TextBox 16"/>
          <p:cNvSpPr txBox="1"/>
          <p:nvPr/>
        </p:nvSpPr>
        <p:spPr>
          <a:xfrm>
            <a:off x="786384" y="6547401"/>
            <a:ext cx="2153154" cy="307777"/>
          </a:xfrm>
          <a:prstGeom prst="rect">
            <a:avLst/>
          </a:prstGeom>
          <a:noFill/>
        </p:spPr>
        <p:txBody>
          <a:bodyPr wrap="none" lIns="91440" tIns="45720" rIns="91440" bIns="45720" anchor="t">
            <a:spAutoFit/>
          </a:bodyPr>
          <a:lstStyle/>
          <a:p>
            <a:pPr>
              <a:defRPr sz="850">
                <a:solidFill>
                  <a:srgbClr val="6B6F6A"/>
                </a:solidFill>
                <a:latin typeface="Avenir Next"/>
              </a:defRPr>
            </a:pPr>
            <a:r>
              <a:rPr sz="1400" dirty="0">
                <a:latin typeface="Avenir Next" panose="020B0503020202020204" pitchFamily="34" charset="0"/>
              </a:rPr>
              <a:t>Source base: Chapter </a:t>
            </a:r>
            <a:r>
              <a:rPr lang="en-US" sz="1400" dirty="0">
                <a:latin typeface="Avenir Next" panose="020B0503020202020204" pitchFamily="34" charset="0"/>
              </a:rPr>
              <a:t>3.</a:t>
            </a:r>
            <a:endParaRPr sz="1400" dirty="0">
              <a:latin typeface="Avenir Next" panose="020B0503020202020204" pitchFamily="34" charset="0"/>
            </a:endParaRPr>
          </a:p>
        </p:txBody>
      </p:sp>
      <p:sp>
        <p:nvSpPr>
          <p:cNvPr id="2" name="TextBox 1">
            <a:extLst>
              <a:ext uri="{FF2B5EF4-FFF2-40B4-BE49-F238E27FC236}">
                <a16:creationId xmlns:a16="http://schemas.microsoft.com/office/drawing/2014/main" id="{3CF64308-CD14-51EE-4990-8D520F4793B7}"/>
              </a:ext>
            </a:extLst>
          </p:cNvPr>
          <p:cNvSpPr txBox="1"/>
          <p:nvPr/>
        </p:nvSpPr>
        <p:spPr>
          <a:xfrm>
            <a:off x="786384" y="5898882"/>
            <a:ext cx="10753086" cy="538609"/>
          </a:xfrm>
          <a:prstGeom prst="rect">
            <a:avLst/>
          </a:prstGeom>
          <a:noFill/>
        </p:spPr>
        <p:txBody>
          <a:bodyPr wrap="square" lIns="45720" tIns="22860" rIns="45720" bIns="22860" anchor="t">
            <a:spAutoFit/>
          </a:bodyPr>
          <a:lstStyle/>
          <a:p>
            <a:pPr>
              <a:defRPr sz="1100" b="1">
                <a:solidFill>
                  <a:srgbClr val="12402D"/>
                </a:solidFill>
              </a:defRPr>
            </a:pPr>
            <a:r>
              <a:rPr sz="1600" dirty="0">
                <a:latin typeface="Avenir Next" panose="020B0503020202020204" pitchFamily="34" charset="0"/>
              </a:rPr>
              <a:t>Answer to RQ4: The duties already exist in Section 166(2) and SEBI rules. What is missing is the trigger: open legal standing, meaningful penalties, and an automatic bridge between regulators.</a:t>
            </a:r>
            <a:endParaRPr lang="en-US" sz="1200" dirty="0">
              <a:latin typeface="Avenir Next" panose="020B0503020202020204" pitchFamily="34" charset="0"/>
              <a:ea typeface="+mn-lt"/>
              <a:cs typeface="+mn-lt"/>
            </a:endParaRPr>
          </a:p>
        </p:txBody>
      </p:sp>
    </p:spTree>
    <p:extLst>
      <p:ext uri="{BB962C8B-B14F-4D97-AF65-F5344CB8AC3E}">
        <p14:creationId xmlns:p14="http://schemas.microsoft.com/office/powerpoint/2010/main" val="28152616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03898"/>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Limitations of </a:t>
            </a:r>
            <a:r>
              <a:rPr sz="2800" dirty="0"/>
              <a:t>SEBI's ESG Regime</a:t>
            </a:r>
          </a:p>
        </p:txBody>
      </p:sp>
      <p:sp>
        <p:nvSpPr>
          <p:cNvPr id="6" name="Rounded Rectangle 5"/>
          <p:cNvSpPr/>
          <p:nvPr/>
        </p:nvSpPr>
        <p:spPr>
          <a:xfrm>
            <a:off x="799190" y="1015812"/>
            <a:ext cx="10587831" cy="60505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TextBox 6"/>
          <p:cNvSpPr txBox="1"/>
          <p:nvPr/>
        </p:nvSpPr>
        <p:spPr>
          <a:xfrm>
            <a:off x="917115" y="1106717"/>
            <a:ext cx="10186416" cy="523220"/>
          </a:xfrm>
          <a:prstGeom prst="rect">
            <a:avLst/>
          </a:prstGeom>
          <a:noFill/>
        </p:spPr>
        <p:txBody>
          <a:bodyPr wrap="square" anchor="t">
            <a:spAutoFit/>
          </a:bodyPr>
          <a:lstStyle/>
          <a:p>
            <a:pPr algn="ctr">
              <a:defRPr sz="1150" b="1">
                <a:solidFill>
                  <a:srgbClr val="12402D"/>
                </a:solidFill>
                <a:latin typeface="Avenir Next Demi Bold"/>
              </a:defRPr>
            </a:pPr>
            <a:r>
              <a:rPr lang="en-IN" sz="1400" dirty="0">
                <a:latin typeface="Avenir Next" panose="020B0503020202020204" pitchFamily="34" charset="0"/>
              </a:rPr>
              <a:t>SEBI's BRSR has just improved ESG disclosure format, but scope, assurance, and enforcement remain too weak to make greenwashing costly.</a:t>
            </a:r>
          </a:p>
        </p:txBody>
      </p:sp>
      <p:sp>
        <p:nvSpPr>
          <p:cNvPr id="8" name="Rounded Rectangle 7"/>
          <p:cNvSpPr/>
          <p:nvPr/>
        </p:nvSpPr>
        <p:spPr>
          <a:xfrm>
            <a:off x="822960" y="4953252"/>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2021</a:t>
            </a:r>
          </a:p>
          <a:p>
            <a:pPr algn="ctr">
              <a:defRPr sz="1050">
                <a:solidFill>
                  <a:srgbClr val="2A2A2A"/>
                </a:solidFill>
                <a:latin typeface="Avenir Next"/>
              </a:defRPr>
            </a:pPr>
            <a:r>
              <a:rPr dirty="0">
                <a:latin typeface="Avenir Next" panose="020B0503020202020204" pitchFamily="34" charset="0"/>
              </a:rPr>
              <a:t>BRSR becomes mandatory for the top 1000 listed entities</a:t>
            </a:r>
          </a:p>
        </p:txBody>
      </p:sp>
      <p:sp>
        <p:nvSpPr>
          <p:cNvPr id="9" name="Rounded Rectangle 8"/>
          <p:cNvSpPr/>
          <p:nvPr/>
        </p:nvSpPr>
        <p:spPr>
          <a:xfrm>
            <a:off x="3438144" y="4953252"/>
            <a:ext cx="2468880" cy="896112"/>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2023</a:t>
            </a:r>
          </a:p>
          <a:p>
            <a:pPr algn="ctr">
              <a:defRPr sz="1050">
                <a:solidFill>
                  <a:srgbClr val="2A2A2A"/>
                </a:solidFill>
                <a:latin typeface="Avenir Next"/>
              </a:defRPr>
            </a:pPr>
            <a:r>
              <a:rPr>
                <a:latin typeface="Avenir Next" panose="020B0503020202020204" pitchFamily="34" charset="0"/>
              </a:rPr>
              <a:t>BRSR Core adds key KPIs, assurance track, and value-chain reporting</a:t>
            </a:r>
          </a:p>
        </p:txBody>
      </p:sp>
      <p:sp>
        <p:nvSpPr>
          <p:cNvPr id="10" name="Rounded Rectangle 9"/>
          <p:cNvSpPr/>
          <p:nvPr/>
        </p:nvSpPr>
        <p:spPr>
          <a:xfrm>
            <a:off x="6053328" y="4953252"/>
            <a:ext cx="2468880" cy="896112"/>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Dec</a:t>
            </a:r>
            <a:r>
              <a:rPr lang="en-US" dirty="0">
                <a:latin typeface="Avenir Next" panose="020B0503020202020204" pitchFamily="34" charset="0"/>
              </a:rPr>
              <a:t>.</a:t>
            </a:r>
            <a:r>
              <a:rPr dirty="0">
                <a:latin typeface="Avenir Next" panose="020B0503020202020204" pitchFamily="34" charset="0"/>
              </a:rPr>
              <a:t> 2024</a:t>
            </a:r>
          </a:p>
          <a:p>
            <a:pPr algn="ctr">
              <a:defRPr sz="1050">
                <a:solidFill>
                  <a:srgbClr val="2A2A2A"/>
                </a:solidFill>
                <a:latin typeface="Avenir Next"/>
              </a:defRPr>
            </a:pPr>
            <a:r>
              <a:rPr dirty="0">
                <a:latin typeface="Avenir Next" panose="020B0503020202020204" pitchFamily="34" charset="0"/>
              </a:rPr>
              <a:t>assurance diluted and value-chain disclosure deferred and made voluntary</a:t>
            </a:r>
          </a:p>
        </p:txBody>
      </p:sp>
      <p:sp>
        <p:nvSpPr>
          <p:cNvPr id="11" name="Rounded Rectangle 10"/>
          <p:cNvSpPr/>
          <p:nvPr/>
        </p:nvSpPr>
        <p:spPr>
          <a:xfrm>
            <a:off x="8668512" y="4953252"/>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2025</a:t>
            </a:r>
          </a:p>
          <a:p>
            <a:pPr algn="ctr">
              <a:defRPr sz="1050">
                <a:solidFill>
                  <a:srgbClr val="2A2A2A"/>
                </a:solidFill>
                <a:latin typeface="Avenir Next"/>
              </a:defRPr>
            </a:pPr>
            <a:r>
              <a:rPr>
                <a:latin typeface="Avenir Next" panose="020B0503020202020204" pitchFamily="34" charset="0"/>
              </a:rPr>
              <a:t>scope narrowed further even as the debt framework expands</a:t>
            </a:r>
          </a:p>
        </p:txBody>
      </p:sp>
      <p:sp>
        <p:nvSpPr>
          <p:cNvPr id="12" name="Rounded Rectangle 11"/>
          <p:cNvSpPr/>
          <p:nvPr/>
        </p:nvSpPr>
        <p:spPr>
          <a:xfrm>
            <a:off x="803750" y="1906551"/>
            <a:ext cx="3292762" cy="2740563"/>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3" name="Rounded Rectangle 12"/>
          <p:cNvSpPr/>
          <p:nvPr/>
        </p:nvSpPr>
        <p:spPr>
          <a:xfrm>
            <a:off x="972901" y="1986055"/>
            <a:ext cx="1389888" cy="40022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a:latin typeface="Avenir Next" panose="020B0503020202020204" pitchFamily="34" charset="0"/>
              </a:rPr>
              <a:t>Design limits</a:t>
            </a:r>
          </a:p>
        </p:txBody>
      </p:sp>
      <p:sp>
        <p:nvSpPr>
          <p:cNvPr id="14" name="TextBox 13"/>
          <p:cNvSpPr txBox="1"/>
          <p:nvPr/>
        </p:nvSpPr>
        <p:spPr>
          <a:xfrm>
            <a:off x="1009476" y="2470475"/>
            <a:ext cx="2906923" cy="2108269"/>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BRSR covers only Top 1000 listed firms, leaving large unlisted polluters outside.</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Single-materiality focus means impacts on the wider environment stay under-reported.</a:t>
            </a:r>
          </a:p>
          <a:p>
            <a:pPr>
              <a:defRPr sz="1000"/>
            </a:pPr>
            <a:r>
              <a:rPr sz="1400" dirty="0">
                <a:latin typeface="Avenir Next" panose="020B0503020202020204" pitchFamily="34" charset="0"/>
              </a:rPr>
              <a:t>• Lack of sector-specific metrics weakens data comparability.</a:t>
            </a:r>
          </a:p>
        </p:txBody>
      </p:sp>
      <p:sp>
        <p:nvSpPr>
          <p:cNvPr id="15" name="Rounded Rectangle 14"/>
          <p:cNvSpPr/>
          <p:nvPr/>
        </p:nvSpPr>
        <p:spPr>
          <a:xfrm>
            <a:off x="4468675" y="1900148"/>
            <a:ext cx="3267149" cy="286984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6" name="Rounded Rectangle 15"/>
          <p:cNvSpPr/>
          <p:nvPr/>
        </p:nvSpPr>
        <p:spPr>
          <a:xfrm>
            <a:off x="4612213" y="1986055"/>
            <a:ext cx="1719072" cy="400229"/>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sz="1400">
                <a:latin typeface="Avenir Next" panose="020B0503020202020204" pitchFamily="34" charset="0"/>
              </a:rPr>
              <a:t>Backsliding</a:t>
            </a:r>
            <a:endParaRPr lang="en-US" sz="1400" dirty="0">
              <a:latin typeface="Avenir Next" panose="020B0503020202020204" pitchFamily="34" charset="0"/>
            </a:endParaRPr>
          </a:p>
        </p:txBody>
      </p:sp>
      <p:sp>
        <p:nvSpPr>
          <p:cNvPr id="17" name="TextBox 16"/>
          <p:cNvSpPr txBox="1"/>
          <p:nvPr/>
        </p:nvSpPr>
        <p:spPr>
          <a:xfrm>
            <a:off x="4648789" y="2470475"/>
            <a:ext cx="2921592" cy="1892826"/>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Mandatory audits replaced with soft 'assessment or assurance' option.</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Rollout delays leave most ESG data effectively self-certified.</a:t>
            </a:r>
          </a:p>
          <a:p>
            <a:pPr>
              <a:defRPr sz="1000"/>
            </a:pPr>
            <a:r>
              <a:rPr sz="1400" dirty="0">
                <a:latin typeface="Avenir Next" panose="020B0503020202020204" pitchFamily="34" charset="0"/>
              </a:rPr>
              <a:t>• Value-chain reporting deferred, made voluntary, and narrowed (2% threshold / 75% cap).</a:t>
            </a:r>
          </a:p>
        </p:txBody>
      </p:sp>
      <p:sp>
        <p:nvSpPr>
          <p:cNvPr id="18" name="Rounded Rectangle 17"/>
          <p:cNvSpPr/>
          <p:nvPr/>
        </p:nvSpPr>
        <p:spPr>
          <a:xfrm>
            <a:off x="8101583" y="1900149"/>
            <a:ext cx="3279955" cy="2843082"/>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9" name="Rounded Rectangle 18"/>
          <p:cNvSpPr/>
          <p:nvPr/>
        </p:nvSpPr>
        <p:spPr>
          <a:xfrm>
            <a:off x="8251524" y="1986056"/>
            <a:ext cx="1997376" cy="467266"/>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dirty="0">
                <a:latin typeface="Avenir Next" panose="020B0503020202020204" pitchFamily="34" charset="0"/>
              </a:rPr>
              <a:t>Enforcement </a:t>
            </a:r>
            <a:r>
              <a:rPr lang="en-US" sz="1400" dirty="0">
                <a:latin typeface="Avenir Next" panose="020B0503020202020204" pitchFamily="34" charset="0"/>
              </a:rPr>
              <a:t>R</a:t>
            </a:r>
            <a:r>
              <a:rPr sz="1400" dirty="0">
                <a:latin typeface="Avenir Next" panose="020B0503020202020204" pitchFamily="34" charset="0"/>
              </a:rPr>
              <a:t>eality</a:t>
            </a:r>
          </a:p>
        </p:txBody>
      </p:sp>
      <p:sp>
        <p:nvSpPr>
          <p:cNvPr id="20" name="TextBox 19"/>
          <p:cNvSpPr txBox="1"/>
          <p:nvPr/>
        </p:nvSpPr>
        <p:spPr>
          <a:xfrm>
            <a:off x="8288099" y="2470475"/>
            <a:ext cx="2968921" cy="2108269"/>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a:t>
            </a:r>
            <a:r>
              <a:rPr sz="1400" dirty="0" err="1">
                <a:latin typeface="Avenir Next" panose="020B0503020202020204" pitchFamily="34" charset="0"/>
              </a:rPr>
              <a:t>Gensol-BluSmart</a:t>
            </a:r>
            <a:r>
              <a:rPr sz="1400" dirty="0">
                <a:latin typeface="Avenir Next" panose="020B0503020202020204" pitchFamily="34" charset="0"/>
              </a:rPr>
              <a:t> action was triggered by whistleblowers, not routine ESG market scans.</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SEBI Whole-Time Member publicly flagged false BRSR claims in Jan 2025.</a:t>
            </a:r>
          </a:p>
          <a:p>
            <a:pPr>
              <a:defRPr sz="1000"/>
            </a:pPr>
            <a:r>
              <a:rPr sz="1400" dirty="0">
                <a:latin typeface="Avenir Next" panose="020B0503020202020204" pitchFamily="34" charset="0"/>
              </a:rPr>
              <a:t>• Still lacks a dedicated ESG enforcement team or cross-checks with pollution data.</a:t>
            </a:r>
          </a:p>
        </p:txBody>
      </p:sp>
      <p:sp>
        <p:nvSpPr>
          <p:cNvPr id="24" name="TextBox 23"/>
          <p:cNvSpPr txBox="1"/>
          <p:nvPr/>
        </p:nvSpPr>
        <p:spPr>
          <a:xfrm>
            <a:off x="11336710" y="5407297"/>
            <a:ext cx="184730" cy="261610"/>
          </a:xfrm>
          <a:prstGeom prst="rect">
            <a:avLst/>
          </a:prstGeom>
          <a:noFill/>
        </p:spPr>
        <p:txBody>
          <a:bodyPr wrap="none">
            <a:spAutoFit/>
          </a:bodyPr>
          <a:lstStyle/>
          <a:p>
            <a:pPr algn="r">
              <a:defRPr sz="900">
                <a:solidFill>
                  <a:srgbClr val="6B6F6A"/>
                </a:solidFill>
                <a:latin typeface="Avenir Next"/>
              </a:defRPr>
            </a:pPr>
            <a:endParaRPr sz="1100">
              <a:latin typeface="Avenir Next" panose="020B0503020202020204" pitchFamily="34" charset="0"/>
            </a:endParaRPr>
          </a:p>
        </p:txBody>
      </p:sp>
      <p:sp>
        <p:nvSpPr>
          <p:cNvPr id="25" name="Rounded Rectangle 24"/>
          <p:cNvSpPr/>
          <p:nvPr/>
        </p:nvSpPr>
        <p:spPr>
          <a:xfrm>
            <a:off x="799190" y="6095425"/>
            <a:ext cx="10587831" cy="497225"/>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800">
              <a:latin typeface="Avenir Next" panose="020B0503020202020204" pitchFamily="34" charset="0"/>
            </a:endParaRPr>
          </a:p>
        </p:txBody>
      </p:sp>
      <p:sp>
        <p:nvSpPr>
          <p:cNvPr id="26" name="TextBox 25"/>
          <p:cNvSpPr txBox="1"/>
          <p:nvPr/>
        </p:nvSpPr>
        <p:spPr>
          <a:xfrm>
            <a:off x="929190" y="6107918"/>
            <a:ext cx="10327831" cy="477054"/>
          </a:xfrm>
          <a:prstGeom prst="rect">
            <a:avLst/>
          </a:prstGeom>
          <a:noFill/>
        </p:spPr>
        <p:txBody>
          <a:bodyPr wrap="square" lIns="45720" tIns="22860" rIns="45720" bIns="22860" anchor="ctr">
            <a:spAutoFit/>
          </a:bodyPr>
          <a:lstStyle/>
          <a:p>
            <a:pPr algn="ctr">
              <a:defRPr sz="1050">
                <a:solidFill>
                  <a:srgbClr val="282828"/>
                </a:solidFill>
              </a:defRPr>
            </a:pPr>
            <a:r>
              <a:rPr sz="1400" dirty="0">
                <a:latin typeface="Avenir Next" panose="020B0503020202020204" pitchFamily="34" charset="0"/>
              </a:rPr>
              <a:t>Answer to RQ4: Mandatory disclosure rules exist, but recent rollbacks have softened assurance and deferred supply-chain reporting, allowing greenwashing to persist.</a:t>
            </a:r>
          </a:p>
        </p:txBody>
      </p:sp>
      <p:sp>
        <p:nvSpPr>
          <p:cNvPr id="2" name="TextBox 1">
            <a:extLst>
              <a:ext uri="{FF2B5EF4-FFF2-40B4-BE49-F238E27FC236}">
                <a16:creationId xmlns:a16="http://schemas.microsoft.com/office/drawing/2014/main" id="{DE3DB7FA-663C-7695-9E18-0CC77EDD8972}"/>
              </a:ext>
            </a:extLst>
          </p:cNvPr>
          <p:cNvSpPr txBox="1"/>
          <p:nvPr/>
        </p:nvSpPr>
        <p:spPr>
          <a:xfrm>
            <a:off x="822960" y="6651506"/>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a:t>
            </a:r>
            <a:r>
              <a:rPr lang="en-US" sz="1100" b="0" i="0" dirty="0">
                <a:latin typeface="Avenir Next" panose="020B0503020202020204" pitchFamily="34" charset="0"/>
              </a:rPr>
              <a:t>r 5.</a:t>
            </a:r>
            <a:endParaRPr sz="1100" b="0" i="0" dirty="0">
              <a:latin typeface="Avenir Next" panose="020B0503020202020204" pitchFamily="3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2126" y="384048"/>
            <a:ext cx="10594902"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 Has Legal </a:t>
            </a:r>
            <a:r>
              <a:rPr lang="en-US" sz="2800" dirty="0"/>
              <a:t>Grounds</a:t>
            </a:r>
            <a:r>
              <a:rPr sz="2800" dirty="0"/>
              <a:t> </a:t>
            </a:r>
            <a:r>
              <a:rPr lang="en-US" sz="2800" dirty="0"/>
              <a:t>B</a:t>
            </a:r>
            <a:r>
              <a:rPr sz="2800" dirty="0"/>
              <a:t>ut </a:t>
            </a:r>
            <a:r>
              <a:rPr lang="en-US" sz="2800" dirty="0"/>
              <a:t>T</a:t>
            </a:r>
            <a:r>
              <a:rPr sz="2800" dirty="0"/>
              <a:t>he </a:t>
            </a:r>
            <a:r>
              <a:rPr lang="en-US" sz="2800" dirty="0"/>
              <a:t>Enforcement </a:t>
            </a:r>
            <a:r>
              <a:rPr sz="2800" dirty="0"/>
              <a:t>Is Weak</a:t>
            </a:r>
          </a:p>
        </p:txBody>
      </p:sp>
      <p:sp>
        <p:nvSpPr>
          <p:cNvPr id="5" name="TextBox 4"/>
          <p:cNvSpPr txBox="1"/>
          <p:nvPr/>
        </p:nvSpPr>
        <p:spPr>
          <a:xfrm>
            <a:off x="718950" y="934772"/>
            <a:ext cx="8817863"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latin typeface="Avenir Next" panose="020B0503020202020204" pitchFamily="34" charset="0"/>
              </a:rPr>
              <a:t>There is </a:t>
            </a:r>
            <a:r>
              <a:rPr sz="1400" b="1" dirty="0">
                <a:latin typeface="Avenir Next" panose="020B0503020202020204" pitchFamily="34" charset="0"/>
              </a:rPr>
              <a:t>doctrinal strength </a:t>
            </a:r>
            <a:r>
              <a:rPr lang="en-US" sz="1400" b="1" dirty="0">
                <a:latin typeface="Avenir Next" panose="020B0503020202020204" pitchFamily="34" charset="0"/>
              </a:rPr>
              <a:t>in laws but has</a:t>
            </a:r>
            <a:r>
              <a:rPr sz="1400" b="1" dirty="0">
                <a:latin typeface="Avenir Next" panose="020B0503020202020204" pitchFamily="34" charset="0"/>
              </a:rPr>
              <a:t> not yet been converted into visible, routine </a:t>
            </a:r>
            <a:r>
              <a:rPr lang="en-US" sz="1400" b="1" dirty="0">
                <a:latin typeface="Avenir Next" panose="020B0503020202020204" pitchFamily="34" charset="0"/>
              </a:rPr>
              <a:t>enforcement</a:t>
            </a:r>
            <a:r>
              <a:rPr sz="1400" b="1" dirty="0">
                <a:latin typeface="Avenir Next" panose="020B0503020202020204" pitchFamily="34" charset="0"/>
              </a:rPr>
              <a:t>.</a:t>
            </a:r>
          </a:p>
        </p:txBody>
      </p:sp>
      <p:sp>
        <p:nvSpPr>
          <p:cNvPr id="8" name="Rounded Rectangle 7"/>
          <p:cNvSpPr/>
          <p:nvPr/>
        </p:nvSpPr>
        <p:spPr>
          <a:xfrm>
            <a:off x="718950" y="1759662"/>
            <a:ext cx="4919472" cy="274320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9" name="Rounded Rectangle 8"/>
          <p:cNvSpPr/>
          <p:nvPr/>
        </p:nvSpPr>
        <p:spPr>
          <a:xfrm>
            <a:off x="970404" y="1852094"/>
            <a:ext cx="1719072"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rPr>
              <a:t>Already</a:t>
            </a:r>
            <a:r>
              <a:rPr sz="1600" dirty="0">
                <a:latin typeface="Avenir Next" panose="020B0503020202020204" pitchFamily="34" charset="0"/>
              </a:rPr>
              <a:t> in law</a:t>
            </a:r>
          </a:p>
        </p:txBody>
      </p:sp>
      <p:sp>
        <p:nvSpPr>
          <p:cNvPr id="10" name="TextBox 9"/>
          <p:cNvSpPr txBox="1"/>
          <p:nvPr/>
        </p:nvSpPr>
        <p:spPr>
          <a:xfrm>
            <a:off x="956694" y="2343888"/>
            <a:ext cx="4352544" cy="2046714"/>
          </a:xfrm>
          <a:prstGeom prst="rect">
            <a:avLst/>
          </a:prstGeom>
          <a:noFill/>
        </p:spPr>
        <p:txBody>
          <a:bodyPr wrap="square" lIns="91440" tIns="45720" rIns="91440" bIns="45720" anchor="t">
            <a:spAutoFit/>
          </a:bodyPr>
          <a:lstStyle/>
          <a:p>
            <a:pPr>
              <a:spcAft>
                <a:spcPts val="600"/>
              </a:spcAft>
              <a:defRPr sz="1150">
                <a:solidFill>
                  <a:srgbClr val="2D2D2D"/>
                </a:solidFill>
                <a:latin typeface="Avenir Next"/>
              </a:defRPr>
            </a:pPr>
            <a:r>
              <a:rPr sz="1400" dirty="0">
                <a:latin typeface="Avenir Next" panose="020B0503020202020204" pitchFamily="34" charset="0"/>
              </a:rPr>
              <a:t>• Section 166(2) explicitly places environmental protection inside directors' duties.</a:t>
            </a:r>
            <a:endParaRPr lang="en-US" dirty="0">
              <a:latin typeface="Avenir Next" panose="020B0503020202020204" pitchFamily="34" charset="0"/>
            </a:endParaRPr>
          </a:p>
          <a:p>
            <a:pPr>
              <a:spcAft>
                <a:spcPts val="600"/>
              </a:spcAft>
              <a:defRPr sz="1150">
                <a:solidFill>
                  <a:srgbClr val="2D2D2D"/>
                </a:solidFill>
              </a:defRPr>
            </a:pPr>
            <a:r>
              <a:rPr sz="1400" dirty="0">
                <a:latin typeface="Avenir Next" panose="020B0503020202020204" pitchFamily="34" charset="0"/>
              </a:rPr>
              <a:t>• Supreme Court rulings (Tata-Mistry, Ranjitsinh) affirm environmental duties and climate rights.</a:t>
            </a:r>
          </a:p>
          <a:p>
            <a:pPr>
              <a:spcAft>
                <a:spcPts val="600"/>
              </a:spcAft>
              <a:defRPr sz="1150">
                <a:solidFill>
                  <a:srgbClr val="2D2D2D"/>
                </a:solidFill>
              </a:defRPr>
            </a:pPr>
            <a:r>
              <a:rPr sz="1400" dirty="0">
                <a:latin typeface="Avenir Next" panose="020B0503020202020204" pitchFamily="34" charset="0"/>
              </a:rPr>
              <a:t>• SEBI's BRSR and BRSR Core formalize detailed sustainability disclosures.</a:t>
            </a:r>
          </a:p>
          <a:p>
            <a:pPr>
              <a:defRPr sz="1150">
                <a:solidFill>
                  <a:srgbClr val="2D2D2D"/>
                </a:solidFill>
              </a:defRPr>
            </a:pPr>
            <a:r>
              <a:rPr sz="1400" dirty="0">
                <a:latin typeface="Avenir Next" panose="020B0503020202020204" pitchFamily="34" charset="0"/>
              </a:rPr>
              <a:t>• CPA 2019 and CCPA 2024 Guidelines prohibit deceptive green advertising.</a:t>
            </a:r>
          </a:p>
        </p:txBody>
      </p:sp>
      <p:sp>
        <p:nvSpPr>
          <p:cNvPr id="11" name="Rounded Rectangle 10"/>
          <p:cNvSpPr/>
          <p:nvPr/>
        </p:nvSpPr>
        <p:spPr>
          <a:xfrm>
            <a:off x="5839590" y="1759662"/>
            <a:ext cx="5468112" cy="2743200"/>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2" name="Rounded Rectangle 11"/>
          <p:cNvSpPr/>
          <p:nvPr/>
        </p:nvSpPr>
        <p:spPr>
          <a:xfrm>
            <a:off x="6059045" y="1852094"/>
            <a:ext cx="2755769"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rPr>
              <a:t>Lack of Enforcement</a:t>
            </a:r>
            <a:endParaRPr sz="1600" dirty="0">
              <a:latin typeface="Avenir Next" panose="020B0503020202020204" pitchFamily="34" charset="0"/>
            </a:endParaRPr>
          </a:p>
        </p:txBody>
      </p:sp>
      <p:sp>
        <p:nvSpPr>
          <p:cNvPr id="13" name="TextBox 12"/>
          <p:cNvSpPr txBox="1"/>
          <p:nvPr/>
        </p:nvSpPr>
        <p:spPr>
          <a:xfrm>
            <a:off x="6095622" y="2343888"/>
            <a:ext cx="4846320" cy="2046714"/>
          </a:xfrm>
          <a:prstGeom prst="rect">
            <a:avLst/>
          </a:prstGeom>
          <a:noFill/>
        </p:spPr>
        <p:txBody>
          <a:bodyPr wrap="square" lIns="91440" tIns="45720" rIns="91440" bIns="45720" anchor="t">
            <a:spAutoFit/>
          </a:bodyPr>
          <a:lstStyle/>
          <a:p>
            <a:pPr>
              <a:spcAft>
                <a:spcPts val="600"/>
              </a:spcAft>
              <a:defRPr sz="1150">
                <a:solidFill>
                  <a:srgbClr val="2D2D2D"/>
                </a:solidFill>
                <a:latin typeface="Avenir Next"/>
              </a:defRPr>
            </a:pPr>
            <a:r>
              <a:rPr sz="1400" dirty="0">
                <a:latin typeface="Avenir Next" panose="020B0503020202020204" pitchFamily="34" charset="0"/>
              </a:rPr>
              <a:t>• Zero reported director liability cases under Section 166(2) for green claims.</a:t>
            </a:r>
            <a:endParaRPr lang="en-US" dirty="0">
              <a:latin typeface="Avenir Next" panose="020B0503020202020204" pitchFamily="34" charset="0"/>
            </a:endParaRPr>
          </a:p>
          <a:p>
            <a:pPr>
              <a:spcAft>
                <a:spcPts val="600"/>
              </a:spcAft>
              <a:defRPr sz="1150">
                <a:solidFill>
                  <a:srgbClr val="2D2D2D"/>
                </a:solidFill>
              </a:defRPr>
            </a:pPr>
            <a:r>
              <a:rPr sz="1400" dirty="0">
                <a:latin typeface="Avenir Next" panose="020B0503020202020204" pitchFamily="34" charset="0"/>
              </a:rPr>
              <a:t>• Narrow legal standing prevents affected public and civil society from filing claims.</a:t>
            </a:r>
          </a:p>
          <a:p>
            <a:pPr>
              <a:spcAft>
                <a:spcPts val="600"/>
              </a:spcAft>
              <a:defRPr sz="1150">
                <a:solidFill>
                  <a:srgbClr val="2D2D2D"/>
                </a:solidFill>
              </a:defRPr>
            </a:pPr>
            <a:r>
              <a:rPr sz="1400" dirty="0">
                <a:latin typeface="Avenir Next" panose="020B0503020202020204" pitchFamily="34" charset="0"/>
              </a:rPr>
              <a:t>• Penalties of ₹1–5 Lakhs under § 166(7) are treated as minor operational costs.</a:t>
            </a:r>
          </a:p>
          <a:p>
            <a:pPr>
              <a:defRPr sz="1150">
                <a:solidFill>
                  <a:srgbClr val="2D2D2D"/>
                </a:solidFill>
              </a:defRPr>
            </a:pPr>
            <a:r>
              <a:rPr sz="1400" dirty="0">
                <a:latin typeface="Avenir Next" panose="020B0503020202020204" pitchFamily="34" charset="0"/>
              </a:rPr>
              <a:t>• BRSR audits remain partial and delayed, leaving data largely self-certified.</a:t>
            </a:r>
          </a:p>
        </p:txBody>
      </p:sp>
      <p:sp>
        <p:nvSpPr>
          <p:cNvPr id="17" name="TextBox 16"/>
          <p:cNvSpPr txBox="1"/>
          <p:nvPr/>
        </p:nvSpPr>
        <p:spPr>
          <a:xfrm>
            <a:off x="569593" y="6548663"/>
            <a:ext cx="5295580" cy="261610"/>
          </a:xfrm>
          <a:prstGeom prst="rect">
            <a:avLst/>
          </a:prstGeom>
          <a:noFill/>
        </p:spPr>
        <p:txBody>
          <a:bodyPr wrap="squar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a:t>
            </a:r>
            <a:r>
              <a:rPr lang="en-US" sz="1100" dirty="0">
                <a:latin typeface="Avenir Next" panose="020B0503020202020204" pitchFamily="34" charset="0"/>
              </a:rPr>
              <a:t>Chapter</a:t>
            </a:r>
            <a:r>
              <a:rPr sz="1100" dirty="0">
                <a:latin typeface="Avenir Next" panose="020B0503020202020204" pitchFamily="34" charset="0"/>
              </a:rPr>
              <a:t> 3</a:t>
            </a:r>
            <a:r>
              <a:rPr lang="en-US" sz="1100" dirty="0">
                <a:latin typeface="Avenir Next" panose="020B0503020202020204" pitchFamily="34" charset="0"/>
              </a:rPr>
              <a:t>, 4, </a:t>
            </a:r>
            <a:r>
              <a:rPr sz="1100" dirty="0">
                <a:latin typeface="Avenir Next" panose="020B0503020202020204" pitchFamily="34" charset="0"/>
              </a:rPr>
              <a:t>5.</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824248" y="4895800"/>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 name="Rectangle 5">
            <a:extLst>
              <a:ext uri="{FF2B5EF4-FFF2-40B4-BE49-F238E27FC236}">
                <a16:creationId xmlns:a16="http://schemas.microsoft.com/office/drawing/2014/main" id="{EA45468F-BB4A-4C6B-D391-61D333C81DAF}"/>
              </a:ext>
            </a:extLst>
          </p:cNvPr>
          <p:cNvSpPr/>
          <p:nvPr/>
        </p:nvSpPr>
        <p:spPr>
          <a:xfrm>
            <a:off x="824248" y="4895800"/>
            <a:ext cx="2559032" cy="93924"/>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970404" y="5023815"/>
            <a:ext cx="2266571"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970404" y="5389576"/>
            <a:ext cx="2266571" cy="646331"/>
          </a:xfrm>
          <a:prstGeom prst="rect">
            <a:avLst/>
          </a:prstGeom>
          <a:noFill/>
        </p:spPr>
        <p:txBody>
          <a:bodyPr wrap="square" anchor="t">
            <a:spAutoFit/>
          </a:bodyPr>
          <a:lstStyle/>
          <a:p>
            <a:pPr algn="l">
              <a:defRPr sz="1000" b="0">
                <a:solidFill>
                  <a:srgbClr val="2A2A2A"/>
                </a:solidFill>
                <a:latin typeface="Avenir Next"/>
              </a:defRPr>
            </a:pPr>
            <a:r>
              <a:rPr sz="1200">
                <a:latin typeface="Avenir Next" panose="020B0503020202020204" pitchFamily="34" charset="0"/>
              </a:rPr>
              <a:t>47 interventions in 15 months; AUD 11.3M penalty against Mercer.</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3613168" y="4895800"/>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3613168" y="4895800"/>
            <a:ext cx="2559032" cy="93924"/>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3759324" y="5023815"/>
            <a:ext cx="2266571"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Uni</a:t>
            </a:r>
            <a:r>
              <a:rPr lang="en-US" sz="1600" dirty="0">
                <a:latin typeface="Avenir Next" panose="020B0503020202020204" pitchFamily="34" charset="0"/>
              </a:rPr>
              <a:t>ted States</a:t>
            </a:r>
            <a:endParaRPr sz="1600" dirty="0">
              <a:latin typeface="Avenir Next" panose="020B0503020202020204" pitchFamily="34" charset="0"/>
            </a:endParaRPr>
          </a:p>
        </p:txBody>
      </p:sp>
      <p:sp>
        <p:nvSpPr>
          <p:cNvPr id="19" name="TextBox 18">
            <a:extLst>
              <a:ext uri="{FF2B5EF4-FFF2-40B4-BE49-F238E27FC236}">
                <a16:creationId xmlns:a16="http://schemas.microsoft.com/office/drawing/2014/main" id="{B4755C55-9279-EAC2-E8F1-D870948CA206}"/>
              </a:ext>
            </a:extLst>
          </p:cNvPr>
          <p:cNvSpPr txBox="1"/>
          <p:nvPr/>
        </p:nvSpPr>
        <p:spPr>
          <a:xfrm>
            <a:off x="3759324" y="5389576"/>
            <a:ext cx="2266571" cy="646331"/>
          </a:xfrm>
          <a:prstGeom prst="rect">
            <a:avLst/>
          </a:prstGeom>
          <a:noFill/>
        </p:spPr>
        <p:txBody>
          <a:bodyPr wrap="square" anchor="t">
            <a:spAutoFit/>
          </a:bodyPr>
          <a:lstStyle/>
          <a:p>
            <a:pPr algn="l">
              <a:defRPr sz="1000" b="0">
                <a:solidFill>
                  <a:srgbClr val="2A2A2A"/>
                </a:solidFill>
                <a:latin typeface="Avenir Next"/>
              </a:defRPr>
            </a:pPr>
            <a:r>
              <a:rPr sz="1200">
                <a:latin typeface="Avenir Next" panose="020B0503020202020204" pitchFamily="34" charset="0"/>
              </a:rPr>
              <a:t>US FTC and SEC brought 90+ greenwashing enforcement actions (2021–23).</a:t>
            </a:r>
            <a:endParaRPr sz="1050" dirty="0">
              <a:latin typeface="Avenir Next" panose="020B0503020202020204" pitchFamily="34" charset="0"/>
            </a:endParaRPr>
          </a:p>
        </p:txBody>
      </p:sp>
      <p:sp>
        <p:nvSpPr>
          <p:cNvPr id="20" name="Rounded Rectangle 19">
            <a:extLst>
              <a:ext uri="{FF2B5EF4-FFF2-40B4-BE49-F238E27FC236}">
                <a16:creationId xmlns:a16="http://schemas.microsoft.com/office/drawing/2014/main" id="{ECB1D669-893A-BBDD-652A-47D573EA4F54}"/>
              </a:ext>
            </a:extLst>
          </p:cNvPr>
          <p:cNvSpPr/>
          <p:nvPr/>
        </p:nvSpPr>
        <p:spPr>
          <a:xfrm>
            <a:off x="6402088" y="4895799"/>
            <a:ext cx="255903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6402088" y="4895800"/>
            <a:ext cx="2559032" cy="93924"/>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6548244" y="5023815"/>
            <a:ext cx="2266571"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6483211" y="5362370"/>
            <a:ext cx="2412802" cy="646331"/>
          </a:xfrm>
          <a:prstGeom prst="rect">
            <a:avLst/>
          </a:prstGeom>
          <a:noFill/>
        </p:spPr>
        <p:txBody>
          <a:bodyPr wrap="square" anchor="t">
            <a:spAutoFit/>
          </a:bodyPr>
          <a:lstStyle/>
          <a:p>
            <a:pPr algn="l">
              <a:defRPr sz="1000" b="0">
                <a:solidFill>
                  <a:srgbClr val="2A2A2A"/>
                </a:solidFill>
                <a:latin typeface="Avenir Next"/>
              </a:defRPr>
            </a:pPr>
            <a:r>
              <a:rPr sz="1200">
                <a:latin typeface="Avenir Next" panose="020B0503020202020204" pitchFamily="34" charset="0"/>
              </a:rPr>
              <a:t>Coordinated sweeps; France issued 141 warnings and 114 injunctions.</a:t>
            </a:r>
            <a:endParaRPr lang="en-US" sz="1400" dirty="0">
              <a:latin typeface="Avenir Next" panose="020B0503020202020204" pitchFamily="34" charset="0"/>
            </a:endParaRPr>
          </a:p>
        </p:txBody>
      </p:sp>
      <p:sp>
        <p:nvSpPr>
          <p:cNvPr id="24" name="Rounded Rectangle 23">
            <a:extLst>
              <a:ext uri="{FF2B5EF4-FFF2-40B4-BE49-F238E27FC236}">
                <a16:creationId xmlns:a16="http://schemas.microsoft.com/office/drawing/2014/main" id="{DB524ECD-0D2D-5A1D-CF13-897C1810DCE3}"/>
              </a:ext>
            </a:extLst>
          </p:cNvPr>
          <p:cNvSpPr/>
          <p:nvPr/>
        </p:nvSpPr>
        <p:spPr>
          <a:xfrm>
            <a:off x="9190778" y="4895799"/>
            <a:ext cx="210206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9190778" y="4895800"/>
            <a:ext cx="2102062" cy="93924"/>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9336934" y="5023815"/>
            <a:ext cx="1809601"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9336934" y="5340148"/>
            <a:ext cx="1955906" cy="1015663"/>
          </a:xfrm>
          <a:prstGeom prst="rect">
            <a:avLst/>
          </a:prstGeom>
          <a:noFill/>
        </p:spPr>
        <p:txBody>
          <a:bodyPr wrap="square" anchor="t">
            <a:spAutoFit/>
          </a:bodyPr>
          <a:lstStyle/>
          <a:p>
            <a:pPr algn="l">
              <a:defRPr sz="1000" b="1">
                <a:solidFill>
                  <a:srgbClr val="2A2A2A"/>
                </a:solidFill>
                <a:latin typeface="Avenir Next"/>
              </a:defRPr>
            </a:pPr>
            <a:r>
              <a:rPr sz="1200" dirty="0">
                <a:latin typeface="Avenir Next" panose="020B0503020202020204" pitchFamily="34" charset="0"/>
              </a:rPr>
              <a:t>Comprehensive</a:t>
            </a:r>
            <a:r>
              <a:rPr lang="en-US" sz="1200" dirty="0">
                <a:latin typeface="Avenir Next" panose="020B0503020202020204" pitchFamily="34" charset="0"/>
              </a:rPr>
              <a:t>ly</a:t>
            </a:r>
            <a:r>
              <a:rPr sz="1200" dirty="0">
                <a:latin typeface="Avenir Next" panose="020B0503020202020204" pitchFamily="34" charset="0"/>
              </a:rPr>
              <a:t> written rules, but visible deterrent penalties remain close to zero.</a:t>
            </a:r>
          </a:p>
        </p:txBody>
      </p:sp>
    </p:spTree>
    <p:extLst>
      <p:ext uri="{BB962C8B-B14F-4D97-AF65-F5344CB8AC3E}">
        <p14:creationId xmlns:p14="http://schemas.microsoft.com/office/powerpoint/2010/main" val="2662535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8357" y="450000"/>
            <a:ext cx="112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Comparative Study: What</a:t>
            </a:r>
            <a:r>
              <a:rPr sz="2800" dirty="0"/>
              <a:t> Stronger Jurisdictions Do Differently</a:t>
            </a:r>
            <a:r>
              <a:rPr lang="en-US" sz="2800" dirty="0"/>
              <a:t> ?</a:t>
            </a:r>
            <a:endParaRPr sz="2800" dirty="0"/>
          </a:p>
        </p:txBody>
      </p:sp>
      <p:graphicFrame>
        <p:nvGraphicFramePr>
          <p:cNvPr id="6" name="Table 5"/>
          <p:cNvGraphicFramePr>
            <a:graphicFrameLocks noGrp="1"/>
          </p:cNvGraphicFramePr>
          <p:nvPr>
            <p:extLst>
              <p:ext uri="{D42A27DB-BD31-4B8C-83A1-F6EECF244321}">
                <p14:modId xmlns:p14="http://schemas.microsoft.com/office/powerpoint/2010/main" val="4208208374"/>
              </p:ext>
            </p:extLst>
          </p:nvPr>
        </p:nvGraphicFramePr>
        <p:xfrm>
          <a:off x="627999" y="1193128"/>
          <a:ext cx="10835640" cy="3611880"/>
        </p:xfrm>
        <a:graphic>
          <a:graphicData uri="http://schemas.openxmlformats.org/drawingml/2006/table">
            <a:tbl>
              <a:tblPr firstRow="1" bandRow="1">
                <a:tableStyleId>{5C22544A-7EE6-4342-B048-85BDC9FD1C3A}</a:tableStyleId>
              </a:tblPr>
              <a:tblGrid>
                <a:gridCol w="2406146">
                  <a:extLst>
                    <a:ext uri="{9D8B030D-6E8A-4147-A177-3AD203B41FA5}">
                      <a16:colId xmlns:a16="http://schemas.microsoft.com/office/drawing/2014/main" val="20000"/>
                    </a:ext>
                  </a:extLst>
                </a:gridCol>
                <a:gridCol w="2015837">
                  <a:extLst>
                    <a:ext uri="{9D8B030D-6E8A-4147-A177-3AD203B41FA5}">
                      <a16:colId xmlns:a16="http://schemas.microsoft.com/office/drawing/2014/main" val="20001"/>
                    </a:ext>
                  </a:extLst>
                </a:gridCol>
                <a:gridCol w="2140527">
                  <a:extLst>
                    <a:ext uri="{9D8B030D-6E8A-4147-A177-3AD203B41FA5}">
                      <a16:colId xmlns:a16="http://schemas.microsoft.com/office/drawing/2014/main" val="20002"/>
                    </a:ext>
                  </a:extLst>
                </a:gridCol>
                <a:gridCol w="212429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tblGrid>
              <a:tr h="601980">
                <a:tc>
                  <a:txBody>
                    <a:bodyPr/>
                    <a:lstStyle/>
                    <a:p>
                      <a:r>
                        <a:rPr sz="1600" b="1" dirty="0">
                          <a:solidFill>
                            <a:srgbClr val="FFFFFF"/>
                          </a:solidFill>
                        </a:rPr>
                        <a:t>Design Element</a:t>
                      </a:r>
                    </a:p>
                  </a:txBody>
                  <a:tcPr>
                    <a:solidFill>
                      <a:srgbClr val="173F35"/>
                    </a:solidFill>
                  </a:tcPr>
                </a:tc>
                <a:tc>
                  <a:txBody>
                    <a:bodyPr/>
                    <a:lstStyle/>
                    <a:p>
                      <a:r>
                        <a:rPr sz="1600" b="1">
                          <a:solidFill>
                            <a:srgbClr val="FFFFFF"/>
                          </a:solidFill>
                        </a:rPr>
                        <a:t>European Union</a:t>
                      </a:r>
                    </a:p>
                  </a:txBody>
                  <a:tcPr>
                    <a:solidFill>
                      <a:srgbClr val="173F35"/>
                    </a:solidFill>
                  </a:tcPr>
                </a:tc>
                <a:tc>
                  <a:txBody>
                    <a:bodyPr/>
                    <a:lstStyle/>
                    <a:p>
                      <a:r>
                        <a:rPr sz="1600" b="1">
                          <a:solidFill>
                            <a:srgbClr val="FFFFFF"/>
                          </a:solidFill>
                        </a:rPr>
                        <a:t>United Kingdom</a:t>
                      </a:r>
                    </a:p>
                  </a:txBody>
                  <a:tcPr>
                    <a:solidFill>
                      <a:srgbClr val="173F35"/>
                    </a:solidFill>
                  </a:tcPr>
                </a:tc>
                <a:tc>
                  <a:txBody>
                    <a:bodyPr/>
                    <a:lstStyle/>
                    <a:p>
                      <a:r>
                        <a:rPr sz="1600" b="1">
                          <a:solidFill>
                            <a:srgbClr val="FFFFFF"/>
                          </a:solidFill>
                        </a:rPr>
                        <a:t>Australia</a:t>
                      </a:r>
                    </a:p>
                  </a:txBody>
                  <a:tcPr>
                    <a:solidFill>
                      <a:srgbClr val="173F35"/>
                    </a:solidFill>
                  </a:tcPr>
                </a:tc>
                <a:tc>
                  <a:txBody>
                    <a:bodyPr/>
                    <a:lstStyle/>
                    <a:p>
                      <a:r>
                        <a:rPr sz="1600" b="1">
                          <a:solidFill>
                            <a:srgbClr val="FFFFFF"/>
                          </a:solidFill>
                        </a:rPr>
                        <a:t>India</a:t>
                      </a:r>
                    </a:p>
                  </a:txBody>
                  <a:tcPr>
                    <a:solidFill>
                      <a:srgbClr val="173F35"/>
                    </a:solidFill>
                  </a:tcPr>
                </a:tc>
                <a:extLst>
                  <a:ext uri="{0D108BD9-81ED-4DB2-BD59-A6C34878D82A}">
                    <a16:rowId xmlns:a16="http://schemas.microsoft.com/office/drawing/2014/main" val="10000"/>
                  </a:ext>
                </a:extLst>
              </a:tr>
              <a:tr h="601980">
                <a:tc>
                  <a:txBody>
                    <a:bodyPr/>
                    <a:lstStyle/>
                    <a:p>
                      <a:r>
                        <a:rPr sz="1400" b="1"/>
                        <a:t>Board Accountability</a:t>
                      </a:r>
                    </a:p>
                  </a:txBody>
                  <a:tcPr>
                    <a:solidFill>
                      <a:srgbClr val="FFFDF8"/>
                    </a:solidFill>
                  </a:tcPr>
                </a:tc>
                <a:tc>
                  <a:txBody>
                    <a:bodyPr/>
                    <a:lstStyle/>
                    <a:p>
                      <a:r>
                        <a:rPr sz="1400" b="0" dirty="0"/>
                        <a:t>Strong &amp; direct</a:t>
                      </a:r>
                    </a:p>
                  </a:txBody>
                  <a:tcPr>
                    <a:solidFill>
                      <a:srgbClr val="FFFDF8"/>
                    </a:solidFill>
                  </a:tcPr>
                </a:tc>
                <a:tc>
                  <a:txBody>
                    <a:bodyPr/>
                    <a:lstStyle/>
                    <a:p>
                      <a:r>
                        <a:rPr sz="1400" b="0" dirty="0"/>
                        <a:t>Strong &amp; direct</a:t>
                      </a:r>
                    </a:p>
                  </a:txBody>
                  <a:tcPr>
                    <a:solidFill>
                      <a:srgbClr val="FFFDF8"/>
                    </a:solidFill>
                  </a:tcPr>
                </a:tc>
                <a:tc>
                  <a:txBody>
                    <a:bodyPr/>
                    <a:lstStyle/>
                    <a:p>
                      <a:r>
                        <a:rPr sz="1400" b="0"/>
                        <a:t>Growing &amp; active</a:t>
                      </a:r>
                    </a:p>
                  </a:txBody>
                  <a:tcPr>
                    <a:solidFill>
                      <a:srgbClr val="FFFDF8"/>
                    </a:solidFill>
                  </a:tcPr>
                </a:tc>
                <a:tc>
                  <a:txBody>
                    <a:bodyPr/>
                    <a:lstStyle/>
                    <a:p>
                      <a:r>
                        <a:rPr sz="1400" b="1">
                          <a:solidFill>
                            <a:srgbClr val="A8552F"/>
                          </a:solidFill>
                        </a:rPr>
                        <a:t>Written in law, rarely used</a:t>
                      </a:r>
                    </a:p>
                  </a:txBody>
                  <a:tcPr>
                    <a:solidFill>
                      <a:srgbClr val="FFFDF8"/>
                    </a:solidFill>
                  </a:tcPr>
                </a:tc>
                <a:extLst>
                  <a:ext uri="{0D108BD9-81ED-4DB2-BD59-A6C34878D82A}">
                    <a16:rowId xmlns:a16="http://schemas.microsoft.com/office/drawing/2014/main" val="10001"/>
                  </a:ext>
                </a:extLst>
              </a:tr>
              <a:tr h="601980">
                <a:tc>
                  <a:txBody>
                    <a:bodyPr/>
                    <a:lstStyle/>
                    <a:p>
                      <a:pPr algn="l">
                        <a:defRPr sz="1050" b="1">
                          <a:solidFill>
                            <a:srgbClr val="2A2A2A"/>
                          </a:solidFill>
                          <a:latin typeface="Avenir Next"/>
                        </a:defRPr>
                      </a:pPr>
                      <a:r>
                        <a:rPr lang="en-IN" sz="1400" dirty="0"/>
                        <a:t>Integrated architecture</a:t>
                      </a:r>
                    </a:p>
                  </a:txBody>
                  <a:tcPr>
                    <a:solidFill>
                      <a:srgbClr val="E8EFE6"/>
                    </a:solidFill>
                  </a:tcPr>
                </a:tc>
                <a:tc>
                  <a:txBody>
                    <a:bodyPr/>
                    <a:lstStyle/>
                    <a:p>
                      <a:r>
                        <a:rPr sz="1400" b="0"/>
                        <a:t>Integrated reporting &amp; claim rules</a:t>
                      </a:r>
                    </a:p>
                  </a:txBody>
                  <a:tcPr>
                    <a:solidFill>
                      <a:srgbClr val="E8EFE6"/>
                    </a:solidFill>
                  </a:tcPr>
                </a:tc>
                <a:tc>
                  <a:txBody>
                    <a:bodyPr/>
                    <a:lstStyle/>
                    <a:p>
                      <a:r>
                        <a:rPr sz="1400" b="0"/>
                        <a:t>FCA + CMA + Company Law</a:t>
                      </a:r>
                    </a:p>
                  </a:txBody>
                  <a:tcPr>
                    <a:solidFill>
                      <a:srgbClr val="E8EFE6"/>
                    </a:solidFill>
                  </a:tcPr>
                </a:tc>
                <a:tc>
                  <a:txBody>
                    <a:bodyPr/>
                    <a:lstStyle/>
                    <a:p>
                      <a:r>
                        <a:rPr sz="1400" b="0" dirty="0"/>
                        <a:t>Active inter-agency teamwork</a:t>
                      </a:r>
                    </a:p>
                  </a:txBody>
                  <a:tcPr>
                    <a:solidFill>
                      <a:srgbClr val="E8EFE6"/>
                    </a:solidFill>
                  </a:tcPr>
                </a:tc>
                <a:tc>
                  <a:txBody>
                    <a:bodyPr/>
                    <a:lstStyle/>
                    <a:p>
                      <a:r>
                        <a:rPr sz="1400" b="1" dirty="0">
                          <a:solidFill>
                            <a:srgbClr val="A8552F"/>
                          </a:solidFill>
                        </a:rPr>
                        <a:t>MCA, SEBI &amp; CCPA</a:t>
                      </a:r>
                      <a:r>
                        <a:rPr lang="en-US" sz="1400" b="1" dirty="0">
                          <a:solidFill>
                            <a:srgbClr val="A8552F"/>
                          </a:solidFill>
                        </a:rPr>
                        <a:t> working</a:t>
                      </a:r>
                      <a:r>
                        <a:rPr sz="1400" b="1" dirty="0">
                          <a:solidFill>
                            <a:srgbClr val="A8552F"/>
                          </a:solidFill>
                        </a:rPr>
                        <a:t> in silos</a:t>
                      </a:r>
                    </a:p>
                  </a:txBody>
                  <a:tcPr>
                    <a:solidFill>
                      <a:srgbClr val="E8EFE6"/>
                    </a:solidFill>
                  </a:tcPr>
                </a:tc>
                <a:extLst>
                  <a:ext uri="{0D108BD9-81ED-4DB2-BD59-A6C34878D82A}">
                    <a16:rowId xmlns:a16="http://schemas.microsoft.com/office/drawing/2014/main" val="10002"/>
                  </a:ext>
                </a:extLst>
              </a:tr>
              <a:tr h="601980">
                <a:tc>
                  <a:txBody>
                    <a:bodyPr/>
                    <a:lstStyle/>
                    <a:p>
                      <a:r>
                        <a:rPr sz="1400" b="1"/>
                        <a:t>Third-Party Audits</a:t>
                      </a:r>
                    </a:p>
                  </a:txBody>
                  <a:tcPr>
                    <a:solidFill>
                      <a:srgbClr val="FFFDF8"/>
                    </a:solidFill>
                  </a:tcPr>
                </a:tc>
                <a:tc>
                  <a:txBody>
                    <a:bodyPr/>
                    <a:lstStyle/>
                    <a:p>
                      <a:r>
                        <a:rPr sz="1400" b="0"/>
                        <a:t>Phased move to strict audits</a:t>
                      </a:r>
                    </a:p>
                  </a:txBody>
                  <a:tcPr>
                    <a:solidFill>
                      <a:srgbClr val="FFFDF8"/>
                    </a:solidFill>
                  </a:tcPr>
                </a:tc>
                <a:tc>
                  <a:txBody>
                    <a:bodyPr/>
                    <a:lstStyle/>
                    <a:p>
                      <a:r>
                        <a:rPr sz="1400" b="0"/>
                        <a:t>Expanding requirements</a:t>
                      </a:r>
                    </a:p>
                  </a:txBody>
                  <a:tcPr>
                    <a:solidFill>
                      <a:srgbClr val="FFFDF8"/>
                    </a:solidFill>
                  </a:tcPr>
                </a:tc>
                <a:tc>
                  <a:txBody>
                    <a:bodyPr/>
                    <a:lstStyle/>
                    <a:p>
                      <a:r>
                        <a:rPr sz="1400" b="0" dirty="0"/>
                        <a:t>Moving to mandatory audits</a:t>
                      </a:r>
                    </a:p>
                  </a:txBody>
                  <a:tcPr>
                    <a:solidFill>
                      <a:srgbClr val="FFFDF8"/>
                    </a:solidFill>
                  </a:tcPr>
                </a:tc>
                <a:tc>
                  <a:txBody>
                    <a:bodyPr/>
                    <a:lstStyle/>
                    <a:p>
                      <a:r>
                        <a:rPr sz="1400" b="1">
                          <a:solidFill>
                            <a:srgbClr val="A8552F"/>
                          </a:solidFill>
                        </a:rPr>
                        <a:t>Deferred and softened</a:t>
                      </a:r>
                    </a:p>
                  </a:txBody>
                  <a:tcPr>
                    <a:solidFill>
                      <a:srgbClr val="FFFDF8"/>
                    </a:solidFill>
                  </a:tcPr>
                </a:tc>
                <a:extLst>
                  <a:ext uri="{0D108BD9-81ED-4DB2-BD59-A6C34878D82A}">
                    <a16:rowId xmlns:a16="http://schemas.microsoft.com/office/drawing/2014/main" val="10003"/>
                  </a:ext>
                </a:extLst>
              </a:tr>
              <a:tr h="601980">
                <a:tc>
                  <a:txBody>
                    <a:bodyPr/>
                    <a:lstStyle/>
                    <a:p>
                      <a:r>
                        <a:rPr sz="1400" b="1"/>
                        <a:t>Future Claims &amp; Offsets</a:t>
                      </a:r>
                    </a:p>
                  </a:txBody>
                  <a:tcPr>
                    <a:solidFill>
                      <a:srgbClr val="E8EFE6"/>
                    </a:solidFill>
                  </a:tcPr>
                </a:tc>
                <a:tc>
                  <a:txBody>
                    <a:bodyPr/>
                    <a:lstStyle/>
                    <a:p>
                      <a:r>
                        <a:rPr sz="1400" b="0"/>
                        <a:t>Strict limits on offset claims</a:t>
                      </a:r>
                    </a:p>
                  </a:txBody>
                  <a:tcPr>
                    <a:solidFill>
                      <a:srgbClr val="E8EFE6"/>
                    </a:solidFill>
                  </a:tcPr>
                </a:tc>
                <a:tc>
                  <a:txBody>
                    <a:bodyPr/>
                    <a:lstStyle/>
                    <a:p>
                      <a:r>
                        <a:rPr sz="1400" b="0"/>
                        <a:t>Subject to regulatory checks</a:t>
                      </a:r>
                    </a:p>
                  </a:txBody>
                  <a:tcPr>
                    <a:solidFill>
                      <a:srgbClr val="E8EFE6"/>
                    </a:solidFill>
                  </a:tcPr>
                </a:tc>
                <a:tc>
                  <a:txBody>
                    <a:bodyPr/>
                    <a:lstStyle/>
                    <a:p>
                      <a:r>
                        <a:rPr sz="1400" b="0"/>
                        <a:t>Actively policed under law</a:t>
                      </a:r>
                    </a:p>
                  </a:txBody>
                  <a:tcPr>
                    <a:solidFill>
                      <a:srgbClr val="E8EFE6"/>
                    </a:solidFill>
                  </a:tcPr>
                </a:tc>
                <a:tc>
                  <a:txBody>
                    <a:bodyPr/>
                    <a:lstStyle/>
                    <a:p>
                      <a:r>
                        <a:rPr sz="1400" b="1" dirty="0">
                          <a:solidFill>
                            <a:srgbClr val="A8552F"/>
                          </a:solidFill>
                        </a:rPr>
                        <a:t>Weak &amp; largely unregulated</a:t>
                      </a:r>
                    </a:p>
                  </a:txBody>
                  <a:tcPr>
                    <a:solidFill>
                      <a:srgbClr val="E8EFE6"/>
                    </a:solidFill>
                  </a:tcPr>
                </a:tc>
                <a:extLst>
                  <a:ext uri="{0D108BD9-81ED-4DB2-BD59-A6C34878D82A}">
                    <a16:rowId xmlns:a16="http://schemas.microsoft.com/office/drawing/2014/main" val="10004"/>
                  </a:ext>
                </a:extLst>
              </a:tr>
              <a:tr h="601980">
                <a:tc>
                  <a:txBody>
                    <a:bodyPr/>
                    <a:lstStyle/>
                    <a:p>
                      <a:pPr algn="l">
                        <a:defRPr sz="1050" b="1">
                          <a:solidFill>
                            <a:srgbClr val="2A2A2A"/>
                          </a:solidFill>
                          <a:latin typeface="Avenir Next"/>
                        </a:defRPr>
                      </a:pPr>
                      <a:r>
                        <a:rPr lang="en-IN" sz="1400" dirty="0"/>
                        <a:t>Proportionate penalties</a:t>
                      </a:r>
                    </a:p>
                  </a:txBody>
                  <a:tcPr>
                    <a:solidFill>
                      <a:srgbClr val="FFFDF8"/>
                    </a:solidFill>
                  </a:tcPr>
                </a:tc>
                <a:tc>
                  <a:txBody>
                    <a:bodyPr/>
                    <a:lstStyle/>
                    <a:p>
                      <a:r>
                        <a:rPr sz="1400" b="0"/>
                        <a:t>Linked to company turnover</a:t>
                      </a:r>
                    </a:p>
                  </a:txBody>
                  <a:tcPr>
                    <a:solidFill>
                      <a:srgbClr val="FFFDF8"/>
                    </a:solidFill>
                  </a:tcPr>
                </a:tc>
                <a:tc>
                  <a:txBody>
                    <a:bodyPr/>
                    <a:lstStyle/>
                    <a:p>
                      <a:r>
                        <a:rPr sz="1400" b="0"/>
                        <a:t>Up to 10% global turnover</a:t>
                      </a:r>
                    </a:p>
                  </a:txBody>
                  <a:tcPr>
                    <a:solidFill>
                      <a:srgbClr val="FFFDF8"/>
                    </a:solidFill>
                  </a:tcPr>
                </a:tc>
                <a:tc>
                  <a:txBody>
                    <a:bodyPr/>
                    <a:lstStyle/>
                    <a:p>
                      <a:r>
                        <a:rPr sz="1400" b="0"/>
                        <a:t>High civil penalty exposure</a:t>
                      </a:r>
                    </a:p>
                  </a:txBody>
                  <a:tcPr>
                    <a:solidFill>
                      <a:srgbClr val="FFFDF8"/>
                    </a:solidFill>
                  </a:tcPr>
                </a:tc>
                <a:tc>
                  <a:txBody>
                    <a:bodyPr/>
                    <a:lstStyle/>
                    <a:p>
                      <a:r>
                        <a:rPr sz="1400" b="1" dirty="0">
                          <a:solidFill>
                            <a:srgbClr val="A8552F"/>
                          </a:solidFill>
                        </a:rPr>
                        <a:t>Low fixed cap </a:t>
                      </a:r>
                      <a:r>
                        <a:rPr lang="en-US" sz="1400" b="1" dirty="0">
                          <a:solidFill>
                            <a:srgbClr val="A8552F"/>
                          </a:solidFill>
                        </a:rPr>
                        <a:t>penalties</a:t>
                      </a:r>
                      <a:endParaRPr sz="1400" b="1" dirty="0">
                        <a:solidFill>
                          <a:srgbClr val="A8552F"/>
                        </a:solidFill>
                      </a:endParaRPr>
                    </a:p>
                  </a:txBody>
                  <a:tcPr>
                    <a:solidFill>
                      <a:srgbClr val="FFFDF8"/>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566928" y="6608620"/>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a:t>
            </a:r>
            <a:r>
              <a:rPr lang="en-US" sz="1100" dirty="0">
                <a:latin typeface="Avenir Next" panose="020B0503020202020204" pitchFamily="34" charset="0"/>
              </a:rPr>
              <a:t>4.</a:t>
            </a:r>
          </a:p>
        </p:txBody>
      </p:sp>
      <p:sp>
        <p:nvSpPr>
          <p:cNvPr id="11" name="Rounded Rectangle 10"/>
          <p:cNvSpPr/>
          <p:nvPr/>
        </p:nvSpPr>
        <p:spPr>
          <a:xfrm>
            <a:off x="608357" y="5015806"/>
            <a:ext cx="10835640" cy="1384994"/>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2" name="TextBox 11"/>
          <p:cNvSpPr txBox="1"/>
          <p:nvPr/>
        </p:nvSpPr>
        <p:spPr>
          <a:xfrm>
            <a:off x="696928" y="5194288"/>
            <a:ext cx="10575640" cy="112338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latin typeface="Avenir Next" panose="020B0503020202020204" pitchFamily="34" charset="0"/>
              </a:rPr>
              <a:t>Research Question 5: </a:t>
            </a:r>
            <a:r>
              <a:rPr lang="en-IN" sz="1400" b="1" dirty="0">
                <a:latin typeface="Avenir Next" panose="020B0503020202020204" pitchFamily="34" charset="0"/>
                <a:ea typeface="+mn-lt"/>
                <a:cs typeface="+mn-lt"/>
              </a:rPr>
              <a:t>What comparative regulatory models and enforcement techniques have emerged in other jurisdictions to control greenwashing, and what design lessons do they offer?</a:t>
            </a:r>
          </a:p>
          <a:p>
            <a:pPr algn="just">
              <a:defRPr sz="1100">
                <a:solidFill>
                  <a:srgbClr val="282828"/>
                </a:solidFill>
              </a:defRPr>
            </a:pPr>
            <a:endParaRPr lang="en-US" sz="1400" dirty="0">
              <a:latin typeface="Avenir Next" panose="020B0503020202020204" pitchFamily="34" charset="0"/>
            </a:endParaRPr>
          </a:p>
          <a:p>
            <a:pPr algn="just">
              <a:defRPr sz="1100">
                <a:solidFill>
                  <a:srgbClr val="282828"/>
                </a:solidFill>
              </a:defRPr>
            </a:pPr>
            <a:r>
              <a:rPr sz="1400" dirty="0">
                <a:latin typeface="Avenir Next" panose="020B0503020202020204" pitchFamily="34" charset="0"/>
              </a:rPr>
              <a:t>Answer to RQ5: Effective systems demand proof before publication, require independent audits, connect their regulators with automatic referrals, and link fines to turnover so honesty is always the smart business choice.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17224" y="1048852"/>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7" name="Rounded Rectangle 6"/>
          <p:cNvSpPr/>
          <p:nvPr/>
        </p:nvSpPr>
        <p:spPr>
          <a:xfrm>
            <a:off x="5000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a:t>
            </a:r>
          </a:p>
        </p:txBody>
      </p:sp>
      <p:sp>
        <p:nvSpPr>
          <p:cNvPr id="8" name="TextBox 7"/>
          <p:cNvSpPr txBox="1"/>
          <p:nvPr/>
        </p:nvSpPr>
        <p:spPr>
          <a:xfrm>
            <a:off x="890016" y="1049380"/>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Pre-Approval for Claims</a:t>
            </a:r>
          </a:p>
          <a:p>
            <a:pPr>
              <a:defRPr sz="1050">
                <a:solidFill>
                  <a:srgbClr val="282828"/>
                </a:solidFill>
              </a:defRPr>
            </a:pPr>
            <a:r>
              <a:rPr sz="1200" dirty="0">
                <a:latin typeface="Avenir Next" panose="020B0503020202020204" pitchFamily="34" charset="0"/>
              </a:rPr>
              <a:t>Independent certification required before publishing any green claim (EU GCD, Colombia).</a:t>
            </a:r>
          </a:p>
        </p:txBody>
      </p:sp>
      <p:sp>
        <p:nvSpPr>
          <p:cNvPr id="9" name="Rounded Rectangle 8"/>
          <p:cNvSpPr/>
          <p:nvPr/>
        </p:nvSpPr>
        <p:spPr>
          <a:xfrm>
            <a:off x="6203624" y="1048852"/>
            <a:ext cx="5226376" cy="782913"/>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0" name="Rounded Rectangle 9"/>
          <p:cNvSpPr/>
          <p:nvPr/>
        </p:nvSpPr>
        <p:spPr>
          <a:xfrm>
            <a:off x="59864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2</a:t>
            </a:r>
          </a:p>
        </p:txBody>
      </p:sp>
      <p:sp>
        <p:nvSpPr>
          <p:cNvPr id="11" name="TextBox 10"/>
          <p:cNvSpPr txBox="1"/>
          <p:nvPr/>
        </p:nvSpPr>
        <p:spPr>
          <a:xfrm>
            <a:off x="6436423" y="104938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Third-Party Auditing</a:t>
            </a:r>
          </a:p>
          <a:p>
            <a:pPr>
              <a:defRPr sz="1050">
                <a:solidFill>
                  <a:srgbClr val="282828"/>
                </a:solidFill>
              </a:defRPr>
            </a:pPr>
            <a:r>
              <a:rPr sz="1200" dirty="0">
                <a:latin typeface="Avenir Next" panose="020B0503020202020204" pitchFamily="34" charset="0"/>
              </a:rPr>
              <a:t>Phased move from basic reviews to full financial-grade audits (EU CSRD, Australia).</a:t>
            </a:r>
          </a:p>
        </p:txBody>
      </p:sp>
      <p:sp>
        <p:nvSpPr>
          <p:cNvPr id="12" name="Rounded Rectangle 11"/>
          <p:cNvSpPr/>
          <p:nvPr/>
        </p:nvSpPr>
        <p:spPr>
          <a:xfrm>
            <a:off x="717224" y="2097833"/>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3" name="Rounded Rectangle 12"/>
          <p:cNvSpPr/>
          <p:nvPr/>
        </p:nvSpPr>
        <p:spPr>
          <a:xfrm>
            <a:off x="5000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3</a:t>
            </a:r>
          </a:p>
        </p:txBody>
      </p:sp>
      <p:sp>
        <p:nvSpPr>
          <p:cNvPr id="14" name="TextBox 13"/>
          <p:cNvSpPr txBox="1"/>
          <p:nvPr/>
        </p:nvSpPr>
        <p:spPr>
          <a:xfrm>
            <a:off x="890016" y="2098361"/>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Double Materiality</a:t>
            </a:r>
          </a:p>
          <a:p>
            <a:pPr>
              <a:defRPr sz="1050">
                <a:solidFill>
                  <a:srgbClr val="282828"/>
                </a:solidFill>
              </a:defRPr>
            </a:pPr>
            <a:r>
              <a:rPr sz="1200" dirty="0">
                <a:latin typeface="Avenir Next" panose="020B0503020202020204" pitchFamily="34" charset="0"/>
              </a:rPr>
              <a:t>Disclosing financial risks to the firm AND the firm's real impact on the planet (EU ESRS).</a:t>
            </a:r>
          </a:p>
        </p:txBody>
      </p:sp>
      <p:sp>
        <p:nvSpPr>
          <p:cNvPr id="15" name="Rounded Rectangle 14"/>
          <p:cNvSpPr/>
          <p:nvPr/>
        </p:nvSpPr>
        <p:spPr>
          <a:xfrm>
            <a:off x="6203624" y="2097833"/>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6" name="Rounded Rectangle 15"/>
          <p:cNvSpPr/>
          <p:nvPr/>
        </p:nvSpPr>
        <p:spPr>
          <a:xfrm>
            <a:off x="59864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4</a:t>
            </a:r>
          </a:p>
        </p:txBody>
      </p:sp>
      <p:sp>
        <p:nvSpPr>
          <p:cNvPr id="17" name="TextBox 16"/>
          <p:cNvSpPr txBox="1"/>
          <p:nvPr/>
        </p:nvSpPr>
        <p:spPr>
          <a:xfrm>
            <a:off x="6436423" y="2098361"/>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Lifecycle Assessment (LCA)</a:t>
            </a:r>
          </a:p>
          <a:p>
            <a:pPr>
              <a:defRPr sz="1050">
                <a:solidFill>
                  <a:srgbClr val="282828"/>
                </a:solidFill>
              </a:defRPr>
            </a:pPr>
            <a:r>
              <a:rPr sz="1200" dirty="0">
                <a:latin typeface="Avenir Next" panose="020B0503020202020204" pitchFamily="34" charset="0"/>
              </a:rPr>
              <a:t>Requiring full cradle-to-grave analysis for all eco-product claims (EU, UK Green Claims Code).</a:t>
            </a:r>
          </a:p>
        </p:txBody>
      </p:sp>
      <p:sp>
        <p:nvSpPr>
          <p:cNvPr id="18" name="Rounded Rectangle 17"/>
          <p:cNvSpPr/>
          <p:nvPr/>
        </p:nvSpPr>
        <p:spPr>
          <a:xfrm>
            <a:off x="717224" y="3185456"/>
            <a:ext cx="5226376" cy="78968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9" name="Rounded Rectangle 18"/>
          <p:cNvSpPr/>
          <p:nvPr/>
        </p:nvSpPr>
        <p:spPr>
          <a:xfrm>
            <a:off x="5000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5</a:t>
            </a:r>
          </a:p>
        </p:txBody>
      </p:sp>
      <p:sp>
        <p:nvSpPr>
          <p:cNvPr id="20" name="TextBox 19"/>
          <p:cNvSpPr txBox="1"/>
          <p:nvPr/>
        </p:nvSpPr>
        <p:spPr>
          <a:xfrm>
            <a:off x="890016" y="31859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Scope 3 Emissions</a:t>
            </a:r>
          </a:p>
          <a:p>
            <a:pPr>
              <a:defRPr sz="1050">
                <a:solidFill>
                  <a:srgbClr val="282828"/>
                </a:solidFill>
              </a:defRPr>
            </a:pPr>
            <a:r>
              <a:rPr sz="1200" dirty="0">
                <a:latin typeface="Avenir Next" panose="020B0503020202020204" pitchFamily="34" charset="0"/>
              </a:rPr>
              <a:t>Full supply-chain emissions must be disclosed; cannot hide polluting suppliers (EU, Australia).</a:t>
            </a:r>
          </a:p>
        </p:txBody>
      </p:sp>
      <p:sp>
        <p:nvSpPr>
          <p:cNvPr id="21" name="Rounded Rectangle 20"/>
          <p:cNvSpPr/>
          <p:nvPr/>
        </p:nvSpPr>
        <p:spPr>
          <a:xfrm>
            <a:off x="6203624" y="3185456"/>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2" name="Rounded Rectangle 21"/>
          <p:cNvSpPr/>
          <p:nvPr/>
        </p:nvSpPr>
        <p:spPr>
          <a:xfrm>
            <a:off x="59864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6</a:t>
            </a:r>
          </a:p>
        </p:txBody>
      </p:sp>
      <p:sp>
        <p:nvSpPr>
          <p:cNvPr id="23" name="TextBox 22"/>
          <p:cNvSpPr txBox="1"/>
          <p:nvPr/>
        </p:nvSpPr>
        <p:spPr>
          <a:xfrm>
            <a:off x="6436423" y="3185984"/>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Reversed Burden of Proof</a:t>
            </a:r>
          </a:p>
          <a:p>
            <a:pPr>
              <a:defRPr sz="1050">
                <a:solidFill>
                  <a:srgbClr val="282828"/>
                </a:solidFill>
              </a:defRPr>
            </a:pPr>
            <a:r>
              <a:rPr sz="1200" dirty="0">
                <a:latin typeface="Avenir Next" panose="020B0503020202020204" pitchFamily="34" charset="0"/>
              </a:rPr>
              <a:t>The company must prove its claim is true; consumers do not have to disprove it (Canada, EU).</a:t>
            </a:r>
          </a:p>
        </p:txBody>
      </p:sp>
      <p:sp>
        <p:nvSpPr>
          <p:cNvPr id="24" name="Rounded Rectangle 23"/>
          <p:cNvSpPr/>
          <p:nvPr/>
        </p:nvSpPr>
        <p:spPr>
          <a:xfrm>
            <a:off x="717224" y="4208684"/>
            <a:ext cx="5226376" cy="75515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5" name="Rounded Rectangle 24"/>
          <p:cNvSpPr/>
          <p:nvPr/>
        </p:nvSpPr>
        <p:spPr>
          <a:xfrm>
            <a:off x="5000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a:latin typeface="Avenir Next" panose="020B0503020202020204" pitchFamily="34" charset="0"/>
              </a:rPr>
              <a:t>7</a:t>
            </a:r>
          </a:p>
        </p:txBody>
      </p:sp>
      <p:sp>
        <p:nvSpPr>
          <p:cNvPr id="26" name="TextBox 25"/>
          <p:cNvSpPr txBox="1"/>
          <p:nvPr/>
        </p:nvSpPr>
        <p:spPr>
          <a:xfrm>
            <a:off x="890016" y="418345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Specific Rules for Carbon Claims</a:t>
            </a:r>
          </a:p>
          <a:p>
            <a:pPr>
              <a:defRPr sz="1050">
                <a:solidFill>
                  <a:srgbClr val="282828"/>
                </a:solidFill>
              </a:defRPr>
            </a:pPr>
            <a:r>
              <a:rPr sz="1200" dirty="0">
                <a:latin typeface="Avenir Next" panose="020B0503020202020204" pitchFamily="34" charset="0"/>
              </a:rPr>
              <a:t>Strict standards for 'carbon neutral' claims and retiring verified carbon credits (US FTC, EU).</a:t>
            </a:r>
          </a:p>
        </p:txBody>
      </p:sp>
      <p:sp>
        <p:nvSpPr>
          <p:cNvPr id="27" name="Rounded Rectangle 26"/>
          <p:cNvSpPr/>
          <p:nvPr/>
        </p:nvSpPr>
        <p:spPr>
          <a:xfrm>
            <a:off x="6203624" y="4208684"/>
            <a:ext cx="5226376" cy="79996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8" name="Rounded Rectangle 27"/>
          <p:cNvSpPr/>
          <p:nvPr/>
        </p:nvSpPr>
        <p:spPr>
          <a:xfrm>
            <a:off x="59864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8</a:t>
            </a:r>
          </a:p>
        </p:txBody>
      </p:sp>
      <p:sp>
        <p:nvSpPr>
          <p:cNvPr id="29" name="TextBox 28"/>
          <p:cNvSpPr txBox="1"/>
          <p:nvPr/>
        </p:nvSpPr>
        <p:spPr>
          <a:xfrm>
            <a:off x="6436423" y="423497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Ban on Vague Buzzwords</a:t>
            </a:r>
          </a:p>
          <a:p>
            <a:pPr>
              <a:defRPr sz="1050">
                <a:solidFill>
                  <a:srgbClr val="282828"/>
                </a:solidFill>
              </a:defRPr>
            </a:pPr>
            <a:r>
              <a:rPr sz="1200" dirty="0">
                <a:latin typeface="Avenir Next" panose="020B0503020202020204" pitchFamily="34" charset="0"/>
              </a:rPr>
              <a:t>Outlawing broad terms like 'eco-friendly' or 'green' without clear, measurable proof (EU ECGT, UK CMA).</a:t>
            </a:r>
          </a:p>
        </p:txBody>
      </p:sp>
      <p:sp>
        <p:nvSpPr>
          <p:cNvPr id="30" name="Rounded Rectangle 29"/>
          <p:cNvSpPr/>
          <p:nvPr/>
        </p:nvSpPr>
        <p:spPr>
          <a:xfrm>
            <a:off x="717224" y="5270013"/>
            <a:ext cx="5226376" cy="78291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1" name="Rounded Rectangle 30"/>
          <p:cNvSpPr/>
          <p:nvPr/>
        </p:nvSpPr>
        <p:spPr>
          <a:xfrm>
            <a:off x="500033" y="5211291"/>
            <a:ext cx="348425"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9</a:t>
            </a:r>
          </a:p>
        </p:txBody>
      </p:sp>
      <p:sp>
        <p:nvSpPr>
          <p:cNvPr id="32" name="TextBox 31"/>
          <p:cNvSpPr txBox="1"/>
          <p:nvPr/>
        </p:nvSpPr>
        <p:spPr>
          <a:xfrm>
            <a:off x="890016" y="52796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Turnover-Linked Penalties</a:t>
            </a:r>
          </a:p>
          <a:p>
            <a:pPr>
              <a:defRPr sz="1050">
                <a:solidFill>
                  <a:srgbClr val="282828"/>
                </a:solidFill>
              </a:defRPr>
            </a:pPr>
            <a:r>
              <a:rPr sz="1200" dirty="0">
                <a:latin typeface="Avenir Next" panose="020B0503020202020204" pitchFamily="34" charset="0"/>
              </a:rPr>
              <a:t>Setting fines at 4% to 10% of total revenue so penalties cannot be dismissed as a minor cost (EU, UK).</a:t>
            </a:r>
          </a:p>
        </p:txBody>
      </p:sp>
      <p:sp>
        <p:nvSpPr>
          <p:cNvPr id="33" name="Rounded Rectangle 32"/>
          <p:cNvSpPr/>
          <p:nvPr/>
        </p:nvSpPr>
        <p:spPr>
          <a:xfrm>
            <a:off x="6203624" y="5185533"/>
            <a:ext cx="5226376" cy="104233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4" name="Rounded Rectangle 33"/>
          <p:cNvSpPr/>
          <p:nvPr/>
        </p:nvSpPr>
        <p:spPr>
          <a:xfrm>
            <a:off x="5986433" y="5121138"/>
            <a:ext cx="449990"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10</a:t>
            </a:r>
          </a:p>
        </p:txBody>
      </p:sp>
      <p:sp>
        <p:nvSpPr>
          <p:cNvPr id="35" name="TextBox 34"/>
          <p:cNvSpPr txBox="1"/>
          <p:nvPr/>
        </p:nvSpPr>
        <p:spPr>
          <a:xfrm>
            <a:off x="6436423" y="527054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Connected Multi-Agency System</a:t>
            </a:r>
          </a:p>
          <a:p>
            <a:pPr>
              <a:defRPr sz="1050">
                <a:solidFill>
                  <a:srgbClr val="282828"/>
                </a:solidFill>
              </a:defRPr>
            </a:pPr>
            <a:r>
              <a:rPr sz="1200" dirty="0">
                <a:latin typeface="Avenir Next" panose="020B0503020202020204" pitchFamily="34" charset="0"/>
              </a:rPr>
              <a:t>Automatic case-sharing and joint investigations between consumer, financial, and company regulators.</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500033" y="377272"/>
            <a:ext cx="9886849"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ea typeface="+mn-lt"/>
                <a:cs typeface="+mn-lt"/>
              </a:rPr>
              <a:t>Comparative Benchmark — International Best Practices </a:t>
            </a:r>
            <a:endParaRPr lang="en-US" sz="2800" dirty="0"/>
          </a:p>
        </p:txBody>
      </p:sp>
      <p:sp>
        <p:nvSpPr>
          <p:cNvPr id="2" name="TextBox 1">
            <a:extLst>
              <a:ext uri="{FF2B5EF4-FFF2-40B4-BE49-F238E27FC236}">
                <a16:creationId xmlns:a16="http://schemas.microsoft.com/office/drawing/2014/main" id="{73CA1F73-E102-BBCB-2FBA-B5E42CCEA779}"/>
              </a:ext>
            </a:extLst>
          </p:cNvPr>
          <p:cNvSpPr txBox="1"/>
          <p:nvPr/>
        </p:nvSpPr>
        <p:spPr>
          <a:xfrm>
            <a:off x="462633" y="6339493"/>
            <a:ext cx="11200000" cy="646331"/>
          </a:xfrm>
          <a:prstGeom prst="rect">
            <a:avLst/>
          </a:prstGeom>
          <a:noFill/>
        </p:spPr>
        <p:txBody>
          <a:bodyPr wrap="square" lIns="45720" tIns="22860" rIns="45720" bIns="22860" anchor="t">
            <a:spAutoFit/>
          </a:bodyPr>
          <a:lstStyle/>
          <a:p>
            <a:r>
              <a:rPr sz="1400" b="0" i="0" dirty="0">
                <a:solidFill>
                  <a:srgbClr val="6B6F6A"/>
                </a:solidFill>
                <a:latin typeface="Avenir Next" panose="020B0503020202020204" pitchFamily="34" charset="0"/>
              </a:rPr>
              <a:t>Research Question 5:</a:t>
            </a:r>
            <a:r>
              <a:rPr lang="en-US" sz="1400" b="0" i="0" dirty="0">
                <a:solidFill>
                  <a:srgbClr val="6B6F6A"/>
                </a:solidFill>
                <a:latin typeface="Avenir Next" panose="020B0503020202020204" pitchFamily="34" charset="0"/>
              </a:rPr>
              <a:t> </a:t>
            </a:r>
            <a:r>
              <a:rPr lang="en-IN" sz="1400" dirty="0">
                <a:latin typeface="Avenir Next" panose="020B0503020202020204" pitchFamily="34" charset="0"/>
                <a:ea typeface="+mn-lt"/>
                <a:cs typeface="+mn-lt"/>
              </a:rPr>
              <a:t>What comparative regulatory models and enforcement techniques have emerged in other jurisdictions to control greenwashing, and what design lessons do they offer?</a:t>
            </a:r>
            <a:endParaRPr lang="en-US" sz="1400" dirty="0">
              <a:latin typeface="Avenir Next" panose="020B0503020202020204" pitchFamily="34" charset="0"/>
              <a:ea typeface="+mn-lt"/>
              <a:cs typeface="+mn-lt"/>
            </a:endParaRPr>
          </a:p>
          <a:p>
            <a:pPr algn="l"/>
            <a:endParaRPr sz="1100" b="0" i="0" dirty="0">
              <a:solidFill>
                <a:srgbClr val="6B6F6A"/>
              </a:solidFill>
              <a:latin typeface="Avenir Next"/>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84048"/>
            <a:ext cx="9880105" cy="553998"/>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3000" dirty="0"/>
              <a:t>India's Enforcement Gap Is </a:t>
            </a:r>
            <a:r>
              <a:rPr lang="en-US" sz="3000" dirty="0"/>
              <a:t>Firstly</a:t>
            </a:r>
            <a:r>
              <a:rPr sz="3000" dirty="0"/>
              <a:t> a Design Problem</a:t>
            </a:r>
          </a:p>
        </p:txBody>
      </p:sp>
      <p:sp>
        <p:nvSpPr>
          <p:cNvPr id="8" name="Chevron 7"/>
          <p:cNvSpPr/>
          <p:nvPr/>
        </p:nvSpPr>
        <p:spPr>
          <a:xfrm>
            <a:off x="765637" y="53634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Board Responsibility</a:t>
            </a:r>
          </a:p>
        </p:txBody>
      </p:sp>
      <p:sp>
        <p:nvSpPr>
          <p:cNvPr id="9" name="Chevron 8"/>
          <p:cNvSpPr/>
          <p:nvPr/>
        </p:nvSpPr>
        <p:spPr>
          <a:xfrm>
            <a:off x="2813893" y="53634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Claim Substantiation</a:t>
            </a:r>
          </a:p>
        </p:txBody>
      </p:sp>
      <p:sp>
        <p:nvSpPr>
          <p:cNvPr id="10" name="Chevron 9"/>
          <p:cNvSpPr/>
          <p:nvPr/>
        </p:nvSpPr>
        <p:spPr>
          <a:xfrm>
            <a:off x="4862149" y="53634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Independent Assurance</a:t>
            </a:r>
          </a:p>
        </p:txBody>
      </p:sp>
      <p:sp>
        <p:nvSpPr>
          <p:cNvPr id="11" name="Chevron 10"/>
          <p:cNvSpPr/>
          <p:nvPr/>
        </p:nvSpPr>
        <p:spPr>
          <a:xfrm>
            <a:off x="6910405" y="53634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Regulator Coordination</a:t>
            </a:r>
          </a:p>
        </p:txBody>
      </p:sp>
      <p:sp>
        <p:nvSpPr>
          <p:cNvPr id="12" name="Chevron 11"/>
          <p:cNvSpPr/>
          <p:nvPr/>
        </p:nvSpPr>
        <p:spPr>
          <a:xfrm>
            <a:off x="8958661" y="53634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Visible Penalties</a:t>
            </a:r>
          </a:p>
        </p:txBody>
      </p:sp>
      <p:sp>
        <p:nvSpPr>
          <p:cNvPr id="13" name="Rounded Rectangle 12"/>
          <p:cNvSpPr/>
          <p:nvPr/>
        </p:nvSpPr>
        <p:spPr>
          <a:xfrm>
            <a:off x="697925" y="1214173"/>
            <a:ext cx="5360704" cy="3831541"/>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4" name="Rounded Rectangle 13"/>
          <p:cNvSpPr/>
          <p:nvPr/>
        </p:nvSpPr>
        <p:spPr>
          <a:xfrm>
            <a:off x="601035" y="1185641"/>
            <a:ext cx="4275765" cy="626646"/>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ea typeface="+mn-lt"/>
                <a:cs typeface="+mn-lt"/>
              </a:rPr>
              <a:t>Stronger jurisdictions share common design features</a:t>
            </a:r>
            <a:endParaRPr lang="en-US" sz="1600" dirty="0">
              <a:latin typeface="Avenir Next" panose="020B0503020202020204" pitchFamily="34" charset="0"/>
            </a:endParaRPr>
          </a:p>
        </p:txBody>
      </p:sp>
      <p:sp>
        <p:nvSpPr>
          <p:cNvPr id="15" name="TextBox 14"/>
          <p:cNvSpPr txBox="1"/>
          <p:nvPr/>
        </p:nvSpPr>
        <p:spPr>
          <a:xfrm>
            <a:off x="765637" y="1840084"/>
            <a:ext cx="5292991" cy="3057247"/>
          </a:xfrm>
          <a:prstGeom prst="rect">
            <a:avLst/>
          </a:prstGeom>
          <a:noFill/>
        </p:spPr>
        <p:txBody>
          <a:bodyPr wrap="square" lIns="91440" tIns="45720" rIns="91440" bIns="45720" anchor="t">
            <a:spAutoFit/>
          </a:bodyPr>
          <a:lstStyle/>
          <a:p>
            <a:pPr>
              <a:lnSpc>
                <a:spcPct val="150000"/>
              </a:lnSpc>
              <a:spcAft>
                <a:spcPts val="500"/>
              </a:spcAft>
              <a:defRPr sz="1150">
                <a:solidFill>
                  <a:srgbClr val="2D2D2D"/>
                </a:solidFill>
                <a:latin typeface="Avenir Next"/>
              </a:defRPr>
            </a:pPr>
            <a:r>
              <a:rPr sz="1600" dirty="0">
                <a:latin typeface="Avenir Next" panose="020B0503020202020204" pitchFamily="34" charset="0"/>
              </a:rPr>
              <a:t>• Proof Before Publishing: Mandatory verification prior to claims (ex ante).</a:t>
            </a:r>
            <a:endParaRPr lang="en-US" sz="1600" dirty="0">
              <a:latin typeface="Avenir Next" panose="020B0503020202020204" pitchFamily="34" charset="0"/>
            </a:endParaRPr>
          </a:p>
          <a:p>
            <a:pPr>
              <a:spcAft>
                <a:spcPts val="500"/>
              </a:spcAft>
              <a:defRPr sz="1150">
                <a:solidFill>
                  <a:srgbClr val="2D2D2D"/>
                </a:solidFill>
              </a:defRPr>
            </a:pPr>
            <a:r>
              <a:rPr sz="1600" dirty="0">
                <a:latin typeface="Avenir Next" panose="020B0503020202020204" pitchFamily="34" charset="0"/>
              </a:rPr>
              <a:t>• Independent Audits: Mandatory third-party assurance that escalates over time.</a:t>
            </a:r>
          </a:p>
          <a:p>
            <a:pPr>
              <a:spcAft>
                <a:spcPts val="500"/>
              </a:spcAft>
              <a:defRPr sz="1150">
                <a:solidFill>
                  <a:srgbClr val="2D2D2D"/>
                </a:solidFill>
              </a:defRPr>
            </a:pPr>
            <a:r>
              <a:rPr sz="1600" dirty="0">
                <a:latin typeface="Avenir Next" panose="020B0503020202020204" pitchFamily="34" charset="0"/>
              </a:rPr>
              <a:t>• Clear Accountability: Direct liability routes for decision-makers.</a:t>
            </a:r>
          </a:p>
          <a:p>
            <a:pPr>
              <a:spcAft>
                <a:spcPts val="500"/>
              </a:spcAft>
              <a:defRPr sz="1150">
                <a:solidFill>
                  <a:srgbClr val="2D2D2D"/>
                </a:solidFill>
              </a:defRPr>
            </a:pPr>
            <a:r>
              <a:rPr sz="1600" dirty="0">
                <a:latin typeface="Avenir Next" panose="020B0503020202020204" pitchFamily="34" charset="0"/>
              </a:rPr>
              <a:t>• Turnover-Linked Penalties: Fines scaled to company revenue to deter misconduct.</a:t>
            </a:r>
          </a:p>
          <a:p>
            <a:pPr>
              <a:defRPr sz="1150">
                <a:solidFill>
                  <a:srgbClr val="2D2D2D"/>
                </a:solidFill>
              </a:defRPr>
            </a:pPr>
            <a:r>
              <a:rPr sz="1600" dirty="0">
                <a:latin typeface="Avenir Next" panose="020B0503020202020204" pitchFamily="34" charset="0"/>
              </a:rPr>
              <a:t>• Lifecycle Coverage: Rules apply from product labels to financial filings.</a:t>
            </a:r>
          </a:p>
        </p:txBody>
      </p:sp>
      <p:sp>
        <p:nvSpPr>
          <p:cNvPr id="16" name="Rounded Rectangle 15"/>
          <p:cNvSpPr/>
          <p:nvPr/>
        </p:nvSpPr>
        <p:spPr>
          <a:xfrm>
            <a:off x="6350320" y="1214172"/>
            <a:ext cx="4897839" cy="383154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7" name="Rounded Rectangle 16"/>
          <p:cNvSpPr/>
          <p:nvPr/>
        </p:nvSpPr>
        <p:spPr>
          <a:xfrm>
            <a:off x="6276188" y="1185641"/>
            <a:ext cx="3077362" cy="588635"/>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200" b="1">
                <a:solidFill>
                  <a:srgbClr val="FFFFFF"/>
                </a:solidFill>
                <a:latin typeface="Avenir Next"/>
              </a:defRPr>
            </a:pPr>
            <a:r>
              <a:rPr sz="1600">
                <a:latin typeface="Avenir Next" panose="020B0503020202020204" pitchFamily="34" charset="0"/>
              </a:rPr>
              <a:t>Indian Regulatory Design</a:t>
            </a:r>
            <a:endParaRPr sz="1600" dirty="0">
              <a:latin typeface="Avenir Next" panose="020B0503020202020204" pitchFamily="34" charset="0"/>
            </a:endParaRPr>
          </a:p>
        </p:txBody>
      </p:sp>
      <p:sp>
        <p:nvSpPr>
          <p:cNvPr id="18" name="TextBox 17"/>
          <p:cNvSpPr txBox="1"/>
          <p:nvPr/>
        </p:nvSpPr>
        <p:spPr>
          <a:xfrm>
            <a:off x="6402593" y="1811942"/>
            <a:ext cx="4933553" cy="3057247"/>
          </a:xfrm>
          <a:prstGeom prst="rect">
            <a:avLst/>
          </a:prstGeom>
          <a:noFill/>
        </p:spPr>
        <p:txBody>
          <a:bodyPr wrap="square" lIns="91440" tIns="45720" rIns="91440" bIns="45720" anchor="t">
            <a:spAutoFit/>
          </a:bodyPr>
          <a:lstStyle/>
          <a:p>
            <a:pPr>
              <a:lnSpc>
                <a:spcPct val="150000"/>
              </a:lnSpc>
              <a:spcAft>
                <a:spcPts val="500"/>
              </a:spcAft>
              <a:defRPr sz="1150">
                <a:solidFill>
                  <a:srgbClr val="2D2D2D"/>
                </a:solidFill>
                <a:latin typeface="Avenir Next"/>
              </a:defRPr>
            </a:pPr>
            <a:r>
              <a:rPr sz="1600" dirty="0">
                <a:latin typeface="Avenir Next" panose="020B0503020202020204" pitchFamily="34" charset="0"/>
              </a:rPr>
              <a:t>• Reactive Policing: Authorities only step in after an ad has already run.</a:t>
            </a:r>
            <a:endParaRPr lang="en-US" sz="1600" dirty="0">
              <a:latin typeface="Avenir Next" panose="020B0503020202020204" pitchFamily="34" charset="0"/>
            </a:endParaRPr>
          </a:p>
          <a:p>
            <a:pPr>
              <a:spcAft>
                <a:spcPts val="500"/>
              </a:spcAft>
              <a:defRPr sz="1150">
                <a:solidFill>
                  <a:srgbClr val="2D2D2D"/>
                </a:solidFill>
              </a:defRPr>
            </a:pPr>
            <a:r>
              <a:rPr sz="1600" dirty="0">
                <a:latin typeface="Avenir Next" panose="020B0503020202020204" pitchFamily="34" charset="0"/>
              </a:rPr>
              <a:t>• Diluted Auditing: Mandatory audits postponed and replaced with soft checks.</a:t>
            </a:r>
          </a:p>
          <a:p>
            <a:pPr>
              <a:spcAft>
                <a:spcPts val="500"/>
              </a:spcAft>
              <a:defRPr sz="1150">
                <a:solidFill>
                  <a:srgbClr val="2D2D2D"/>
                </a:solidFill>
              </a:defRPr>
            </a:pPr>
            <a:r>
              <a:rPr sz="1600" dirty="0">
                <a:latin typeface="Avenir Next" panose="020B0503020202020204" pitchFamily="34" charset="0"/>
              </a:rPr>
              <a:t>• No Pre-Approval: No mandatory third-party verification before claims are made.</a:t>
            </a:r>
          </a:p>
          <a:p>
            <a:pPr>
              <a:spcAft>
                <a:spcPts val="500"/>
              </a:spcAft>
              <a:defRPr sz="1150">
                <a:solidFill>
                  <a:srgbClr val="2D2D2D"/>
                </a:solidFill>
              </a:defRPr>
            </a:pPr>
            <a:r>
              <a:rPr sz="1600" dirty="0">
                <a:latin typeface="Avenir Next" panose="020B0503020202020204" pitchFamily="34" charset="0"/>
              </a:rPr>
              <a:t>• Regulatory Rollbacks: Repeated delays and narrowed reporting scopes.</a:t>
            </a:r>
          </a:p>
          <a:p>
            <a:pPr>
              <a:defRPr sz="1150">
                <a:solidFill>
                  <a:srgbClr val="2D2D2D"/>
                </a:solidFill>
              </a:defRPr>
            </a:pPr>
            <a:r>
              <a:rPr sz="1600" dirty="0">
                <a:latin typeface="Avenir Next" panose="020B0503020202020204" pitchFamily="34" charset="0"/>
              </a:rPr>
              <a:t>• Fixed Low Penalties: Nominal fines that do not deter large corporations.</a:t>
            </a:r>
          </a:p>
        </p:txBody>
      </p:sp>
      <p:sp>
        <p:nvSpPr>
          <p:cNvPr id="21" name="TextBox 20"/>
          <p:cNvSpPr txBox="1"/>
          <p:nvPr/>
        </p:nvSpPr>
        <p:spPr>
          <a:xfrm>
            <a:off x="566928" y="6400800"/>
            <a:ext cx="313739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Comparative</a:t>
            </a:r>
            <a:r>
              <a:rPr sz="1100" dirty="0"/>
              <a:t> study in Chapter 4.</a:t>
            </a:r>
          </a:p>
        </p:txBody>
      </p:sp>
    </p:spTree>
    <p:extLst>
      <p:ext uri="{BB962C8B-B14F-4D97-AF65-F5344CB8AC3E}">
        <p14:creationId xmlns:p14="http://schemas.microsoft.com/office/powerpoint/2010/main" val="41472969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40869" y="289240"/>
            <a:ext cx="114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b="1" dirty="0">
                <a:solidFill>
                  <a:srgbClr val="173F35"/>
                </a:solidFill>
                <a:latin typeface="Avenir Next Demi Bold"/>
              </a:rPr>
              <a:t>More Faults Beyond Poor Regulatory Design</a:t>
            </a:r>
            <a:endParaRPr sz="2800" dirty="0"/>
          </a:p>
        </p:txBody>
      </p:sp>
      <p:sp>
        <p:nvSpPr>
          <p:cNvPr id="37" name="Rounded Rectangle 3">
            <a:extLst>
              <a:ext uri="{FF2B5EF4-FFF2-40B4-BE49-F238E27FC236}">
                <a16:creationId xmlns:a16="http://schemas.microsoft.com/office/drawing/2014/main" id="{F86CDA7E-F0A4-7B79-A166-55010829BEB0}"/>
              </a:ext>
            </a:extLst>
          </p:cNvPr>
          <p:cNvSpPr/>
          <p:nvPr/>
        </p:nvSpPr>
        <p:spPr>
          <a:xfrm>
            <a:off x="740354" y="900000"/>
            <a:ext cx="5116716" cy="2262935"/>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94758" y="859745"/>
            <a:ext cx="737195"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851248" y="960000"/>
            <a:ext cx="5044439" cy="2046714"/>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Definitional Fragmentation</a:t>
            </a:r>
          </a:p>
          <a:p>
            <a:pPr>
              <a:spcAft>
                <a:spcPts val="600"/>
              </a:spcAft>
              <a:defRPr sz="1150">
                <a:solidFill>
                  <a:srgbClr val="2D2D2D"/>
                </a:solidFill>
              </a:defRPr>
            </a:pPr>
            <a:r>
              <a:rPr sz="1600" dirty="0">
                <a:latin typeface="Avenir Next" panose="020B0503020202020204" pitchFamily="34" charset="0"/>
              </a:rPr>
              <a:t>• CCPA, SEBI, and ASCI define greenwashing differently based on separate mandates.</a:t>
            </a:r>
          </a:p>
          <a:p>
            <a:pPr>
              <a:spcAft>
                <a:spcPts val="600"/>
              </a:spcAft>
              <a:defRPr sz="1150">
                <a:solidFill>
                  <a:srgbClr val="2D2D2D"/>
                </a:solidFill>
              </a:defRPr>
            </a:pPr>
            <a:r>
              <a:rPr sz="1600" dirty="0">
                <a:latin typeface="Avenir Next" panose="020B0503020202020204" pitchFamily="34" charset="0"/>
              </a:rPr>
              <a:t>• Key technical terms ('carbon neutral', 'net zero') remain legally undefined in India.</a:t>
            </a:r>
          </a:p>
          <a:p>
            <a:pPr>
              <a:defRPr sz="1150">
                <a:solidFill>
                  <a:srgbClr val="2D2D2D"/>
                </a:solidFill>
              </a:defRPr>
            </a:pPr>
            <a:r>
              <a:rPr sz="1600" dirty="0">
                <a:latin typeface="Avenir Next" panose="020B0503020202020204" pitchFamily="34" charset="0"/>
              </a:rPr>
              <a:t>• Companies invest in 'defensible wording' rather than real environmental progress.</a:t>
            </a:r>
          </a:p>
        </p:txBody>
      </p:sp>
      <p:sp>
        <p:nvSpPr>
          <p:cNvPr id="43" name="Rounded Rectangle 6">
            <a:extLst>
              <a:ext uri="{FF2B5EF4-FFF2-40B4-BE49-F238E27FC236}">
                <a16:creationId xmlns:a16="http://schemas.microsoft.com/office/drawing/2014/main" id="{31F74835-6A59-B51C-3E82-E2C7E439ECBB}"/>
              </a:ext>
            </a:extLst>
          </p:cNvPr>
          <p:cNvSpPr/>
          <p:nvPr/>
        </p:nvSpPr>
        <p:spPr>
          <a:xfrm>
            <a:off x="568905" y="3500000"/>
            <a:ext cx="5116716" cy="2458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119991" y="3459745"/>
            <a:ext cx="737195"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860839" y="3560000"/>
            <a:ext cx="5033807" cy="2292935"/>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Regulatory Proliferation &amp; Ambiguity</a:t>
            </a:r>
          </a:p>
          <a:p>
            <a:pPr>
              <a:spcAft>
                <a:spcPts val="600"/>
              </a:spcAft>
              <a:defRPr sz="1150">
                <a:solidFill>
                  <a:srgbClr val="2D2D2D"/>
                </a:solidFill>
              </a:defRPr>
            </a:pPr>
            <a:r>
              <a:rPr sz="1600" dirty="0">
                <a:latin typeface="Avenir Next" panose="020B0503020202020204" pitchFamily="34" charset="0"/>
              </a:rPr>
              <a:t>• A single green claim touches CCPA, SEBI, MCA, FSSAI, and </a:t>
            </a:r>
            <a:r>
              <a:rPr sz="1600" dirty="0" err="1">
                <a:latin typeface="Avenir Next" panose="020B0503020202020204" pitchFamily="34" charset="0"/>
              </a:rPr>
              <a:t>MoEFCC</a:t>
            </a:r>
            <a:r>
              <a:rPr sz="1600" dirty="0">
                <a:latin typeface="Avenir Next" panose="020B0503020202020204" pitchFamily="34" charset="0"/>
              </a:rPr>
              <a:t> simultaneously.</a:t>
            </a:r>
          </a:p>
          <a:p>
            <a:pPr>
              <a:spcAft>
                <a:spcPts val="600"/>
              </a:spcAft>
              <a:defRPr sz="1150">
                <a:solidFill>
                  <a:srgbClr val="2D2D2D"/>
                </a:solidFill>
              </a:defRPr>
            </a:pPr>
            <a:r>
              <a:rPr sz="1600" dirty="0">
                <a:latin typeface="Avenir Next" panose="020B0503020202020204" pitchFamily="34" charset="0"/>
              </a:rPr>
              <a:t>• Green Taxonomy Paradox: May 2025 Taxonomy added a parallel voluntary framework without harmonizing existing rules.</a:t>
            </a:r>
          </a:p>
          <a:p>
            <a:pPr>
              <a:defRPr sz="1150">
                <a:solidFill>
                  <a:srgbClr val="2D2D2D"/>
                </a:solidFill>
              </a:defRPr>
            </a:pPr>
            <a:r>
              <a:rPr sz="1600" dirty="0">
                <a:latin typeface="Avenir Next" panose="020B0503020202020204" pitchFamily="34" charset="0"/>
              </a:rPr>
              <a:t>• No lead regulator, no mandatory data-sharing, and no joint investigative capacity.</a:t>
            </a:r>
          </a:p>
        </p:txBody>
      </p:sp>
      <p:sp>
        <p:nvSpPr>
          <p:cNvPr id="49" name="Rounded Rectangle 9">
            <a:extLst>
              <a:ext uri="{FF2B5EF4-FFF2-40B4-BE49-F238E27FC236}">
                <a16:creationId xmlns:a16="http://schemas.microsoft.com/office/drawing/2014/main" id="{692C4E0B-F254-0100-FC2C-4780D07E16D5}"/>
              </a:ext>
            </a:extLst>
          </p:cNvPr>
          <p:cNvSpPr/>
          <p:nvPr/>
        </p:nvSpPr>
        <p:spPr>
          <a:xfrm>
            <a:off x="6662253" y="4500000"/>
            <a:ext cx="5116716" cy="1750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51" name="Rounded Rectangle 10">
            <a:extLst>
              <a:ext uri="{FF2B5EF4-FFF2-40B4-BE49-F238E27FC236}">
                <a16:creationId xmlns:a16="http://schemas.microsoft.com/office/drawing/2014/main" id="{76983213-AB3F-B2D6-4A49-5D4535B61986}"/>
              </a:ext>
            </a:extLst>
          </p:cNvPr>
          <p:cNvSpPr/>
          <p:nvPr/>
        </p:nvSpPr>
        <p:spPr>
          <a:xfrm>
            <a:off x="5974656" y="444378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5</a:t>
            </a:r>
            <a:endParaRPr sz="1200" dirty="0">
              <a:solidFill>
                <a:schemeClr val="tx1"/>
              </a:solidFill>
              <a:latin typeface="Avenir Next" panose="020B0503020202020204" pitchFamily="34" charset="0"/>
            </a:endParaRPr>
          </a:p>
        </p:txBody>
      </p:sp>
      <p:sp>
        <p:nvSpPr>
          <p:cNvPr id="53" name="TextBox 52">
            <a:extLst>
              <a:ext uri="{FF2B5EF4-FFF2-40B4-BE49-F238E27FC236}">
                <a16:creationId xmlns:a16="http://schemas.microsoft.com/office/drawing/2014/main" id="{9F4C8B64-1BD3-A8F2-92EC-CC23C73C5485}"/>
              </a:ext>
            </a:extLst>
          </p:cNvPr>
          <p:cNvSpPr txBox="1"/>
          <p:nvPr/>
        </p:nvSpPr>
        <p:spPr>
          <a:xfrm>
            <a:off x="6711851" y="4560000"/>
            <a:ext cx="5067118" cy="1672253"/>
          </a:xfrm>
          <a:prstGeom prst="rect">
            <a:avLst/>
          </a:prstGeom>
          <a:noFill/>
        </p:spPr>
        <p:txBody>
          <a:bodyPr wrap="square">
            <a:spAutoFit/>
          </a:bodyPr>
          <a:lstStyle/>
          <a:p>
            <a:pPr algn="l">
              <a:spcAft>
                <a:spcPts val="400"/>
              </a:spcAft>
              <a:defRPr sz="1350" b="1">
                <a:solidFill>
                  <a:srgbClr val="A8552F"/>
                </a:solidFill>
                <a:latin typeface="Calibri"/>
              </a:defRPr>
            </a:pPr>
            <a:r>
              <a:rPr sz="1600" b="1" dirty="0">
                <a:solidFill>
                  <a:srgbClr val="12402D"/>
                </a:solidFill>
                <a:latin typeface="Avenir Next" panose="020B0503020202020204" pitchFamily="34" charset="0"/>
              </a:rPr>
              <a:t>Penalty Arbitrage (Greenwashing as a Strategy)</a:t>
            </a:r>
            <a:endParaRPr lang="en-IN" sz="1600" b="1" dirty="0">
              <a:solidFill>
                <a:srgbClr val="12402D"/>
              </a:solidFill>
              <a:latin typeface="Avenir Next" panose="020B0503020202020204" pitchFamily="34" charset="0"/>
            </a:endParaRPr>
          </a:p>
          <a:p>
            <a:pPr>
              <a:spcAft>
                <a:spcPts val="400"/>
              </a:spcAft>
              <a:defRPr sz="1100">
                <a:solidFill>
                  <a:srgbClr val="2D2D2D"/>
                </a:solidFill>
              </a:defRPr>
            </a:pPr>
            <a:r>
              <a:rPr sz="1600" dirty="0">
                <a:latin typeface="Avenir Next" panose="020B0503020202020204" pitchFamily="34" charset="0"/>
              </a:rPr>
              <a:t>• Fixed low caps: CCPA ₹50L, Section 166(7) ₹5L, FSSAI ₹10L—far below global benchmarks (EU/UK 10% turnover).</a:t>
            </a:r>
          </a:p>
          <a:p>
            <a:pPr>
              <a:defRPr sz="1100">
                <a:solidFill>
                  <a:srgbClr val="2D2D2D"/>
                </a:solidFill>
              </a:defRPr>
            </a:pPr>
            <a:r>
              <a:rPr sz="1600" dirty="0">
                <a:latin typeface="Avenir Next" panose="020B0503020202020204" pitchFamily="34" charset="0"/>
              </a:rPr>
              <a:t>• Low fines turn greenwashing into an acceptable cost of doing business.</a:t>
            </a:r>
          </a:p>
        </p:txBody>
      </p:sp>
      <p:sp>
        <p:nvSpPr>
          <p:cNvPr id="55" name="Rounded Rectangle 12">
            <a:extLst>
              <a:ext uri="{FF2B5EF4-FFF2-40B4-BE49-F238E27FC236}">
                <a16:creationId xmlns:a16="http://schemas.microsoft.com/office/drawing/2014/main" id="{DB62E08F-1B27-5F90-3E28-AE9882C800C6}"/>
              </a:ext>
            </a:extLst>
          </p:cNvPr>
          <p:cNvSpPr/>
          <p:nvPr/>
        </p:nvSpPr>
        <p:spPr>
          <a:xfrm>
            <a:off x="6584260" y="900000"/>
            <a:ext cx="5196834" cy="1547559"/>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57" name="Rounded Rectangle 13">
            <a:extLst>
              <a:ext uri="{FF2B5EF4-FFF2-40B4-BE49-F238E27FC236}">
                <a16:creationId xmlns:a16="http://schemas.microsoft.com/office/drawing/2014/main" id="{9117E4A6-FBF2-60D8-7167-6C995847AB89}"/>
              </a:ext>
            </a:extLst>
          </p:cNvPr>
          <p:cNvSpPr/>
          <p:nvPr/>
        </p:nvSpPr>
        <p:spPr>
          <a:xfrm>
            <a:off x="5974656" y="84378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3</a:t>
            </a:r>
            <a:endParaRPr sz="1200" dirty="0">
              <a:solidFill>
                <a:schemeClr val="tx1"/>
              </a:solidFill>
              <a:latin typeface="Avenir Next" panose="020B0503020202020204" pitchFamily="34" charset="0"/>
            </a:endParaRPr>
          </a:p>
        </p:txBody>
      </p:sp>
      <p:sp>
        <p:nvSpPr>
          <p:cNvPr id="59" name="TextBox 58">
            <a:extLst>
              <a:ext uri="{FF2B5EF4-FFF2-40B4-BE49-F238E27FC236}">
                <a16:creationId xmlns:a16="http://schemas.microsoft.com/office/drawing/2014/main" id="{3E4BE53F-F7EA-E3DE-CA52-15E65F293897}"/>
              </a:ext>
            </a:extLst>
          </p:cNvPr>
          <p:cNvSpPr txBox="1"/>
          <p:nvPr/>
        </p:nvSpPr>
        <p:spPr>
          <a:xfrm>
            <a:off x="6695401" y="960000"/>
            <a:ext cx="5145784" cy="1426031"/>
          </a:xfrm>
          <a:prstGeom prst="rect">
            <a:avLst/>
          </a:prstGeom>
          <a:noFill/>
        </p:spPr>
        <p:txBody>
          <a:bodyPr wrap="square">
            <a:spAutoFit/>
          </a:bodyPr>
          <a:lstStyle/>
          <a:p>
            <a:pPr algn="l">
              <a:spcAft>
                <a:spcPts val="400"/>
              </a:spcAft>
              <a:defRPr sz="1350" b="1">
                <a:solidFill>
                  <a:srgbClr val="12402D"/>
                </a:solidFill>
                <a:latin typeface="Calibri"/>
              </a:defRPr>
            </a:pPr>
            <a:r>
              <a:rPr sz="1600" dirty="0">
                <a:latin typeface="Avenir Next" panose="020B0503020202020204" pitchFamily="34" charset="0"/>
              </a:rPr>
              <a:t>Regulatory Backsliding</a:t>
            </a:r>
          </a:p>
          <a:p>
            <a:pPr>
              <a:spcAft>
                <a:spcPts val="400"/>
              </a:spcAft>
              <a:defRPr sz="1100">
                <a:solidFill>
                  <a:srgbClr val="2D2D2D"/>
                </a:solidFill>
              </a:defRPr>
            </a:pPr>
            <a:r>
              <a:rPr sz="1600" dirty="0">
                <a:latin typeface="Avenir Next" panose="020B0503020202020204" pitchFamily="34" charset="0"/>
              </a:rPr>
              <a:t>• SEBI diluted mandatory audits to optional 'assessment' and deferred supply-chain reporting.</a:t>
            </a:r>
          </a:p>
          <a:p>
            <a:pPr>
              <a:defRPr sz="1100">
                <a:solidFill>
                  <a:srgbClr val="2D2D2D"/>
                </a:solidFill>
              </a:defRPr>
            </a:pPr>
            <a:r>
              <a:rPr sz="1600" dirty="0">
                <a:latin typeface="Avenir Next" panose="020B0503020202020204" pitchFamily="34" charset="0"/>
              </a:rPr>
              <a:t>• MCA rejected parliamentary proposals for a dedicated ESG oversight body.</a:t>
            </a:r>
          </a:p>
        </p:txBody>
      </p:sp>
      <p:sp>
        <p:nvSpPr>
          <p:cNvPr id="61" name="Rounded Rectangle 15">
            <a:extLst>
              <a:ext uri="{FF2B5EF4-FFF2-40B4-BE49-F238E27FC236}">
                <a16:creationId xmlns:a16="http://schemas.microsoft.com/office/drawing/2014/main" id="{808FF99C-D07F-5110-36C6-B657D1432D84}"/>
              </a:ext>
            </a:extLst>
          </p:cNvPr>
          <p:cNvSpPr/>
          <p:nvPr/>
        </p:nvSpPr>
        <p:spPr>
          <a:xfrm>
            <a:off x="6662253" y="2604750"/>
            <a:ext cx="5116716" cy="1700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5974656" y="254853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4</a:t>
            </a:r>
            <a:endParaRPr sz="1200" dirty="0">
              <a:solidFill>
                <a:schemeClr val="tx1"/>
              </a:solidFill>
              <a:latin typeface="Avenir Next" panose="020B0503020202020204" pitchFamily="34" charset="0"/>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711851" y="2664750"/>
            <a:ext cx="5069243" cy="1426031"/>
          </a:xfrm>
          <a:prstGeom prst="rect">
            <a:avLst/>
          </a:prstGeom>
          <a:noFill/>
        </p:spPr>
        <p:txBody>
          <a:bodyPr wrap="square" lIns="91440" tIns="45720" rIns="91440" bIns="45720" anchor="t">
            <a:spAutoFit/>
          </a:bodyPr>
          <a:lstStyle/>
          <a:p>
            <a:pPr>
              <a:spcAft>
                <a:spcPts val="400"/>
              </a:spcAft>
              <a:defRPr sz="1350" b="1">
                <a:solidFill>
                  <a:srgbClr val="12402D"/>
                </a:solidFill>
                <a:latin typeface="Calibri"/>
              </a:defRPr>
            </a:pPr>
            <a:r>
              <a:rPr sz="1600" dirty="0">
                <a:latin typeface="Avenir Next" panose="020B0503020202020204" pitchFamily="34" charset="0"/>
              </a:rPr>
              <a:t>Reactive Enforcement &amp; Technical Gaps</a:t>
            </a:r>
            <a:endParaRPr lang="en-US" sz="1600" dirty="0">
              <a:latin typeface="Avenir Next" panose="020B0503020202020204" pitchFamily="34" charset="0"/>
            </a:endParaRPr>
          </a:p>
          <a:p>
            <a:pPr>
              <a:spcAft>
                <a:spcPts val="400"/>
              </a:spcAft>
              <a:defRPr sz="1100">
                <a:solidFill>
                  <a:srgbClr val="2D2D2D"/>
                </a:solidFill>
              </a:defRPr>
            </a:pPr>
            <a:r>
              <a:rPr sz="1600" dirty="0">
                <a:latin typeface="Avenir Next" panose="020B0503020202020204" pitchFamily="34" charset="0"/>
              </a:rPr>
              <a:t>• Purely complaint-driven; consumer cases take 2–5 years to resolve.</a:t>
            </a:r>
          </a:p>
          <a:p>
            <a:pPr>
              <a:defRPr sz="1100">
                <a:solidFill>
                  <a:srgbClr val="2D2D2D"/>
                </a:solidFill>
              </a:defRPr>
            </a:pPr>
            <a:r>
              <a:rPr sz="1600" dirty="0">
                <a:latin typeface="Avenir Next" panose="020B0503020202020204" pitchFamily="34" charset="0"/>
              </a:rPr>
              <a:t>• Regulators lack specialized in-house expertise in carbon accounting and lifecycle audits.</a:t>
            </a:r>
          </a:p>
        </p:txBody>
      </p:sp>
      <p:sp>
        <p:nvSpPr>
          <p:cNvPr id="66" name="TextBox 65"/>
          <p:cNvSpPr txBox="1"/>
          <p:nvPr/>
        </p:nvSpPr>
        <p:spPr>
          <a:xfrm>
            <a:off x="568904" y="6366652"/>
            <a:ext cx="11400000" cy="477054"/>
          </a:xfrm>
          <a:prstGeom prst="rect">
            <a:avLst/>
          </a:prstGeom>
          <a:noFill/>
        </p:spPr>
        <p:txBody>
          <a:bodyPr wrap="square" lIns="45720" tIns="22860" rIns="45720" bIns="22860" anchor="t">
            <a:spAutoFit/>
          </a:bodyPr>
          <a:lstStyle/>
          <a:p>
            <a:r>
              <a:rPr sz="1400" i="0" dirty="0">
                <a:solidFill>
                  <a:srgbClr val="6B6F6A"/>
                </a:solidFill>
                <a:latin typeface="Avenir Next" panose="020B0503020202020204" pitchFamily="34" charset="0"/>
              </a:rPr>
              <a:t>Research Question 6: </a:t>
            </a:r>
            <a:r>
              <a:rPr lang="en-IN" sz="1400" dirty="0">
                <a:latin typeface="Avenir Next" panose="020B0503020202020204" pitchFamily="34" charset="0"/>
                <a:ea typeface="+mn-lt"/>
                <a:cs typeface="+mn-lt"/>
              </a:rPr>
              <a:t>How do fragmentation, overlap, weak coordination, and limited enforcement in India's regulatory ecosystem, impede accountability for greenwashing?</a:t>
            </a:r>
            <a:endParaRPr lang="en-US" sz="1400" dirty="0">
              <a:latin typeface="Avenir Next" panose="020B0503020202020204" pitchFamily="34" charset="0"/>
              <a:ea typeface="+mn-lt"/>
              <a:cs typeface="+mn-lt"/>
            </a:endParaRPr>
          </a:p>
        </p:txBody>
      </p:sp>
    </p:spTree>
    <p:extLst>
      <p:ext uri="{BB962C8B-B14F-4D97-AF65-F5344CB8AC3E}">
        <p14:creationId xmlns:p14="http://schemas.microsoft.com/office/powerpoint/2010/main" val="34773840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424550" y="322850"/>
            <a:ext cx="11000000" cy="477054"/>
          </a:xfrm>
          <a:prstGeom prst="rect">
            <a:avLst/>
          </a:prstGeom>
          <a:noFill/>
        </p:spPr>
        <p:txBody>
          <a:bodyPr wrap="square" lIns="45720" tIns="22860" rIns="45720" bIns="22860" anchor="t">
            <a:spAutoFit/>
          </a:bodyPr>
          <a:lstStyle/>
          <a:p>
            <a:pPr algn="l"/>
            <a:r>
              <a:rPr sz="2800" b="1" i="0" dirty="0">
                <a:solidFill>
                  <a:srgbClr val="173F35"/>
                </a:solidFill>
                <a:latin typeface="Avenir Next Demi Bold"/>
              </a:rPr>
              <a:t>Research Question</a:t>
            </a:r>
            <a:r>
              <a:rPr lang="en-US" sz="2800" b="1" i="0" dirty="0">
                <a:solidFill>
                  <a:srgbClr val="173F35"/>
                </a:solidFill>
                <a:latin typeface="Avenir Next Demi Bold"/>
              </a:rPr>
              <a:t>s Addressed</a:t>
            </a:r>
            <a:endParaRPr sz="2800" b="1" i="0" dirty="0">
              <a:solidFill>
                <a:srgbClr val="173F35"/>
              </a:solidFill>
              <a:latin typeface="Avenir Next Demi Bold"/>
            </a:endParaRPr>
          </a:p>
        </p:txBody>
      </p:sp>
      <p:graphicFrame>
        <p:nvGraphicFramePr>
          <p:cNvPr id="5" name="Table 4"/>
          <p:cNvGraphicFramePr>
            <a:graphicFrameLocks noGrp="1"/>
          </p:cNvGraphicFramePr>
          <p:nvPr>
            <p:extLst>
              <p:ext uri="{D42A27DB-BD31-4B8C-83A1-F6EECF244321}">
                <p14:modId xmlns:p14="http://schemas.microsoft.com/office/powerpoint/2010/main" val="786651673"/>
              </p:ext>
            </p:extLst>
          </p:nvPr>
        </p:nvGraphicFramePr>
        <p:xfrm>
          <a:off x="377059" y="886402"/>
          <a:ext cx="11407110" cy="5864390"/>
        </p:xfrm>
        <a:graphic>
          <a:graphicData uri="http://schemas.openxmlformats.org/drawingml/2006/table">
            <a:tbl>
              <a:tblPr firstRow="1">
                <a:tableStyleId>{5C22544A-7EE6-4342-B048-85BDC9FD1C3A}</a:tableStyleId>
              </a:tblPr>
              <a:tblGrid>
                <a:gridCol w="480000">
                  <a:extLst>
                    <a:ext uri="{9D8B030D-6E8A-4147-A177-3AD203B41FA5}">
                      <a16:colId xmlns:a16="http://schemas.microsoft.com/office/drawing/2014/main" val="20000"/>
                    </a:ext>
                  </a:extLst>
                </a:gridCol>
                <a:gridCol w="3939793">
                  <a:extLst>
                    <a:ext uri="{9D8B030D-6E8A-4147-A177-3AD203B41FA5}">
                      <a16:colId xmlns:a16="http://schemas.microsoft.com/office/drawing/2014/main" val="20001"/>
                    </a:ext>
                  </a:extLst>
                </a:gridCol>
                <a:gridCol w="1079292">
                  <a:extLst>
                    <a:ext uri="{9D8B030D-6E8A-4147-A177-3AD203B41FA5}">
                      <a16:colId xmlns:a16="http://schemas.microsoft.com/office/drawing/2014/main" val="20002"/>
                    </a:ext>
                  </a:extLst>
                </a:gridCol>
                <a:gridCol w="5908025">
                  <a:extLst>
                    <a:ext uri="{9D8B030D-6E8A-4147-A177-3AD203B41FA5}">
                      <a16:colId xmlns:a16="http://schemas.microsoft.com/office/drawing/2014/main" val="20003"/>
                    </a:ext>
                  </a:extLst>
                </a:gridCol>
              </a:tblGrid>
              <a:tr h="360426">
                <a:tc>
                  <a:txBody>
                    <a:bodyPr/>
                    <a:lstStyle/>
                    <a:p>
                      <a:pPr algn="ct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Research Question</a:t>
                      </a: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Related </a:t>
                      </a:r>
                      <a:r>
                        <a:rPr sz="1200" b="1" dirty="0">
                          <a:solidFill>
                            <a:srgbClr val="FFFFFF"/>
                          </a:solidFill>
                          <a:latin typeface="Avenir Next" panose="020B0503020202020204" pitchFamily="34" charset="0"/>
                        </a:rPr>
                        <a:t>Chapter</a:t>
                      </a: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S</a:t>
                      </a:r>
                      <a:r>
                        <a:rPr sz="1200" b="1" dirty="0">
                          <a:solidFill>
                            <a:srgbClr val="FFFFFF"/>
                          </a:solidFill>
                          <a:latin typeface="Avenir Next" panose="020B0503020202020204" pitchFamily="34" charset="0"/>
                        </a:rPr>
                        <a:t>hort </a:t>
                      </a:r>
                      <a:r>
                        <a:rPr lang="en-US" sz="1200" b="1" dirty="0">
                          <a:solidFill>
                            <a:srgbClr val="FFFFFF"/>
                          </a:solidFill>
                          <a:latin typeface="Avenir Next" panose="020B0503020202020204" pitchFamily="34" charset="0"/>
                        </a:rPr>
                        <a:t>A</a:t>
                      </a:r>
                      <a:r>
                        <a:rPr sz="1200" b="1" dirty="0">
                          <a:solidFill>
                            <a:srgbClr val="FFFFFF"/>
                          </a:solidFill>
                          <a:latin typeface="Avenir Next" panose="020B0503020202020204" pitchFamily="34" charset="0"/>
                        </a:rPr>
                        <a:t>nswer</a:t>
                      </a:r>
                    </a:p>
                  </a:txBody>
                  <a:tcPr marL="73152" marR="73152" marT="36576" marB="36576" anchor="ctr">
                    <a:solidFill>
                      <a:srgbClr val="173F35"/>
                    </a:solidFill>
                  </a:tcPr>
                </a:tc>
                <a:extLst>
                  <a:ext uri="{0D108BD9-81ED-4DB2-BD59-A6C34878D82A}">
                    <a16:rowId xmlns:a16="http://schemas.microsoft.com/office/drawing/2014/main" val="10000"/>
                  </a:ext>
                </a:extLst>
              </a:tr>
              <a:tr h="720853">
                <a:tc>
                  <a:txBody>
                    <a:bodyPr/>
                    <a:lstStyle/>
                    <a:p>
                      <a:r>
                        <a:rPr sz="1200" b="1">
                          <a:latin typeface="Avenir Next" panose="020B0503020202020204" pitchFamily="34" charset="0"/>
                        </a:rPr>
                        <a:t>1</a:t>
                      </a:r>
                    </a:p>
                  </a:txBody>
                  <a:tcPr marL="36576" marR="36576" anchor="ctr">
                    <a:solidFill>
                      <a:srgbClr val="FFF6EA"/>
                    </a:solidFill>
                  </a:tcPr>
                </a:tc>
                <a:tc>
                  <a:txBody>
                    <a:bodyPr/>
                    <a:lstStyle/>
                    <a:p>
                      <a:r>
                        <a:rPr sz="1200" dirty="0">
                          <a:latin typeface="Avenir Next" panose="020B0503020202020204" pitchFamily="34" charset="0"/>
                        </a:rPr>
                        <a:t>What is greenwashing, how has it evolved and what are its consequences?</a:t>
                      </a:r>
                    </a:p>
                  </a:txBody>
                  <a:tcPr marL="73152" marR="73152" marT="36576" marB="36576" anchor="ctr">
                    <a:solidFill>
                      <a:srgbClr val="FFF6EA"/>
                    </a:solidFill>
                  </a:tcPr>
                </a:tc>
                <a:tc>
                  <a:txBody>
                    <a:bodyPr/>
                    <a:lstStyle/>
                    <a:p>
                      <a:r>
                        <a:rPr sz="1200" b="1">
                          <a:latin typeface="Avenir Next" panose="020B0503020202020204" pitchFamily="34" charset="0"/>
                        </a:rPr>
                        <a:t>Chapter 2</a:t>
                      </a:r>
                    </a:p>
                  </a:txBody>
                  <a:tcPr marL="73152" marR="73152" marT="36576" marB="36576" anchor="ctr">
                    <a:solidFill>
                      <a:srgbClr val="FFF6EA"/>
                    </a:solidFill>
                  </a:tcPr>
                </a:tc>
                <a:tc>
                  <a:txBody>
                    <a:bodyPr/>
                    <a:lstStyle/>
                    <a:p>
                      <a:r>
                        <a:rPr sz="1200">
                          <a:latin typeface="Avenir Next" panose="020B0503020202020204" pitchFamily="34" charset="0"/>
                        </a:rPr>
                        <a:t>Moved from product labels to corporate ESG balance sheets—misdirecting investments, slowing climate action, and breaking public trust.</a:t>
                      </a:r>
                    </a:p>
                  </a:txBody>
                  <a:tcPr marL="73152" marR="73152" marT="36576" marB="36576" anchor="ctr">
                    <a:solidFill>
                      <a:srgbClr val="FFF6EA"/>
                    </a:solidFill>
                  </a:tcPr>
                </a:tc>
                <a:extLst>
                  <a:ext uri="{0D108BD9-81ED-4DB2-BD59-A6C34878D82A}">
                    <a16:rowId xmlns:a16="http://schemas.microsoft.com/office/drawing/2014/main" val="10001"/>
                  </a:ext>
                </a:extLst>
              </a:tr>
              <a:tr h="720853">
                <a:tc>
                  <a:txBody>
                    <a:bodyPr/>
                    <a:lstStyle/>
                    <a:p>
                      <a:r>
                        <a:rPr sz="1200" b="1">
                          <a:latin typeface="Avenir Next" panose="020B0503020202020204" pitchFamily="34" charset="0"/>
                        </a:rPr>
                        <a:t>2</a:t>
                      </a:r>
                    </a:p>
                  </a:txBody>
                  <a:tcPr marL="36576" marR="36576" anchor="ctr">
                    <a:solidFill>
                      <a:srgbClr val="E8EFE6"/>
                    </a:solidFill>
                  </a:tcPr>
                </a:tc>
                <a:tc>
                  <a:txBody>
                    <a:bodyPr/>
                    <a:lstStyle/>
                    <a:p>
                      <a:r>
                        <a:rPr sz="1200" dirty="0">
                          <a:latin typeface="Avenir Next" panose="020B0503020202020204" pitchFamily="34" charset="0"/>
                        </a:rPr>
                        <a:t>What are the structural limitations of consumer protection and advertising law in addressing greenwashing and what legal pathways exist through corporate governance?</a:t>
                      </a:r>
                    </a:p>
                  </a:txBody>
                  <a:tcPr marL="73152" marR="73152" marT="36576" marB="36576" anchor="ctr">
                    <a:solidFill>
                      <a:srgbClr val="E8EFE6"/>
                    </a:solidFill>
                  </a:tcPr>
                </a:tc>
                <a:tc>
                  <a:txBody>
                    <a:bodyPr/>
                    <a:lstStyle/>
                    <a:p>
                      <a:r>
                        <a:rPr sz="1200" b="1" dirty="0">
                          <a:latin typeface="Avenir Next" panose="020B0503020202020204" pitchFamily="34" charset="0"/>
                        </a:rPr>
                        <a:t>Chapter 2, Chapter 5</a:t>
                      </a:r>
                    </a:p>
                  </a:txBody>
                  <a:tcPr marL="73152" marR="73152" marT="36576" marB="36576" anchor="ctr">
                    <a:solidFill>
                      <a:srgbClr val="E8EFE6"/>
                    </a:solidFill>
                  </a:tcPr>
                </a:tc>
                <a:tc>
                  <a:txBody>
                    <a:bodyPr/>
                    <a:lstStyle/>
                    <a:p>
                      <a:r>
                        <a:rPr sz="1200" dirty="0">
                          <a:latin typeface="Avenir Next" panose="020B0503020202020204" pitchFamily="34" charset="0"/>
                        </a:rPr>
                        <a:t>Consumer law only reacts after publication; corporate governance fixes the boardroom systems and verified data before claims are made.</a:t>
                      </a:r>
                    </a:p>
                  </a:txBody>
                  <a:tcPr marL="73152" marR="73152" marT="36576" marB="36576" anchor="ctr">
                    <a:solidFill>
                      <a:srgbClr val="E8EFE6"/>
                    </a:solidFill>
                  </a:tcPr>
                </a:tc>
                <a:extLst>
                  <a:ext uri="{0D108BD9-81ED-4DB2-BD59-A6C34878D82A}">
                    <a16:rowId xmlns:a16="http://schemas.microsoft.com/office/drawing/2014/main" val="10002"/>
                  </a:ext>
                </a:extLst>
              </a:tr>
              <a:tr h="720853">
                <a:tc>
                  <a:txBody>
                    <a:bodyPr/>
                    <a:lstStyle/>
                    <a:p>
                      <a:r>
                        <a:rPr sz="1200" b="1">
                          <a:latin typeface="Avenir Next" panose="020B0503020202020204" pitchFamily="34" charset="0"/>
                        </a:rPr>
                        <a:t>3</a:t>
                      </a:r>
                    </a:p>
                  </a:txBody>
                  <a:tcPr marL="36576" marR="36576" anchor="ctr">
                    <a:solidFill>
                      <a:srgbClr val="FFF6EA"/>
                    </a:solidFill>
                  </a:tcPr>
                </a:tc>
                <a:tc>
                  <a:txBody>
                    <a:bodyPr/>
                    <a:lstStyle/>
                    <a:p>
                      <a:r>
                        <a:rPr sz="1200">
                          <a:latin typeface="Avenir Next" panose="020B0503020202020204" pitchFamily="34" charset="0"/>
                        </a:rPr>
                        <a:t>What are the jurisprudential foundations of corporate responsibility that justify treating greenwashing as a failure of corporate accountability?</a:t>
                      </a:r>
                    </a:p>
                  </a:txBody>
                  <a:tcPr marL="73152" marR="73152" marT="36576" marB="36576" anchor="ctr">
                    <a:solidFill>
                      <a:srgbClr val="FFF6EA"/>
                    </a:solidFill>
                  </a:tcPr>
                </a:tc>
                <a:tc>
                  <a:txBody>
                    <a:bodyPr/>
                    <a:lstStyle/>
                    <a:p>
                      <a:r>
                        <a:rPr sz="1200" b="1">
                          <a:latin typeface="Avenir Next" panose="020B0503020202020204" pitchFamily="34" charset="0"/>
                        </a:rPr>
                        <a:t>Chapter 3</a:t>
                      </a:r>
                    </a:p>
                  </a:txBody>
                  <a:tcPr marL="73152" marR="73152" marT="36576" marB="36576" anchor="ctr">
                    <a:solidFill>
                      <a:srgbClr val="FFF6EA"/>
                    </a:solidFill>
                  </a:tcPr>
                </a:tc>
                <a:tc>
                  <a:txBody>
                    <a:bodyPr/>
                    <a:lstStyle/>
                    <a:p>
                      <a:r>
                        <a:rPr sz="1200" dirty="0">
                          <a:latin typeface="Avenir Next" panose="020B0503020202020204" pitchFamily="34" charset="0"/>
                        </a:rPr>
                        <a:t>Through Hohfeldian analysis, greenwashing is a broken duty, an abuse of communication freedom, and an exploitation of information asymmetry.</a:t>
                      </a:r>
                    </a:p>
                  </a:txBody>
                  <a:tcPr marL="73152" marR="73152" marT="36576" marB="36576" anchor="ctr">
                    <a:solidFill>
                      <a:srgbClr val="FFF6EA"/>
                    </a:solidFill>
                  </a:tcPr>
                </a:tc>
                <a:extLst>
                  <a:ext uri="{0D108BD9-81ED-4DB2-BD59-A6C34878D82A}">
                    <a16:rowId xmlns:a16="http://schemas.microsoft.com/office/drawing/2014/main" val="10003"/>
                  </a:ext>
                </a:extLst>
              </a:tr>
              <a:tr h="720853">
                <a:tc>
                  <a:txBody>
                    <a:bodyPr/>
                    <a:lstStyle/>
                    <a:p>
                      <a:r>
                        <a:rPr sz="1200" b="1">
                          <a:latin typeface="Avenir Next" panose="020B0503020202020204" pitchFamily="34" charset="0"/>
                        </a:rPr>
                        <a:t>4</a:t>
                      </a:r>
                    </a:p>
                  </a:txBody>
                  <a:tcPr marL="36576" marR="36576" anchor="ctr">
                    <a:solidFill>
                      <a:srgbClr val="E8EFE6"/>
                    </a:solidFill>
                  </a:tcPr>
                </a:tc>
                <a:tc>
                  <a:txBody>
                    <a:bodyPr/>
                    <a:lstStyle/>
                    <a:p>
                      <a:r>
                        <a:rPr sz="1200">
                          <a:latin typeface="Avenir Next" panose="020B0503020202020204" pitchFamily="34" charset="0"/>
                        </a:rPr>
                        <a:t>What duties of directors, disclosure obligations and assurance requirements, under Indian company and securities law, can ground liability for misleading environmental claims?</a:t>
                      </a:r>
                    </a:p>
                  </a:txBody>
                  <a:tcPr marL="73152" marR="73152" marT="36576" marB="36576" anchor="ctr">
                    <a:solidFill>
                      <a:srgbClr val="E8EFE6"/>
                    </a:solidFill>
                  </a:tcPr>
                </a:tc>
                <a:tc>
                  <a:txBody>
                    <a:bodyPr/>
                    <a:lstStyle/>
                    <a:p>
                      <a:r>
                        <a:rPr sz="1200" b="1">
                          <a:latin typeface="Avenir Next" panose="020B0503020202020204" pitchFamily="34" charset="0"/>
                        </a:rPr>
                        <a:t>Chapter 3, Chapter 5</a:t>
                      </a:r>
                    </a:p>
                  </a:txBody>
                  <a:tcPr marL="73152" marR="73152" marT="36576" marB="36576" anchor="ctr">
                    <a:solidFill>
                      <a:srgbClr val="E8EFE6"/>
                    </a:solidFill>
                  </a:tcPr>
                </a:tc>
                <a:tc>
                  <a:txBody>
                    <a:bodyPr/>
                    <a:lstStyle/>
                    <a:p>
                      <a:r>
                        <a:rPr sz="1200" dirty="0">
                          <a:latin typeface="Avenir Next" panose="020B0503020202020204" pitchFamily="34" charset="0"/>
                        </a:rPr>
                        <a:t>Section 166(2) and BRSR Core provide the foundation, but are blocked by narrow standing, tiny fines, and delayed audits.</a:t>
                      </a:r>
                    </a:p>
                  </a:txBody>
                  <a:tcPr marL="73152" marR="73152" marT="36576" marB="36576" anchor="ctr">
                    <a:solidFill>
                      <a:srgbClr val="E8EFE6"/>
                    </a:solidFill>
                  </a:tcPr>
                </a:tc>
                <a:extLst>
                  <a:ext uri="{0D108BD9-81ED-4DB2-BD59-A6C34878D82A}">
                    <a16:rowId xmlns:a16="http://schemas.microsoft.com/office/drawing/2014/main" val="10004"/>
                  </a:ext>
                </a:extLst>
              </a:tr>
              <a:tr h="720853">
                <a:tc>
                  <a:txBody>
                    <a:bodyPr/>
                    <a:lstStyle/>
                    <a:p>
                      <a:r>
                        <a:rPr sz="1200" b="1">
                          <a:latin typeface="Avenir Next" panose="020B0503020202020204" pitchFamily="34" charset="0"/>
                        </a:rPr>
                        <a:t>5</a:t>
                      </a:r>
                    </a:p>
                  </a:txBody>
                  <a:tcPr marL="36576" marR="36576" anchor="ctr">
                    <a:solidFill>
                      <a:srgbClr val="FFF6EA"/>
                    </a:solidFill>
                  </a:tcPr>
                </a:tc>
                <a:tc>
                  <a:txBody>
                    <a:bodyPr/>
                    <a:lstStyle/>
                    <a:p>
                      <a:r>
                        <a:rPr sz="1200">
                          <a:latin typeface="Avenir Next" panose="020B0503020202020204" pitchFamily="34" charset="0"/>
                        </a:rPr>
                        <a:t>What comparative regulatory models and enforcement techniques have emerged in other jurisdictions to control greenwashing and what design lessons do they offer?</a:t>
                      </a:r>
                    </a:p>
                  </a:txBody>
                  <a:tcPr marL="73152" marR="73152" marT="36576" marB="36576" anchor="ctr">
                    <a:solidFill>
                      <a:srgbClr val="FFF6EA"/>
                    </a:solidFill>
                  </a:tcPr>
                </a:tc>
                <a:tc>
                  <a:txBody>
                    <a:bodyPr/>
                    <a:lstStyle/>
                    <a:p>
                      <a:r>
                        <a:rPr sz="1200" b="1">
                          <a:latin typeface="Avenir Next" panose="020B0503020202020204" pitchFamily="34" charset="0"/>
                        </a:rPr>
                        <a:t>Chapter 4</a:t>
                      </a:r>
                    </a:p>
                  </a:txBody>
                  <a:tcPr marL="73152" marR="73152" marT="36576" marB="36576" anchor="ctr">
                    <a:solidFill>
                      <a:srgbClr val="FFF6EA"/>
                    </a:solidFill>
                  </a:tcPr>
                </a:tc>
                <a:tc>
                  <a:txBody>
                    <a:bodyPr/>
                    <a:lstStyle/>
                    <a:p>
                      <a:r>
                        <a:rPr sz="1200" dirty="0">
                          <a:latin typeface="Avenir Next" panose="020B0503020202020204" pitchFamily="34" charset="0"/>
                        </a:rPr>
                        <a:t>10 core levers: pre-publication proof, mandatory audits, connected regulators, and turnover-linked penalties.</a:t>
                      </a:r>
                    </a:p>
                  </a:txBody>
                  <a:tcPr marL="73152" marR="73152" marT="36576" marB="36576" anchor="ctr">
                    <a:solidFill>
                      <a:srgbClr val="FFF6EA"/>
                    </a:solidFill>
                  </a:tcPr>
                </a:tc>
                <a:extLst>
                  <a:ext uri="{0D108BD9-81ED-4DB2-BD59-A6C34878D82A}">
                    <a16:rowId xmlns:a16="http://schemas.microsoft.com/office/drawing/2014/main" val="10005"/>
                  </a:ext>
                </a:extLst>
              </a:tr>
              <a:tr h="720853">
                <a:tc>
                  <a:txBody>
                    <a:bodyPr/>
                    <a:lstStyle/>
                    <a:p>
                      <a:r>
                        <a:rPr sz="1200" b="1">
                          <a:latin typeface="Avenir Next" panose="020B0503020202020204" pitchFamily="34" charset="0"/>
                        </a:rPr>
                        <a:t>6</a:t>
                      </a:r>
                    </a:p>
                  </a:txBody>
                  <a:tcPr marL="36576" marR="36576" anchor="ctr">
                    <a:solidFill>
                      <a:srgbClr val="E8EFE6"/>
                    </a:solidFill>
                  </a:tcPr>
                </a:tc>
                <a:tc>
                  <a:txBody>
                    <a:bodyPr/>
                    <a:lstStyle/>
                    <a:p>
                      <a:r>
                        <a:rPr sz="1200">
                          <a:latin typeface="Avenir Next" panose="020B0503020202020204" pitchFamily="34" charset="0"/>
                        </a:rPr>
                        <a:t>How do fragmentation, overlap, weak coordination and limited enforcement in India’s regulatory ecosystem, impede accountability for greenwashing?</a:t>
                      </a:r>
                    </a:p>
                  </a:txBody>
                  <a:tcPr marL="73152" marR="73152" marT="36576" marB="36576" anchor="ctr">
                    <a:solidFill>
                      <a:srgbClr val="E8EFE6"/>
                    </a:solidFill>
                  </a:tcPr>
                </a:tc>
                <a:tc>
                  <a:txBody>
                    <a:bodyPr/>
                    <a:lstStyle/>
                    <a:p>
                      <a:r>
                        <a:rPr sz="1200" b="1">
                          <a:latin typeface="Avenir Next" panose="020B0503020202020204" pitchFamily="34" charset="0"/>
                        </a:rPr>
                        <a:t>Chapter 5</a:t>
                      </a:r>
                    </a:p>
                  </a:txBody>
                  <a:tcPr marL="73152" marR="73152" marT="36576" marB="36576" anchor="ctr">
                    <a:solidFill>
                      <a:srgbClr val="E8EFE6"/>
                    </a:solidFill>
                  </a:tcPr>
                </a:tc>
                <a:tc>
                  <a:txBody>
                    <a:bodyPr/>
                    <a:lstStyle/>
                    <a:p>
                      <a:r>
                        <a:rPr sz="1200" dirty="0">
                          <a:latin typeface="Avenir Next" panose="020B0503020202020204" pitchFamily="34" charset="0"/>
                        </a:rPr>
                        <a:t>5 structural flaws: disconnected definitions, regulatory clutter, diluted auditing, slow reactive policing, and cheap penalties.</a:t>
                      </a:r>
                    </a:p>
                  </a:txBody>
                  <a:tcPr marL="73152" marR="73152" marT="36576" marB="36576" anchor="ctr">
                    <a:solidFill>
                      <a:srgbClr val="E8EFE6"/>
                    </a:solidFill>
                  </a:tcPr>
                </a:tc>
                <a:extLst>
                  <a:ext uri="{0D108BD9-81ED-4DB2-BD59-A6C34878D82A}">
                    <a16:rowId xmlns:a16="http://schemas.microsoft.com/office/drawing/2014/main" val="10006"/>
                  </a:ext>
                </a:extLst>
              </a:tr>
              <a:tr h="848903">
                <a:tc>
                  <a:txBody>
                    <a:bodyPr/>
                    <a:lstStyle/>
                    <a:p>
                      <a:r>
                        <a:rPr sz="1200" b="1">
                          <a:latin typeface="Avenir Next" panose="020B0503020202020204" pitchFamily="34" charset="0"/>
                        </a:rPr>
                        <a:t>7</a:t>
                      </a:r>
                    </a:p>
                  </a:txBody>
                  <a:tcPr marL="36576" marR="36576" anchor="ctr">
                    <a:solidFill>
                      <a:srgbClr val="FFF6EA"/>
                    </a:solidFill>
                  </a:tcPr>
                </a:tc>
                <a:tc>
                  <a:txBody>
                    <a:bodyPr/>
                    <a:lstStyle/>
                    <a:p>
                      <a:r>
                        <a:rPr sz="1200">
                          <a:latin typeface="Avenir Next" panose="020B0503020202020204" pitchFamily="34" charset="0"/>
                        </a:rPr>
                        <a:t>What legal and policy recommendations can create an integrated liability framework that holds corporations accountable for misleading environmental claims?</a:t>
                      </a:r>
                    </a:p>
                  </a:txBody>
                  <a:tcPr marL="73152" marR="73152" marT="36576" marB="36576" anchor="ctr">
                    <a:solidFill>
                      <a:srgbClr val="FFF6EA"/>
                    </a:solidFill>
                  </a:tcPr>
                </a:tc>
                <a:tc>
                  <a:txBody>
                    <a:bodyPr/>
                    <a:lstStyle/>
                    <a:p>
                      <a:r>
                        <a:rPr sz="1200" b="1" dirty="0">
                          <a:latin typeface="Avenir Next" panose="020B0503020202020204" pitchFamily="34" charset="0"/>
                        </a:rPr>
                        <a:t>Chapter 6</a:t>
                      </a:r>
                    </a:p>
                  </a:txBody>
                  <a:tcPr marL="73152" marR="73152" marT="36576" marB="36576" anchor="ctr">
                    <a:solidFill>
                      <a:srgbClr val="FFF6EA"/>
                    </a:solidFill>
                  </a:tcPr>
                </a:tc>
                <a:tc>
                  <a:txBody>
                    <a:bodyPr/>
                    <a:lstStyle/>
                    <a:p>
                      <a:r>
                        <a:rPr sz="1200" dirty="0">
                          <a:latin typeface="Avenir Next" panose="020B0503020202020204" pitchFamily="34" charset="0"/>
                        </a:rPr>
                        <a:t>A sequenced 3-statute framework: verify before publishing, audit independently, share cases automatically, and link fines to turnover.</a:t>
                      </a:r>
                    </a:p>
                  </a:txBody>
                  <a:tcPr marL="73152" marR="73152" marT="36576" marB="36576" anchor="ctr">
                    <a:solidFill>
                      <a:srgbClr val="FFF6EA"/>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0479542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39" y="340000"/>
            <a:ext cx="9500000" cy="430887"/>
          </a:xfrm>
          <a:prstGeom prst="rect">
            <a:avLst/>
          </a:prstGeom>
          <a:noFill/>
        </p:spPr>
        <p:txBody>
          <a:bodyPr wrap="square" lIns="0" tIns="0" rIns="0" bIns="0">
            <a:spAutoFit/>
          </a:bodyPr>
          <a:lstStyle/>
          <a:p>
            <a:pPr>
              <a:defRPr sz="2500" b="1">
                <a:solidFill>
                  <a:srgbClr val="173F35"/>
                </a:solidFill>
                <a:latin typeface="Avenir Next Demi Bold"/>
              </a:defRPr>
            </a:pPr>
            <a:r>
              <a:rPr sz="2800" dirty="0"/>
              <a:t>Testing of Hypotheses</a:t>
            </a:r>
          </a:p>
        </p:txBody>
      </p:sp>
      <p:sp>
        <p:nvSpPr>
          <p:cNvPr id="4" name="TextBox 3"/>
          <p:cNvSpPr txBox="1"/>
          <p:nvPr/>
        </p:nvSpPr>
        <p:spPr>
          <a:xfrm>
            <a:off x="548639" y="860000"/>
            <a:ext cx="11094722" cy="215444"/>
          </a:xfrm>
          <a:prstGeom prst="rect">
            <a:avLst/>
          </a:prstGeom>
          <a:noFill/>
        </p:spPr>
        <p:txBody>
          <a:bodyPr wrap="square" lIns="0" tIns="0" rIns="0" bIns="0">
            <a:spAutoFit/>
          </a:bodyPr>
          <a:lstStyle/>
          <a:p>
            <a:r>
              <a:rPr sz="1400" b="1" dirty="0">
                <a:solidFill>
                  <a:srgbClr val="173F35"/>
                </a:solidFill>
                <a:latin typeface="Avenir Next" panose="020B0503020202020204" pitchFamily="34" charset="0"/>
              </a:rPr>
              <a:t>Doctrinal &amp; </a:t>
            </a:r>
            <a:r>
              <a:rPr lang="en-IN" sz="1400" b="1" dirty="0">
                <a:solidFill>
                  <a:srgbClr val="173F35"/>
                </a:solidFill>
                <a:latin typeface="Avenir Next" panose="020B0503020202020204" pitchFamily="34" charset="0"/>
              </a:rPr>
              <a:t>Analytical </a:t>
            </a:r>
            <a:r>
              <a:rPr sz="1400" b="1" dirty="0">
                <a:solidFill>
                  <a:srgbClr val="173F35"/>
                </a:solidFill>
                <a:latin typeface="Avenir Next" panose="020B0503020202020204" pitchFamily="34" charset="0"/>
              </a:rPr>
              <a:t>Validity-Check</a:t>
            </a:r>
            <a:r>
              <a:rPr lang="en-US" sz="1400" b="1" dirty="0">
                <a:solidFill>
                  <a:srgbClr val="173F35"/>
                </a:solidFill>
                <a:latin typeface="Avenir Next" panose="020B0503020202020204" pitchFamily="34" charset="0"/>
              </a:rPr>
              <a:t>s</a:t>
            </a:r>
            <a:endParaRPr sz="1400" dirty="0">
              <a:solidFill>
                <a:srgbClr val="6B6F6A"/>
              </a:solidFill>
              <a:latin typeface="Avenir Next" panose="020B0503020202020204" pitchFamily="34" charset="0"/>
            </a:endParaRPr>
          </a:p>
        </p:txBody>
      </p:sp>
      <p:sp>
        <p:nvSpPr>
          <p:cNvPr id="5" name="Rounded Rectangle 4"/>
          <p:cNvSpPr/>
          <p:nvPr/>
        </p:nvSpPr>
        <p:spPr>
          <a:xfrm>
            <a:off x="400433"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6" name="Rectangle 5"/>
          <p:cNvSpPr/>
          <p:nvPr/>
        </p:nvSpPr>
        <p:spPr>
          <a:xfrm>
            <a:off x="463498" y="1156935"/>
            <a:ext cx="3547872" cy="7626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TextBox 6"/>
          <p:cNvSpPr txBox="1"/>
          <p:nvPr/>
        </p:nvSpPr>
        <p:spPr>
          <a:xfrm>
            <a:off x="653652" y="1350000"/>
            <a:ext cx="3154654" cy="1077218"/>
          </a:xfrm>
          <a:prstGeom prst="rect">
            <a:avLst/>
          </a:prstGeom>
          <a:noFill/>
        </p:spPr>
        <p:txBody>
          <a:bodyPr wrap="square" lIns="0" tIns="0" rIns="0" bIns="0">
            <a:spAutoFit/>
          </a:bodyPr>
          <a:lstStyle/>
          <a:p>
            <a:pPr>
              <a:spcAft>
                <a:spcPts val="200"/>
              </a:spcAft>
              <a:defRPr sz="1100" b="1">
                <a:solidFill>
                  <a:srgbClr val="12402D"/>
                </a:solidFill>
              </a:defRPr>
            </a:pPr>
            <a:r>
              <a:rPr sz="1400" dirty="0">
                <a:latin typeface="Avenir Next" panose="020B0503020202020204" pitchFamily="34" charset="0"/>
              </a:rPr>
              <a:t>H₁: "Greenwashing in India is primarily a consequence of weak corporate governance and the limited </a:t>
            </a:r>
            <a:r>
              <a:rPr sz="1400" dirty="0" err="1">
                <a:latin typeface="Avenir Next" panose="020B0503020202020204" pitchFamily="34" charset="0"/>
              </a:rPr>
              <a:t>operationalisation</a:t>
            </a:r>
            <a:r>
              <a:rPr sz="1400" dirty="0">
                <a:latin typeface="Avenir Next" panose="020B0503020202020204" pitchFamily="34" charset="0"/>
              </a:rPr>
              <a:t> of board-level environmental responsibility."</a:t>
            </a:r>
            <a:endParaRPr sz="1400" b="1" dirty="0">
              <a:solidFill>
                <a:srgbClr val="173F35"/>
              </a:solidFill>
              <a:latin typeface="Avenir Next" panose="020B0503020202020204" pitchFamily="34" charset="0"/>
            </a:endParaRPr>
          </a:p>
        </p:txBody>
      </p:sp>
      <p:sp>
        <p:nvSpPr>
          <p:cNvPr id="8" name="TextBox 7"/>
          <p:cNvSpPr txBox="1"/>
          <p:nvPr/>
        </p:nvSpPr>
        <p:spPr>
          <a:xfrm>
            <a:off x="653650" y="2564300"/>
            <a:ext cx="3154654" cy="3270126"/>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lang="en-IN" sz="1300" dirty="0">
                <a:solidFill>
                  <a:srgbClr val="2A2A2A"/>
                </a:solidFill>
                <a:latin typeface="Avenir Next" panose="020B0503020202020204" pitchFamily="34" charset="0"/>
              </a:rPr>
              <a:t>Greenwashing scope extends beyond consumer ads to investor-facing disclosures</a:t>
            </a:r>
            <a:r>
              <a:rPr sz="1300" dirty="0">
                <a:solidFill>
                  <a:srgbClr val="2D2D2D"/>
                </a:solidFill>
                <a:latin typeface="Avenir Next" panose="020B0503020202020204" pitchFamily="34" charset="0"/>
              </a:rPr>
              <a:t> </a:t>
            </a:r>
            <a:r>
              <a:rPr lang="en-US" sz="1300" dirty="0">
                <a:solidFill>
                  <a:srgbClr val="2D2D2D"/>
                </a:solidFill>
                <a:latin typeface="Avenir Next" panose="020B0503020202020204" pitchFamily="34" charset="0"/>
              </a:rPr>
              <a:t>(</a:t>
            </a:r>
            <a:r>
              <a:rPr sz="1300" dirty="0">
                <a:solidFill>
                  <a:srgbClr val="2D2D2D"/>
                </a:solidFill>
                <a:latin typeface="Avenir Next" panose="020B0503020202020204" pitchFamily="34" charset="0"/>
              </a:rPr>
              <a:t>BRSR reports, net-zero roadmaps, and corporate transition pledges</a:t>
            </a:r>
            <a:r>
              <a:rPr lang="en-US" sz="1300" dirty="0">
                <a:solidFill>
                  <a:srgbClr val="2D2D2D"/>
                </a:solidFill>
                <a:latin typeface="Avenir Next" panose="020B0503020202020204" pitchFamily="34" charset="0"/>
              </a:rPr>
              <a:t>).</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Consumer rules police ads; corporate governance is the proper anchor for boardroom oversight.</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a:t>
            </a:r>
            <a:r>
              <a:rPr sz="1300" b="1" dirty="0">
                <a:solidFill>
                  <a:srgbClr val="22704E"/>
                </a:solidFill>
                <a:latin typeface="Avenir Next" panose="020B0503020202020204" pitchFamily="34" charset="0"/>
              </a:rPr>
              <a:t>Pathway: </a:t>
            </a:r>
            <a:r>
              <a:rPr lang="en-IN" sz="1300" dirty="0">
                <a:solidFill>
                  <a:srgbClr val="2A2A2A"/>
                </a:solidFill>
                <a:latin typeface="Avenir Next" panose="020B0503020202020204" pitchFamily="34" charset="0"/>
              </a:rPr>
              <a:t>Consumer regime is reactive &amp; complaint-driven; corporate/securities pathways better reach upstream governance (board oversight, internal controls, assurance).</a:t>
            </a:r>
            <a:r>
              <a:rPr sz="1300" dirty="0">
                <a:solidFill>
                  <a:srgbClr val="2D2D2D"/>
                </a:solidFill>
                <a:latin typeface="Avenir Next" panose="020B0503020202020204" pitchFamily="34" charset="0"/>
              </a:rPr>
              <a:t>.</a:t>
            </a: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Root cause is weak corporate governance.</a:t>
            </a:r>
          </a:p>
        </p:txBody>
      </p:sp>
      <p:sp>
        <p:nvSpPr>
          <p:cNvPr id="9" name="Rounded Rectangle 8"/>
          <p:cNvSpPr/>
          <p:nvPr/>
        </p:nvSpPr>
        <p:spPr>
          <a:xfrm>
            <a:off x="4356643"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0" name="Rectangle 9"/>
          <p:cNvSpPr/>
          <p:nvPr/>
        </p:nvSpPr>
        <p:spPr>
          <a:xfrm>
            <a:off x="4439412" y="1156935"/>
            <a:ext cx="3547872" cy="76267"/>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TextBox 10"/>
          <p:cNvSpPr txBox="1"/>
          <p:nvPr/>
        </p:nvSpPr>
        <p:spPr>
          <a:xfrm>
            <a:off x="4609862" y="1350000"/>
            <a:ext cx="3263122" cy="1508105"/>
          </a:xfrm>
          <a:prstGeom prst="rect">
            <a:avLst/>
          </a:prstGeom>
          <a:noFill/>
        </p:spPr>
        <p:txBody>
          <a:bodyPr wrap="square" lIns="0" tIns="0" rIns="0" bIns="0">
            <a:spAutoFit/>
          </a:bodyPr>
          <a:lstStyle/>
          <a:p>
            <a:pPr>
              <a:spcAft>
                <a:spcPts val="200"/>
              </a:spcAft>
              <a:defRPr sz="1050" b="1">
                <a:solidFill>
                  <a:srgbClr val="12402D"/>
                </a:solidFill>
              </a:defRPr>
            </a:pPr>
            <a:r>
              <a:rPr sz="1400" dirty="0">
                <a:latin typeface="Avenir Next" panose="020B0503020202020204" pitchFamily="34" charset="0"/>
              </a:rPr>
              <a:t>H₂: "The existing legal framework does not impose sufficiently clear, stringent, and deterrent liability for misleading environmental disclosures, thereby enabling corporations to avoid meaningful accountability."</a:t>
            </a:r>
          </a:p>
        </p:txBody>
      </p:sp>
      <p:sp>
        <p:nvSpPr>
          <p:cNvPr id="12" name="TextBox 11"/>
          <p:cNvSpPr txBox="1"/>
          <p:nvPr/>
        </p:nvSpPr>
        <p:spPr>
          <a:xfrm>
            <a:off x="4609862" y="2945300"/>
            <a:ext cx="3263122" cy="3116238"/>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sz="1300" dirty="0">
                <a:solidFill>
                  <a:srgbClr val="2D2D2D"/>
                </a:solidFill>
                <a:latin typeface="Avenir Next" panose="020B0503020202020204" pitchFamily="34" charset="0"/>
              </a:rPr>
              <a:t>Evaluates </a:t>
            </a:r>
            <a:r>
              <a:rPr lang="en-US" sz="1300" dirty="0">
                <a:solidFill>
                  <a:srgbClr val="2D2D2D"/>
                </a:solidFill>
                <a:latin typeface="Avenir Next" panose="020B0503020202020204" pitchFamily="34" charset="0"/>
              </a:rPr>
              <a:t>whether legal costs exceed benefits</a:t>
            </a:r>
            <a:r>
              <a:rPr sz="1300" dirty="0">
                <a:solidFill>
                  <a:srgbClr val="2D2D2D"/>
                </a:solidFill>
                <a:latin typeface="Avenir Next" panose="020B0503020202020204" pitchFamily="34" charset="0"/>
              </a:rPr>
              <a:t> across Company Law, Securities Law, and Consumer Protection.</a:t>
            </a:r>
          </a:p>
          <a:p>
            <a:pPr>
              <a:spcBef>
                <a:spcPts val="300"/>
              </a:spcBef>
              <a:spcAft>
                <a:spcPts val="400"/>
              </a:spcAft>
            </a:pPr>
            <a:r>
              <a:rPr sz="1300" b="1" dirty="0">
                <a:solidFill>
                  <a:srgbClr val="22704E"/>
                </a:solidFill>
                <a:latin typeface="Avenir Next" panose="020B0503020202020204" pitchFamily="34" charset="0"/>
              </a:rPr>
              <a:t>2. Duty Allocation: </a:t>
            </a:r>
            <a:r>
              <a:rPr lang="en-IN" sz="1300" dirty="0">
                <a:solidFill>
                  <a:srgbClr val="2A2A2A"/>
                </a:solidFill>
                <a:latin typeface="Avenir Next" panose="020B0503020202020204" pitchFamily="34" charset="0"/>
              </a:rPr>
              <a:t>Duties exist, but ordinary liability routes are weak. Section 166(2) lacks open standing; consumer penalties lack deterrence.</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Weak verification and high proof burdens shield corporate violators.</a:t>
            </a:r>
            <a:r>
              <a:rPr lang="en-US" sz="1300" dirty="0">
                <a:solidFill>
                  <a:srgbClr val="2D2D2D"/>
                </a:solidFill>
                <a:latin typeface="Avenir Next" panose="020B0503020202020204" pitchFamily="34" charset="0"/>
              </a:rPr>
              <a:t> </a:t>
            </a:r>
            <a:r>
              <a:rPr lang="en-IN" sz="1400" dirty="0">
                <a:solidFill>
                  <a:srgbClr val="2A2A2A"/>
                </a:solidFill>
                <a:latin typeface="Avenir Next" panose="020B0503020202020204" pitchFamily="34" charset="0"/>
              </a:rPr>
              <a:t>Legal duties without accessible triggers fail to create real liability.</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Framework lacks deterrent liability.</a:t>
            </a:r>
          </a:p>
        </p:txBody>
      </p:sp>
      <p:sp>
        <p:nvSpPr>
          <p:cNvPr id="13" name="Rounded Rectangle 12"/>
          <p:cNvSpPr/>
          <p:nvPr/>
        </p:nvSpPr>
        <p:spPr>
          <a:xfrm>
            <a:off x="8281316"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4" name="Rectangle 13"/>
          <p:cNvSpPr/>
          <p:nvPr/>
        </p:nvSpPr>
        <p:spPr>
          <a:xfrm>
            <a:off x="8281317" y="1156935"/>
            <a:ext cx="3547872" cy="76267"/>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TextBox 14"/>
          <p:cNvSpPr txBox="1"/>
          <p:nvPr/>
        </p:nvSpPr>
        <p:spPr>
          <a:xfrm>
            <a:off x="8534535" y="1350000"/>
            <a:ext cx="3154654" cy="1077218"/>
          </a:xfrm>
          <a:prstGeom prst="rect">
            <a:avLst/>
          </a:prstGeom>
          <a:noFill/>
        </p:spPr>
        <p:txBody>
          <a:bodyPr wrap="square" lIns="0" tIns="0" rIns="0" bIns="0">
            <a:spAutoFit/>
          </a:bodyPr>
          <a:lstStyle/>
          <a:p>
            <a:pPr>
              <a:defRPr sz="1100" b="1">
                <a:solidFill>
                  <a:srgbClr val="12402D"/>
                </a:solidFill>
              </a:defRPr>
            </a:pPr>
            <a:r>
              <a:rPr sz="1400">
                <a:latin typeface="Avenir Next" panose="020B0503020202020204" pitchFamily="34" charset="0"/>
              </a:rPr>
              <a:t>H₃: "In addressing the issue of greenwashing, the present legal mechanism involving different regulatory bodies is inchoate and incomplete."</a:t>
            </a:r>
          </a:p>
        </p:txBody>
      </p:sp>
      <p:sp>
        <p:nvSpPr>
          <p:cNvPr id="16" name="TextBox 15"/>
          <p:cNvSpPr txBox="1"/>
          <p:nvPr/>
        </p:nvSpPr>
        <p:spPr>
          <a:xfrm>
            <a:off x="8534535" y="2602400"/>
            <a:ext cx="3257032" cy="2669962"/>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sz="1300" dirty="0">
                <a:solidFill>
                  <a:srgbClr val="2D2D2D"/>
                </a:solidFill>
                <a:latin typeface="Avenir Next" panose="020B0503020202020204" pitchFamily="34" charset="0"/>
              </a:rPr>
              <a:t>Greenwashing </a:t>
            </a:r>
            <a:r>
              <a:rPr lang="en-US" sz="1300" dirty="0">
                <a:solidFill>
                  <a:srgbClr val="2D2D2D"/>
                </a:solidFill>
                <a:latin typeface="Avenir Next" panose="020B0503020202020204" pitchFamily="34" charset="0"/>
              </a:rPr>
              <a:t>is a lifecycle phenomenon encompassing</a:t>
            </a:r>
            <a:r>
              <a:rPr sz="1300" dirty="0">
                <a:solidFill>
                  <a:srgbClr val="2D2D2D"/>
                </a:solidFill>
                <a:latin typeface="Avenir Next" panose="020B0503020202020204" pitchFamily="34" charset="0"/>
              </a:rPr>
              <a:t> products,</a:t>
            </a:r>
            <a:r>
              <a:rPr lang="en-US" sz="1300" dirty="0">
                <a:solidFill>
                  <a:srgbClr val="2D2D2D"/>
                </a:solidFill>
                <a:latin typeface="Avenir Next" panose="020B0503020202020204" pitchFamily="34" charset="0"/>
              </a:rPr>
              <a:t> ads,</a:t>
            </a:r>
            <a:r>
              <a:rPr sz="1300" dirty="0">
                <a:solidFill>
                  <a:srgbClr val="2D2D2D"/>
                </a:solidFill>
                <a:latin typeface="Avenir Next" panose="020B0503020202020204" pitchFamily="34" charset="0"/>
              </a:rPr>
              <a:t> corporate </a:t>
            </a:r>
            <a:r>
              <a:rPr lang="en-US" sz="1300" dirty="0">
                <a:solidFill>
                  <a:srgbClr val="2D2D2D"/>
                </a:solidFill>
                <a:latin typeface="Avenir Next" panose="020B0503020202020204" pitchFamily="34" charset="0"/>
              </a:rPr>
              <a:t>annual </a:t>
            </a:r>
            <a:r>
              <a:rPr sz="1300" dirty="0">
                <a:solidFill>
                  <a:srgbClr val="2D2D2D"/>
                </a:solidFill>
                <a:latin typeface="Avenir Next" panose="020B0503020202020204" pitchFamily="34" charset="0"/>
              </a:rPr>
              <a:t>reports,</a:t>
            </a:r>
            <a:r>
              <a:rPr lang="en-US" sz="1300" dirty="0">
                <a:solidFill>
                  <a:srgbClr val="2D2D2D"/>
                </a:solidFill>
                <a:latin typeface="Avenir Next" panose="020B0503020202020204" pitchFamily="34" charset="0"/>
              </a:rPr>
              <a:t> ESG Filings</a:t>
            </a:r>
            <a:r>
              <a:rPr sz="1300" dirty="0">
                <a:solidFill>
                  <a:srgbClr val="2D2D2D"/>
                </a:solidFill>
                <a:latin typeface="Avenir Next" panose="020B0503020202020204" pitchFamily="34" charset="0"/>
              </a:rPr>
              <a:t> and </a:t>
            </a:r>
            <a:r>
              <a:rPr lang="en-US" sz="1300" dirty="0">
                <a:solidFill>
                  <a:srgbClr val="2D2D2D"/>
                </a:solidFill>
                <a:latin typeface="Avenir Next" panose="020B0503020202020204" pitchFamily="34" charset="0"/>
              </a:rPr>
              <a:t>G</a:t>
            </a:r>
            <a:r>
              <a:rPr sz="1300" dirty="0">
                <a:solidFill>
                  <a:srgbClr val="2D2D2D"/>
                </a:solidFill>
                <a:latin typeface="Avenir Next" panose="020B0503020202020204" pitchFamily="34" charset="0"/>
              </a:rPr>
              <a:t>reen </a:t>
            </a:r>
            <a:r>
              <a:rPr lang="en-US" sz="1300" dirty="0">
                <a:solidFill>
                  <a:srgbClr val="2D2D2D"/>
                </a:solidFill>
                <a:latin typeface="Avenir Next" panose="020B0503020202020204" pitchFamily="34" charset="0"/>
              </a:rPr>
              <a:t>B</a:t>
            </a:r>
            <a:r>
              <a:rPr sz="1300" dirty="0">
                <a:solidFill>
                  <a:srgbClr val="2D2D2D"/>
                </a:solidFill>
                <a:latin typeface="Avenir Next" panose="020B0503020202020204" pitchFamily="34" charset="0"/>
              </a:rPr>
              <a:t>onds.</a:t>
            </a: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Disconnected regulators create gaps and conflicting standards across venues.</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 </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No lead agency, no mandatory case referrals, and no shared data.</a:t>
            </a: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Ecosystem is fragmented and incomplete.</a:t>
            </a:r>
          </a:p>
        </p:txBody>
      </p:sp>
      <p:sp>
        <p:nvSpPr>
          <p:cNvPr id="17" name="Rounded Rectangle 16"/>
          <p:cNvSpPr/>
          <p:nvPr/>
        </p:nvSpPr>
        <p:spPr>
          <a:xfrm>
            <a:off x="731519" y="6188762"/>
            <a:ext cx="10911841" cy="473970"/>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8" name="TextBox 17"/>
          <p:cNvSpPr txBox="1"/>
          <p:nvPr/>
        </p:nvSpPr>
        <p:spPr>
          <a:xfrm>
            <a:off x="858319" y="6322112"/>
            <a:ext cx="10475056" cy="231602"/>
          </a:xfrm>
          <a:prstGeom prst="rect">
            <a:avLst/>
          </a:prstGeom>
          <a:noFill/>
        </p:spPr>
        <p:txBody>
          <a:bodyPr wrap="square" lIns="0" tIns="0" rIns="0" bIns="0">
            <a:spAutoFit/>
          </a:bodyPr>
          <a:lstStyle/>
          <a:p>
            <a:pPr algn="ctr">
              <a:lnSpc>
                <a:spcPct val="110000"/>
              </a:lnSpc>
              <a:defRPr sz="1300" b="1">
                <a:solidFill>
                  <a:srgbClr val="12402D"/>
                </a:solidFill>
              </a:defRPr>
            </a:pPr>
            <a:r>
              <a:rPr sz="1400" dirty="0">
                <a:latin typeface="Avenir Next" panose="020B0503020202020204" pitchFamily="34" charset="0"/>
              </a:rPr>
              <a:t>All Three Hypotheses Stand Formally Validated</a:t>
            </a:r>
            <a:endParaRPr sz="1400" dirty="0">
              <a:solidFill>
                <a:srgbClr val="3A3A4A"/>
              </a:solidFill>
              <a:latin typeface="Avenir Next" panose="020B0503020202020204" pitchFamily="34" charset="0"/>
            </a:endParaRPr>
          </a:p>
        </p:txBody>
      </p:sp>
      <p:sp>
        <p:nvSpPr>
          <p:cNvPr id="19" name="TextBox 18"/>
          <p:cNvSpPr txBox="1"/>
          <p:nvPr/>
        </p:nvSpPr>
        <p:spPr>
          <a:xfrm>
            <a:off x="730574" y="6730356"/>
            <a:ext cx="1370568" cy="146194"/>
          </a:xfrm>
          <a:prstGeom prst="rect">
            <a:avLst/>
          </a:prstGeom>
          <a:noFill/>
        </p:spPr>
        <p:txBody>
          <a:bodyPr wrap="none" lIns="0" tIns="0" rIns="0" bIns="0">
            <a:spAutoFit/>
          </a:bodyPr>
          <a:lstStyle/>
          <a:p>
            <a:r>
              <a:rPr sz="950" dirty="0">
                <a:solidFill>
                  <a:srgbClr val="6B6F6A"/>
                </a:solidFill>
                <a:latin typeface="Avenir Next"/>
              </a:rPr>
              <a:t>Source base: Chapter 6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479298"/>
            <a:ext cx="8968847" cy="584775"/>
          </a:xfrm>
          <a:prstGeom prst="rect">
            <a:avLst/>
          </a:prstGeom>
          <a:noFill/>
        </p:spPr>
        <p:txBody>
          <a:bodyPr wrap="square">
            <a:spAutoFit/>
          </a:bodyPr>
          <a:lstStyle/>
          <a:p>
            <a:pPr>
              <a:defRPr sz="2200" b="1">
                <a:solidFill>
                  <a:srgbClr val="173F35"/>
                </a:solidFill>
                <a:latin typeface="Avenir Next Demi Bold"/>
              </a:defRPr>
            </a:pPr>
            <a:r>
              <a:rPr lang="en-US" sz="3200" dirty="0"/>
              <a:t>General Suggestions For Regulatory Reform</a:t>
            </a:r>
            <a:endParaRPr sz="3200" dirty="0"/>
          </a:p>
        </p:txBody>
      </p:sp>
      <p:sp>
        <p:nvSpPr>
          <p:cNvPr id="6" name="Rounded Rectangle 5"/>
          <p:cNvSpPr/>
          <p:nvPr/>
        </p:nvSpPr>
        <p:spPr>
          <a:xfrm>
            <a:off x="670473"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7" name="Rectangle 6"/>
          <p:cNvSpPr/>
          <p:nvPr/>
        </p:nvSpPr>
        <p:spPr>
          <a:xfrm>
            <a:off x="670473" y="1700443"/>
            <a:ext cx="2057400"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8" name="TextBox 7"/>
          <p:cNvSpPr txBox="1"/>
          <p:nvPr/>
        </p:nvSpPr>
        <p:spPr>
          <a:xfrm>
            <a:off x="816777"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1. Institutional Integration</a:t>
            </a:r>
          </a:p>
        </p:txBody>
      </p:sp>
      <p:sp>
        <p:nvSpPr>
          <p:cNvPr id="9" name="TextBox 8"/>
          <p:cNvSpPr txBox="1"/>
          <p:nvPr/>
        </p:nvSpPr>
        <p:spPr>
          <a:xfrm>
            <a:off x="816777"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Establish a standing inter-regulatory council linking MCA, SEBI, CCPA, MoEFCC, CPCB, and BIS.</a:t>
            </a:r>
          </a:p>
        </p:txBody>
      </p:sp>
      <p:sp>
        <p:nvSpPr>
          <p:cNvPr id="10" name="Rounded Rectangle 9"/>
          <p:cNvSpPr/>
          <p:nvPr/>
        </p:nvSpPr>
        <p:spPr>
          <a:xfrm>
            <a:off x="2810169"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1" name="Rectangle 10"/>
          <p:cNvSpPr/>
          <p:nvPr/>
        </p:nvSpPr>
        <p:spPr>
          <a:xfrm>
            <a:off x="2810169" y="1700443"/>
            <a:ext cx="2057400" cy="97615"/>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2" name="TextBox 11"/>
          <p:cNvSpPr txBox="1"/>
          <p:nvPr/>
        </p:nvSpPr>
        <p:spPr>
          <a:xfrm>
            <a:off x="2956473" y="1809600"/>
            <a:ext cx="1764792" cy="830997"/>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2. Lead Regulator Model</a:t>
            </a:r>
          </a:p>
        </p:txBody>
      </p:sp>
      <p:sp>
        <p:nvSpPr>
          <p:cNvPr id="13" name="TextBox 12"/>
          <p:cNvSpPr txBox="1"/>
          <p:nvPr/>
        </p:nvSpPr>
        <p:spPr>
          <a:xfrm>
            <a:off x="2956473" y="2652500"/>
            <a:ext cx="1764792" cy="2062103"/>
          </a:xfrm>
          <a:prstGeom prst="rect">
            <a:avLst/>
          </a:prstGeom>
          <a:noFill/>
        </p:spPr>
        <p:txBody>
          <a:bodyPr wrap="square" anchor="t">
            <a:spAutoFit/>
          </a:bodyPr>
          <a:lstStyle/>
          <a:p>
            <a:pPr algn="l">
              <a:defRPr sz="1150" b="0">
                <a:solidFill>
                  <a:srgbClr val="2D2D2D"/>
                </a:solidFill>
                <a:latin typeface="Avenir Next"/>
              </a:defRPr>
            </a:pPr>
            <a:r>
              <a:rPr sz="1600" dirty="0">
                <a:latin typeface="Avenir Next" panose="020B0503020202020204" pitchFamily="34" charset="0"/>
              </a:rPr>
              <a:t>Designate a coordinating agency with mandatory cross-referral and shared evidence protocols.</a:t>
            </a:r>
          </a:p>
        </p:txBody>
      </p:sp>
      <p:sp>
        <p:nvSpPr>
          <p:cNvPr id="14" name="Rounded Rectangle 13"/>
          <p:cNvSpPr/>
          <p:nvPr/>
        </p:nvSpPr>
        <p:spPr>
          <a:xfrm>
            <a:off x="4949865"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5" name="Rectangle 14"/>
          <p:cNvSpPr/>
          <p:nvPr/>
        </p:nvSpPr>
        <p:spPr>
          <a:xfrm>
            <a:off x="4949865" y="1700443"/>
            <a:ext cx="2057400" cy="97615"/>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6" name="TextBox 15"/>
          <p:cNvSpPr txBox="1"/>
          <p:nvPr/>
        </p:nvSpPr>
        <p:spPr>
          <a:xfrm>
            <a:off x="5096169"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3. Standardised Verification</a:t>
            </a:r>
          </a:p>
        </p:txBody>
      </p:sp>
      <p:sp>
        <p:nvSpPr>
          <p:cNvPr id="17" name="TextBox 16"/>
          <p:cNvSpPr txBox="1"/>
          <p:nvPr/>
        </p:nvSpPr>
        <p:spPr>
          <a:xfrm>
            <a:off x="5096169"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Mandate lifecycle verification (LCA), product-category benchmarks, and accredited verifiers.</a:t>
            </a:r>
          </a:p>
        </p:txBody>
      </p:sp>
      <p:sp>
        <p:nvSpPr>
          <p:cNvPr id="18" name="Rounded Rectangle 17"/>
          <p:cNvSpPr/>
          <p:nvPr/>
        </p:nvSpPr>
        <p:spPr>
          <a:xfrm>
            <a:off x="7089561"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9" name="Rectangle 18"/>
          <p:cNvSpPr/>
          <p:nvPr/>
        </p:nvSpPr>
        <p:spPr>
          <a:xfrm>
            <a:off x="7089561" y="1700443"/>
            <a:ext cx="2057400"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0" name="TextBox 19"/>
          <p:cNvSpPr txBox="1"/>
          <p:nvPr/>
        </p:nvSpPr>
        <p:spPr>
          <a:xfrm>
            <a:off x="7235865"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4. Proactive Surveillance</a:t>
            </a:r>
          </a:p>
        </p:txBody>
      </p:sp>
      <p:sp>
        <p:nvSpPr>
          <p:cNvPr id="21" name="TextBox 20"/>
          <p:cNvSpPr txBox="1"/>
          <p:nvPr/>
        </p:nvSpPr>
        <p:spPr>
          <a:xfrm>
            <a:off x="7235865"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Run regular market sweeps in high-risk sectors; cross-check ESG claims against pollution records.</a:t>
            </a:r>
          </a:p>
        </p:txBody>
      </p:sp>
      <p:sp>
        <p:nvSpPr>
          <p:cNvPr id="22" name="Rounded Rectangle 21"/>
          <p:cNvSpPr/>
          <p:nvPr/>
        </p:nvSpPr>
        <p:spPr>
          <a:xfrm>
            <a:off x="9229257"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3" name="Rectangle 22"/>
          <p:cNvSpPr/>
          <p:nvPr/>
        </p:nvSpPr>
        <p:spPr>
          <a:xfrm>
            <a:off x="9229257" y="1700443"/>
            <a:ext cx="2057400" cy="97615"/>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4" name="TextBox 23"/>
          <p:cNvSpPr txBox="1"/>
          <p:nvPr/>
        </p:nvSpPr>
        <p:spPr>
          <a:xfrm>
            <a:off x="9375561"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5. Enforcement Capacity</a:t>
            </a:r>
          </a:p>
        </p:txBody>
      </p:sp>
      <p:sp>
        <p:nvSpPr>
          <p:cNvPr id="25" name="TextBox 24"/>
          <p:cNvSpPr txBox="1"/>
          <p:nvPr/>
        </p:nvSpPr>
        <p:spPr>
          <a:xfrm>
            <a:off x="9375561"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Build shared in-house expertise in carbon accounting, GHG scopes, and ESG assurance.</a:t>
            </a:r>
          </a:p>
        </p:txBody>
      </p:sp>
      <p:sp>
        <p:nvSpPr>
          <p:cNvPr id="28" name="TextBox 27"/>
          <p:cNvSpPr txBox="1"/>
          <p:nvPr/>
        </p:nvSpPr>
        <p:spPr>
          <a:xfrm>
            <a:off x="734355" y="6572273"/>
            <a:ext cx="1596912" cy="246221"/>
          </a:xfrm>
          <a:prstGeom prst="rect">
            <a:avLst/>
          </a:prstGeom>
          <a:noFill/>
        </p:spPr>
        <p:txBody>
          <a:bodyPr wrap="none">
            <a:spAutoFit/>
          </a:bodyPr>
          <a:lstStyle/>
          <a:p>
            <a:pPr>
              <a:defRPr sz="850">
                <a:solidFill>
                  <a:srgbClr val="6B6F6A"/>
                </a:solidFill>
                <a:latin typeface="Avenir Next"/>
              </a:defRPr>
            </a:pPr>
            <a:r>
              <a:rPr sz="1000" dirty="0"/>
              <a:t>Source base: Chapter 6</a:t>
            </a:r>
            <a:r>
              <a:rPr lang="en-US" sz="1000" dirty="0"/>
              <a:t>.</a:t>
            </a:r>
            <a:endParaRPr sz="1000" dirty="0"/>
          </a:p>
        </p:txBody>
      </p:sp>
      <p:sp>
        <p:nvSpPr>
          <p:cNvPr id="29" name="Rounded Rectangle 28">
            <a:extLst>
              <a:ext uri="{FF2B5EF4-FFF2-40B4-BE49-F238E27FC236}">
                <a16:creationId xmlns:a16="http://schemas.microsoft.com/office/drawing/2014/main" id="{26F3CA9D-8EC4-C356-F7AF-706559F73CDC}"/>
              </a:ext>
            </a:extLst>
          </p:cNvPr>
          <p:cNvSpPr/>
          <p:nvPr/>
        </p:nvSpPr>
        <p:spPr>
          <a:xfrm>
            <a:off x="611037" y="5570319"/>
            <a:ext cx="10735056" cy="862905"/>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p:cNvSpPr txBox="1"/>
          <p:nvPr/>
        </p:nvSpPr>
        <p:spPr>
          <a:xfrm>
            <a:off x="734355" y="5702107"/>
            <a:ext cx="10405998" cy="692497"/>
          </a:xfrm>
          <a:prstGeom prst="rect">
            <a:avLst/>
          </a:prstGeom>
          <a:noFill/>
        </p:spPr>
        <p:txBody>
          <a:bodyPr wrap="square">
            <a:spAutoFit/>
          </a:bodyPr>
          <a:lstStyle/>
          <a:p>
            <a:pPr>
              <a:defRPr sz="1200">
                <a:solidFill>
                  <a:srgbClr val="6B6F6A"/>
                </a:solidFill>
                <a:latin typeface="Avenir Next"/>
              </a:defRPr>
            </a:pPr>
            <a:r>
              <a:rPr sz="1400" b="0" dirty="0">
                <a:latin typeface="Avenir Next"/>
              </a:rPr>
              <a:t>Research Question 7 (part 1): </a:t>
            </a:r>
            <a:r>
              <a:rPr lang="en-IN" sz="1400" dirty="0">
                <a:ea typeface="+mn-lt"/>
                <a:cs typeface="+mn-lt"/>
              </a:rPr>
              <a:t>What legal and policy recommendations can create an integrated liability framework that holds corporations accountable for misleading environmental claims?</a:t>
            </a:r>
            <a:endParaRPr lang="en-US" sz="1400" dirty="0">
              <a:ea typeface="+mn-lt"/>
              <a:cs typeface="+mn-lt"/>
            </a:endParaRPr>
          </a:p>
          <a:p>
            <a:pPr>
              <a:defRPr sz="1200">
                <a:solidFill>
                  <a:srgbClr val="6B6F6A"/>
                </a:solidFill>
                <a:latin typeface="Avenir Next"/>
              </a:defRPr>
            </a:pPr>
            <a:endParaRPr sz="1100" b="0" dirty="0">
              <a:latin typeface="Avenir Next"/>
            </a:endParaRPr>
          </a:p>
        </p:txBody>
      </p:sp>
    </p:spTree>
    <p:extLst>
      <p:ext uri="{BB962C8B-B14F-4D97-AF65-F5344CB8AC3E}">
        <p14:creationId xmlns:p14="http://schemas.microsoft.com/office/powerpoint/2010/main" val="9189718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380971" cy="584775"/>
          </a:xfrm>
          <a:prstGeom prst="rect">
            <a:avLst/>
          </a:prstGeom>
          <a:noFill/>
        </p:spPr>
        <p:txBody>
          <a:bodyPr wrap="square">
            <a:spAutoFit/>
          </a:bodyPr>
          <a:lstStyle/>
          <a:p>
            <a:pPr>
              <a:defRPr sz="2200" b="1">
                <a:solidFill>
                  <a:srgbClr val="173F35"/>
                </a:solidFill>
                <a:latin typeface="Avenir Next Demi Bold"/>
              </a:defRPr>
            </a:pPr>
            <a:r>
              <a:rPr lang="en-US" sz="3200" dirty="0"/>
              <a:t>Specific </a:t>
            </a:r>
            <a:r>
              <a:rPr sz="3200" dirty="0"/>
              <a:t>Recommendations</a:t>
            </a:r>
            <a:r>
              <a:rPr lang="en-US" sz="3200" dirty="0"/>
              <a:t> for</a:t>
            </a:r>
            <a:r>
              <a:rPr sz="3200" dirty="0"/>
              <a:t> Legal Refor</a:t>
            </a:r>
            <a:r>
              <a:rPr lang="en-US" sz="3200" dirty="0"/>
              <a:t>m</a:t>
            </a:r>
            <a:endParaRPr sz="3200" dirty="0"/>
          </a:p>
        </p:txBody>
      </p:sp>
      <p:sp>
        <p:nvSpPr>
          <p:cNvPr id="6" name="Rounded Rectangle 5"/>
          <p:cNvSpPr/>
          <p:nvPr/>
        </p:nvSpPr>
        <p:spPr>
          <a:xfrm>
            <a:off x="731520"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Rectangle 6"/>
          <p:cNvSpPr/>
          <p:nvPr/>
        </p:nvSpPr>
        <p:spPr>
          <a:xfrm>
            <a:off x="731520" y="1096247"/>
            <a:ext cx="3547872"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8" name="TextBox 7"/>
          <p:cNvSpPr txBox="1"/>
          <p:nvPr/>
        </p:nvSpPr>
        <p:spPr>
          <a:xfrm>
            <a:off x="877824" y="1281413"/>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Companies Act / MCA</a:t>
            </a:r>
          </a:p>
        </p:txBody>
      </p:sp>
      <p:sp>
        <p:nvSpPr>
          <p:cNvPr id="9" name="TextBox 8"/>
          <p:cNvSpPr txBox="1"/>
          <p:nvPr/>
        </p:nvSpPr>
        <p:spPr>
          <a:xfrm>
            <a:off x="841248" y="1791191"/>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dirty="0">
                <a:latin typeface="Avenir Next" panose="020B0503020202020204" pitchFamily="34" charset="0"/>
              </a:rPr>
              <a:t>• Turnover-Linked Penalties: Amend Section 166(7) so fines scale with company revenue rather than fixed ₹1–5L caps.</a:t>
            </a:r>
          </a:p>
          <a:p>
            <a:pPr>
              <a:spcAft>
                <a:spcPts val="800"/>
              </a:spcAft>
              <a:defRPr sz="1150">
                <a:solidFill>
                  <a:srgbClr val="2D2D2D"/>
                </a:solidFill>
              </a:defRPr>
            </a:pPr>
            <a:r>
              <a:rPr sz="1400" dirty="0">
                <a:latin typeface="Avenir Next" panose="020B0503020202020204" pitchFamily="34" charset="0"/>
              </a:rPr>
              <a:t>• Expanded Standing: Give affected stakeholders and civil society standing to enforce Section 166(2) duties.</a:t>
            </a:r>
          </a:p>
          <a:p>
            <a:pPr>
              <a:defRPr sz="1150">
                <a:solidFill>
                  <a:srgbClr val="2D2D2D"/>
                </a:solidFill>
              </a:defRPr>
            </a:pPr>
            <a:r>
              <a:rPr sz="1400" dirty="0">
                <a:latin typeface="Avenir Next" panose="020B0503020202020204" pitchFamily="34" charset="0"/>
              </a:rPr>
              <a:t>• Boardroom Oversight: Require dedicated Board ESG Committees and environmental whistleblower protections.</a:t>
            </a:r>
          </a:p>
        </p:txBody>
      </p:sp>
      <p:sp>
        <p:nvSpPr>
          <p:cNvPr id="10" name="Rounded Rectangle 9"/>
          <p:cNvSpPr/>
          <p:nvPr/>
        </p:nvSpPr>
        <p:spPr>
          <a:xfrm>
            <a:off x="4325112"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Rectangle 10"/>
          <p:cNvSpPr/>
          <p:nvPr/>
        </p:nvSpPr>
        <p:spPr>
          <a:xfrm>
            <a:off x="4325112" y="1096247"/>
            <a:ext cx="3547872"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2" name="TextBox 11"/>
          <p:cNvSpPr txBox="1"/>
          <p:nvPr/>
        </p:nvSpPr>
        <p:spPr>
          <a:xfrm>
            <a:off x="4471416" y="1281413"/>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SEBI / Securities law</a:t>
            </a:r>
          </a:p>
        </p:txBody>
      </p:sp>
      <p:sp>
        <p:nvSpPr>
          <p:cNvPr id="13" name="TextBox 12"/>
          <p:cNvSpPr txBox="1"/>
          <p:nvPr/>
        </p:nvSpPr>
        <p:spPr>
          <a:xfrm>
            <a:off x="4468215" y="1763759"/>
            <a:ext cx="3255264" cy="2667397"/>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Mandatory Reasonable Audits: Return to the time-bound path for full financial-grade ESG audits.</a:t>
            </a:r>
          </a:p>
          <a:p>
            <a:pPr>
              <a:spcAft>
                <a:spcPts val="800"/>
              </a:spcAft>
              <a:defRPr sz="1150">
                <a:solidFill>
                  <a:srgbClr val="2D2D2D"/>
                </a:solidFill>
              </a:defRPr>
            </a:pPr>
            <a:r>
              <a:rPr sz="1400">
                <a:latin typeface="Avenir Next" panose="020B0503020202020204" pitchFamily="34" charset="0"/>
              </a:rPr>
              <a:t>• Full Scope 3 Value Chain: Restore comprehensive supply-chain emissions reporting without loopholes.</a:t>
            </a:r>
          </a:p>
          <a:p>
            <a:pPr>
              <a:defRPr sz="1150">
                <a:solidFill>
                  <a:srgbClr val="2D2D2D"/>
                </a:solidFill>
              </a:defRPr>
            </a:pPr>
            <a:r>
              <a:rPr sz="1400">
                <a:latin typeface="Avenir Next" panose="020B0503020202020204" pitchFamily="34" charset="0"/>
              </a:rPr>
              <a:t>• Fraud Classification: Explicitly classify material ESG misstatements as fraudulent under PFUTP regulations.</a:t>
            </a:r>
          </a:p>
        </p:txBody>
      </p:sp>
      <p:sp>
        <p:nvSpPr>
          <p:cNvPr id="14" name="Rounded Rectangle 13"/>
          <p:cNvSpPr/>
          <p:nvPr/>
        </p:nvSpPr>
        <p:spPr>
          <a:xfrm>
            <a:off x="7918704"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Rectangle 14"/>
          <p:cNvSpPr/>
          <p:nvPr/>
        </p:nvSpPr>
        <p:spPr>
          <a:xfrm>
            <a:off x="7918704" y="1096247"/>
            <a:ext cx="3547872"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6" name="TextBox 15"/>
          <p:cNvSpPr txBox="1"/>
          <p:nvPr/>
        </p:nvSpPr>
        <p:spPr>
          <a:xfrm>
            <a:off x="8065008" y="1281413"/>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CCPA / Consumer law</a:t>
            </a:r>
          </a:p>
        </p:txBody>
      </p:sp>
      <p:sp>
        <p:nvSpPr>
          <p:cNvPr id="17" name="TextBox 16"/>
          <p:cNvSpPr txBox="1"/>
          <p:nvPr/>
        </p:nvSpPr>
        <p:spPr>
          <a:xfrm>
            <a:off x="8016087" y="1736327"/>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Binding Regulations: Elevate the 2024 Guidelines into formal binding rules under the Consumer Protection Act.</a:t>
            </a:r>
          </a:p>
          <a:p>
            <a:pPr>
              <a:spcAft>
                <a:spcPts val="800"/>
              </a:spcAft>
              <a:defRPr sz="1150">
                <a:solidFill>
                  <a:srgbClr val="2D2D2D"/>
                </a:solidFill>
              </a:defRPr>
            </a:pPr>
            <a:r>
              <a:rPr sz="1400">
                <a:latin typeface="Avenir Next" panose="020B0503020202020204" pitchFamily="34" charset="0"/>
              </a:rPr>
              <a:t>• Corrective Advertising: Require public correction notices and turnover-based fines for major deceptive claims.</a:t>
            </a:r>
          </a:p>
          <a:p>
            <a:pPr>
              <a:defRPr sz="1150">
                <a:solidFill>
                  <a:srgbClr val="2D2D2D"/>
                </a:solidFill>
              </a:defRPr>
            </a:pPr>
            <a:r>
              <a:rPr sz="1400">
                <a:latin typeface="Avenir Next" panose="020B0503020202020204" pitchFamily="34" charset="0"/>
              </a:rPr>
              <a:t>• Narrow Puffery Exception: Disallow vague green buzzwords ('eco-friendly', 'sustainable') as mere puffery.</a:t>
            </a:r>
          </a:p>
        </p:txBody>
      </p:sp>
      <p:sp>
        <p:nvSpPr>
          <p:cNvPr id="18" name="TextBox 17"/>
          <p:cNvSpPr txBox="1"/>
          <p:nvPr/>
        </p:nvSpPr>
        <p:spPr>
          <a:xfrm>
            <a:off x="730574" y="6635463"/>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6</a:t>
            </a:r>
            <a:r>
              <a:rPr lang="en-US" sz="1100" dirty="0">
                <a:latin typeface="Avenir Next" panose="020B0503020202020204" pitchFamily="34" charset="0"/>
              </a:rPr>
              <a:t>.</a:t>
            </a:r>
            <a:endParaRPr sz="1100" dirty="0">
              <a:latin typeface="Avenir Next" panose="020B0503020202020204" pitchFamily="34" charset="0"/>
            </a:endParaRPr>
          </a:p>
        </p:txBody>
      </p:sp>
      <p:sp>
        <p:nvSpPr>
          <p:cNvPr id="19" name="Rounded Rectangle 18"/>
          <p:cNvSpPr/>
          <p:nvPr/>
        </p:nvSpPr>
        <p:spPr>
          <a:xfrm>
            <a:off x="731520" y="5389151"/>
            <a:ext cx="10735056" cy="117316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20" name="TextBox 19"/>
          <p:cNvSpPr txBox="1"/>
          <p:nvPr/>
        </p:nvSpPr>
        <p:spPr>
          <a:xfrm>
            <a:off x="861520" y="5447325"/>
            <a:ext cx="10475056" cy="1031051"/>
          </a:xfrm>
          <a:prstGeom prst="rect">
            <a:avLst/>
          </a:prstGeom>
          <a:noFill/>
        </p:spPr>
        <p:txBody>
          <a:bodyPr wrap="square" lIns="45720" tIns="22860" rIns="45720" bIns="22860" anchor="ctr">
            <a:spAutoFit/>
          </a:bodyPr>
          <a:lstStyle/>
          <a:p>
            <a:pPr algn="just">
              <a:defRPr sz="1100">
                <a:solidFill>
                  <a:srgbClr val="282828"/>
                </a:solidFill>
              </a:defRPr>
            </a:pPr>
            <a:r>
              <a:rPr lang="en-IN" sz="1400" dirty="0">
                <a:solidFill>
                  <a:srgbClr val="6B6F6A"/>
                </a:solidFill>
                <a:latin typeface="Avenir Next"/>
              </a:rPr>
              <a:t>Research Question 7 (part 2): </a:t>
            </a:r>
            <a:r>
              <a:rPr lang="en-IN" sz="1400" dirty="0">
                <a:ea typeface="+mn-lt"/>
                <a:cs typeface="+mn-lt"/>
              </a:rPr>
              <a:t>What legal and policy recommendations can create an integrated liability framework that holds corporations accountable for misleading environmental claims?</a:t>
            </a:r>
          </a:p>
          <a:p>
            <a:pPr algn="just">
              <a:defRPr sz="1100">
                <a:solidFill>
                  <a:srgbClr val="282828"/>
                </a:solidFill>
              </a:defRPr>
            </a:pPr>
            <a:endParaRPr lang="en-US" sz="800" dirty="0"/>
          </a:p>
          <a:p>
            <a:pPr algn="just">
              <a:defRPr sz="1100">
                <a:solidFill>
                  <a:srgbClr val="282828"/>
                </a:solidFill>
              </a:defRPr>
            </a:pPr>
            <a:r>
              <a:rPr sz="1400" dirty="0"/>
              <a:t>Answer to RQ7: Three statutes working together in sequence—substantiate before publishing, audit independently, refer cases automatically between agencies, and link penalties to turnover so leadership carries the real risk.</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200000"/>
            <a:ext cx="10607040" cy="1200329"/>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7200" dirty="0"/>
              <a:t>Thank You</a:t>
            </a:r>
            <a:endParaRPr lang="en-US" sz="7200" dirty="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endParaRP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1000"/>
              </a:spcAft>
              <a:defRPr sz="1700" b="1">
                <a:solidFill>
                  <a:srgbClr val="12402D"/>
                </a:solidFill>
                <a:latin typeface="Calibri"/>
              </a:defRPr>
            </a:pPr>
            <a:r>
              <a:t>Concluding Imperative</a:t>
            </a:r>
          </a:p>
          <a:p>
            <a:pPr>
              <a:defRPr sz="1300">
                <a:solidFill>
                  <a:srgbClr val="2D2D2D"/>
                </a:solidFill>
              </a:defRPr>
            </a:pPr>
            <a:r>
              <a:t>Without truth in corporate environmental claims, clean investment cannot reach real climate solutions, and consumers cannot make genuine sustainable choices. Stopping greenwashing is essential not just for fair financial markets, but for the health of our planet.</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1755</TotalTime>
  <Words>4966</Words>
  <Application>Microsoft Macintosh PowerPoint</Application>
  <PresentationFormat>Widescreen</PresentationFormat>
  <Paragraphs>458</Paragraphs>
  <Slides>24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Arial</vt:lpstr>
      <vt:lpstr>Avenir Next</vt:lpstr>
      <vt:lpstr>Avenir Next Demi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1322</cp:revision>
  <dcterms:created xsi:type="dcterms:W3CDTF">2013-01-27T09:14:16Z</dcterms:created>
  <dcterms:modified xsi:type="dcterms:W3CDTF">2026-08-14T14:54:00Z</dcterms:modified>
  <cp:category/>
</cp:coreProperties>
</file>