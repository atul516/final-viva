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3559"/>
    <p:restoredTop sz="94629"/>
  </p:normalViewPr>
  <p:slideViewPr>
    <p:cSldViewPr snapToGrid="0" snapToObjects="1">
      <p:cViewPr varScale="1">
        <p:scale>
          <a:sx n="103" d="100"/>
          <a:sy n="103" d="100"/>
        </p:scale>
        <p:origin x="1152" y="168"/>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92166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4452501"/>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Façade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Concealed)</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a:p>
            <a:pPr>
              <a:spcBef>
                <a:spcPts val="300"/>
              </a:spcBef>
              <a:spcAft>
                <a:spcPts val="400"/>
              </a:spcAft>
            </a:pPr>
            <a:r>
              <a:rPr sz="1400" b="1" dirty="0">
                <a:solidFill>
                  <a:srgbClr val="A8552F"/>
                </a:solidFill>
                <a:latin typeface="Avenir Next" panose="020B0503020202020204" pitchFamily="34" charset="0"/>
              </a:rPr>
              <a:t>• Disconnected Governance: </a:t>
            </a:r>
            <a:r>
              <a:rPr sz="1400" dirty="0">
                <a:solidFill>
                  <a:srgbClr val="2D2D2D"/>
                </a:solidFill>
                <a:latin typeface="Avenir Next" panose="020B0503020202020204" pitchFamily="34" charset="0"/>
              </a:rPr>
              <a:t>PR and marketing operate independently from boardroom decisions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 just a distant corporate issue—it directly affects our wallets, our choices, and our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1920240"/>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1920240"/>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1920240"/>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Corporate slogans like 'Net-Zero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action, while extreme weather and toxic pollution directly threaten our families.</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latin typeface="Avenir Next" panose="020B0503020202020204" pitchFamily="34" charset="0"/>
              </a:rPr>
              <a:t>THE </a:t>
            </a:r>
            <a:r>
              <a:rPr lang="en-US" dirty="0">
                <a:latin typeface="Avenir Next" panose="020B0503020202020204" pitchFamily="34" charset="0"/>
              </a:rPr>
              <a:t>PROBLEM</a:t>
            </a:r>
            <a:r>
              <a:rPr dirty="0">
                <a:latin typeface="Avenir Next" panose="020B0503020202020204" pitchFamily="34" charset="0"/>
              </a:rPr>
              <a:t> </a:t>
            </a:r>
            <a:r>
              <a:rPr lang="en-US" dirty="0">
                <a:latin typeface="Avenir Next" panose="020B0503020202020204" pitchFamily="34" charset="0"/>
              </a:rPr>
              <a:t>IN FRONT OF</a:t>
            </a:r>
            <a:r>
              <a:rPr dirty="0">
                <a:latin typeface="Avenir Next" panose="020B0503020202020204" pitchFamily="34" charset="0"/>
              </a:rPr>
              <a:t> US:</a:t>
            </a:r>
          </a:p>
          <a:p>
            <a:pPr algn="ctr">
              <a:defRPr sz="1500" b="1" i="1">
                <a:solidFill>
                  <a:srgbClr val="FFFFFF"/>
                </a:solidFill>
              </a:defRPr>
            </a:pPr>
            <a:r>
              <a:rPr dirty="0">
                <a:latin typeface="Avenir Next" panose="020B0503020202020204" pitchFamily="34" charset="0"/>
              </a:rPr>
              <a:t>“When every label claims to be 'green', how do </a:t>
            </a:r>
            <a:r>
              <a:rPr lang="en-US" dirty="0">
                <a:latin typeface="Avenir Next" panose="020B0503020202020204" pitchFamily="34" charset="0"/>
              </a:rPr>
              <a:t>we</a:t>
            </a:r>
            <a:r>
              <a:rPr dirty="0">
                <a:latin typeface="Avenir Next" panose="020B0503020202020204" pitchFamily="34" charset="0"/>
              </a:rPr>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614768"/>
            <a:ext cx="3166684" cy="29688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948116" y="1721529"/>
            <a:ext cx="2207454"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987552" y="2752875"/>
            <a:ext cx="2670048" cy="1384995"/>
          </a:xfrm>
          <a:prstGeom prst="rect">
            <a:avLst/>
          </a:prstGeom>
          <a:noFill/>
        </p:spPr>
        <p:txBody>
          <a:bodyPr wrap="square" lIns="91440" tIns="45720" rIns="91440" bIns="45720" anchor="t">
            <a:spAutoFit/>
          </a:bodyPr>
          <a:lstStyle/>
          <a:p>
            <a:pPr>
              <a:defRPr sz="1150" b="0">
                <a:solidFill>
                  <a:srgbClr val="2A2A2A"/>
                </a:solidFill>
                <a:latin typeface="Avenir Next"/>
              </a:defRPr>
            </a:pPr>
            <a:r>
              <a:rPr sz="1400" dirty="0">
                <a:latin typeface="Avenir Next" panose="020B0503020202020204" pitchFamily="34" charset="0"/>
              </a:rPr>
              <a:t>ASCI reviewed 211 environmental ads in </a:t>
            </a:r>
            <a:r>
              <a:rPr lang="en-US" sz="1400" dirty="0">
                <a:latin typeface="Avenir Next" panose="020B0503020202020204" pitchFamily="34" charset="0"/>
              </a:rPr>
              <a:t>its 2024-25 Annual Report </a:t>
            </a:r>
            <a:r>
              <a:rPr sz="1400" dirty="0">
                <a:latin typeface="Avenir Next" panose="020B0503020202020204" pitchFamily="34" charset="0"/>
              </a:rPr>
              <a:t>and every one </a:t>
            </a:r>
            <a:r>
              <a:rPr lang="en-US" sz="1400" dirty="0">
                <a:latin typeface="Avenir Next" panose="020B0503020202020204" pitchFamily="34" charset="0"/>
              </a:rPr>
              <a:t>of them </a:t>
            </a:r>
            <a:r>
              <a:rPr sz="1400"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315968" y="1721528"/>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226470" y="2299101"/>
            <a:ext cx="2722970" cy="738664"/>
          </a:xfrm>
          <a:prstGeom prst="rect">
            <a:avLst/>
          </a:prstGeom>
          <a:noFill/>
        </p:spPr>
        <p:txBody>
          <a:bodyPr wrap="square" lIns="91440" tIns="45720" rIns="91440" bIns="45720" anchor="t">
            <a:spAutoFit/>
          </a:bodyPr>
          <a:lstStyle/>
          <a:p>
            <a:pPr marL="285750" indent="-285750" algn="l">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54% of NSE-listed firms in one study engaged in greenwashing.</a:t>
            </a:r>
            <a:endParaRPr lang="en-US" sz="1400" dirty="0">
              <a:latin typeface="Avenir Next" panose="020B0503020202020204" pitchFamily="34" charset="0"/>
            </a:endParaRPr>
          </a:p>
        </p:txBody>
      </p:sp>
      <p:sp>
        <p:nvSpPr>
          <p:cNvPr id="16" name="TextBox 15"/>
          <p:cNvSpPr txBox="1"/>
          <p:nvPr/>
        </p:nvSpPr>
        <p:spPr>
          <a:xfrm>
            <a:off x="4226470" y="3008074"/>
            <a:ext cx="2722970" cy="738664"/>
          </a:xfrm>
          <a:prstGeom prst="rect">
            <a:avLst/>
          </a:prstGeom>
          <a:noFill/>
        </p:spPr>
        <p:txBody>
          <a:bodyPr wrap="square" lIns="91440" tIns="45720" rIns="91440" bIns="45720" anchor="t">
            <a:spAutoFit/>
          </a:bodyPr>
          <a:lstStyle/>
          <a:p>
            <a:pPr marL="342900" indent="-342900">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47% of NIFTY 50 companies were flagged in </a:t>
            </a:r>
            <a:r>
              <a:rPr lang="en-US" sz="1400" dirty="0">
                <a:latin typeface="Avenir Next" panose="020B0503020202020204" pitchFamily="34" charset="0"/>
              </a:rPr>
              <a:t>another research</a:t>
            </a:r>
            <a:r>
              <a:rPr sz="1400" dirty="0">
                <a:latin typeface="Avenir Next" panose="020B0503020202020204" pitchFamily="34" charset="0"/>
              </a:rPr>
              <a:t>.</a:t>
            </a:r>
            <a:endParaRPr lang="en-US" sz="1400" dirty="0">
              <a:latin typeface="Avenir Next" panose="020B0503020202020204" pitchFamily="34" charset="0"/>
            </a:endParaRPr>
          </a:p>
        </p:txBody>
      </p:sp>
      <p:sp>
        <p:nvSpPr>
          <p:cNvPr id="17" name="TextBox 16"/>
          <p:cNvSpPr txBox="1"/>
          <p:nvPr/>
        </p:nvSpPr>
        <p:spPr>
          <a:xfrm>
            <a:off x="4212151" y="3692983"/>
            <a:ext cx="2938457" cy="954107"/>
          </a:xfrm>
          <a:prstGeom prst="rect">
            <a:avLst/>
          </a:prstGeom>
          <a:noFill/>
        </p:spPr>
        <p:txBody>
          <a:bodyPr wrap="square" anchor="t">
            <a:spAutoFit/>
          </a:bodyPr>
          <a:lstStyle/>
          <a:p>
            <a:pPr marL="285750" indent="-285750" algn="l">
              <a:buFont typeface="Arial" panose="020B0604020202020204" pitchFamily="34" charset="0"/>
              <a:buChar char="•"/>
              <a:defRPr sz="1080" b="0">
                <a:solidFill>
                  <a:srgbClr val="2A2A2A"/>
                </a:solidFill>
                <a:latin typeface="Avenir Next"/>
              </a:defRPr>
            </a:pPr>
            <a:r>
              <a:rPr sz="14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443216" y="1614769"/>
            <a:ext cx="422452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644382" y="172152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699248" y="228959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1" name="TextBox 20"/>
          <p:cNvSpPr txBox="1"/>
          <p:nvPr/>
        </p:nvSpPr>
        <p:spPr>
          <a:xfrm>
            <a:off x="7719478" y="2634238"/>
            <a:ext cx="1591056"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28959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3" name="TextBox 22"/>
          <p:cNvSpPr txBox="1"/>
          <p:nvPr/>
        </p:nvSpPr>
        <p:spPr>
          <a:xfrm>
            <a:off x="9349052" y="2701672"/>
            <a:ext cx="1901952"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585394"/>
            <a:ext cx="3657600" cy="1384995"/>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400" dirty="0">
                <a:latin typeface="Avenir Next" panose="020B0503020202020204" pitchFamily="34" charset="0"/>
              </a:rPr>
              <a:t>India is already the fourth-largest emerging-market source of sustainable debt globally, </a:t>
            </a:r>
            <a:endParaRPr lang="en-US" sz="1400" dirty="0">
              <a:latin typeface="Avenir Next" panose="020B0503020202020204" pitchFamily="34" charset="0"/>
            </a:endParaRPr>
          </a:p>
          <a:p>
            <a:pPr algn="ctr">
              <a:defRPr sz="1070" b="1">
                <a:solidFill>
                  <a:srgbClr val="A23E2A"/>
                </a:solidFill>
                <a:latin typeface="Avenir Next"/>
              </a:defRPr>
            </a:pPr>
            <a:r>
              <a:rPr lang="en-US" sz="1400" dirty="0">
                <a:latin typeface="Avenir Next" panose="020B0503020202020204" pitchFamily="34" charset="0"/>
              </a:rPr>
              <a:t>And</a:t>
            </a:r>
            <a:r>
              <a:rPr sz="1400" dirty="0">
                <a:latin typeface="Avenir Next" panose="020B0503020202020204" pitchFamily="34" charset="0"/>
              </a:rPr>
              <a:t> RBI research finds ESG </a:t>
            </a:r>
            <a:r>
              <a:rPr lang="en-US" sz="1400" dirty="0">
                <a:latin typeface="Avenir Next" panose="020B0503020202020204" pitchFamily="34" charset="0"/>
              </a:rPr>
              <a:t>claim based stocks have returns</a:t>
            </a:r>
            <a:r>
              <a:rPr sz="1400" dirty="0">
                <a:latin typeface="Avenir Next" panose="020B0503020202020204" pitchFamily="34" charset="0"/>
              </a:rPr>
              <a:t> above market predictions.</a:t>
            </a:r>
          </a:p>
        </p:txBody>
      </p:sp>
      <p:sp>
        <p:nvSpPr>
          <p:cNvPr id="25" name="Rounded Rectangle 24"/>
          <p:cNvSpPr/>
          <p:nvPr/>
        </p:nvSpPr>
        <p:spPr>
          <a:xfrm>
            <a:off x="770037" y="4909764"/>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948116" y="5038696"/>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lacks proper Verification</a:t>
            </a:r>
            <a:endParaRPr sz="1400" dirty="0">
              <a:latin typeface="Avenir Next" panose="020B0503020202020204" pitchFamily="34" charset="0"/>
            </a:endParaRPr>
          </a:p>
        </p:txBody>
      </p:sp>
      <p:sp>
        <p:nvSpPr>
          <p:cNvPr id="27" name="TextBox 26"/>
          <p:cNvSpPr txBox="1"/>
          <p:nvPr/>
        </p:nvSpPr>
        <p:spPr>
          <a:xfrm>
            <a:off x="783524" y="5555990"/>
            <a:ext cx="4918449" cy="830997"/>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sz="1200" dirty="0">
                <a:latin typeface="Avenir Next" panose="020B0503020202020204" pitchFamily="34" charset="0"/>
              </a:rPr>
              <a:t>CPCB uncovered about 600,000 fake EPR certificates in 2024, </a:t>
            </a:r>
            <a:r>
              <a:rPr lang="en-US" sz="1200" dirty="0">
                <a:latin typeface="Avenir Next" panose="020B0503020202020204" pitchFamily="34" charset="0"/>
              </a:rPr>
              <a:t>and NGT took </a:t>
            </a:r>
            <a:r>
              <a:rPr lang="en-US" sz="1200" dirty="0" err="1">
                <a:latin typeface="Avenir Next" panose="020B0503020202020204" pitchFamily="34" charset="0"/>
              </a:rPr>
              <a:t>suo</a:t>
            </a:r>
            <a:r>
              <a:rPr lang="en-US" sz="1200" dirty="0">
                <a:latin typeface="Avenir Next" panose="020B0503020202020204" pitchFamily="34" charset="0"/>
              </a:rPr>
              <a:t> moto cognizance of it; </a:t>
            </a:r>
          </a:p>
          <a:p>
            <a:pPr algn="ctr">
              <a:defRPr sz="1100" b="0">
                <a:solidFill>
                  <a:srgbClr val="2A2A2A"/>
                </a:solidFill>
                <a:latin typeface="Avenir Next"/>
              </a:defRPr>
            </a:pPr>
            <a:r>
              <a:rPr lang="en-US" sz="1200" dirty="0">
                <a:latin typeface="Avenir Next" panose="020B0503020202020204" pitchFamily="34" charset="0"/>
              </a:rPr>
              <a:t>showing</a:t>
            </a:r>
            <a:r>
              <a:rPr sz="1200" dirty="0">
                <a:latin typeface="Avenir Next" panose="020B0503020202020204" pitchFamily="34" charset="0"/>
              </a:rPr>
              <a:t> that the verification deficit reaches the infrastructure of environmental compliance itself.</a:t>
            </a:r>
          </a:p>
        </p:txBody>
      </p:sp>
      <p:sp>
        <p:nvSpPr>
          <p:cNvPr id="28" name="Rounded Rectangle 27"/>
          <p:cNvSpPr/>
          <p:nvPr/>
        </p:nvSpPr>
        <p:spPr>
          <a:xfrm>
            <a:off x="5925312" y="5390971"/>
            <a:ext cx="5742432" cy="93446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73866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IN" sz="1400" dirty="0">
                <a:latin typeface="Avenir Next" panose="020B0503020202020204" pitchFamily="34" charset="0"/>
              </a:rPr>
              <a:t>Key Takeaway: At this scale, greenwashing is not harmless marketing hype. It distorts both consumer choice and capital allocation.</a:t>
            </a:r>
            <a:endParaRPr lang="en-IN" sz="1600" dirty="0">
              <a:latin typeface="Avenir Next" panose="020B0503020202020204" pitchFamily="34" charset="0"/>
            </a:endParaRPr>
          </a:p>
        </p:txBody>
      </p:sp>
      <p:sp>
        <p:nvSpPr>
          <p:cNvPr id="30" name="TextBox 29"/>
          <p:cNvSpPr txBox="1"/>
          <p:nvPr/>
        </p:nvSpPr>
        <p:spPr>
          <a:xfrm>
            <a:off x="593901" y="6545178"/>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84775"/>
          </a:xfrm>
          <a:prstGeom prst="rect">
            <a:avLst/>
          </a:prstGeom>
          <a:noFill/>
        </p:spPr>
        <p:txBody>
          <a:bodyPr wrap="square" lIns="91440" tIns="45720" rIns="91440" bIns="45720" anchor="t">
            <a:spAutoFit/>
          </a:bodyPr>
          <a:lstStyle/>
          <a:p>
            <a:pPr>
              <a:defRPr sz="1200" b="0">
                <a:solidFill>
                  <a:srgbClr val="6B6B7B"/>
                </a:solidFill>
                <a:latin typeface="Calibri"/>
              </a:defRPr>
            </a:pPr>
            <a:r>
              <a:rPr sz="1600" b="1" dirty="0"/>
              <a:t>Existing scholarship treats greenwashing primarily as a marketing issue. This research investigates the structural flaws in legal accountability.</a:t>
            </a:r>
            <a:endParaRPr lang="en-US" sz="1600" b="1" dirty="0">
              <a:ea typeface="Calibri"/>
              <a:cs typeface="Calibri"/>
            </a:endParaRPr>
          </a:p>
        </p:txBody>
      </p:sp>
      <p:sp>
        <p:nvSpPr>
          <p:cNvPr id="5" name="Rounded Rectangle 4"/>
          <p:cNvSpPr/>
          <p:nvPr/>
        </p:nvSpPr>
        <p:spPr>
          <a:xfrm>
            <a:off x="7469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6" name="Rounded Rectangle 5"/>
          <p:cNvSpPr/>
          <p:nvPr/>
        </p:nvSpPr>
        <p:spPr>
          <a:xfrm>
            <a:off x="8245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1</a:t>
            </a:r>
          </a:p>
        </p:txBody>
      </p:sp>
      <p:sp>
        <p:nvSpPr>
          <p:cNvPr id="7" name="TextBox 6"/>
          <p:cNvSpPr txBox="1"/>
          <p:nvPr/>
        </p:nvSpPr>
        <p:spPr>
          <a:xfrm>
            <a:off x="14759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Board-Level Accountability</a:t>
            </a:r>
          </a:p>
          <a:p>
            <a:pPr>
              <a:defRPr sz="1050"/>
            </a:pPr>
            <a:r>
              <a:rPr sz="1400" dirty="0">
                <a:latin typeface="Avenir Next" panose="020B0503020202020204" pitchFamily="34" charset="0"/>
              </a:rPr>
              <a:t>Limited </a:t>
            </a:r>
            <a:r>
              <a:rPr lang="en-US" sz="1400" dirty="0">
                <a:latin typeface="Avenir Next" panose="020B0503020202020204" pitchFamily="34" charset="0"/>
              </a:rPr>
              <a:t>existing doctrinal </a:t>
            </a:r>
            <a:r>
              <a:rPr sz="1400" dirty="0">
                <a:latin typeface="Avenir Next" panose="020B0503020202020204" pitchFamily="34" charset="0"/>
              </a:rPr>
              <a:t>work on invoking Section 166(2) against misleading sustainability claims in corporate reports and ESG disclosures.</a:t>
            </a:r>
          </a:p>
        </p:txBody>
      </p:sp>
      <p:sp>
        <p:nvSpPr>
          <p:cNvPr id="8" name="Rounded Rectangle 7"/>
          <p:cNvSpPr/>
          <p:nvPr/>
        </p:nvSpPr>
        <p:spPr>
          <a:xfrm>
            <a:off x="7469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8245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2</a:t>
            </a:r>
          </a:p>
        </p:txBody>
      </p:sp>
      <p:sp>
        <p:nvSpPr>
          <p:cNvPr id="10" name="TextBox 9"/>
          <p:cNvSpPr txBox="1"/>
          <p:nvPr/>
        </p:nvSpPr>
        <p:spPr>
          <a:xfrm>
            <a:off x="14759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Regulatory Fragmentation</a:t>
            </a:r>
          </a:p>
          <a:p>
            <a:pPr>
              <a:defRPr sz="1050"/>
            </a:pPr>
            <a:r>
              <a:rPr sz="1400" dirty="0">
                <a:latin typeface="Avenir Next" panose="020B0503020202020204" pitchFamily="34" charset="0"/>
              </a:rPr>
              <a:t>Green claims are policed across siloed regimes (MCA, SEBI, CCPA/ASCI), creating jurisdictional overlap and an accountability vacuum.</a:t>
            </a:r>
          </a:p>
        </p:txBody>
      </p:sp>
      <p:sp>
        <p:nvSpPr>
          <p:cNvPr id="11" name="Rounded Rectangle 10"/>
          <p:cNvSpPr/>
          <p:nvPr/>
        </p:nvSpPr>
        <p:spPr>
          <a:xfrm>
            <a:off x="746974" y="42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824586" y="43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3</a:t>
            </a:r>
          </a:p>
        </p:txBody>
      </p:sp>
      <p:sp>
        <p:nvSpPr>
          <p:cNvPr id="13" name="TextBox 12"/>
          <p:cNvSpPr txBox="1"/>
          <p:nvPr/>
        </p:nvSpPr>
        <p:spPr>
          <a:xfrm>
            <a:off x="1475918" y="43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a:latin typeface="Avenir Next" panose="020B0503020202020204" pitchFamily="34" charset="0"/>
              </a:rPr>
              <a:t>Verification &amp; Assurance Gap</a:t>
            </a:r>
          </a:p>
          <a:p>
            <a:pPr>
              <a:defRPr sz="1050"/>
            </a:pPr>
            <a:r>
              <a:rPr sz="1400">
                <a:latin typeface="Avenir Next" panose="020B0503020202020204" pitchFamily="34" charset="0"/>
              </a:rPr>
              <a:t>Mandatory ESG disclosure has expanded without mandatory third-party verification, leaving claims unverified.</a:t>
            </a:r>
          </a:p>
        </p:txBody>
      </p:sp>
      <p:sp>
        <p:nvSpPr>
          <p:cNvPr id="14" name="Rounded Rectangle 13"/>
          <p:cNvSpPr/>
          <p:nvPr/>
        </p:nvSpPr>
        <p:spPr>
          <a:xfrm>
            <a:off x="62333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5" name="Rounded Rectangle 14"/>
          <p:cNvSpPr/>
          <p:nvPr/>
        </p:nvSpPr>
        <p:spPr>
          <a:xfrm>
            <a:off x="63109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4</a:t>
            </a:r>
          </a:p>
        </p:txBody>
      </p:sp>
      <p:sp>
        <p:nvSpPr>
          <p:cNvPr id="16" name="TextBox 15"/>
          <p:cNvSpPr txBox="1"/>
          <p:nvPr/>
        </p:nvSpPr>
        <p:spPr>
          <a:xfrm>
            <a:off x="69623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Evolving </a:t>
            </a:r>
            <a:r>
              <a:rPr lang="en-US" dirty="0">
                <a:latin typeface="Avenir Next" panose="020B0503020202020204" pitchFamily="34" charset="0"/>
              </a:rPr>
              <a:t>Forms of Greenwashing: Legal Vacuum</a:t>
            </a:r>
            <a:endParaRPr dirty="0">
              <a:latin typeface="Avenir Next" panose="020B0503020202020204" pitchFamily="34" charset="0"/>
            </a:endParaRPr>
          </a:p>
          <a:p>
            <a:pPr>
              <a:defRPr sz="1050"/>
            </a:pPr>
            <a:r>
              <a:rPr sz="1400" dirty="0">
                <a:latin typeface="Avenir Next" panose="020B0503020202020204" pitchFamily="34" charset="0"/>
              </a:rPr>
              <a:t>Distant net-zero pledges (e.g. 2070) and questionable carbon-offset claims remain unaddressed in current frameworks.</a:t>
            </a:r>
          </a:p>
        </p:txBody>
      </p:sp>
      <p:sp>
        <p:nvSpPr>
          <p:cNvPr id="17" name="Rounded Rectangle 16"/>
          <p:cNvSpPr/>
          <p:nvPr/>
        </p:nvSpPr>
        <p:spPr>
          <a:xfrm>
            <a:off x="62333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8" name="Rounded Rectangle 17"/>
          <p:cNvSpPr/>
          <p:nvPr/>
        </p:nvSpPr>
        <p:spPr>
          <a:xfrm>
            <a:off x="63109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5</a:t>
            </a:r>
          </a:p>
        </p:txBody>
      </p:sp>
      <p:sp>
        <p:nvSpPr>
          <p:cNvPr id="19" name="TextBox 18"/>
          <p:cNvSpPr txBox="1"/>
          <p:nvPr/>
        </p:nvSpPr>
        <p:spPr>
          <a:xfrm>
            <a:off x="69623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Real-World Enforcement Analysis</a:t>
            </a:r>
          </a:p>
          <a:p>
            <a:pPr>
              <a:defRPr sz="1050"/>
            </a:pPr>
            <a:r>
              <a:rPr sz="1400" dirty="0">
                <a:latin typeface="Avenir Next" panose="020B0503020202020204" pitchFamily="34" charset="0"/>
              </a:rPr>
              <a:t>Lack of </a:t>
            </a:r>
            <a:r>
              <a:rPr lang="en-US" sz="1400" dirty="0">
                <a:latin typeface="Avenir Next" panose="020B0503020202020204" pitchFamily="34" charset="0"/>
              </a:rPr>
              <a:t>doctrinal </a:t>
            </a:r>
            <a:r>
              <a:rPr sz="1400" dirty="0">
                <a:latin typeface="Avenir Next" panose="020B0503020202020204" pitchFamily="34" charset="0"/>
              </a:rPr>
              <a:t>studies evaluating why regulators rarely bring deterrent enforcement actions against greenwashing.</a:t>
            </a:r>
          </a:p>
        </p:txBody>
      </p:sp>
      <p:sp>
        <p:nvSpPr>
          <p:cNvPr id="20" name="Rounded Rectangle 19"/>
          <p:cNvSpPr/>
          <p:nvPr/>
        </p:nvSpPr>
        <p:spPr>
          <a:xfrm>
            <a:off x="731520" y="5665372"/>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914400" y="5711092"/>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26080"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7081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(CSRD, Green Claims Directive), US (SEC Rules, FTC Green Guides), UK (FCA Rule, CMA),</a:t>
            </a:r>
            <a:r>
              <a:rPr lang="en-US" sz="1400" dirty="0">
                <a:latin typeface="Avenir Next" panose="020B0503020202020204" pitchFamily="34" charset="0"/>
              </a:rPr>
              <a:t> </a:t>
            </a:r>
            <a:r>
              <a:rPr sz="1400" dirty="0">
                <a:latin typeface="Avenir Next" panose="020B0503020202020204" pitchFamily="34" charset="0"/>
              </a:rPr>
              <a:t>Australia, and others.</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70816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088129"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GROWN</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9"/>
            <a:ext cx="10058400" cy="777240"/>
          </a:xfrm>
          <a:prstGeom prst="roundRect">
            <a:avLst/>
          </a:prstGeom>
          <a:solidFill>
            <a:schemeClr val="accent5">
              <a:lumMod val="75000"/>
            </a:schemeClr>
          </a:solidFill>
          <a:ln w="12700"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dirty="0">
              <a:latin typeface="Avenir Next" panose="020B0503020202020204" pitchFamily="34" charset="0"/>
            </a:endParaRP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101600" cy="77724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715581"/>
          </a:xfrm>
          <a:prstGeom prst="rect">
            <a:avLst/>
          </a:prstGeom>
          <a:noFill/>
        </p:spPr>
        <p:txBody>
          <a:bodyPr wrap="square" anchor="t">
            <a:spAutoFit/>
          </a:bodyPr>
          <a:lstStyle/>
          <a:p>
            <a:pPr algn="l">
              <a:defRPr sz="1250" b="1">
                <a:solidFill>
                  <a:srgbClr val="D1A94B"/>
                </a:solidFill>
                <a:latin typeface="Avenir Next"/>
              </a:defRPr>
            </a:pPr>
            <a:r>
              <a:rPr sz="1250" b="1" dirty="0">
                <a:solidFill>
                  <a:srgbClr val="D1A94B"/>
                </a:solidFill>
                <a:latin typeface="Avenir Next" panose="020B0503020202020204" pitchFamily="34" charset="0"/>
              </a:rPr>
              <a:t>Constitutional Bedrock: </a:t>
            </a:r>
            <a:endParaRPr lang="en-US" sz="1250" b="1" dirty="0">
              <a:solidFill>
                <a:srgbClr val="D1A94B"/>
              </a:solidFill>
              <a:latin typeface="Avenir Next" panose="020B0503020202020204" pitchFamily="34" charset="0"/>
            </a:endParaRPr>
          </a:p>
          <a:p>
            <a:pPr algn="l">
              <a:defRPr sz="1400" b="1">
                <a:solidFill>
                  <a:srgbClr val="FFFFFF"/>
                </a:solidFill>
                <a:latin typeface="Avenir Next"/>
              </a:defRPr>
            </a:pPr>
            <a:r>
              <a:rPr sz="1400" b="1" dirty="0">
                <a:latin typeface="Avenir Next" panose="020B0503020202020204" pitchFamily="34" charset="0"/>
              </a:rPr>
              <a:t>Articles 21, 48A, 51A(g), and the landmark M.K. Ranjitsinh ruling establish a strong duty to take environmental claims seriously.</a:t>
            </a:r>
            <a:endParaRPr lang="en-US" sz="1400" b="1" dirty="0">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Solution</a:t>
            </a: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62712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604292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9190" y="1015812"/>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106717"/>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010878"/>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75966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85209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34388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75966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85209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34388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89580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89580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89579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89580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36237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89579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89580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02381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34014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6572" y="499428"/>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90132168"/>
              </p:ext>
            </p:extLst>
          </p:nvPr>
        </p:nvGraphicFramePr>
        <p:xfrm>
          <a:off x="627999" y="1600906"/>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r>
                        <a:rPr sz="1600" b="1" dirty="0">
                          <a:solidFill>
                            <a:srgbClr val="FFFFFF"/>
                          </a:solidFill>
                          <a:latin typeface="Avenir Next" panose="020B0503020202020204" pitchFamily="34" charset="0"/>
                        </a:rPr>
                        <a:t>Design Element</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European Union</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United Kingdom</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Australia</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India</a:t>
                      </a:r>
                    </a:p>
                  </a:txBody>
                  <a:tcPr anchor="ctr">
                    <a:solidFill>
                      <a:srgbClr val="173F35"/>
                    </a:solidFill>
                  </a:tcPr>
                </a:tc>
                <a:extLst>
                  <a:ext uri="{0D108BD9-81ED-4DB2-BD59-A6C34878D82A}">
                    <a16:rowId xmlns:a16="http://schemas.microsoft.com/office/drawing/2014/main" val="10000"/>
                  </a:ext>
                </a:extLst>
              </a:tr>
              <a:tr h="601980">
                <a:tc>
                  <a:txBody>
                    <a:bodyPr/>
                    <a:lstStyle/>
                    <a:p>
                      <a:r>
                        <a:rPr sz="1600" b="0" dirty="0"/>
                        <a:t>Board Accountability</a:t>
                      </a:r>
                    </a:p>
                  </a:txBody>
                  <a:tcPr>
                    <a:solidFill>
                      <a:srgbClr val="FFFDF8"/>
                    </a:solidFill>
                  </a:tcPr>
                </a:tc>
                <a:tc>
                  <a:txBody>
                    <a:bodyPr/>
                    <a:lstStyle/>
                    <a:p>
                      <a:r>
                        <a:rPr sz="1600" b="0" dirty="0"/>
                        <a:t>Strong &amp; direct</a:t>
                      </a:r>
                    </a:p>
                  </a:txBody>
                  <a:tcPr>
                    <a:solidFill>
                      <a:srgbClr val="FFFDF8"/>
                    </a:solidFill>
                  </a:tcPr>
                </a:tc>
                <a:tc>
                  <a:txBody>
                    <a:bodyPr/>
                    <a:lstStyle/>
                    <a:p>
                      <a:r>
                        <a:rPr sz="1600" b="0" dirty="0"/>
                        <a:t>Strong &amp; direct</a:t>
                      </a:r>
                    </a:p>
                  </a:txBody>
                  <a:tcPr>
                    <a:solidFill>
                      <a:srgbClr val="FFFDF8"/>
                    </a:solidFill>
                  </a:tcPr>
                </a:tc>
                <a:tc>
                  <a:txBody>
                    <a:bodyPr/>
                    <a:lstStyle/>
                    <a:p>
                      <a:r>
                        <a:rPr sz="1600" b="0"/>
                        <a:t>Growing &amp; active</a:t>
                      </a:r>
                    </a:p>
                  </a:txBody>
                  <a:tcPr>
                    <a:solidFill>
                      <a:srgbClr val="FFFDF8"/>
                    </a:solidFill>
                  </a:tcPr>
                </a:tc>
                <a:tc>
                  <a:txBody>
                    <a:bodyPr/>
                    <a:lstStyle/>
                    <a:p>
                      <a:r>
                        <a:rPr sz="1600" b="0" dirty="0">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600" b="0" dirty="0"/>
                        <a:t>Integrated architecture</a:t>
                      </a:r>
                    </a:p>
                  </a:txBody>
                  <a:tcPr>
                    <a:solidFill>
                      <a:srgbClr val="E8EFE6"/>
                    </a:solidFill>
                  </a:tcPr>
                </a:tc>
                <a:tc>
                  <a:txBody>
                    <a:bodyPr/>
                    <a:lstStyle/>
                    <a:p>
                      <a:r>
                        <a:rPr sz="1600" b="0" dirty="0"/>
                        <a:t>Integrated reporting &amp; claim rules</a:t>
                      </a:r>
                    </a:p>
                  </a:txBody>
                  <a:tcPr>
                    <a:solidFill>
                      <a:srgbClr val="E8EFE6"/>
                    </a:solidFill>
                  </a:tcPr>
                </a:tc>
                <a:tc>
                  <a:txBody>
                    <a:bodyPr/>
                    <a:lstStyle/>
                    <a:p>
                      <a:r>
                        <a:rPr sz="1600" b="0" dirty="0"/>
                        <a:t>FCA + CMA + Company Law</a:t>
                      </a:r>
                    </a:p>
                  </a:txBody>
                  <a:tcPr>
                    <a:solidFill>
                      <a:srgbClr val="E8EFE6"/>
                    </a:solidFill>
                  </a:tcPr>
                </a:tc>
                <a:tc>
                  <a:txBody>
                    <a:bodyPr/>
                    <a:lstStyle/>
                    <a:p>
                      <a:r>
                        <a:rPr sz="1600" b="0" dirty="0"/>
                        <a:t>Active inter-agency teamwork</a:t>
                      </a:r>
                    </a:p>
                  </a:txBody>
                  <a:tcPr>
                    <a:solidFill>
                      <a:srgbClr val="E8EFE6"/>
                    </a:solidFill>
                  </a:tcPr>
                </a:tc>
                <a:tc>
                  <a:txBody>
                    <a:bodyPr/>
                    <a:lstStyle/>
                    <a:p>
                      <a:r>
                        <a:rPr sz="1600" b="0" dirty="0">
                          <a:solidFill>
                            <a:srgbClr val="A8552F"/>
                          </a:solidFill>
                        </a:rPr>
                        <a:t>MCA, SEBI &amp; CCPA</a:t>
                      </a:r>
                      <a:r>
                        <a:rPr lang="en-US" sz="1600" b="0" dirty="0">
                          <a:solidFill>
                            <a:srgbClr val="A8552F"/>
                          </a:solidFill>
                        </a:rPr>
                        <a:t> working</a:t>
                      </a:r>
                      <a:r>
                        <a:rPr sz="1600" b="0"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600" b="0"/>
                        <a:t>Third-Party Audits</a:t>
                      </a:r>
                    </a:p>
                  </a:txBody>
                  <a:tcPr>
                    <a:solidFill>
                      <a:srgbClr val="FFFDF8"/>
                    </a:solidFill>
                  </a:tcPr>
                </a:tc>
                <a:tc>
                  <a:txBody>
                    <a:bodyPr/>
                    <a:lstStyle/>
                    <a:p>
                      <a:r>
                        <a:rPr sz="1600" b="0"/>
                        <a:t>Phased move to strict audits</a:t>
                      </a:r>
                    </a:p>
                  </a:txBody>
                  <a:tcPr>
                    <a:solidFill>
                      <a:srgbClr val="FFFDF8"/>
                    </a:solidFill>
                  </a:tcPr>
                </a:tc>
                <a:tc>
                  <a:txBody>
                    <a:bodyPr/>
                    <a:lstStyle/>
                    <a:p>
                      <a:r>
                        <a:rPr sz="1600" b="0" dirty="0"/>
                        <a:t>Expanding requirements</a:t>
                      </a:r>
                    </a:p>
                  </a:txBody>
                  <a:tcPr>
                    <a:solidFill>
                      <a:srgbClr val="FFFDF8"/>
                    </a:solidFill>
                  </a:tcPr>
                </a:tc>
                <a:tc>
                  <a:txBody>
                    <a:bodyPr/>
                    <a:lstStyle/>
                    <a:p>
                      <a:r>
                        <a:rPr sz="1600" b="0" dirty="0"/>
                        <a:t>Moving to mandatory audits</a:t>
                      </a:r>
                    </a:p>
                  </a:txBody>
                  <a:tcPr>
                    <a:solidFill>
                      <a:srgbClr val="FFFDF8"/>
                    </a:solidFill>
                  </a:tcPr>
                </a:tc>
                <a:tc>
                  <a:txBody>
                    <a:bodyPr/>
                    <a:lstStyle/>
                    <a:p>
                      <a:r>
                        <a:rPr sz="1600" b="0">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600" b="0"/>
                        <a:t>Future Claims &amp; Offsets</a:t>
                      </a:r>
                    </a:p>
                  </a:txBody>
                  <a:tcPr>
                    <a:solidFill>
                      <a:srgbClr val="E8EFE6"/>
                    </a:solidFill>
                  </a:tcPr>
                </a:tc>
                <a:tc>
                  <a:txBody>
                    <a:bodyPr/>
                    <a:lstStyle/>
                    <a:p>
                      <a:r>
                        <a:rPr sz="1600" b="0"/>
                        <a:t>Strict limits on offset claims</a:t>
                      </a:r>
                    </a:p>
                  </a:txBody>
                  <a:tcPr>
                    <a:solidFill>
                      <a:srgbClr val="E8EFE6"/>
                    </a:solidFill>
                  </a:tcPr>
                </a:tc>
                <a:tc>
                  <a:txBody>
                    <a:bodyPr/>
                    <a:lstStyle/>
                    <a:p>
                      <a:r>
                        <a:rPr sz="1600" b="0"/>
                        <a:t>Subject to regulatory checks</a:t>
                      </a:r>
                    </a:p>
                  </a:txBody>
                  <a:tcPr>
                    <a:solidFill>
                      <a:srgbClr val="E8EFE6"/>
                    </a:solidFill>
                  </a:tcPr>
                </a:tc>
                <a:tc>
                  <a:txBody>
                    <a:bodyPr/>
                    <a:lstStyle/>
                    <a:p>
                      <a:r>
                        <a:rPr sz="1600" b="0" dirty="0"/>
                        <a:t>Actively policed under law</a:t>
                      </a:r>
                    </a:p>
                  </a:txBody>
                  <a:tcPr>
                    <a:solidFill>
                      <a:srgbClr val="E8EFE6"/>
                    </a:solidFill>
                  </a:tcPr>
                </a:tc>
                <a:tc>
                  <a:txBody>
                    <a:bodyPr/>
                    <a:lstStyle/>
                    <a:p>
                      <a:r>
                        <a:rPr sz="1600" b="0"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600" b="0" dirty="0"/>
                        <a:t>Proportionate penalties</a:t>
                      </a:r>
                    </a:p>
                  </a:txBody>
                  <a:tcPr>
                    <a:solidFill>
                      <a:srgbClr val="FFFDF8"/>
                    </a:solidFill>
                  </a:tcPr>
                </a:tc>
                <a:tc>
                  <a:txBody>
                    <a:bodyPr/>
                    <a:lstStyle/>
                    <a:p>
                      <a:r>
                        <a:rPr sz="1600" b="0"/>
                        <a:t>Linked to company turnover</a:t>
                      </a:r>
                    </a:p>
                  </a:txBody>
                  <a:tcPr>
                    <a:solidFill>
                      <a:srgbClr val="FFFDF8"/>
                    </a:solidFill>
                  </a:tcPr>
                </a:tc>
                <a:tc>
                  <a:txBody>
                    <a:bodyPr/>
                    <a:lstStyle/>
                    <a:p>
                      <a:r>
                        <a:rPr sz="1600" b="0"/>
                        <a:t>Up to 10% global turnover</a:t>
                      </a:r>
                    </a:p>
                  </a:txBody>
                  <a:tcPr>
                    <a:solidFill>
                      <a:srgbClr val="FFFDF8"/>
                    </a:solidFill>
                  </a:tcPr>
                </a:tc>
                <a:tc>
                  <a:txBody>
                    <a:bodyPr/>
                    <a:lstStyle/>
                    <a:p>
                      <a:r>
                        <a:rPr sz="1600" b="0"/>
                        <a:t>High civil penalty exposure</a:t>
                      </a:r>
                    </a:p>
                  </a:txBody>
                  <a:tcPr>
                    <a:solidFill>
                      <a:srgbClr val="FFFDF8"/>
                    </a:solidFill>
                  </a:tcPr>
                </a:tc>
                <a:tc>
                  <a:txBody>
                    <a:bodyPr/>
                    <a:lstStyle/>
                    <a:p>
                      <a:r>
                        <a:rPr sz="1600" b="0" dirty="0">
                          <a:solidFill>
                            <a:srgbClr val="A8552F"/>
                          </a:solidFill>
                        </a:rPr>
                        <a:t>Low fixed cap </a:t>
                      </a:r>
                      <a:r>
                        <a:rPr lang="en-US" sz="1600" b="0" dirty="0">
                          <a:solidFill>
                            <a:srgbClr val="A8552F"/>
                          </a:solidFill>
                        </a:rPr>
                        <a:t>penalties</a:t>
                      </a:r>
                      <a:endParaRPr sz="1600" b="0"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836568"/>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738357" y="5880157"/>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13" name="Rounded Rectangle 12"/>
          <p:cNvSpPr/>
          <p:nvPr/>
        </p:nvSpPr>
        <p:spPr>
          <a:xfrm>
            <a:off x="697925" y="1646661"/>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618129"/>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2272572"/>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Proof Before Publishing: </a:t>
            </a:r>
            <a:r>
              <a:rPr sz="1600" dirty="0">
                <a:latin typeface="Avenir Next" panose="020B0503020202020204" pitchFamily="34" charset="0"/>
              </a:rPr>
              <a:t>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Independent Audits: </a:t>
            </a:r>
            <a:r>
              <a:rPr sz="1600" dirty="0">
                <a:latin typeface="Avenir Next" panose="020B0503020202020204" pitchFamily="34" charset="0"/>
              </a:rPr>
              <a:t>Mandatory third-party assurance that escalates over time.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Clear Accountability: </a:t>
            </a:r>
            <a:r>
              <a:rPr sz="1600" dirty="0">
                <a:latin typeface="Avenir Next" panose="020B0503020202020204" pitchFamily="34" charset="0"/>
              </a:rPr>
              <a:t>Direct liability routes for decision-makers.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Turnover-Linked Penalties: </a:t>
            </a:r>
            <a:r>
              <a:rPr sz="1600" dirty="0">
                <a:latin typeface="Avenir Next" panose="020B0503020202020204" pitchFamily="34" charset="0"/>
              </a:rPr>
              <a:t>Fines scaled to company revenue to deter misconduct.</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Lifecycle Coverage: </a:t>
            </a:r>
            <a:r>
              <a:rPr sz="1600" dirty="0">
                <a:latin typeface="Avenir Next" panose="020B0503020202020204" pitchFamily="34" charset="0"/>
              </a:rPr>
              <a:t>Rules apply from product labels to financial filings.</a:t>
            </a:r>
          </a:p>
        </p:txBody>
      </p:sp>
      <p:sp>
        <p:nvSpPr>
          <p:cNvPr id="16" name="Rounded Rectangle 15"/>
          <p:cNvSpPr/>
          <p:nvPr/>
        </p:nvSpPr>
        <p:spPr>
          <a:xfrm>
            <a:off x="6350320" y="1646660"/>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618129"/>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2244430"/>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Reactive Policing: </a:t>
            </a:r>
            <a:r>
              <a:rPr sz="1600" dirty="0">
                <a:latin typeface="Avenir Next" panose="020B0503020202020204" pitchFamily="34" charset="0"/>
              </a:rPr>
              <a:t>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Diluted Auditing: </a:t>
            </a:r>
            <a:r>
              <a:rPr sz="1600" dirty="0">
                <a:latin typeface="Avenir Next" panose="020B0503020202020204" pitchFamily="34" charset="0"/>
              </a:rPr>
              <a:t>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No Pre-Approval: </a:t>
            </a:r>
            <a:r>
              <a:rPr sz="1600" dirty="0">
                <a:latin typeface="Avenir Next" panose="020B0503020202020204" pitchFamily="34" charset="0"/>
              </a:rPr>
              <a:t>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Regulatory Rollbacks:</a:t>
            </a:r>
            <a:r>
              <a:rPr sz="1600" dirty="0">
                <a:latin typeface="Avenir Next" panose="020B0503020202020204" pitchFamily="34" charset="0"/>
              </a:rPr>
              <a:t> Repeated delays and narrowed reporting scopes.</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Fixed Low Penalties: </a:t>
            </a:r>
            <a:r>
              <a:rPr sz="1600" dirty="0">
                <a:latin typeface="Avenir Next" panose="020B0503020202020204" pitchFamily="34" charset="0"/>
              </a:rPr>
              <a:t>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2057400"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2057400"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2057400"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984853"/>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6028442"/>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5984853"/>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028442"/>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1909</TotalTime>
  <Words>4565</Words>
  <Application>Microsoft Macintosh PowerPoint</Application>
  <PresentationFormat>Widescreen</PresentationFormat>
  <Paragraphs>470</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1419</cp:revision>
  <dcterms:created xsi:type="dcterms:W3CDTF">2013-01-27T09:14:16Z</dcterms:created>
  <dcterms:modified xsi:type="dcterms:W3CDTF">2026-08-16T15:24:35Z</dcterms:modified>
  <cp:category/>
</cp:coreProperties>
</file>