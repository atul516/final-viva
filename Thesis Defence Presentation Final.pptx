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79" r:id="rId2"/>
    <p:sldId id="297" r:id="rId3"/>
    <p:sldId id="298" r:id="rId4"/>
    <p:sldId id="300" r:id="rId5"/>
    <p:sldId id="265" r:id="rId6"/>
    <p:sldId id="302" r:id="rId7"/>
    <p:sldId id="301" r:id="rId8"/>
    <p:sldId id="280" r:id="rId9"/>
    <p:sldId id="281" r:id="rId10"/>
    <p:sldId id="303" r:id="rId11"/>
    <p:sldId id="290" r:id="rId12"/>
    <p:sldId id="317" r:id="rId13"/>
    <p:sldId id="310" r:id="rId14"/>
    <p:sldId id="294" r:id="rId15"/>
    <p:sldId id="319" r:id="rId16"/>
    <p:sldId id="323" r:id="rId17"/>
    <p:sldId id="272" r:id="rId18"/>
    <p:sldId id="289" r:id="rId19"/>
    <p:sldId id="328" r:id="rId20"/>
    <p:sldId id="266" r:id="rId21"/>
    <p:sldId id="29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8D29"/>
    <a:srgbClr val="00A731"/>
    <a:srgbClr val="2A6334"/>
    <a:srgbClr val="216300"/>
    <a:srgbClr val="3C4A1F"/>
    <a:srgbClr val="FFF9B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D82549-73EC-4856-879A-C813D151772C}" v="3106" dt="2026-03-17T15:45:46.5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01"/>
    <p:restoredTop sz="94629"/>
  </p:normalViewPr>
  <p:slideViewPr>
    <p:cSldViewPr snapToGrid="0" snapToObjects="1">
      <p:cViewPr varScale="1">
        <p:scale>
          <a:sx n="101" d="100"/>
          <a:sy n="101" d="100"/>
        </p:scale>
        <p:origin x="216" y="23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16D8C7-7ACE-0E43-ADC6-5E8A68AC397B}" type="datetimeFigureOut">
              <a:rPr lang="en-US" smtClean="0"/>
              <a:t>8/21/26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62F6BD-97DA-5F40-B046-A0BF2F554C1C}" type="slidenum">
              <a:rPr lang="en-US" smtClean="0"/>
              <a:t>‹#›</a:t>
            </a:fld>
            <a:endParaRPr lang="en-US"/>
          </a:p>
        </p:txBody>
      </p:sp>
    </p:spTree>
    <p:extLst>
      <p:ext uri="{BB962C8B-B14F-4D97-AF65-F5344CB8AC3E}">
        <p14:creationId xmlns:p14="http://schemas.microsoft.com/office/powerpoint/2010/main" val="3896740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62F6BD-97DA-5F40-B046-A0BF2F554C1C}" type="slidenum">
              <a:rPr lang="en-US" smtClean="0"/>
              <a:t>1</a:t>
            </a:fld>
            <a:endParaRPr lang="en-US"/>
          </a:p>
        </p:txBody>
      </p:sp>
    </p:spTree>
    <p:extLst>
      <p:ext uri="{BB962C8B-B14F-4D97-AF65-F5344CB8AC3E}">
        <p14:creationId xmlns:p14="http://schemas.microsoft.com/office/powerpoint/2010/main" val="394336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62F6BD-97DA-5F40-B046-A0BF2F554C1C}" type="slidenum">
              <a:rPr lang="en-US" smtClean="0"/>
              <a:t>4</a:t>
            </a:fld>
            <a:endParaRPr lang="en-US"/>
          </a:p>
        </p:txBody>
      </p:sp>
    </p:spTree>
    <p:extLst>
      <p:ext uri="{BB962C8B-B14F-4D97-AF65-F5344CB8AC3E}">
        <p14:creationId xmlns:p14="http://schemas.microsoft.com/office/powerpoint/2010/main" val="149921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62F6BD-97DA-5F40-B046-A0BF2F554C1C}" type="slidenum">
              <a:rPr lang="en-US" smtClean="0"/>
              <a:t>10</a:t>
            </a:fld>
            <a:endParaRPr lang="en-US"/>
          </a:p>
        </p:txBody>
      </p:sp>
    </p:spTree>
    <p:extLst>
      <p:ext uri="{BB962C8B-B14F-4D97-AF65-F5344CB8AC3E}">
        <p14:creationId xmlns:p14="http://schemas.microsoft.com/office/powerpoint/2010/main" val="3994628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62F6BD-97DA-5F40-B046-A0BF2F554C1C}" type="slidenum">
              <a:rPr lang="en-US" smtClean="0"/>
              <a:t>15</a:t>
            </a:fld>
            <a:endParaRPr lang="en-US"/>
          </a:p>
        </p:txBody>
      </p:sp>
    </p:spTree>
    <p:extLst>
      <p:ext uri="{BB962C8B-B14F-4D97-AF65-F5344CB8AC3E}">
        <p14:creationId xmlns:p14="http://schemas.microsoft.com/office/powerpoint/2010/main" val="40598478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698CBB9-5E50-2F14-2467-F5962F12EF2A}"/>
              </a:ext>
            </a:extLst>
          </p:cNvPr>
          <p:cNvSpPr>
            <a:spLocks noChangeArrowheads="1"/>
          </p:cNvSpPr>
          <p:nvPr/>
        </p:nvSpPr>
        <p:spPr bwMode="auto">
          <a:xfrm>
            <a:off x="1468193" y="2384770"/>
            <a:ext cx="919551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CORPORATE RESPONSIBILITY REGARDING THE CONCERN OF GREENWASHING, POLICY AND LEGAL INITIATIVES: A CRITICAL STUDY</a:t>
            </a:r>
            <a:endParaRPr kumimoji="0" lang="en-US" altLang="en-US" sz="1000" b="0" i="0" strike="noStrike" cap="none" normalizeH="0" baseline="0" dirty="0">
              <a:ln>
                <a:noFill/>
              </a:ln>
              <a:solidFill>
                <a:schemeClr val="tx1"/>
              </a:solidFill>
              <a:effectLst/>
              <a:latin typeface="Avenir Next" panose="020B0503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strike="noStrike" cap="none" normalizeH="0" baseline="0" dirty="0">
              <a:ln>
                <a:noFill/>
              </a:ln>
              <a:solidFill>
                <a:schemeClr val="tx1"/>
              </a:solidFill>
              <a:effectLst/>
              <a:latin typeface="Avenir Next" panose="020B0503020202020204" pitchFamily="34" charset="0"/>
            </a:endParaRPr>
          </a:p>
        </p:txBody>
      </p:sp>
      <p:pic>
        <p:nvPicPr>
          <p:cNvPr id="1025" name="Picture 1" descr="https://upload.wikimedia.org/wikipedia/en/2/29/Chanakya_National_Law_University_Logo.png">
            <a:extLst>
              <a:ext uri="{FF2B5EF4-FFF2-40B4-BE49-F238E27FC236}">
                <a16:creationId xmlns:a16="http://schemas.microsoft.com/office/drawing/2014/main" id="{2B95BC30-4621-E5CA-BBC4-3F45D7ACEC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4750" y="121898"/>
            <a:ext cx="1493949" cy="137677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377CE1B1-81AF-B124-8E50-A278D3AA36D9}"/>
              </a:ext>
            </a:extLst>
          </p:cNvPr>
          <p:cNvSpPr>
            <a:spLocks noChangeArrowheads="1"/>
          </p:cNvSpPr>
          <p:nvPr/>
        </p:nvSpPr>
        <p:spPr bwMode="auto">
          <a:xfrm>
            <a:off x="2349796" y="3350157"/>
            <a:ext cx="6060558" cy="358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1pPr>
            <a:lvl2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2pPr>
            <a:lvl3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3pPr>
            <a:lvl4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4pPr>
            <a:lvl5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5pPr>
            <a:lvl6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6pPr>
            <a:lvl7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7pPr>
            <a:lvl8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8pPr>
            <a:lvl9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9pPr>
          </a:lstStyle>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altLang="en-US"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Submitte</a:t>
            </a:r>
            <a:r>
              <a:rPr lang="en-US" altLang="en-US" b="1" dirty="0">
                <a:latin typeface="Avenir Next" panose="020B0503020202020204" pitchFamily="34" charset="0"/>
                <a:ea typeface="Aptos" panose="020B0004020202020204" pitchFamily="34" charset="0"/>
                <a:cs typeface="Times New Roman" panose="02020603050405020304" pitchFamily="18" charset="0"/>
              </a:rPr>
              <a:t>d To</a:t>
            </a:r>
            <a:endParaRPr kumimoji="0" lang="en-US" altLang="en-US"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altLang="en-US"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Chanakya National Law University</a:t>
            </a:r>
            <a:endParaRPr kumimoji="0" lang="en-US" altLang="en-US" b="1" i="0" u="none" strike="noStrike" cap="none" normalizeH="0" baseline="0" dirty="0">
              <a:ln>
                <a:noFill/>
              </a:ln>
              <a:solidFill>
                <a:schemeClr val="tx1"/>
              </a:solidFill>
              <a:effectLst/>
              <a:latin typeface="Avenir Next" panose="020B0503020202020204" pitchFamily="34"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altLang="en-US"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Nyaya Nagar, Patna 800001</a:t>
            </a:r>
            <a:endParaRPr lang="en-US" altLang="en-US" sz="1600" b="1" dirty="0">
              <a:latin typeface="Avenir Next" panose="020B0503020202020204" pitchFamily="34"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endParaRPr kumimoji="0" lang="en-US" altLang="en-US" sz="8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endParaRPr kumimoji="0" lang="en-US"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GB"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Under The Supervision Of</a:t>
            </a: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GB"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DR. P. P. RAO</a:t>
            </a:r>
          </a:p>
          <a:p>
            <a:pPr lvl="0" algn="ctr" defTabSz="914400"/>
            <a:r>
              <a:rPr lang="en-GB" altLang="en-US" sz="1600" b="1" dirty="0">
                <a:latin typeface="Avenir Next" panose="020B0503020202020204" pitchFamily="34" charset="0"/>
                <a:ea typeface="Aptos" panose="020B0004020202020204" pitchFamily="34" charset="0"/>
                <a:cs typeface="Times New Roman" panose="02020603050405020304" pitchFamily="18" charset="0"/>
              </a:rPr>
              <a:t>ASSOCIATE PROFESSOR</a:t>
            </a:r>
          </a:p>
          <a:p>
            <a:pPr lvl="0" algn="ctr" defTabSz="914400"/>
            <a:endParaRPr lang="en-GB" altLang="en-US" sz="500" b="1" dirty="0">
              <a:latin typeface="Avenir Next" panose="020B0503020202020204" pitchFamily="34" charset="0"/>
              <a:ea typeface="Aptos" panose="020B0004020202020204" pitchFamily="34" charset="0"/>
              <a:cs typeface="Times New Roman" panose="02020603050405020304" pitchFamily="18" charset="0"/>
            </a:endParaRPr>
          </a:p>
          <a:p>
            <a:pPr lvl="0" algn="ctr" defTabSz="914400"/>
            <a:endParaRPr lang="en-GB" altLang="en-US" sz="1600" b="1" dirty="0">
              <a:latin typeface="Avenir Next" panose="020B0503020202020204" pitchFamily="34" charset="0"/>
              <a:ea typeface="Aptos" panose="020B0004020202020204" pitchFamily="34" charset="0"/>
              <a:cs typeface="Times New Roman" panose="02020603050405020304" pitchFamily="18" charset="0"/>
            </a:endParaRPr>
          </a:p>
          <a:p>
            <a:pPr lvl="0" algn="ctr" defTabSz="914400"/>
            <a:r>
              <a:rPr lang="en-GB" altLang="en-US" sz="1600" b="1" dirty="0">
                <a:latin typeface="Avenir Next" panose="020B0503020202020204" pitchFamily="34" charset="0"/>
                <a:cs typeface="Times New Roman" panose="02020603050405020304" pitchFamily="18" charset="0"/>
              </a:rPr>
              <a:t>Submitted by</a:t>
            </a:r>
          </a:p>
          <a:p>
            <a:pPr lvl="0" algn="ctr" defTabSz="914400"/>
            <a:r>
              <a:rPr kumimoji="0" lang="en-GB"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SAUMYA SINGH</a:t>
            </a:r>
          </a:p>
          <a:p>
            <a:pPr lvl="0" algn="ctr" defTabSz="914400"/>
            <a:r>
              <a:rPr lang="en-GB" altLang="en-US" sz="1600" b="1" dirty="0">
                <a:latin typeface="Avenir Next" panose="020B0503020202020204" pitchFamily="34" charset="0"/>
                <a:ea typeface="Aptos" panose="020B0004020202020204" pitchFamily="34" charset="0"/>
                <a:cs typeface="Times New Roman" panose="02020603050405020304" pitchFamily="18" charset="0"/>
              </a:rPr>
              <a:t>Roll No- PL-2121</a:t>
            </a:r>
          </a:p>
          <a:p>
            <a:pPr algn="ctr" defTabSz="914400"/>
            <a:r>
              <a:rPr lang="en-GB" altLang="en-US" sz="1600" b="1" dirty="0">
                <a:latin typeface="Avenir Next" panose="020B0503020202020204" pitchFamily="34" charset="0"/>
                <a:ea typeface="Aptos" panose="020B0004020202020204" pitchFamily="34" charset="0"/>
                <a:cs typeface="Times New Roman" panose="02020603050405020304" pitchFamily="18" charset="0"/>
              </a:rPr>
              <a:t>Ph.D. (Batch- 2021)</a:t>
            </a:r>
            <a:endParaRPr kumimoji="0" lang="en-GB"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endParaRPr>
          </a:p>
          <a:p>
            <a:pPr lvl="0" algn="ctr" defTabSz="914400"/>
            <a:r>
              <a:rPr kumimoji="0" lang="en-GB"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	</a:t>
            </a:r>
            <a:endParaRPr kumimoji="0" lang="en-GB" altLang="en-US" sz="1600" b="1" i="0" u="none" strike="noStrike" cap="none" normalizeH="0" baseline="0" dirty="0">
              <a:ln>
                <a:noFill/>
              </a:ln>
              <a:solidFill>
                <a:schemeClr val="tx1"/>
              </a:solidFill>
              <a:effectLst/>
              <a:latin typeface="Avenir Next" panose="020B0503020202020204" pitchFamily="34" charset="0"/>
            </a:endParaRPr>
          </a:p>
        </p:txBody>
      </p:sp>
      <p:sp>
        <p:nvSpPr>
          <p:cNvPr id="4" name="TextBox 3">
            <a:extLst>
              <a:ext uri="{FF2B5EF4-FFF2-40B4-BE49-F238E27FC236}">
                <a16:creationId xmlns:a16="http://schemas.microsoft.com/office/drawing/2014/main" id="{D04EECE9-C3B3-47D6-98DA-6D47961BFCE5}"/>
              </a:ext>
            </a:extLst>
          </p:cNvPr>
          <p:cNvSpPr txBox="1"/>
          <p:nvPr/>
        </p:nvSpPr>
        <p:spPr>
          <a:xfrm>
            <a:off x="3820110" y="1498674"/>
            <a:ext cx="3603230" cy="707886"/>
          </a:xfrm>
          <a:prstGeom prst="rect">
            <a:avLst/>
          </a:prstGeom>
          <a:noFill/>
        </p:spPr>
        <p:txBody>
          <a:bodyPr wrap="none" rtlCol="0">
            <a:spAutoFit/>
          </a:bodyPr>
          <a:lstStyle/>
          <a:p>
            <a:pPr algn="ctr"/>
            <a:r>
              <a:rPr lang="en-US" sz="2400" b="1" dirty="0"/>
              <a:t>Final Defense Presentation</a:t>
            </a:r>
          </a:p>
          <a:p>
            <a:pPr algn="ctr"/>
            <a:endParaRPr lang="en-US" sz="200" b="1" dirty="0"/>
          </a:p>
          <a:p>
            <a:pPr algn="ctr"/>
            <a:r>
              <a:rPr lang="en-US" sz="1400" b="1" dirty="0"/>
              <a:t>On the Topic of</a:t>
            </a:r>
          </a:p>
        </p:txBody>
      </p:sp>
    </p:spTree>
    <p:extLst>
      <p:ext uri="{BB962C8B-B14F-4D97-AF65-F5344CB8AC3E}">
        <p14:creationId xmlns:p14="http://schemas.microsoft.com/office/powerpoint/2010/main" val="1519613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58522" y="359596"/>
            <a:ext cx="10698480" cy="677108"/>
          </a:xfrm>
          <a:prstGeom prst="rect">
            <a:avLst/>
          </a:prstGeom>
          <a:noFill/>
        </p:spPr>
        <p:txBody>
          <a:bodyPr wrap="square" tIns="91440" bIns="91440">
            <a:spAutoFit/>
          </a:bodyPr>
          <a:lstStyle/>
          <a:p>
            <a:pPr>
              <a:defRPr sz="3000" b="1">
                <a:solidFill>
                  <a:srgbClr val="173F35"/>
                </a:solidFill>
              </a:defRPr>
            </a:pPr>
            <a:r>
              <a:rPr sz="3200" b="1" dirty="0">
                <a:solidFill>
                  <a:srgbClr val="173F35"/>
                </a:solidFill>
                <a:latin typeface="Avenir Next Demi Bold"/>
              </a:rPr>
              <a:t>W</a:t>
            </a:r>
            <a:r>
              <a:rPr lang="en-US" sz="3200" b="1" dirty="0">
                <a:solidFill>
                  <a:srgbClr val="173F35"/>
                </a:solidFill>
                <a:latin typeface="Avenir Next Demi Bold"/>
              </a:rPr>
              <a:t>hat</a:t>
            </a:r>
            <a:r>
              <a:rPr sz="3200" b="1" dirty="0">
                <a:solidFill>
                  <a:srgbClr val="173F35"/>
                </a:solidFill>
                <a:latin typeface="Avenir Next Demi Bold"/>
              </a:rPr>
              <a:t> I</a:t>
            </a:r>
            <a:r>
              <a:rPr lang="en-US" sz="3200" b="1" dirty="0">
                <a:solidFill>
                  <a:srgbClr val="173F35"/>
                </a:solidFill>
                <a:latin typeface="Avenir Next Demi Bold"/>
              </a:rPr>
              <a:t>s</a:t>
            </a:r>
            <a:r>
              <a:rPr sz="3200" b="1" dirty="0">
                <a:solidFill>
                  <a:srgbClr val="173F35"/>
                </a:solidFill>
                <a:latin typeface="Avenir Next Demi Bold"/>
              </a:rPr>
              <a:t> G</a:t>
            </a:r>
            <a:r>
              <a:rPr lang="en-US" sz="3200" b="1" dirty="0">
                <a:solidFill>
                  <a:srgbClr val="173F35"/>
                </a:solidFill>
                <a:latin typeface="Avenir Next Demi Bold"/>
              </a:rPr>
              <a:t>reenwashing </a:t>
            </a:r>
            <a:r>
              <a:rPr sz="3200" b="1" dirty="0">
                <a:solidFill>
                  <a:srgbClr val="173F35"/>
                </a:solidFill>
                <a:latin typeface="Avenir Next Demi Bold"/>
              </a:rPr>
              <a:t>?</a:t>
            </a:r>
          </a:p>
        </p:txBody>
      </p:sp>
      <p:sp>
        <p:nvSpPr>
          <p:cNvPr id="6" name="Rounded Rectangle 5"/>
          <p:cNvSpPr/>
          <p:nvPr/>
        </p:nvSpPr>
        <p:spPr>
          <a:xfrm>
            <a:off x="594360" y="1787485"/>
            <a:ext cx="5760720" cy="4761596"/>
          </a:xfrm>
          <a:prstGeom prst="roundRect">
            <a:avLst/>
          </a:prstGeom>
          <a:solidFill>
            <a:srgbClr val="FFFFFF"/>
          </a:solidFill>
          <a:ln w="12700">
            <a:solidFill>
              <a:srgbClr val="B4D2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7" name="Rectangle 6"/>
          <p:cNvSpPr/>
          <p:nvPr/>
        </p:nvSpPr>
        <p:spPr>
          <a:xfrm>
            <a:off x="602730" y="1787485"/>
            <a:ext cx="5760720" cy="10972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8" name="TextBox 7"/>
          <p:cNvSpPr txBox="1"/>
          <p:nvPr/>
        </p:nvSpPr>
        <p:spPr>
          <a:xfrm>
            <a:off x="868680" y="2071145"/>
            <a:ext cx="5486400" cy="3931846"/>
          </a:xfrm>
          <a:prstGeom prst="rect">
            <a:avLst/>
          </a:prstGeom>
          <a:noFill/>
        </p:spPr>
        <p:txBody>
          <a:bodyPr wrap="square" tIns="91440" bIns="91440">
            <a:spAutoFit/>
          </a:bodyPr>
          <a:lstStyle/>
          <a:p>
            <a:pPr>
              <a:spcAft>
                <a:spcPts val="600"/>
              </a:spcAft>
              <a:defRPr sz="1400" b="1">
                <a:solidFill>
                  <a:srgbClr val="12402D"/>
                </a:solidFill>
              </a:defRPr>
            </a:pPr>
            <a:r>
              <a:rPr dirty="0">
                <a:latin typeface="Avenir Next" panose="020B0503020202020204" pitchFamily="34" charset="0"/>
              </a:rPr>
              <a:t>The Green Fa</a:t>
            </a:r>
            <a:r>
              <a:rPr lang="en-US" dirty="0">
                <a:latin typeface="Avenir Next" panose="020B0503020202020204" pitchFamily="34" charset="0"/>
              </a:rPr>
              <a:t>c</a:t>
            </a:r>
            <a:r>
              <a:rPr dirty="0">
                <a:latin typeface="Avenir Next" panose="020B0503020202020204" pitchFamily="34" charset="0"/>
              </a:rPr>
              <a:t>ade (What Companies Show)</a:t>
            </a:r>
          </a:p>
          <a:p>
            <a:pPr>
              <a:spcBef>
                <a:spcPts val="300"/>
              </a:spcBef>
              <a:spcAft>
                <a:spcPts val="400"/>
              </a:spcAft>
            </a:pPr>
            <a:r>
              <a:rPr sz="1400" b="1" dirty="0">
                <a:solidFill>
                  <a:srgbClr val="22704E"/>
                </a:solidFill>
                <a:latin typeface="Avenir Next" panose="020B0503020202020204" pitchFamily="34" charset="0"/>
              </a:rPr>
              <a:t>• Earthy Imagery &amp; Buzzwords: </a:t>
            </a:r>
            <a:r>
              <a:rPr lang="en-US" sz="1400" dirty="0">
                <a:solidFill>
                  <a:srgbClr val="2D2D2D"/>
                </a:solidFill>
                <a:latin typeface="Avenir Next" panose="020B0503020202020204" pitchFamily="34" charset="0"/>
              </a:rPr>
              <a:t>Earthy </a:t>
            </a:r>
            <a:r>
              <a:rPr sz="1400" dirty="0">
                <a:solidFill>
                  <a:srgbClr val="2D2D2D"/>
                </a:solidFill>
                <a:latin typeface="Avenir Next" panose="020B0503020202020204" pitchFamily="34" charset="0"/>
              </a:rPr>
              <a:t>Brown </a:t>
            </a:r>
            <a:r>
              <a:rPr lang="en-US" sz="1400" dirty="0">
                <a:solidFill>
                  <a:srgbClr val="2D2D2D"/>
                </a:solidFill>
                <a:latin typeface="Avenir Next" panose="020B0503020202020204" pitchFamily="34" charset="0"/>
              </a:rPr>
              <a:t>or green </a:t>
            </a:r>
            <a:r>
              <a:rPr sz="1400" dirty="0">
                <a:solidFill>
                  <a:srgbClr val="2D2D2D"/>
                </a:solidFill>
                <a:latin typeface="Avenir Next" panose="020B0503020202020204" pitchFamily="34" charset="0"/>
              </a:rPr>
              <a:t>packaging, green leaves</a:t>
            </a:r>
            <a:r>
              <a:rPr lang="en-US" sz="1400" dirty="0">
                <a:solidFill>
                  <a:srgbClr val="2D2D2D"/>
                </a:solidFill>
                <a:latin typeface="Avenir Next" panose="020B0503020202020204" pitchFamily="34" charset="0"/>
              </a:rPr>
              <a:t> on packaging</a:t>
            </a:r>
            <a:r>
              <a:rPr sz="1400" dirty="0">
                <a:solidFill>
                  <a:srgbClr val="2D2D2D"/>
                </a:solidFill>
                <a:latin typeface="Avenir Next" panose="020B0503020202020204" pitchFamily="34" charset="0"/>
              </a:rPr>
              <a:t>, and loose terms </a:t>
            </a:r>
            <a:r>
              <a:rPr lang="en-US" sz="1400" dirty="0">
                <a:solidFill>
                  <a:srgbClr val="2D2D2D"/>
                </a:solidFill>
                <a:latin typeface="Avenir Next" panose="020B0503020202020204" pitchFamily="34" charset="0"/>
              </a:rPr>
              <a:t>like </a:t>
            </a:r>
            <a:r>
              <a:rPr sz="1400" dirty="0">
                <a:solidFill>
                  <a:srgbClr val="2D2D2D"/>
                </a:solidFill>
                <a:latin typeface="Avenir Next" panose="020B0503020202020204" pitchFamily="34" charset="0"/>
              </a:rPr>
              <a:t>"100% Eco", "Natural", </a:t>
            </a:r>
            <a:r>
              <a:rPr lang="en-US" sz="1400" dirty="0">
                <a:solidFill>
                  <a:srgbClr val="2D2D2D"/>
                </a:solidFill>
                <a:latin typeface="Avenir Next" panose="020B0503020202020204" pitchFamily="34" charset="0"/>
              </a:rPr>
              <a:t>”Recycled”, etc.</a:t>
            </a:r>
            <a:r>
              <a:rPr sz="1400" dirty="0">
                <a:solidFill>
                  <a:srgbClr val="2D2D2D"/>
                </a:solidFill>
                <a:latin typeface="Avenir Next" panose="020B0503020202020204" pitchFamily="34" charset="0"/>
              </a:rPr>
              <a:t>.</a:t>
            </a:r>
          </a:p>
          <a:p>
            <a:pPr>
              <a:spcBef>
                <a:spcPts val="300"/>
              </a:spcBef>
              <a:spcAft>
                <a:spcPts val="400"/>
              </a:spcAft>
            </a:pPr>
            <a:r>
              <a:rPr sz="1400" b="1" dirty="0">
                <a:solidFill>
                  <a:srgbClr val="22704E"/>
                </a:solidFill>
                <a:latin typeface="Avenir Next" panose="020B0503020202020204" pitchFamily="34" charset="0"/>
              </a:rPr>
              <a:t>• Self-Awarded Badges: </a:t>
            </a:r>
            <a:r>
              <a:rPr sz="1400" dirty="0">
                <a:solidFill>
                  <a:srgbClr val="2D2D2D"/>
                </a:solidFill>
                <a:latin typeface="Avenir Next" panose="020B0503020202020204" pitchFamily="34" charset="0"/>
              </a:rPr>
              <a:t>Inventing custom green stamps that </a:t>
            </a:r>
            <a:r>
              <a:rPr lang="en-US" sz="1400" dirty="0">
                <a:solidFill>
                  <a:srgbClr val="2D2D2D"/>
                </a:solidFill>
                <a:latin typeface="Avenir Next" panose="020B0503020202020204" pitchFamily="34" charset="0"/>
              </a:rPr>
              <a:t>imitate </a:t>
            </a:r>
            <a:r>
              <a:rPr sz="1400" dirty="0">
                <a:solidFill>
                  <a:srgbClr val="2D2D2D"/>
                </a:solidFill>
                <a:latin typeface="Avenir Next" panose="020B0503020202020204" pitchFamily="34" charset="0"/>
              </a:rPr>
              <a:t>official third-party certifications.</a:t>
            </a:r>
          </a:p>
          <a:p>
            <a:pPr>
              <a:spcBef>
                <a:spcPts val="300"/>
              </a:spcBef>
              <a:spcAft>
                <a:spcPts val="1000"/>
              </a:spcAft>
            </a:pPr>
            <a:r>
              <a:rPr sz="1400" b="1" dirty="0">
                <a:solidFill>
                  <a:srgbClr val="22704E"/>
                </a:solidFill>
                <a:latin typeface="Avenir Next" panose="020B0503020202020204" pitchFamily="34" charset="0"/>
              </a:rPr>
              <a:t>• Halo Marketing: </a:t>
            </a:r>
            <a:r>
              <a:rPr sz="1400" dirty="0">
                <a:solidFill>
                  <a:srgbClr val="2D2D2D"/>
                </a:solidFill>
                <a:latin typeface="Avenir Next" panose="020B0503020202020204" pitchFamily="34" charset="0"/>
              </a:rPr>
              <a:t>High-budget PR </a:t>
            </a:r>
            <a:r>
              <a:rPr lang="en-US" sz="1400" dirty="0">
                <a:solidFill>
                  <a:srgbClr val="2D2D2D"/>
                </a:solidFill>
                <a:latin typeface="Avenir Next" panose="020B0503020202020204" pitchFamily="34" charset="0"/>
              </a:rPr>
              <a:t>campaigns </a:t>
            </a:r>
            <a:r>
              <a:rPr sz="1400" dirty="0">
                <a:solidFill>
                  <a:srgbClr val="2D2D2D"/>
                </a:solidFill>
                <a:latin typeface="Avenir Next" panose="020B0503020202020204" pitchFamily="34" charset="0"/>
              </a:rPr>
              <a:t>highlighting 1 minor eco-feature while ignoring heavy pollution in core operations.</a:t>
            </a:r>
          </a:p>
          <a:p>
            <a:pPr>
              <a:spcBef>
                <a:spcPts val="800"/>
              </a:spcBef>
              <a:spcAft>
                <a:spcPts val="600"/>
              </a:spcAft>
              <a:defRPr sz="1400" b="1">
                <a:solidFill>
                  <a:srgbClr val="A8552F"/>
                </a:solidFill>
              </a:defRPr>
            </a:pPr>
            <a:r>
              <a:rPr dirty="0">
                <a:latin typeface="Avenir Next" panose="020B0503020202020204" pitchFamily="34" charset="0"/>
              </a:rPr>
              <a:t>The Hidden Reality (What Stays </a:t>
            </a:r>
            <a:r>
              <a:rPr lang="en-US" dirty="0">
                <a:latin typeface="Avenir Next" panose="020B0503020202020204" pitchFamily="34" charset="0"/>
              </a:rPr>
              <a:t>Hidden</a:t>
            </a:r>
            <a:r>
              <a:rPr dirty="0">
                <a:latin typeface="Avenir Next" panose="020B0503020202020204" pitchFamily="34" charset="0"/>
              </a:rPr>
              <a:t>)</a:t>
            </a:r>
          </a:p>
          <a:p>
            <a:pPr>
              <a:spcBef>
                <a:spcPts val="300"/>
              </a:spcBef>
              <a:spcAft>
                <a:spcPts val="400"/>
              </a:spcAft>
            </a:pPr>
            <a:r>
              <a:rPr sz="1400" b="1" dirty="0">
                <a:solidFill>
                  <a:srgbClr val="A8552F"/>
                </a:solidFill>
                <a:latin typeface="Avenir Next" panose="020B0503020202020204" pitchFamily="34" charset="0"/>
              </a:rPr>
              <a:t>• Unchanged Operations: </a:t>
            </a:r>
            <a:r>
              <a:rPr sz="1400" dirty="0">
                <a:solidFill>
                  <a:srgbClr val="2D2D2D"/>
                </a:solidFill>
                <a:latin typeface="Avenir Next" panose="020B0503020202020204" pitchFamily="34" charset="0"/>
              </a:rPr>
              <a:t>Core operations stay heavily dependent on fossil fuels, toxic emissions, and plastic waste.</a:t>
            </a:r>
          </a:p>
          <a:p>
            <a:pPr>
              <a:spcBef>
                <a:spcPts val="300"/>
              </a:spcBef>
              <a:spcAft>
                <a:spcPts val="400"/>
              </a:spcAft>
            </a:pPr>
            <a:r>
              <a:rPr sz="1400" b="1" dirty="0">
                <a:solidFill>
                  <a:srgbClr val="A8552F"/>
                </a:solidFill>
                <a:latin typeface="Avenir Next" panose="020B0503020202020204" pitchFamily="34" charset="0"/>
              </a:rPr>
              <a:t>• </a:t>
            </a:r>
            <a:r>
              <a:rPr lang="en-US" sz="1400" b="1" dirty="0">
                <a:solidFill>
                  <a:srgbClr val="A8552F"/>
                </a:solidFill>
                <a:latin typeface="Avenir Next" panose="020B0503020202020204" pitchFamily="34" charset="0"/>
              </a:rPr>
              <a:t>Claim </a:t>
            </a:r>
            <a:r>
              <a:rPr sz="1400" b="1" dirty="0">
                <a:solidFill>
                  <a:srgbClr val="A8552F"/>
                </a:solidFill>
                <a:latin typeface="Avenir Next" panose="020B0503020202020204" pitchFamily="34" charset="0"/>
              </a:rPr>
              <a:t>Verification Deficit: </a:t>
            </a:r>
            <a:r>
              <a:rPr sz="1400" dirty="0">
                <a:solidFill>
                  <a:srgbClr val="2D2D2D"/>
                </a:solidFill>
                <a:latin typeface="Avenir Next" panose="020B0503020202020204" pitchFamily="34" charset="0"/>
              </a:rPr>
              <a:t>Zero scientific proof,</a:t>
            </a:r>
            <a:r>
              <a:rPr lang="en-US" sz="1400" dirty="0">
                <a:solidFill>
                  <a:srgbClr val="2D2D2D"/>
                </a:solidFill>
                <a:latin typeface="Avenir Next" panose="020B0503020202020204" pitchFamily="34" charset="0"/>
              </a:rPr>
              <a:t> no</a:t>
            </a:r>
            <a:r>
              <a:rPr sz="1400" dirty="0">
                <a:solidFill>
                  <a:srgbClr val="2D2D2D"/>
                </a:solidFill>
                <a:latin typeface="Avenir Next" panose="020B0503020202020204" pitchFamily="34" charset="0"/>
              </a:rPr>
              <a:t> independent audits, or verifiable data backing up the claims.</a:t>
            </a:r>
          </a:p>
        </p:txBody>
      </p:sp>
      <p:pic>
        <p:nvPicPr>
          <p:cNvPr id="11" name="Picture 10">
            <a:extLst>
              <a:ext uri="{FF2B5EF4-FFF2-40B4-BE49-F238E27FC236}">
                <a16:creationId xmlns:a16="http://schemas.microsoft.com/office/drawing/2014/main" id="{16A96FB4-60E9-C6D9-B0FD-C931CEDC2A8D}"/>
              </a:ext>
            </a:extLst>
          </p:cNvPr>
          <p:cNvPicPr>
            <a:picLocks noChangeAspect="1"/>
          </p:cNvPicPr>
          <p:nvPr/>
        </p:nvPicPr>
        <p:blipFill>
          <a:blip r:embed="rId2"/>
          <a:stretch>
            <a:fillRect/>
          </a:stretch>
        </p:blipFill>
        <p:spPr>
          <a:xfrm>
            <a:off x="6620027" y="489397"/>
            <a:ext cx="5395961" cy="5874661"/>
          </a:xfrm>
          <a:prstGeom prst="rect">
            <a:avLst/>
          </a:prstGeom>
        </p:spPr>
      </p:pic>
      <p:sp>
        <p:nvSpPr>
          <p:cNvPr id="5" name="TextBox 4"/>
          <p:cNvSpPr txBox="1"/>
          <p:nvPr/>
        </p:nvSpPr>
        <p:spPr>
          <a:xfrm>
            <a:off x="706806" y="1016542"/>
            <a:ext cx="7717021" cy="677108"/>
          </a:xfrm>
          <a:prstGeom prst="rect">
            <a:avLst/>
          </a:prstGeom>
          <a:noFill/>
        </p:spPr>
        <p:txBody>
          <a:bodyPr wrap="square" tIns="91440" bIns="91440">
            <a:spAutoFit/>
          </a:bodyPr>
          <a:lstStyle/>
          <a:p>
            <a:pPr>
              <a:defRPr sz="2200" b="1">
                <a:solidFill>
                  <a:srgbClr val="173F35"/>
                </a:solidFill>
                <a:latin typeface="Georgia"/>
              </a:defRPr>
            </a:pPr>
            <a:r>
              <a:rPr lang="en-IN" sz="1600" dirty="0">
                <a:latin typeface="Avenir Next" panose="020B0503020202020204" pitchFamily="34" charset="0"/>
              </a:rPr>
              <a:t>Greenwashing is defined as any misleading, exaggerated, vague, or unsubstantiated environmental claim made by an entity.</a:t>
            </a:r>
          </a:p>
        </p:txBody>
      </p:sp>
      <p:sp>
        <p:nvSpPr>
          <p:cNvPr id="2" name="Rectangle 1">
            <a:extLst>
              <a:ext uri="{FF2B5EF4-FFF2-40B4-BE49-F238E27FC236}">
                <a16:creationId xmlns:a16="http://schemas.microsoft.com/office/drawing/2014/main" id="{3FDCB222-8459-526C-D2D9-E81267351D93}"/>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4384" y="418457"/>
            <a:ext cx="10698480" cy="677108"/>
          </a:xfrm>
          <a:prstGeom prst="rect">
            <a:avLst/>
          </a:prstGeom>
          <a:noFill/>
        </p:spPr>
        <p:txBody>
          <a:bodyPr wrap="square" tIns="91440" bIns="91440">
            <a:spAutoFit/>
          </a:bodyPr>
          <a:lstStyle/>
          <a:p>
            <a:pPr>
              <a:defRPr sz="3000" b="1">
                <a:solidFill>
                  <a:srgbClr val="173F35"/>
                </a:solidFill>
              </a:defRPr>
            </a:pPr>
            <a:r>
              <a:rPr lang="en-US" sz="3200" b="1" dirty="0">
                <a:solidFill>
                  <a:srgbClr val="173F35"/>
                </a:solidFill>
                <a:latin typeface="Avenir Next Demi Bold"/>
              </a:rPr>
              <a:t>Why Greenwashing Matters To Us ?</a:t>
            </a:r>
            <a:endParaRPr sz="3200" b="1" dirty="0">
              <a:solidFill>
                <a:srgbClr val="173F35"/>
              </a:solidFill>
              <a:latin typeface="Avenir Next Demi Bold"/>
            </a:endParaRPr>
          </a:p>
        </p:txBody>
      </p:sp>
      <p:sp>
        <p:nvSpPr>
          <p:cNvPr id="5" name="TextBox 4"/>
          <p:cNvSpPr txBox="1"/>
          <p:nvPr/>
        </p:nvSpPr>
        <p:spPr>
          <a:xfrm>
            <a:off x="731520" y="1314149"/>
            <a:ext cx="10698480" cy="430887"/>
          </a:xfrm>
          <a:prstGeom prst="rect">
            <a:avLst/>
          </a:prstGeom>
          <a:noFill/>
        </p:spPr>
        <p:txBody>
          <a:bodyPr wrap="square" tIns="91440" bIns="91440">
            <a:spAutoFit/>
          </a:bodyPr>
          <a:lstStyle/>
          <a:p>
            <a:pPr>
              <a:defRPr sz="1350" b="1" i="1">
                <a:solidFill>
                  <a:srgbClr val="12402D"/>
                </a:solidFill>
              </a:defRPr>
            </a:pPr>
            <a:r>
              <a:rPr sz="1600" dirty="0">
                <a:latin typeface="Avenir Next" panose="020B0503020202020204" pitchFamily="34" charset="0"/>
              </a:rPr>
              <a:t>Greenwashing is not</a:t>
            </a:r>
            <a:r>
              <a:rPr lang="en-US" sz="1600" dirty="0">
                <a:latin typeface="Avenir Next" panose="020B0503020202020204" pitchFamily="34" charset="0"/>
              </a:rPr>
              <a:t> </a:t>
            </a:r>
            <a:r>
              <a:rPr sz="1600" dirty="0">
                <a:latin typeface="Avenir Next" panose="020B0503020202020204" pitchFamily="34" charset="0"/>
              </a:rPr>
              <a:t>a distant</a:t>
            </a:r>
            <a:r>
              <a:rPr lang="en-US" sz="1600" dirty="0">
                <a:latin typeface="Avenir Next" panose="020B0503020202020204" pitchFamily="34" charset="0"/>
              </a:rPr>
              <a:t> </a:t>
            </a:r>
            <a:r>
              <a:rPr sz="1600" dirty="0">
                <a:latin typeface="Avenir Next" panose="020B0503020202020204" pitchFamily="34" charset="0"/>
              </a:rPr>
              <a:t>issue</a:t>
            </a:r>
            <a:r>
              <a:rPr lang="en-US" sz="1600" dirty="0">
                <a:latin typeface="Avenir Next" panose="020B0503020202020204" pitchFamily="34" charset="0"/>
              </a:rPr>
              <a:t>, </a:t>
            </a:r>
            <a:r>
              <a:rPr sz="1600" dirty="0">
                <a:latin typeface="Avenir Next" panose="020B0503020202020204" pitchFamily="34" charset="0"/>
              </a:rPr>
              <a:t>it directly affects our wallets, our choices, and our future.</a:t>
            </a:r>
          </a:p>
        </p:txBody>
      </p:sp>
      <p:sp>
        <p:nvSpPr>
          <p:cNvPr id="6" name="Rounded Rectangle 5"/>
          <p:cNvSpPr/>
          <p:nvPr/>
        </p:nvSpPr>
        <p:spPr>
          <a:xfrm>
            <a:off x="731520" y="2182205"/>
            <a:ext cx="3383280" cy="3474720"/>
          </a:xfrm>
          <a:prstGeom prst="roundRect">
            <a:avLst/>
          </a:prstGeom>
          <a:solidFill>
            <a:srgbClr val="FFFFFF"/>
          </a:solidFill>
          <a:ln w="12700">
            <a:solidFill>
              <a:srgbClr val="B4D2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7" name="Rectangle 6"/>
          <p:cNvSpPr/>
          <p:nvPr/>
        </p:nvSpPr>
        <p:spPr>
          <a:xfrm>
            <a:off x="731520" y="2182205"/>
            <a:ext cx="3383280" cy="109728"/>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8" name="TextBox 7"/>
          <p:cNvSpPr txBox="1"/>
          <p:nvPr/>
        </p:nvSpPr>
        <p:spPr>
          <a:xfrm>
            <a:off x="868680" y="2365085"/>
            <a:ext cx="3108960" cy="2908489"/>
          </a:xfrm>
          <a:prstGeom prst="rect">
            <a:avLst/>
          </a:prstGeom>
          <a:noFill/>
        </p:spPr>
        <p:txBody>
          <a:bodyPr wrap="square" tIns="91440" bIns="91440">
            <a:spAutoFit/>
          </a:bodyPr>
          <a:lstStyle/>
          <a:p>
            <a:pPr>
              <a:spcAft>
                <a:spcPts val="200"/>
              </a:spcAft>
              <a:defRPr sz="1600" b="1">
                <a:solidFill>
                  <a:srgbClr val="22704E"/>
                </a:solidFill>
              </a:defRPr>
            </a:pPr>
            <a:r>
              <a:rPr dirty="0">
                <a:latin typeface="Avenir Next" panose="020B0503020202020204" pitchFamily="34" charset="0"/>
              </a:rPr>
              <a:t>OUR WALLET</a:t>
            </a:r>
          </a:p>
          <a:p>
            <a:pPr>
              <a:spcAft>
                <a:spcPts val="1200"/>
              </a:spcAft>
              <a:defRPr sz="1300" b="1">
                <a:solidFill>
                  <a:srgbClr val="2D2D2D"/>
                </a:solidFill>
              </a:defRPr>
            </a:pPr>
            <a:r>
              <a:rPr dirty="0">
                <a:latin typeface="Avenir Next" panose="020B0503020202020204" pitchFamily="34" charset="0"/>
              </a:rPr>
              <a:t>"</a:t>
            </a:r>
            <a:r>
              <a:rPr lang="en-IN" dirty="0">
                <a:latin typeface="Avenir Next" panose="020B0503020202020204" pitchFamily="34" charset="0"/>
              </a:rPr>
              <a:t>The Premium We Pay</a:t>
            </a:r>
            <a:r>
              <a:rPr dirty="0">
                <a:latin typeface="Avenir Next" panose="020B0503020202020204" pitchFamily="34" charset="0"/>
              </a:rPr>
              <a:t>"</a:t>
            </a:r>
          </a:p>
          <a:p>
            <a:pPr>
              <a:spcAft>
                <a:spcPts val="1000"/>
              </a:spcAft>
              <a:defRPr sz="1200">
                <a:solidFill>
                  <a:srgbClr val="2D2D2D"/>
                </a:solidFill>
              </a:defRPr>
            </a:pPr>
            <a:r>
              <a:rPr sz="1600" dirty="0">
                <a:latin typeface="Avenir Next" panose="020B0503020202020204" pitchFamily="34" charset="0"/>
              </a:rPr>
              <a:t>• When we deliberately pay extra for 'eco-friendly' goods, we spend hard-earned money in good faith.</a:t>
            </a:r>
          </a:p>
          <a:p>
            <a:pPr>
              <a:defRPr sz="1200">
                <a:solidFill>
                  <a:srgbClr val="2D2D2D"/>
                </a:solidFill>
              </a:defRPr>
            </a:pPr>
            <a:r>
              <a:rPr sz="1600" dirty="0">
                <a:latin typeface="Avenir Next" panose="020B0503020202020204" pitchFamily="34" charset="0"/>
              </a:rPr>
              <a:t>• Too often, that extra premium ends up funding expensive PR campaigns instead of genuine environmental solutions.</a:t>
            </a:r>
          </a:p>
        </p:txBody>
      </p:sp>
      <p:sp>
        <p:nvSpPr>
          <p:cNvPr id="9" name="Rounded Rectangle 8"/>
          <p:cNvSpPr/>
          <p:nvPr/>
        </p:nvSpPr>
        <p:spPr>
          <a:xfrm>
            <a:off x="4389120" y="2182205"/>
            <a:ext cx="3383280" cy="3474720"/>
          </a:xfrm>
          <a:prstGeom prst="roundRect">
            <a:avLst/>
          </a:prstGeom>
          <a:solidFill>
            <a:srgbClr val="FFFFFF"/>
          </a:solidFill>
          <a:ln w="12700">
            <a:solidFill>
              <a:srgbClr val="DC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0" name="Rectangle 9"/>
          <p:cNvSpPr/>
          <p:nvPr/>
        </p:nvSpPr>
        <p:spPr>
          <a:xfrm>
            <a:off x="4389120" y="2182205"/>
            <a:ext cx="3383280" cy="10972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1" name="TextBox 10"/>
          <p:cNvSpPr txBox="1"/>
          <p:nvPr/>
        </p:nvSpPr>
        <p:spPr>
          <a:xfrm>
            <a:off x="4526280" y="2365085"/>
            <a:ext cx="3108960" cy="3154710"/>
          </a:xfrm>
          <a:prstGeom prst="rect">
            <a:avLst/>
          </a:prstGeom>
          <a:noFill/>
        </p:spPr>
        <p:txBody>
          <a:bodyPr wrap="square" tIns="91440" bIns="91440">
            <a:spAutoFit/>
          </a:bodyPr>
          <a:lstStyle/>
          <a:p>
            <a:pPr>
              <a:spcAft>
                <a:spcPts val="200"/>
              </a:spcAft>
              <a:defRPr sz="1600" b="1">
                <a:solidFill>
                  <a:srgbClr val="12402D"/>
                </a:solidFill>
              </a:defRPr>
            </a:pPr>
            <a:r>
              <a:rPr dirty="0">
                <a:latin typeface="Avenir Next" panose="020B0503020202020204" pitchFamily="34" charset="0"/>
              </a:rPr>
              <a:t>OUR CHOICES</a:t>
            </a:r>
          </a:p>
          <a:p>
            <a:pPr>
              <a:spcAft>
                <a:spcPts val="1200"/>
              </a:spcAft>
              <a:defRPr sz="1300" b="1">
                <a:solidFill>
                  <a:srgbClr val="2D2D2D"/>
                </a:solidFill>
              </a:defRPr>
            </a:pPr>
            <a:r>
              <a:rPr dirty="0">
                <a:latin typeface="Avenir Next" panose="020B0503020202020204" pitchFamily="34" charset="0"/>
              </a:rPr>
              <a:t>"The Illusion of Impact"</a:t>
            </a:r>
          </a:p>
          <a:p>
            <a:pPr>
              <a:spcAft>
                <a:spcPts val="1000"/>
              </a:spcAft>
              <a:defRPr sz="1200">
                <a:solidFill>
                  <a:srgbClr val="2D2D2D"/>
                </a:solidFill>
              </a:defRPr>
            </a:pPr>
            <a:r>
              <a:rPr sz="1600" dirty="0">
                <a:latin typeface="Avenir Next" panose="020B0503020202020204" pitchFamily="34" charset="0"/>
              </a:rPr>
              <a:t>• Millions adopt sustainable habits</a:t>
            </a:r>
            <a:r>
              <a:rPr lang="en-US" sz="1600" dirty="0">
                <a:latin typeface="Avenir Next" panose="020B0503020202020204" pitchFamily="34" charset="0"/>
              </a:rPr>
              <a:t>, </a:t>
            </a:r>
            <a:r>
              <a:rPr sz="1600" dirty="0">
                <a:latin typeface="Avenir Next" panose="020B0503020202020204" pitchFamily="34" charset="0"/>
              </a:rPr>
              <a:t>carrying cloth bags, sorting waste, and choosing conscious brands.</a:t>
            </a:r>
          </a:p>
          <a:p>
            <a:pPr>
              <a:defRPr sz="1200">
                <a:solidFill>
                  <a:srgbClr val="2D2D2D"/>
                </a:solidFill>
              </a:defRPr>
            </a:pPr>
            <a:r>
              <a:rPr sz="1600" dirty="0">
                <a:latin typeface="Avenir Next" panose="020B0503020202020204" pitchFamily="34" charset="0"/>
              </a:rPr>
              <a:t>• Deceptive corporate claims make these honest lifestyle choices meaningless while industrial pollution continues unchecked.</a:t>
            </a:r>
          </a:p>
        </p:txBody>
      </p:sp>
      <p:sp>
        <p:nvSpPr>
          <p:cNvPr id="12" name="Rounded Rectangle 11"/>
          <p:cNvSpPr/>
          <p:nvPr/>
        </p:nvSpPr>
        <p:spPr>
          <a:xfrm>
            <a:off x="8046720" y="2182205"/>
            <a:ext cx="3383280" cy="3474720"/>
          </a:xfrm>
          <a:prstGeom prst="roundRect">
            <a:avLst/>
          </a:prstGeom>
          <a:solidFill>
            <a:srgbClr val="FFFFFF"/>
          </a:solidFill>
          <a:ln w="12700">
            <a:solidFill>
              <a:srgbClr val="E6BE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3" name="Rectangle 12"/>
          <p:cNvSpPr/>
          <p:nvPr/>
        </p:nvSpPr>
        <p:spPr>
          <a:xfrm>
            <a:off x="8046720" y="2182205"/>
            <a:ext cx="3383280" cy="109728"/>
          </a:xfrm>
          <a:prstGeom prst="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4" name="TextBox 13"/>
          <p:cNvSpPr txBox="1"/>
          <p:nvPr/>
        </p:nvSpPr>
        <p:spPr>
          <a:xfrm>
            <a:off x="8183880" y="2365085"/>
            <a:ext cx="3108960" cy="3154710"/>
          </a:xfrm>
          <a:prstGeom prst="rect">
            <a:avLst/>
          </a:prstGeom>
          <a:noFill/>
        </p:spPr>
        <p:txBody>
          <a:bodyPr wrap="square" tIns="91440" bIns="91440">
            <a:spAutoFit/>
          </a:bodyPr>
          <a:lstStyle/>
          <a:p>
            <a:pPr>
              <a:spcAft>
                <a:spcPts val="200"/>
              </a:spcAft>
              <a:defRPr sz="1600" b="1">
                <a:solidFill>
                  <a:srgbClr val="A8552F"/>
                </a:solidFill>
              </a:defRPr>
            </a:pPr>
            <a:r>
              <a:rPr dirty="0">
                <a:latin typeface="Avenir Next" panose="020B0503020202020204" pitchFamily="34" charset="0"/>
              </a:rPr>
              <a:t>OUR FUTURE</a:t>
            </a:r>
          </a:p>
          <a:p>
            <a:pPr>
              <a:spcAft>
                <a:spcPts val="1200"/>
              </a:spcAft>
              <a:defRPr sz="1300" b="1">
                <a:solidFill>
                  <a:srgbClr val="2D2D2D"/>
                </a:solidFill>
              </a:defRPr>
            </a:pPr>
            <a:r>
              <a:rPr dirty="0">
                <a:latin typeface="Avenir Next" panose="020B0503020202020204" pitchFamily="34" charset="0"/>
              </a:rPr>
              <a:t>"The False Comfort"</a:t>
            </a:r>
          </a:p>
          <a:p>
            <a:pPr>
              <a:spcAft>
                <a:spcPts val="1000"/>
              </a:spcAft>
              <a:defRPr sz="1200">
                <a:solidFill>
                  <a:srgbClr val="2D2D2D"/>
                </a:solidFill>
              </a:defRPr>
            </a:pPr>
            <a:r>
              <a:rPr sz="1600" dirty="0">
                <a:latin typeface="Avenir Next" panose="020B0503020202020204" pitchFamily="34" charset="0"/>
              </a:rPr>
              <a:t>• </a:t>
            </a:r>
            <a:r>
              <a:rPr lang="en-US" sz="1600" dirty="0">
                <a:latin typeface="Avenir Next" panose="020B0503020202020204" pitchFamily="34" charset="0"/>
              </a:rPr>
              <a:t>Un-substantiated slogans like </a:t>
            </a:r>
            <a:r>
              <a:rPr sz="1600" dirty="0">
                <a:latin typeface="Avenir Next" panose="020B0503020202020204" pitchFamily="34" charset="0"/>
              </a:rPr>
              <a:t>'Net-Zero by 2050' create a false comfort that someone else is solving the climate crisis.</a:t>
            </a:r>
          </a:p>
          <a:p>
            <a:pPr>
              <a:defRPr sz="1200">
                <a:solidFill>
                  <a:srgbClr val="2D2D2D"/>
                </a:solidFill>
              </a:defRPr>
            </a:pPr>
            <a:r>
              <a:rPr sz="1600" dirty="0">
                <a:latin typeface="Avenir Next" panose="020B0503020202020204" pitchFamily="34" charset="0"/>
              </a:rPr>
              <a:t>• This false</a:t>
            </a:r>
            <a:r>
              <a:rPr lang="en-US" sz="1600" dirty="0">
                <a:latin typeface="Avenir Next" panose="020B0503020202020204" pitchFamily="34" charset="0"/>
              </a:rPr>
              <a:t> sense of</a:t>
            </a:r>
            <a:r>
              <a:rPr sz="1600" dirty="0">
                <a:latin typeface="Avenir Next" panose="020B0503020202020204" pitchFamily="34" charset="0"/>
              </a:rPr>
              <a:t> </a:t>
            </a:r>
            <a:r>
              <a:rPr lang="en-US" sz="1600" dirty="0">
                <a:latin typeface="Avenir Next" panose="020B0503020202020204" pitchFamily="34" charset="0"/>
              </a:rPr>
              <a:t>security </a:t>
            </a:r>
            <a:r>
              <a:rPr sz="1600" dirty="0">
                <a:latin typeface="Avenir Next" panose="020B0503020202020204" pitchFamily="34" charset="0"/>
              </a:rPr>
              <a:t>delays urgent </a:t>
            </a:r>
            <a:r>
              <a:rPr lang="en-US" sz="1600" dirty="0">
                <a:latin typeface="Avenir Next" panose="020B0503020202020204" pitchFamily="34" charset="0"/>
              </a:rPr>
              <a:t>climate </a:t>
            </a:r>
            <a:r>
              <a:rPr sz="1600" dirty="0">
                <a:latin typeface="Avenir Next" panose="020B0503020202020204" pitchFamily="34" charset="0"/>
              </a:rPr>
              <a:t>action, while extreme weather and toxic pollution directly threaten our families.</a:t>
            </a:r>
          </a:p>
        </p:txBody>
      </p:sp>
      <p:sp>
        <p:nvSpPr>
          <p:cNvPr id="2" name="Rectangle 1">
            <a:extLst>
              <a:ext uri="{FF2B5EF4-FFF2-40B4-BE49-F238E27FC236}">
                <a16:creationId xmlns:a16="http://schemas.microsoft.com/office/drawing/2014/main" id="{66655456-B331-7B6A-DA3E-76E0DEDDAA45}"/>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39" y="289919"/>
            <a:ext cx="9612791" cy="584775"/>
          </a:xfrm>
          <a:prstGeom prst="rect">
            <a:avLst/>
          </a:prstGeom>
          <a:noFill/>
        </p:spPr>
        <p:txBody>
          <a:bodyPr wrap="square">
            <a:spAutoFit/>
          </a:bodyPr>
          <a:lstStyle/>
          <a:p>
            <a:pPr>
              <a:spcAft>
                <a:spcPts val="600"/>
              </a:spcAft>
              <a:defRPr sz="3000" b="1">
                <a:solidFill>
                  <a:srgbClr val="1B1B2F"/>
                </a:solidFill>
                <a:latin typeface="Calibri Light"/>
              </a:defRPr>
            </a:pPr>
            <a:r>
              <a:rPr sz="3200" b="1" dirty="0">
                <a:solidFill>
                  <a:srgbClr val="173F35"/>
                </a:solidFill>
                <a:latin typeface="Avenir Next Demi Bold"/>
              </a:rPr>
              <a:t>The Scale of the Problem</a:t>
            </a:r>
            <a:r>
              <a:rPr lang="en-US" sz="3200" b="1" dirty="0">
                <a:solidFill>
                  <a:srgbClr val="173F35"/>
                </a:solidFill>
                <a:latin typeface="Avenir Next Demi Bold"/>
              </a:rPr>
              <a:t> </a:t>
            </a:r>
            <a:r>
              <a:rPr sz="3200" b="1" dirty="0">
                <a:solidFill>
                  <a:srgbClr val="173F35"/>
                </a:solidFill>
                <a:latin typeface="Avenir Next Demi Bold"/>
              </a:rPr>
              <a:t>in India</a:t>
            </a:r>
          </a:p>
        </p:txBody>
      </p:sp>
      <p:sp>
        <p:nvSpPr>
          <p:cNvPr id="8" name="Rounded Rectangle 7"/>
          <p:cNvSpPr/>
          <p:nvPr/>
        </p:nvSpPr>
        <p:spPr>
          <a:xfrm>
            <a:off x="783524" y="1345828"/>
            <a:ext cx="3009045" cy="2688290"/>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9" name="Rounded Rectangle 8"/>
          <p:cNvSpPr/>
          <p:nvPr/>
        </p:nvSpPr>
        <p:spPr>
          <a:xfrm>
            <a:off x="713336" y="1291949"/>
            <a:ext cx="2782636" cy="553533"/>
          </a:xfrm>
          <a:prstGeom prst="round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rPr sz="1400" dirty="0">
                <a:latin typeface="Avenir Next" panose="020B0503020202020204" pitchFamily="34" charset="0"/>
              </a:rPr>
              <a:t>Consumer-facing deception</a:t>
            </a:r>
            <a:r>
              <a:rPr lang="en-US" sz="1400" dirty="0">
                <a:latin typeface="Avenir Next" panose="020B0503020202020204" pitchFamily="34" charset="0"/>
              </a:rPr>
              <a:t> – ASCI Data</a:t>
            </a:r>
            <a:endParaRPr sz="1400" dirty="0">
              <a:latin typeface="Avenir Next" panose="020B0503020202020204" pitchFamily="34" charset="0"/>
            </a:endParaRPr>
          </a:p>
        </p:txBody>
      </p:sp>
      <p:sp>
        <p:nvSpPr>
          <p:cNvPr id="10" name="TextBox 9"/>
          <p:cNvSpPr txBox="1"/>
          <p:nvPr/>
        </p:nvSpPr>
        <p:spPr>
          <a:xfrm>
            <a:off x="987552" y="1970728"/>
            <a:ext cx="1893914" cy="461665"/>
          </a:xfrm>
          <a:prstGeom prst="rect">
            <a:avLst/>
          </a:prstGeom>
          <a:noFill/>
        </p:spPr>
        <p:txBody>
          <a:bodyPr wrap="square" anchor="t">
            <a:spAutoFit/>
          </a:bodyPr>
          <a:lstStyle/>
          <a:p>
            <a:pPr algn="l">
              <a:defRPr sz="2400" b="1">
                <a:solidFill>
                  <a:srgbClr val="173F35"/>
                </a:solidFill>
                <a:latin typeface="Georgia"/>
              </a:defRPr>
            </a:pPr>
            <a:r>
              <a:rPr dirty="0">
                <a:latin typeface="Avenir Next" panose="020B0503020202020204" pitchFamily="34" charset="0"/>
              </a:rPr>
              <a:t>211 / 211</a:t>
            </a:r>
          </a:p>
        </p:txBody>
      </p:sp>
      <p:sp>
        <p:nvSpPr>
          <p:cNvPr id="11" name="TextBox 10"/>
          <p:cNvSpPr txBox="1"/>
          <p:nvPr/>
        </p:nvSpPr>
        <p:spPr>
          <a:xfrm>
            <a:off x="783524" y="2424285"/>
            <a:ext cx="2712448" cy="1431161"/>
          </a:xfrm>
          <a:prstGeom prst="rect">
            <a:avLst/>
          </a:prstGeom>
          <a:noFill/>
        </p:spPr>
        <p:txBody>
          <a:bodyPr wrap="square" lIns="91440" tIns="45720" rIns="91440" bIns="45720" anchor="t">
            <a:spAutoFit/>
          </a:bodyPr>
          <a:lstStyle/>
          <a:p>
            <a:pPr marL="285750" indent="-285750">
              <a:buFont typeface="Arial" panose="020B0604020202020204" pitchFamily="34" charset="0"/>
              <a:buChar char="•"/>
              <a:defRPr sz="1150" b="0">
                <a:solidFill>
                  <a:srgbClr val="2A2A2A"/>
                </a:solidFill>
                <a:latin typeface="Avenir Next"/>
              </a:defRPr>
            </a:pPr>
            <a:r>
              <a:rPr sz="1300" b="1" dirty="0">
                <a:latin typeface="Avenir Next" panose="020B0503020202020204" pitchFamily="34" charset="0"/>
              </a:rPr>
              <a:t>ASCI reviewed 211 environmental ads in </a:t>
            </a:r>
            <a:r>
              <a:rPr lang="en-US" sz="1300" b="1" dirty="0">
                <a:latin typeface="Avenir Next" panose="020B0503020202020204" pitchFamily="34" charset="0"/>
              </a:rPr>
              <a:t>its 2024-25 Annual Report.</a:t>
            </a:r>
          </a:p>
          <a:p>
            <a:pPr>
              <a:defRPr sz="1150" b="0">
                <a:solidFill>
                  <a:srgbClr val="2A2A2A"/>
                </a:solidFill>
                <a:latin typeface="Avenir Next"/>
              </a:defRPr>
            </a:pPr>
            <a:endParaRPr lang="en-US" sz="800" b="1" dirty="0">
              <a:latin typeface="Avenir Next" panose="020B0503020202020204" pitchFamily="34" charset="0"/>
            </a:endParaRPr>
          </a:p>
          <a:p>
            <a:pPr marL="285750" indent="-285750">
              <a:buFont typeface="Arial" panose="020B0604020202020204" pitchFamily="34" charset="0"/>
              <a:buChar char="•"/>
              <a:defRPr sz="1150" b="0">
                <a:solidFill>
                  <a:srgbClr val="2A2A2A"/>
                </a:solidFill>
                <a:latin typeface="Avenir Next"/>
              </a:defRPr>
            </a:pPr>
            <a:r>
              <a:rPr lang="en-US" sz="1300" b="1" dirty="0">
                <a:latin typeface="Avenir Next" panose="020B0503020202020204" pitchFamily="34" charset="0"/>
              </a:rPr>
              <a:t>A</a:t>
            </a:r>
            <a:r>
              <a:rPr sz="1300" b="1" dirty="0">
                <a:latin typeface="Avenir Next" panose="020B0503020202020204" pitchFamily="34" charset="0"/>
              </a:rPr>
              <a:t>nd every one </a:t>
            </a:r>
            <a:r>
              <a:rPr lang="en-US" sz="1300" b="1" dirty="0">
                <a:latin typeface="Avenir Next" panose="020B0503020202020204" pitchFamily="34" charset="0"/>
              </a:rPr>
              <a:t>of them </a:t>
            </a:r>
            <a:r>
              <a:rPr sz="1300" b="1" dirty="0">
                <a:latin typeface="Avenir Next" panose="020B0503020202020204" pitchFamily="34" charset="0"/>
              </a:rPr>
              <a:t>required modification for lack of substantiation.</a:t>
            </a:r>
          </a:p>
        </p:txBody>
      </p:sp>
      <p:sp>
        <p:nvSpPr>
          <p:cNvPr id="13" name="Rounded Rectangle 12"/>
          <p:cNvSpPr/>
          <p:nvPr/>
        </p:nvSpPr>
        <p:spPr>
          <a:xfrm>
            <a:off x="4133087" y="1345828"/>
            <a:ext cx="3127248" cy="3365920"/>
          </a:xfrm>
          <a:prstGeom prst="roundRect">
            <a:avLst/>
          </a:prstGeom>
          <a:solidFill>
            <a:srgbClr val="E8EFE6"/>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Avenir Next" panose="020B0503020202020204" pitchFamily="34" charset="0"/>
            </a:endParaRPr>
          </a:p>
        </p:txBody>
      </p:sp>
      <p:sp>
        <p:nvSpPr>
          <p:cNvPr id="14" name="Rounded Rectangle 13"/>
          <p:cNvSpPr/>
          <p:nvPr/>
        </p:nvSpPr>
        <p:spPr>
          <a:xfrm>
            <a:off x="4068831" y="1279591"/>
            <a:ext cx="2542032" cy="553189"/>
          </a:xfrm>
          <a:prstGeom prst="round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rPr lang="en-US" sz="1400" dirty="0">
                <a:latin typeface="Avenir Next" panose="020B0503020202020204" pitchFamily="34" charset="0"/>
                <a:ea typeface="+mn-lt"/>
                <a:cs typeface="+mn-lt"/>
              </a:rPr>
              <a:t>Secondary Data from </a:t>
            </a:r>
            <a:r>
              <a:rPr lang="en-US" sz="1400" dirty="0">
                <a:latin typeface="Avenir Next" panose="020B0503020202020204" pitchFamily="34" charset="0"/>
              </a:rPr>
              <a:t>Listed-company</a:t>
            </a:r>
            <a:r>
              <a:rPr sz="1400" dirty="0">
                <a:latin typeface="Avenir Next" panose="020B0503020202020204" pitchFamily="34" charset="0"/>
              </a:rPr>
              <a:t> </a:t>
            </a:r>
            <a:r>
              <a:rPr lang="en-US" sz="1400" dirty="0">
                <a:latin typeface="Avenir Next" panose="020B0503020202020204" pitchFamily="34" charset="0"/>
              </a:rPr>
              <a:t> studies</a:t>
            </a:r>
          </a:p>
        </p:txBody>
      </p:sp>
      <p:sp>
        <p:nvSpPr>
          <p:cNvPr id="15" name="TextBox 14"/>
          <p:cNvSpPr txBox="1"/>
          <p:nvPr/>
        </p:nvSpPr>
        <p:spPr>
          <a:xfrm>
            <a:off x="4169811" y="1952784"/>
            <a:ext cx="3009972" cy="692497"/>
          </a:xfrm>
          <a:prstGeom prst="rect">
            <a:avLst/>
          </a:prstGeom>
          <a:noFill/>
        </p:spPr>
        <p:txBody>
          <a:bodyPr wrap="square" lIns="91440" tIns="45720" rIns="91440" bIns="45720" anchor="t">
            <a:spAutoFit/>
          </a:bodyPr>
          <a:lstStyle/>
          <a:p>
            <a:pPr>
              <a:defRPr sz="1150" b="1">
                <a:solidFill>
                  <a:srgbClr val="2A2A2A"/>
                </a:solidFill>
                <a:latin typeface="Avenir Next"/>
              </a:defRPr>
            </a:pPr>
            <a:r>
              <a:rPr lang="en-US" sz="1300" dirty="0">
                <a:latin typeface="Avenir Next" panose="020B0503020202020204" pitchFamily="34" charset="0"/>
              </a:rPr>
              <a:t>We looked at two peer reviewed studies highlighting greenwashing of same Nifty 50 </a:t>
            </a:r>
            <a:r>
              <a:rPr sz="1300" dirty="0">
                <a:latin typeface="Avenir Next" panose="020B0503020202020204" pitchFamily="34" charset="0"/>
              </a:rPr>
              <a:t>firms</a:t>
            </a:r>
            <a:r>
              <a:rPr lang="en-US" sz="1300" dirty="0">
                <a:latin typeface="Avenir Next" panose="020B0503020202020204" pitchFamily="34" charset="0"/>
              </a:rPr>
              <a:t>:</a:t>
            </a:r>
          </a:p>
        </p:txBody>
      </p:sp>
      <p:sp>
        <p:nvSpPr>
          <p:cNvPr id="18" name="Rounded Rectangle 17"/>
          <p:cNvSpPr/>
          <p:nvPr/>
        </p:nvSpPr>
        <p:spPr>
          <a:xfrm>
            <a:off x="7588036" y="1345829"/>
            <a:ext cx="4079708" cy="3352221"/>
          </a:xfrm>
          <a:prstGeom prst="roundRect">
            <a:avLst/>
          </a:prstGeom>
          <a:solidFill>
            <a:srgbClr val="FFF3F0"/>
          </a:solidFill>
          <a:ln w="12700">
            <a:solidFill>
              <a:srgbClr val="E7B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9" name="Rounded Rectangle 18"/>
          <p:cNvSpPr/>
          <p:nvPr/>
        </p:nvSpPr>
        <p:spPr>
          <a:xfrm>
            <a:off x="7523393" y="1291949"/>
            <a:ext cx="3780707" cy="426572"/>
          </a:xfrm>
          <a:prstGeom prst="round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73F35"/>
                </a:solidFill>
                <a:latin typeface="Avenir Next"/>
              </a:defRPr>
            </a:pPr>
            <a:r>
              <a:rPr lang="en-US" sz="1500" dirty="0">
                <a:solidFill>
                  <a:schemeClr val="bg1"/>
                </a:solidFill>
                <a:latin typeface="Avenir Next" panose="020B0503020202020204" pitchFamily="34" charset="0"/>
              </a:rPr>
              <a:t>Market Scale of </a:t>
            </a:r>
            <a:r>
              <a:rPr sz="1500" dirty="0">
                <a:solidFill>
                  <a:schemeClr val="bg1"/>
                </a:solidFill>
                <a:latin typeface="Avenir Next" panose="020B0503020202020204" pitchFamily="34" charset="0"/>
              </a:rPr>
              <a:t>ESG </a:t>
            </a:r>
            <a:r>
              <a:rPr lang="en-US" sz="1500" dirty="0">
                <a:solidFill>
                  <a:schemeClr val="bg1"/>
                </a:solidFill>
                <a:latin typeface="Avenir Next" panose="020B0503020202020204" pitchFamily="34" charset="0"/>
              </a:rPr>
              <a:t>Equity and Debt</a:t>
            </a:r>
            <a:endParaRPr sz="1500" dirty="0">
              <a:solidFill>
                <a:schemeClr val="bg1"/>
              </a:solidFill>
              <a:latin typeface="Avenir Next" panose="020B0503020202020204" pitchFamily="34" charset="0"/>
            </a:endParaRPr>
          </a:p>
        </p:txBody>
      </p:sp>
      <p:sp>
        <p:nvSpPr>
          <p:cNvPr id="20" name="TextBox 19"/>
          <p:cNvSpPr txBox="1"/>
          <p:nvPr/>
        </p:nvSpPr>
        <p:spPr>
          <a:xfrm>
            <a:off x="7626136" y="1897080"/>
            <a:ext cx="2134188" cy="400110"/>
          </a:xfrm>
          <a:prstGeom prst="rect">
            <a:avLst/>
          </a:prstGeom>
          <a:noFill/>
        </p:spPr>
        <p:txBody>
          <a:bodyPr wrap="square" lIns="91440" tIns="45720" rIns="91440" bIns="45720" anchor="t">
            <a:spAutoFit/>
          </a:bodyPr>
          <a:lstStyle/>
          <a:p>
            <a:pPr algn="ctr">
              <a:defRPr sz="2400" b="1">
                <a:solidFill>
                  <a:srgbClr val="173F35"/>
                </a:solidFill>
                <a:latin typeface="Georgia"/>
              </a:defRPr>
            </a:pPr>
            <a:r>
              <a:rPr lang="en-IN" sz="2000" dirty="0">
                <a:latin typeface="Avenir Next" panose="020B0503020202020204" pitchFamily="34" charset="0"/>
              </a:rPr>
              <a:t>ESG fund AUM</a:t>
            </a:r>
          </a:p>
        </p:txBody>
      </p:sp>
      <p:sp>
        <p:nvSpPr>
          <p:cNvPr id="21" name="TextBox 20"/>
          <p:cNvSpPr txBox="1"/>
          <p:nvPr/>
        </p:nvSpPr>
        <p:spPr>
          <a:xfrm>
            <a:off x="7699865" y="2254266"/>
            <a:ext cx="1859039" cy="1015663"/>
          </a:xfrm>
          <a:prstGeom prst="rect">
            <a:avLst/>
          </a:prstGeom>
          <a:noFill/>
        </p:spPr>
        <p:txBody>
          <a:bodyPr wrap="square" anchor="t">
            <a:spAutoFit/>
          </a:bodyPr>
          <a:lstStyle/>
          <a:p>
            <a:pPr>
              <a:defRPr sz="1050" b="0">
                <a:solidFill>
                  <a:srgbClr val="2A2A2A"/>
                </a:solidFill>
                <a:latin typeface="Avenir Next"/>
              </a:defRPr>
            </a:pPr>
            <a:r>
              <a:rPr lang="en-US" sz="1200" dirty="0">
                <a:latin typeface="Avenir Next" panose="020B0503020202020204" pitchFamily="34" charset="0"/>
              </a:rPr>
              <a:t>Grew from US$ 331 million in January 2020 to US$ 1.2 billion by March 2024</a:t>
            </a:r>
          </a:p>
          <a:p>
            <a:pPr>
              <a:defRPr sz="1050" b="0">
                <a:solidFill>
                  <a:srgbClr val="2A2A2A"/>
                </a:solidFill>
                <a:latin typeface="Avenir Next"/>
              </a:defRPr>
            </a:pPr>
            <a:endParaRPr sz="1200" dirty="0">
              <a:latin typeface="Avenir Next" panose="020B0503020202020204" pitchFamily="34" charset="0"/>
            </a:endParaRPr>
          </a:p>
        </p:txBody>
      </p:sp>
      <p:sp>
        <p:nvSpPr>
          <p:cNvPr id="22" name="TextBox 21"/>
          <p:cNvSpPr txBox="1"/>
          <p:nvPr/>
        </p:nvSpPr>
        <p:spPr>
          <a:xfrm>
            <a:off x="9707819" y="1897080"/>
            <a:ext cx="1551672" cy="400110"/>
          </a:xfrm>
          <a:prstGeom prst="rect">
            <a:avLst/>
          </a:prstGeom>
          <a:noFill/>
        </p:spPr>
        <p:txBody>
          <a:bodyPr wrap="square" lIns="91440" tIns="45720" rIns="91440" bIns="45720" anchor="t">
            <a:spAutoFit/>
          </a:bodyPr>
          <a:lstStyle/>
          <a:p>
            <a:pPr algn="ctr">
              <a:defRPr sz="2400" b="1">
                <a:solidFill>
                  <a:srgbClr val="173F35"/>
                </a:solidFill>
                <a:latin typeface="Georgia"/>
              </a:defRPr>
            </a:pPr>
            <a:r>
              <a:rPr lang="en-US" sz="2000" dirty="0">
                <a:latin typeface="Avenir Next" panose="020B0503020202020204" pitchFamily="34" charset="0"/>
              </a:rPr>
              <a:t>ESG Debt</a:t>
            </a:r>
          </a:p>
        </p:txBody>
      </p:sp>
      <p:sp>
        <p:nvSpPr>
          <p:cNvPr id="23" name="TextBox 22"/>
          <p:cNvSpPr txBox="1"/>
          <p:nvPr/>
        </p:nvSpPr>
        <p:spPr>
          <a:xfrm>
            <a:off x="9838484" y="2259734"/>
            <a:ext cx="1634637" cy="830997"/>
          </a:xfrm>
          <a:prstGeom prst="rect">
            <a:avLst/>
          </a:prstGeom>
          <a:noFill/>
        </p:spPr>
        <p:txBody>
          <a:bodyPr wrap="square" anchor="t">
            <a:spAutoFit/>
          </a:bodyPr>
          <a:lstStyle/>
          <a:p>
            <a:pPr>
              <a:defRPr sz="1050" b="0">
                <a:solidFill>
                  <a:srgbClr val="2A2A2A"/>
                </a:solidFill>
                <a:latin typeface="Avenir Next"/>
              </a:defRPr>
            </a:pPr>
            <a:r>
              <a:rPr lang="en-US" sz="1200" dirty="0">
                <a:latin typeface="Avenir Next" panose="020B0503020202020204" pitchFamily="34" charset="0"/>
              </a:rPr>
              <a:t>Reached US$ 56 billion by Dec. 2024, a 186% increase since 2021</a:t>
            </a:r>
          </a:p>
        </p:txBody>
      </p:sp>
      <p:sp>
        <p:nvSpPr>
          <p:cNvPr id="24" name="TextBox 23"/>
          <p:cNvSpPr txBox="1"/>
          <p:nvPr/>
        </p:nvSpPr>
        <p:spPr>
          <a:xfrm>
            <a:off x="7702107" y="3192884"/>
            <a:ext cx="3657600" cy="1431161"/>
          </a:xfrm>
          <a:prstGeom prst="rect">
            <a:avLst/>
          </a:prstGeom>
          <a:noFill/>
        </p:spPr>
        <p:txBody>
          <a:bodyPr wrap="square" lIns="91440" tIns="45720" rIns="91440" bIns="45720" anchor="t">
            <a:spAutoFit/>
          </a:bodyPr>
          <a:lstStyle/>
          <a:p>
            <a:pPr marL="285750" indent="-285750">
              <a:buFont typeface="Arial" panose="020B0604020202020204" pitchFamily="34" charset="0"/>
              <a:buChar char="•"/>
              <a:defRPr sz="1070" b="1">
                <a:solidFill>
                  <a:srgbClr val="A23E2A"/>
                </a:solidFill>
                <a:latin typeface="Avenir Next"/>
              </a:defRPr>
            </a:pPr>
            <a:r>
              <a:rPr sz="1300" dirty="0">
                <a:solidFill>
                  <a:schemeClr val="tx1">
                    <a:lumMod val="95000"/>
                    <a:lumOff val="5000"/>
                  </a:schemeClr>
                </a:solidFill>
                <a:latin typeface="Avenir Next" panose="020B0503020202020204" pitchFamily="34" charset="0"/>
              </a:rPr>
              <a:t>India is already the fourth-largest emerging</a:t>
            </a:r>
            <a:r>
              <a:rPr lang="en-US" sz="1300" dirty="0">
                <a:solidFill>
                  <a:schemeClr val="tx1">
                    <a:lumMod val="95000"/>
                    <a:lumOff val="5000"/>
                  </a:schemeClr>
                </a:solidFill>
                <a:latin typeface="Avenir Next" panose="020B0503020202020204" pitchFamily="34" charset="0"/>
              </a:rPr>
              <a:t> </a:t>
            </a:r>
            <a:r>
              <a:rPr sz="1300" dirty="0">
                <a:solidFill>
                  <a:schemeClr val="tx1">
                    <a:lumMod val="95000"/>
                    <a:lumOff val="5000"/>
                  </a:schemeClr>
                </a:solidFill>
                <a:latin typeface="Avenir Next" panose="020B0503020202020204" pitchFamily="34" charset="0"/>
              </a:rPr>
              <a:t>market source of sustainable debt globally</a:t>
            </a:r>
            <a:r>
              <a:rPr lang="en-US" sz="1300" dirty="0">
                <a:solidFill>
                  <a:schemeClr val="tx1">
                    <a:lumMod val="95000"/>
                    <a:lumOff val="5000"/>
                  </a:schemeClr>
                </a:solidFill>
                <a:latin typeface="Avenir Next" panose="020B0503020202020204" pitchFamily="34" charset="0"/>
              </a:rPr>
              <a:t>.</a:t>
            </a:r>
          </a:p>
          <a:p>
            <a:pPr>
              <a:defRPr sz="1070" b="1">
                <a:solidFill>
                  <a:srgbClr val="A23E2A"/>
                </a:solidFill>
                <a:latin typeface="Avenir Next"/>
              </a:defRPr>
            </a:pPr>
            <a:endParaRPr lang="en-US" sz="600" dirty="0">
              <a:solidFill>
                <a:schemeClr val="tx1">
                  <a:lumMod val="95000"/>
                  <a:lumOff val="5000"/>
                </a:schemeClr>
              </a:solidFill>
              <a:latin typeface="Avenir Next" panose="020B0503020202020204" pitchFamily="34" charset="0"/>
            </a:endParaRPr>
          </a:p>
          <a:p>
            <a:pPr marL="285750" indent="-285750">
              <a:buFont typeface="Arial" panose="020B0604020202020204" pitchFamily="34" charset="0"/>
              <a:buChar char="•"/>
              <a:defRPr sz="1070" b="1">
                <a:solidFill>
                  <a:srgbClr val="A23E2A"/>
                </a:solidFill>
                <a:latin typeface="Avenir Next"/>
              </a:defRPr>
            </a:pPr>
            <a:r>
              <a:rPr sz="1300" dirty="0">
                <a:solidFill>
                  <a:schemeClr val="tx1">
                    <a:lumMod val="95000"/>
                    <a:lumOff val="5000"/>
                  </a:schemeClr>
                </a:solidFill>
                <a:latin typeface="Avenir Next" panose="020B0503020202020204" pitchFamily="34" charset="0"/>
              </a:rPr>
              <a:t>RBI</a:t>
            </a:r>
            <a:r>
              <a:rPr lang="en-US" sz="1300" dirty="0">
                <a:solidFill>
                  <a:schemeClr val="tx1">
                    <a:lumMod val="95000"/>
                    <a:lumOff val="5000"/>
                  </a:schemeClr>
                </a:solidFill>
                <a:latin typeface="Avenir Next" panose="020B0503020202020204" pitchFamily="34" charset="0"/>
              </a:rPr>
              <a:t>’s 2023</a:t>
            </a:r>
            <a:r>
              <a:rPr sz="1300" dirty="0">
                <a:solidFill>
                  <a:schemeClr val="tx1">
                    <a:lumMod val="95000"/>
                    <a:lumOff val="5000"/>
                  </a:schemeClr>
                </a:solidFill>
                <a:latin typeface="Avenir Next" panose="020B0503020202020204" pitchFamily="34" charset="0"/>
              </a:rPr>
              <a:t> research</a:t>
            </a:r>
            <a:r>
              <a:rPr lang="en-US" sz="1300" dirty="0">
                <a:solidFill>
                  <a:schemeClr val="tx1">
                    <a:lumMod val="95000"/>
                    <a:lumOff val="5000"/>
                  </a:schemeClr>
                </a:solidFill>
                <a:latin typeface="Avenir Next" panose="020B0503020202020204" pitchFamily="34" charset="0"/>
              </a:rPr>
              <a:t> study</a:t>
            </a:r>
            <a:r>
              <a:rPr sz="1300" dirty="0">
                <a:solidFill>
                  <a:schemeClr val="tx1">
                    <a:lumMod val="95000"/>
                    <a:lumOff val="5000"/>
                  </a:schemeClr>
                </a:solidFill>
                <a:latin typeface="Avenir Next" panose="020B0503020202020204" pitchFamily="34" charset="0"/>
              </a:rPr>
              <a:t> </a:t>
            </a:r>
            <a:r>
              <a:rPr lang="en-US" sz="1300" dirty="0">
                <a:solidFill>
                  <a:schemeClr val="tx1">
                    <a:lumMod val="95000"/>
                    <a:lumOff val="5000"/>
                  </a:schemeClr>
                </a:solidFill>
                <a:latin typeface="Avenir Next" panose="020B0503020202020204" pitchFamily="34" charset="0"/>
              </a:rPr>
              <a:t>found that </a:t>
            </a:r>
            <a:r>
              <a:rPr sz="1300" dirty="0">
                <a:solidFill>
                  <a:schemeClr val="tx1">
                    <a:lumMod val="95000"/>
                    <a:lumOff val="5000"/>
                  </a:schemeClr>
                </a:solidFill>
                <a:latin typeface="Avenir Next" panose="020B0503020202020204" pitchFamily="34" charset="0"/>
              </a:rPr>
              <a:t>ESG </a:t>
            </a:r>
            <a:r>
              <a:rPr lang="en-US" sz="1300" dirty="0">
                <a:solidFill>
                  <a:schemeClr val="tx1">
                    <a:lumMod val="95000"/>
                    <a:lumOff val="5000"/>
                  </a:schemeClr>
                </a:solidFill>
                <a:latin typeface="Avenir Next" panose="020B0503020202020204" pitchFamily="34" charset="0"/>
              </a:rPr>
              <a:t>based stocks have higher returns</a:t>
            </a:r>
            <a:r>
              <a:rPr sz="1300" dirty="0">
                <a:solidFill>
                  <a:schemeClr val="tx1">
                    <a:lumMod val="95000"/>
                    <a:lumOff val="5000"/>
                  </a:schemeClr>
                </a:solidFill>
                <a:latin typeface="Avenir Next" panose="020B0503020202020204" pitchFamily="34" charset="0"/>
              </a:rPr>
              <a:t> </a:t>
            </a:r>
            <a:r>
              <a:rPr lang="en-US" sz="1300" dirty="0">
                <a:solidFill>
                  <a:schemeClr val="tx1">
                    <a:lumMod val="95000"/>
                    <a:lumOff val="5000"/>
                  </a:schemeClr>
                </a:solidFill>
                <a:latin typeface="Avenir Next" panose="020B0503020202020204" pitchFamily="34" charset="0"/>
              </a:rPr>
              <a:t>compared to </a:t>
            </a:r>
            <a:r>
              <a:rPr sz="1300" dirty="0">
                <a:solidFill>
                  <a:schemeClr val="tx1">
                    <a:lumMod val="95000"/>
                    <a:lumOff val="5000"/>
                  </a:schemeClr>
                </a:solidFill>
                <a:latin typeface="Avenir Next" panose="020B0503020202020204" pitchFamily="34" charset="0"/>
              </a:rPr>
              <a:t>market.</a:t>
            </a:r>
          </a:p>
        </p:txBody>
      </p:sp>
      <p:sp>
        <p:nvSpPr>
          <p:cNvPr id="28" name="Rounded Rectangle 27"/>
          <p:cNvSpPr/>
          <p:nvPr/>
        </p:nvSpPr>
        <p:spPr>
          <a:xfrm>
            <a:off x="1515292" y="5390971"/>
            <a:ext cx="9013372" cy="993388"/>
          </a:xfrm>
          <a:prstGeom prst="roundRect">
            <a:avLst/>
          </a:prstGeom>
          <a:solidFill>
            <a:srgbClr val="EFF5EA"/>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29" name="TextBox 28"/>
          <p:cNvSpPr txBox="1"/>
          <p:nvPr/>
        </p:nvSpPr>
        <p:spPr>
          <a:xfrm>
            <a:off x="987552" y="5546637"/>
            <a:ext cx="10267120" cy="615553"/>
          </a:xfrm>
          <a:prstGeom prst="rect">
            <a:avLst/>
          </a:prstGeom>
          <a:noFill/>
        </p:spPr>
        <p:txBody>
          <a:bodyPr wrap="square" lIns="91440" tIns="45720" rIns="91440" bIns="45720" anchor="t">
            <a:spAutoFit/>
          </a:bodyPr>
          <a:lstStyle/>
          <a:p>
            <a:pPr algn="ctr">
              <a:defRPr sz="1150" b="1">
                <a:solidFill>
                  <a:srgbClr val="12402D"/>
                </a:solidFill>
                <a:latin typeface="Avenir Next Demi Bold"/>
              </a:defRPr>
            </a:pPr>
            <a:r>
              <a:rPr lang="en-US" sz="1400" cap="small" dirty="0">
                <a:latin typeface="Avenir Next" panose="020B0503020202020204" pitchFamily="34" charset="0"/>
              </a:rPr>
              <a:t>Greenwashing distorts the information on which consumers, investors and regulators rely on.</a:t>
            </a:r>
          </a:p>
          <a:p>
            <a:pPr algn="ctr">
              <a:defRPr sz="1150" b="1">
                <a:solidFill>
                  <a:srgbClr val="12402D"/>
                </a:solidFill>
                <a:latin typeface="Avenir Next Demi Bold"/>
              </a:defRPr>
            </a:pPr>
            <a:endParaRPr lang="en-IN" sz="600" cap="small" dirty="0">
              <a:latin typeface="Avenir Next" panose="020B0503020202020204" pitchFamily="34" charset="0"/>
            </a:endParaRPr>
          </a:p>
          <a:p>
            <a:pPr algn="ctr">
              <a:defRPr sz="1150" b="1">
                <a:solidFill>
                  <a:srgbClr val="12402D"/>
                </a:solidFill>
                <a:latin typeface="Avenir Next Demi Bold"/>
              </a:defRPr>
            </a:pPr>
            <a:r>
              <a:rPr lang="en-IN" sz="1400" cap="small" dirty="0">
                <a:latin typeface="Avenir Next" panose="020B0503020202020204" pitchFamily="34" charset="0"/>
              </a:rPr>
              <a:t>It affects consumer choice and capital allocation.</a:t>
            </a:r>
            <a:endParaRPr lang="en-IN" sz="1600" cap="small" dirty="0">
              <a:latin typeface="Avenir Next" panose="020B0503020202020204" pitchFamily="34" charset="0"/>
            </a:endParaRPr>
          </a:p>
        </p:txBody>
      </p:sp>
      <p:sp>
        <p:nvSpPr>
          <p:cNvPr id="30" name="TextBox 29"/>
          <p:cNvSpPr txBox="1"/>
          <p:nvPr/>
        </p:nvSpPr>
        <p:spPr>
          <a:xfrm>
            <a:off x="643329" y="6557535"/>
            <a:ext cx="8981177" cy="307777"/>
          </a:xfrm>
          <a:prstGeom prst="rect">
            <a:avLst/>
          </a:prstGeom>
          <a:noFill/>
        </p:spPr>
        <p:txBody>
          <a:bodyPr wrap="none" lIns="91440" tIns="45720" rIns="91440" bIns="45720" anchor="t">
            <a:spAutoFit/>
          </a:bodyPr>
          <a:lstStyle/>
          <a:p>
            <a:pPr>
              <a:defRPr sz="850">
                <a:solidFill>
                  <a:srgbClr val="6B6F6A"/>
                </a:solidFill>
                <a:latin typeface="Avenir Next"/>
              </a:defRPr>
            </a:pPr>
            <a:r>
              <a:rPr sz="1400" dirty="0">
                <a:solidFill>
                  <a:schemeClr val="tx1">
                    <a:lumMod val="95000"/>
                    <a:lumOff val="5000"/>
                  </a:schemeClr>
                </a:solidFill>
              </a:rPr>
              <a:t>Source: </a:t>
            </a:r>
            <a:r>
              <a:rPr lang="en-US" sz="1400" dirty="0">
                <a:solidFill>
                  <a:schemeClr val="tx1">
                    <a:lumMod val="95000"/>
                    <a:lumOff val="5000"/>
                  </a:schemeClr>
                </a:solidFill>
              </a:rPr>
              <a:t>Section 2.5 of Thesis. ASCI</a:t>
            </a:r>
            <a:r>
              <a:rPr sz="1400" dirty="0">
                <a:solidFill>
                  <a:schemeClr val="tx1">
                    <a:lumMod val="95000"/>
                    <a:lumOff val="5000"/>
                  </a:schemeClr>
                </a:solidFill>
              </a:rPr>
              <a:t>, RBI,</a:t>
            </a:r>
            <a:r>
              <a:rPr lang="en-US" sz="1400" dirty="0">
                <a:solidFill>
                  <a:schemeClr val="tx1">
                    <a:lumMod val="95000"/>
                    <a:lumOff val="5000"/>
                  </a:schemeClr>
                </a:solidFill>
              </a:rPr>
              <a:t> CRISIL, </a:t>
            </a:r>
            <a:r>
              <a:rPr sz="1400" dirty="0">
                <a:solidFill>
                  <a:schemeClr val="tx1">
                    <a:lumMod val="95000"/>
                    <a:lumOff val="5000"/>
                  </a:schemeClr>
                </a:solidFill>
              </a:rPr>
              <a:t> figures</a:t>
            </a:r>
            <a:r>
              <a:rPr lang="en-US" sz="1400" dirty="0">
                <a:solidFill>
                  <a:schemeClr val="tx1">
                    <a:lumMod val="95000"/>
                    <a:lumOff val="5000"/>
                  </a:schemeClr>
                </a:solidFill>
              </a:rPr>
              <a:t> and some peer-reviewed studies, </a:t>
            </a:r>
            <a:r>
              <a:rPr sz="1400" dirty="0">
                <a:solidFill>
                  <a:schemeClr val="tx1">
                    <a:lumMod val="95000"/>
                    <a:lumOff val="5000"/>
                  </a:schemeClr>
                </a:solidFill>
              </a:rPr>
              <a:t>cited in the thesis.</a:t>
            </a:r>
          </a:p>
        </p:txBody>
      </p:sp>
      <p:sp>
        <p:nvSpPr>
          <p:cNvPr id="33" name="TextBox 32">
            <a:extLst>
              <a:ext uri="{FF2B5EF4-FFF2-40B4-BE49-F238E27FC236}">
                <a16:creationId xmlns:a16="http://schemas.microsoft.com/office/drawing/2014/main" id="{A12DB4F1-51A1-55FB-D748-743EFC05C2B5}"/>
              </a:ext>
            </a:extLst>
          </p:cNvPr>
          <p:cNvSpPr txBox="1"/>
          <p:nvPr/>
        </p:nvSpPr>
        <p:spPr>
          <a:xfrm>
            <a:off x="695718" y="864671"/>
            <a:ext cx="5464894" cy="338554"/>
          </a:xfrm>
          <a:prstGeom prst="rect">
            <a:avLst/>
          </a:prstGeom>
          <a:noFill/>
        </p:spPr>
        <p:txBody>
          <a:bodyPr wrap="none" lIns="91440" tIns="45720" rIns="91440" bIns="45720" anchor="t">
            <a:spAutoFit/>
          </a:bodyPr>
          <a:lstStyle/>
          <a:p>
            <a:pPr>
              <a:defRPr sz="1200">
                <a:solidFill>
                  <a:srgbClr val="6B6F6A"/>
                </a:solidFill>
                <a:latin typeface="Avenir Next"/>
              </a:defRPr>
            </a:pPr>
            <a:r>
              <a:rPr lang="en-US" sz="1600" b="1" i="1" dirty="0">
                <a:solidFill>
                  <a:srgbClr val="12402D"/>
                </a:solidFill>
                <a:latin typeface="Avenir Next" panose="020B0503020202020204" pitchFamily="34" charset="0"/>
              </a:rPr>
              <a:t>Based on available data from authority-based sources</a:t>
            </a:r>
          </a:p>
        </p:txBody>
      </p:sp>
      <p:sp>
        <p:nvSpPr>
          <p:cNvPr id="6" name="TextBox 5">
            <a:extLst>
              <a:ext uri="{FF2B5EF4-FFF2-40B4-BE49-F238E27FC236}">
                <a16:creationId xmlns:a16="http://schemas.microsoft.com/office/drawing/2014/main" id="{5E4D6379-FB21-ECB8-430A-DD00BE2CA29F}"/>
              </a:ext>
            </a:extLst>
          </p:cNvPr>
          <p:cNvSpPr txBox="1"/>
          <p:nvPr/>
        </p:nvSpPr>
        <p:spPr>
          <a:xfrm>
            <a:off x="4169811" y="3832835"/>
            <a:ext cx="3204595" cy="692497"/>
          </a:xfrm>
          <a:prstGeom prst="rect">
            <a:avLst/>
          </a:prstGeom>
          <a:noFill/>
        </p:spPr>
        <p:txBody>
          <a:bodyPr wrap="square">
            <a:spAutoFit/>
          </a:bodyPr>
          <a:lstStyle/>
          <a:p>
            <a:pPr>
              <a:defRPr sz="1150" b="1">
                <a:solidFill>
                  <a:srgbClr val="2A2A2A"/>
                </a:solidFill>
                <a:latin typeface="Avenir Next"/>
              </a:defRPr>
            </a:pPr>
            <a:r>
              <a:rPr lang="en-IN" sz="1300" dirty="0">
                <a:latin typeface="Avenir Next" panose="020B0503020202020204" pitchFamily="34" charset="0"/>
              </a:rPr>
              <a:t>A CRISIL Report in 2022, discovered that nearly 80% of 586 companies scored weak on ESG parameters.</a:t>
            </a:r>
          </a:p>
        </p:txBody>
      </p:sp>
      <p:sp>
        <p:nvSpPr>
          <p:cNvPr id="12" name="TextBox 11">
            <a:extLst>
              <a:ext uri="{FF2B5EF4-FFF2-40B4-BE49-F238E27FC236}">
                <a16:creationId xmlns:a16="http://schemas.microsoft.com/office/drawing/2014/main" id="{03976511-B45A-D9C6-7CF1-E7DF1798451D}"/>
              </a:ext>
            </a:extLst>
          </p:cNvPr>
          <p:cNvSpPr txBox="1"/>
          <p:nvPr/>
        </p:nvSpPr>
        <p:spPr>
          <a:xfrm>
            <a:off x="4429684" y="2912847"/>
            <a:ext cx="1153453" cy="830997"/>
          </a:xfrm>
          <a:prstGeom prst="rect">
            <a:avLst/>
          </a:prstGeom>
          <a:noFill/>
        </p:spPr>
        <p:txBody>
          <a:bodyPr wrap="square">
            <a:spAutoFit/>
          </a:bodyPr>
          <a:lstStyle/>
          <a:p>
            <a:pPr>
              <a:defRPr sz="1150" b="1">
                <a:solidFill>
                  <a:srgbClr val="2A2A2A"/>
                </a:solidFill>
                <a:latin typeface="Avenir Next"/>
              </a:defRPr>
            </a:pPr>
            <a:r>
              <a:rPr lang="en-US" sz="1600" dirty="0">
                <a:solidFill>
                  <a:srgbClr val="2A6334"/>
                </a:solidFill>
                <a:latin typeface="Avenir Next" panose="020B0503020202020204" pitchFamily="34" charset="0"/>
              </a:rPr>
              <a:t>54% of Nifty 50 (2022)</a:t>
            </a:r>
          </a:p>
        </p:txBody>
      </p:sp>
      <p:sp>
        <p:nvSpPr>
          <p:cNvPr id="31" name="TextBox 30">
            <a:extLst>
              <a:ext uri="{FF2B5EF4-FFF2-40B4-BE49-F238E27FC236}">
                <a16:creationId xmlns:a16="http://schemas.microsoft.com/office/drawing/2014/main" id="{13EBFC7C-4502-5C27-2F3A-49DBCBD283E7}"/>
              </a:ext>
            </a:extLst>
          </p:cNvPr>
          <p:cNvSpPr txBox="1"/>
          <p:nvPr/>
        </p:nvSpPr>
        <p:spPr>
          <a:xfrm>
            <a:off x="5891174" y="2918695"/>
            <a:ext cx="1020207" cy="830997"/>
          </a:xfrm>
          <a:prstGeom prst="rect">
            <a:avLst/>
          </a:prstGeom>
          <a:noFill/>
        </p:spPr>
        <p:txBody>
          <a:bodyPr wrap="square">
            <a:spAutoFit/>
          </a:bodyPr>
          <a:lstStyle/>
          <a:p>
            <a:pPr>
              <a:defRPr sz="1150" b="1">
                <a:solidFill>
                  <a:srgbClr val="2A2A2A"/>
                </a:solidFill>
                <a:latin typeface="Avenir Next"/>
              </a:defRPr>
            </a:pPr>
            <a:r>
              <a:rPr lang="en-US" sz="1600" dirty="0">
                <a:solidFill>
                  <a:srgbClr val="2A6334"/>
                </a:solidFill>
                <a:latin typeface="Avenir Next" panose="020B0503020202020204" pitchFamily="34" charset="0"/>
              </a:rPr>
              <a:t>47% of Nifty 50 (2025)</a:t>
            </a:r>
          </a:p>
        </p:txBody>
      </p:sp>
    </p:spTree>
    <p:extLst>
      <p:ext uri="{BB962C8B-B14F-4D97-AF65-F5344CB8AC3E}">
        <p14:creationId xmlns:p14="http://schemas.microsoft.com/office/powerpoint/2010/main" val="2544176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3" name="TextBox 2"/>
          <p:cNvSpPr txBox="1"/>
          <p:nvPr/>
        </p:nvSpPr>
        <p:spPr>
          <a:xfrm>
            <a:off x="620486" y="428064"/>
            <a:ext cx="10058400" cy="584775"/>
          </a:xfrm>
          <a:prstGeom prst="rect">
            <a:avLst/>
          </a:prstGeom>
          <a:noFill/>
        </p:spPr>
        <p:txBody>
          <a:bodyPr wrap="square">
            <a:spAutoFit/>
          </a:bodyPr>
          <a:lstStyle/>
          <a:p>
            <a:pPr algn="l">
              <a:spcAft>
                <a:spcPts val="600"/>
              </a:spcAft>
              <a:defRPr sz="3000" b="1">
                <a:solidFill>
                  <a:srgbClr val="1B1B2F"/>
                </a:solidFill>
                <a:latin typeface="Calibri Light"/>
              </a:defRPr>
            </a:pPr>
            <a:r>
              <a:rPr sz="3200" b="1" dirty="0">
                <a:solidFill>
                  <a:srgbClr val="173F35"/>
                </a:solidFill>
                <a:latin typeface="Avenir Next Demi Bold"/>
              </a:rPr>
              <a:t>Research Gap</a:t>
            </a:r>
          </a:p>
        </p:txBody>
      </p:sp>
      <p:sp>
        <p:nvSpPr>
          <p:cNvPr id="5" name="Rounded Rectangle 4"/>
          <p:cNvSpPr/>
          <p:nvPr/>
        </p:nvSpPr>
        <p:spPr>
          <a:xfrm>
            <a:off x="709903" y="1181657"/>
            <a:ext cx="10627808" cy="4267792"/>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Avenir Next" panose="020B0503020202020204" pitchFamily="34" charset="0"/>
            </a:endParaRPr>
          </a:p>
        </p:txBody>
      </p:sp>
      <p:sp>
        <p:nvSpPr>
          <p:cNvPr id="7" name="TextBox 6"/>
          <p:cNvSpPr txBox="1"/>
          <p:nvPr/>
        </p:nvSpPr>
        <p:spPr>
          <a:xfrm>
            <a:off x="1004990" y="1408552"/>
            <a:ext cx="10140803" cy="3960058"/>
          </a:xfrm>
          <a:prstGeom prst="rect">
            <a:avLst/>
          </a:prstGeom>
          <a:noFill/>
        </p:spPr>
        <p:txBody>
          <a:bodyPr wrap="square">
            <a:spAutoFit/>
          </a:bodyPr>
          <a:lstStyle/>
          <a:p>
            <a:pPr algn="l">
              <a:spcAft>
                <a:spcPts val="200"/>
              </a:spcAft>
              <a:defRPr sz="1250" b="1">
                <a:solidFill>
                  <a:srgbClr val="12402D"/>
                </a:solidFill>
                <a:latin typeface="Calibri"/>
              </a:defRPr>
            </a:pPr>
            <a:r>
              <a:rPr lang="en-US" sz="1350" dirty="0">
                <a:latin typeface="Avenir Next" panose="020B0503020202020204" pitchFamily="34" charset="0"/>
              </a:rPr>
              <a:t>Lack of an integrated analysis </a:t>
            </a:r>
          </a:p>
          <a:p>
            <a:pPr>
              <a:defRPr sz="1050"/>
            </a:pPr>
            <a:r>
              <a:rPr lang="en-IN" sz="1350" dirty="0">
                <a:latin typeface="Avenir Next" panose="020B0503020202020204" pitchFamily="34" charset="0"/>
              </a:rPr>
              <a:t>The research gap is not the complete absence of laws or regulations tackling greenwashing, but the absence of an integrated analysis of how those rules translate into enforceable accountability.</a:t>
            </a:r>
          </a:p>
          <a:p>
            <a:pPr>
              <a:defRPr sz="1050"/>
            </a:pPr>
            <a:endParaRPr lang="en-IN" sz="1350" dirty="0">
              <a:latin typeface="Avenir Next" panose="020B0503020202020204" pitchFamily="34" charset="0"/>
            </a:endParaRPr>
          </a:p>
          <a:p>
            <a:pPr>
              <a:spcAft>
                <a:spcPts val="200"/>
              </a:spcAft>
              <a:defRPr sz="1250" b="1">
                <a:solidFill>
                  <a:srgbClr val="12402D"/>
                </a:solidFill>
                <a:latin typeface="Calibri"/>
              </a:defRPr>
            </a:pPr>
            <a:r>
              <a:rPr lang="en-US" sz="1350" dirty="0">
                <a:latin typeface="Avenir Next" panose="020B0503020202020204" pitchFamily="34" charset="0"/>
              </a:rPr>
              <a:t>Limited doctrinal work on board-level accountability for environmental claims</a:t>
            </a:r>
          </a:p>
          <a:p>
            <a:pPr>
              <a:defRPr sz="1050"/>
            </a:pPr>
            <a:r>
              <a:rPr lang="en-US" sz="1350" dirty="0">
                <a:latin typeface="Avenir Next" panose="020B0503020202020204" pitchFamily="34" charset="0"/>
              </a:rPr>
              <a:t>Section 166(2) of the Companies Act, 2013 creates a statutory expectation that remains under-studied.</a:t>
            </a:r>
          </a:p>
          <a:p>
            <a:pPr>
              <a:defRPr sz="1050"/>
            </a:pPr>
            <a:endParaRPr lang="en-US" sz="1350" dirty="0">
              <a:latin typeface="Avenir Next" panose="020B0503020202020204" pitchFamily="34" charset="0"/>
            </a:endParaRPr>
          </a:p>
          <a:p>
            <a:pPr>
              <a:spcAft>
                <a:spcPts val="200"/>
              </a:spcAft>
              <a:defRPr sz="1250" b="1">
                <a:solidFill>
                  <a:srgbClr val="12402D"/>
                </a:solidFill>
                <a:latin typeface="Calibri"/>
              </a:defRPr>
            </a:pPr>
            <a:r>
              <a:rPr lang="en-IN" sz="1350" dirty="0">
                <a:latin typeface="Avenir Next" panose="020B0503020202020204" pitchFamily="34" charset="0"/>
              </a:rPr>
              <a:t>Regulatory Fragmentation</a:t>
            </a:r>
          </a:p>
          <a:p>
            <a:pPr>
              <a:defRPr sz="1050"/>
            </a:pPr>
            <a:r>
              <a:rPr lang="en-IN" sz="1350" dirty="0">
                <a:latin typeface="Avenir Next" panose="020B0503020202020204" pitchFamily="34" charset="0"/>
              </a:rPr>
              <a:t>The regulatory fragmentation problem has not been sufficiently examined as a structural cause of greenwashing. Green claims are policed across siloed regimes (MCA, SEBI, CCPA/ASCI), creating jurisdictional overlap and an accountability vacuum.</a:t>
            </a:r>
          </a:p>
          <a:p>
            <a:pPr>
              <a:defRPr sz="1050"/>
            </a:pPr>
            <a:endParaRPr lang="en-IN" sz="1350" dirty="0">
              <a:latin typeface="Avenir Next" panose="020B0503020202020204" pitchFamily="34" charset="0"/>
            </a:endParaRPr>
          </a:p>
          <a:p>
            <a:pPr>
              <a:spcAft>
                <a:spcPts val="200"/>
              </a:spcAft>
              <a:defRPr sz="1250" b="1">
                <a:solidFill>
                  <a:srgbClr val="12402D"/>
                </a:solidFill>
                <a:latin typeface="Calibri"/>
              </a:defRPr>
            </a:pPr>
            <a:r>
              <a:rPr lang="en-US" sz="1350" dirty="0">
                <a:latin typeface="Avenir Next" panose="020B0503020202020204" pitchFamily="34" charset="0"/>
              </a:rPr>
              <a:t>Limited analysis of structural reasons for low Enforcement</a:t>
            </a:r>
          </a:p>
          <a:p>
            <a:pPr>
              <a:defRPr sz="1050"/>
            </a:pPr>
            <a:r>
              <a:rPr lang="en-US" sz="1350" dirty="0">
                <a:latin typeface="Avenir Next" panose="020B0503020202020204" pitchFamily="34" charset="0"/>
              </a:rPr>
              <a:t>The available discussion on the enforcement of section 166(2) of Companies Act remains thin. Beyond Companies Act also, there is lack of doctrinal studies evaluating why SEBI rarely brings deterrent enforcement action against greenwashing.</a:t>
            </a:r>
          </a:p>
          <a:p>
            <a:pPr>
              <a:defRPr sz="1050"/>
            </a:pPr>
            <a:endParaRPr lang="en-IN" sz="1350" dirty="0">
              <a:latin typeface="Avenir Next" panose="020B0503020202020204" pitchFamily="34" charset="0"/>
            </a:endParaRPr>
          </a:p>
          <a:p>
            <a:pPr>
              <a:spcAft>
                <a:spcPts val="200"/>
              </a:spcAft>
              <a:defRPr sz="1250" b="1">
                <a:solidFill>
                  <a:srgbClr val="12402D"/>
                </a:solidFill>
                <a:latin typeface="Calibri"/>
              </a:defRPr>
            </a:pPr>
            <a:r>
              <a:rPr lang="en-IN" sz="1350" dirty="0">
                <a:latin typeface="Avenir Next" panose="020B0503020202020204" pitchFamily="34" charset="0"/>
              </a:rPr>
              <a:t>Limited study on Verification &amp; Assurance Gap</a:t>
            </a:r>
          </a:p>
          <a:p>
            <a:pPr>
              <a:defRPr sz="1050"/>
            </a:pPr>
            <a:r>
              <a:rPr lang="en-IN" sz="1350" dirty="0">
                <a:latin typeface="Avenir Next" panose="020B0503020202020204" pitchFamily="34" charset="0"/>
              </a:rPr>
              <a:t>Mandatory ESG disclosure has expanded without corresponding third-party verification capacity, resulting in unverified violations and meagre enforcement of regulation.</a:t>
            </a:r>
          </a:p>
        </p:txBody>
      </p:sp>
      <p:sp>
        <p:nvSpPr>
          <p:cNvPr id="20" name="Rounded Rectangle 19"/>
          <p:cNvSpPr/>
          <p:nvPr/>
        </p:nvSpPr>
        <p:spPr>
          <a:xfrm>
            <a:off x="676302" y="5754490"/>
            <a:ext cx="10698480" cy="944444"/>
          </a:xfrm>
          <a:prstGeom prst="roundRect">
            <a:avLst/>
          </a:prstGeom>
          <a:solidFill>
            <a:srgbClr val="E8F5F2"/>
          </a:solidFill>
          <a:ln w="12700">
            <a:solidFill>
              <a:srgbClr val="0E8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Avenir Next" panose="020B0503020202020204" pitchFamily="34" charset="0"/>
            </a:endParaRPr>
          </a:p>
        </p:txBody>
      </p:sp>
      <p:sp>
        <p:nvSpPr>
          <p:cNvPr id="21" name="TextBox 20"/>
          <p:cNvSpPr txBox="1"/>
          <p:nvPr/>
        </p:nvSpPr>
        <p:spPr>
          <a:xfrm>
            <a:off x="1042062" y="5824178"/>
            <a:ext cx="10332720" cy="820738"/>
          </a:xfrm>
          <a:prstGeom prst="rect">
            <a:avLst/>
          </a:prstGeom>
          <a:noFill/>
        </p:spPr>
        <p:txBody>
          <a:bodyPr wrap="square">
            <a:spAutoFit/>
          </a:bodyPr>
          <a:lstStyle/>
          <a:p>
            <a:pPr algn="l">
              <a:spcAft>
                <a:spcPts val="400"/>
              </a:spcAft>
              <a:defRPr sz="1100" b="1">
                <a:solidFill>
                  <a:srgbClr val="12402D"/>
                </a:solidFill>
                <a:latin typeface="Calibri"/>
              </a:defRPr>
            </a:pPr>
            <a:r>
              <a:rPr lang="en-US" sz="1600" dirty="0">
                <a:latin typeface="Avenir Next" panose="020B0503020202020204" pitchFamily="34" charset="0"/>
              </a:rPr>
              <a:t>MY</a:t>
            </a:r>
            <a:r>
              <a:rPr sz="1600" dirty="0">
                <a:latin typeface="Avenir Next" panose="020B0503020202020204" pitchFamily="34" charset="0"/>
              </a:rPr>
              <a:t> STUDY ADDRESSES THESE GAPS BY:</a:t>
            </a:r>
          </a:p>
          <a:p>
            <a:pPr>
              <a:defRPr sz="1050"/>
            </a:pPr>
            <a:r>
              <a:rPr sz="1400" dirty="0">
                <a:latin typeface="Avenir Next" panose="020B0503020202020204" pitchFamily="34" charset="0"/>
              </a:rPr>
              <a:t>Treating greenwashing as a corporate governance failure at the intersection of company law, securities disclosure</a:t>
            </a:r>
            <a:r>
              <a:rPr lang="en-US" sz="1400" dirty="0">
                <a:latin typeface="Avenir Next" panose="020B0503020202020204" pitchFamily="34" charset="0"/>
              </a:rPr>
              <a:t> </a:t>
            </a:r>
            <a:r>
              <a:rPr sz="1400" dirty="0">
                <a:latin typeface="Avenir Next" panose="020B0503020202020204" pitchFamily="34" charset="0"/>
              </a:rPr>
              <a:t>and consumer protection</a:t>
            </a:r>
            <a:r>
              <a:rPr lang="en-US" sz="1400" dirty="0">
                <a:latin typeface="Avenir Next" panose="020B0503020202020204" pitchFamily="34" charset="0"/>
              </a:rPr>
              <a:t>, </a:t>
            </a:r>
            <a:r>
              <a:rPr sz="1400" dirty="0">
                <a:latin typeface="Avenir Next" panose="020B0503020202020204" pitchFamily="34" charset="0"/>
              </a:rPr>
              <a:t>proposing an integrated liability framework.</a:t>
            </a:r>
          </a:p>
        </p:txBody>
      </p:sp>
      <p:sp>
        <p:nvSpPr>
          <p:cNvPr id="24" name="Rectangle 23">
            <a:extLst>
              <a:ext uri="{FF2B5EF4-FFF2-40B4-BE49-F238E27FC236}">
                <a16:creationId xmlns:a16="http://schemas.microsoft.com/office/drawing/2014/main" id="{65F00659-9CE2-A957-5E85-80F06183DC39}"/>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19633" y="161231"/>
            <a:ext cx="10058400" cy="1123384"/>
          </a:xfrm>
          <a:prstGeom prst="rect">
            <a:avLst/>
          </a:prstGeom>
          <a:noFill/>
        </p:spPr>
        <p:txBody>
          <a:bodyPr wrap="square" lIns="91440" tIns="45720" rIns="91440" bIns="45720" anchor="t">
            <a:spAutoFit/>
          </a:bodyPr>
          <a:lstStyle/>
          <a:p>
            <a:pPr>
              <a:lnSpc>
                <a:spcPct val="150000"/>
              </a:lnSpc>
              <a:spcAft>
                <a:spcPts val="600"/>
              </a:spcAft>
              <a:defRPr sz="3000" b="1">
                <a:solidFill>
                  <a:srgbClr val="1B1B2F"/>
                </a:solidFill>
                <a:latin typeface="Calibri Light"/>
              </a:defRPr>
            </a:pPr>
            <a:r>
              <a:rPr sz="3200" b="1" dirty="0">
                <a:solidFill>
                  <a:srgbClr val="173F35"/>
                </a:solidFill>
                <a:latin typeface="Avenir Next Demi Bold"/>
              </a:rPr>
              <a:t>Research Methodology</a:t>
            </a:r>
            <a:endParaRPr sz="1200" b="1" dirty="0">
              <a:solidFill>
                <a:srgbClr val="173F35"/>
              </a:solidFill>
              <a:latin typeface="Avenir Next Demi Bold"/>
            </a:endParaRPr>
          </a:p>
          <a:p>
            <a:pPr>
              <a:defRPr sz="1300" b="0">
                <a:solidFill>
                  <a:srgbClr val="6B6B7B"/>
                </a:solidFill>
                <a:latin typeface="Calibri"/>
              </a:defRPr>
            </a:pPr>
            <a:r>
              <a:rPr lang="en-US" sz="1400" b="1" dirty="0">
                <a:latin typeface="Avenir Next" panose="020B0503020202020204" pitchFamily="34" charset="0"/>
              </a:rPr>
              <a:t>Comparative and Analytical </a:t>
            </a:r>
            <a:r>
              <a:rPr sz="1400" b="1" dirty="0">
                <a:latin typeface="Avenir Next" panose="020B0503020202020204" pitchFamily="34" charset="0"/>
              </a:rPr>
              <a:t>Legal Research</a:t>
            </a:r>
            <a:endParaRPr sz="1400" b="1" dirty="0">
              <a:latin typeface="Avenir Next" panose="020B0503020202020204" pitchFamily="34" charset="0"/>
              <a:ea typeface="Calibri"/>
              <a:cs typeface="Calibri"/>
            </a:endParaRPr>
          </a:p>
        </p:txBody>
      </p:sp>
      <p:sp>
        <p:nvSpPr>
          <p:cNvPr id="4" name="Rounded Rectangle 3"/>
          <p:cNvSpPr/>
          <p:nvPr/>
        </p:nvSpPr>
        <p:spPr>
          <a:xfrm>
            <a:off x="731520" y="1508760"/>
            <a:ext cx="3383280" cy="2284818"/>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Avenir Next" panose="020B0503020202020204" pitchFamily="34" charset="0"/>
            </a:endParaRPr>
          </a:p>
        </p:txBody>
      </p:sp>
      <p:sp>
        <p:nvSpPr>
          <p:cNvPr id="5" name="Rectangle 4"/>
          <p:cNvSpPr/>
          <p:nvPr/>
        </p:nvSpPr>
        <p:spPr>
          <a:xfrm>
            <a:off x="822960" y="1645919"/>
            <a:ext cx="54864" cy="431475"/>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Avenir Next" panose="020B0503020202020204" pitchFamily="34" charset="0"/>
            </a:endParaRPr>
          </a:p>
        </p:txBody>
      </p:sp>
      <p:sp>
        <p:nvSpPr>
          <p:cNvPr id="6" name="TextBox 5"/>
          <p:cNvSpPr txBox="1"/>
          <p:nvPr/>
        </p:nvSpPr>
        <p:spPr>
          <a:xfrm>
            <a:off x="1005840" y="1600200"/>
            <a:ext cx="2967598" cy="2385268"/>
          </a:xfrm>
          <a:prstGeom prst="rect">
            <a:avLst/>
          </a:prstGeom>
          <a:noFill/>
        </p:spPr>
        <p:txBody>
          <a:bodyPr wrap="square" lIns="91440" tIns="45720" rIns="91440" bIns="45720" anchor="t">
            <a:spAutoFit/>
          </a:bodyPr>
          <a:lstStyle/>
          <a:p>
            <a:pPr>
              <a:spcAft>
                <a:spcPts val="600"/>
              </a:spcAft>
              <a:defRPr sz="1500" b="1">
                <a:solidFill>
                  <a:srgbClr val="095E4F"/>
                </a:solidFill>
                <a:latin typeface="Calibri"/>
              </a:defRPr>
            </a:pPr>
            <a:r>
              <a:rPr lang="en-IN" sz="1600" dirty="0">
                <a:latin typeface="Avenir Next" panose="020B0503020202020204" pitchFamily="34" charset="0"/>
              </a:rPr>
              <a:t>Primary &amp; Secondary Sources</a:t>
            </a:r>
          </a:p>
          <a:p>
            <a:pPr>
              <a:defRPr sz="1200" b="0">
                <a:solidFill>
                  <a:srgbClr val="3A3A4A"/>
                </a:solidFill>
                <a:latin typeface="Calibri"/>
              </a:defRPr>
            </a:pPr>
            <a:r>
              <a:rPr lang="en-IN" sz="1400" dirty="0">
                <a:latin typeface="Avenir Next" panose="020B0503020202020204" pitchFamily="34" charset="0"/>
              </a:rPr>
              <a:t>Indian statutes, judicial decisions (Supreme Court, NGT, SEBI, foreign courts), regulatory instruments (SEBI BRSR, CCPA Guidelines, ASCI Guidelines, etc.), parliamentary reports, research papers.</a:t>
            </a:r>
            <a:endParaRPr lang="en-IN" sz="1400" dirty="0">
              <a:latin typeface="Avenir Next" panose="020B0503020202020204" pitchFamily="34" charset="0"/>
              <a:ea typeface="Calibri"/>
              <a:cs typeface="Calibri"/>
            </a:endParaRPr>
          </a:p>
          <a:p>
            <a:pPr algn="l">
              <a:spcAft>
                <a:spcPts val="0"/>
              </a:spcAft>
              <a:defRPr sz="1200" b="0">
                <a:solidFill>
                  <a:srgbClr val="3A3A4A"/>
                </a:solidFill>
                <a:latin typeface="Calibri"/>
              </a:defRPr>
            </a:pPr>
            <a:endParaRPr sz="1400" dirty="0">
              <a:latin typeface="Avenir Next" panose="020B0503020202020204" pitchFamily="34" charset="0"/>
            </a:endParaRPr>
          </a:p>
        </p:txBody>
      </p:sp>
      <p:sp>
        <p:nvSpPr>
          <p:cNvPr id="7" name="Rounded Rectangle 6"/>
          <p:cNvSpPr/>
          <p:nvPr/>
        </p:nvSpPr>
        <p:spPr>
          <a:xfrm>
            <a:off x="4389120" y="1508760"/>
            <a:ext cx="3383280" cy="2251324"/>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Avenir Next" panose="020B0503020202020204" pitchFamily="34" charset="0"/>
            </a:endParaRPr>
          </a:p>
        </p:txBody>
      </p:sp>
      <p:sp>
        <p:nvSpPr>
          <p:cNvPr id="8" name="Rectangle 7"/>
          <p:cNvSpPr/>
          <p:nvPr/>
        </p:nvSpPr>
        <p:spPr>
          <a:xfrm>
            <a:off x="4480560" y="1645919"/>
            <a:ext cx="54864" cy="431475"/>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Avenir Next" panose="020B0503020202020204" pitchFamily="34" charset="0"/>
            </a:endParaRPr>
          </a:p>
        </p:txBody>
      </p:sp>
      <p:sp>
        <p:nvSpPr>
          <p:cNvPr id="9" name="TextBox 8"/>
          <p:cNvSpPr txBox="1"/>
          <p:nvPr/>
        </p:nvSpPr>
        <p:spPr>
          <a:xfrm>
            <a:off x="4663440" y="1600200"/>
            <a:ext cx="2926080" cy="1923604"/>
          </a:xfrm>
          <a:prstGeom prst="rect">
            <a:avLst/>
          </a:prstGeom>
          <a:noFill/>
        </p:spPr>
        <p:txBody>
          <a:bodyPr wrap="square" lIns="91440" tIns="45720" rIns="91440" bIns="45720" anchor="t">
            <a:spAutoFit/>
          </a:bodyPr>
          <a:lstStyle/>
          <a:p>
            <a:pPr algn="l">
              <a:spcAft>
                <a:spcPts val="600"/>
              </a:spcAft>
              <a:defRPr sz="1500" b="1">
                <a:solidFill>
                  <a:srgbClr val="095E4F"/>
                </a:solidFill>
                <a:latin typeface="Calibri"/>
              </a:defRPr>
            </a:pPr>
            <a:r>
              <a:rPr lang="en-IN" sz="1600" dirty="0">
                <a:latin typeface="Avenir Next" panose="020B0503020202020204" pitchFamily="34" charset="0"/>
              </a:rPr>
              <a:t>Jurisprudential Analysis</a:t>
            </a:r>
          </a:p>
          <a:p>
            <a:pPr>
              <a:defRPr sz="1200" b="0">
                <a:solidFill>
                  <a:srgbClr val="3A3A4A"/>
                </a:solidFill>
                <a:latin typeface="Calibri"/>
              </a:defRPr>
            </a:pPr>
            <a:r>
              <a:rPr sz="1400" dirty="0">
                <a:latin typeface="Avenir Next" panose="020B0503020202020204" pitchFamily="34" charset="0"/>
              </a:rPr>
              <a:t>Hohfeldian decomposition of corporate duties into precise legal relations. </a:t>
            </a:r>
            <a:endParaRPr lang="en-US" sz="1400" dirty="0">
              <a:latin typeface="Avenir Next" panose="020B0503020202020204" pitchFamily="34" charset="0"/>
            </a:endParaRPr>
          </a:p>
          <a:p>
            <a:pPr>
              <a:defRPr sz="1200" b="0">
                <a:solidFill>
                  <a:srgbClr val="3A3A4A"/>
                </a:solidFill>
                <a:latin typeface="Calibri"/>
              </a:defRPr>
            </a:pPr>
            <a:endParaRPr lang="en-US" sz="1400" dirty="0">
              <a:latin typeface="Avenir Next" panose="020B0503020202020204" pitchFamily="34" charset="0"/>
            </a:endParaRPr>
          </a:p>
          <a:p>
            <a:pPr algn="l">
              <a:spcAft>
                <a:spcPts val="0"/>
              </a:spcAft>
              <a:defRPr sz="1200" b="0">
                <a:solidFill>
                  <a:srgbClr val="3A3A4A"/>
                </a:solidFill>
                <a:latin typeface="Calibri"/>
              </a:defRPr>
            </a:pPr>
            <a:r>
              <a:rPr lang="en-US" sz="1400" dirty="0">
                <a:latin typeface="Avenir Next" panose="020B0503020202020204" pitchFamily="34" charset="0"/>
              </a:rPr>
              <a:t>Principal-agent, legitimacy, stakeholder, decoupling, and institutional theory frameworks.</a:t>
            </a:r>
            <a:endParaRPr lang="en-US" sz="1200" dirty="0">
              <a:latin typeface="Avenir Next" panose="020B0503020202020204" pitchFamily="34" charset="0"/>
            </a:endParaRPr>
          </a:p>
        </p:txBody>
      </p:sp>
      <p:sp>
        <p:nvSpPr>
          <p:cNvPr id="10" name="Rounded Rectangle 9"/>
          <p:cNvSpPr/>
          <p:nvPr/>
        </p:nvSpPr>
        <p:spPr>
          <a:xfrm>
            <a:off x="8046720" y="1508760"/>
            <a:ext cx="3383280" cy="2100600"/>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Avenir Next" panose="020B0503020202020204" pitchFamily="34" charset="0"/>
            </a:endParaRPr>
          </a:p>
        </p:txBody>
      </p:sp>
      <p:sp>
        <p:nvSpPr>
          <p:cNvPr id="11" name="Rectangle 10"/>
          <p:cNvSpPr/>
          <p:nvPr/>
        </p:nvSpPr>
        <p:spPr>
          <a:xfrm>
            <a:off x="8138160" y="1645919"/>
            <a:ext cx="54864" cy="431475"/>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Avenir Next" panose="020B0503020202020204" pitchFamily="34" charset="0"/>
            </a:endParaRPr>
          </a:p>
        </p:txBody>
      </p:sp>
      <p:sp>
        <p:nvSpPr>
          <p:cNvPr id="12" name="TextBox 11"/>
          <p:cNvSpPr txBox="1"/>
          <p:nvPr/>
        </p:nvSpPr>
        <p:spPr>
          <a:xfrm>
            <a:off x="8321040" y="1600200"/>
            <a:ext cx="2926080" cy="1061829"/>
          </a:xfrm>
          <a:prstGeom prst="rect">
            <a:avLst/>
          </a:prstGeom>
          <a:noFill/>
        </p:spPr>
        <p:txBody>
          <a:bodyPr wrap="square" lIns="91440" tIns="45720" rIns="91440" bIns="45720" anchor="t">
            <a:spAutoFit/>
          </a:bodyPr>
          <a:lstStyle/>
          <a:p>
            <a:pPr algn="l">
              <a:spcAft>
                <a:spcPts val="600"/>
              </a:spcAft>
              <a:defRPr sz="1500" b="1">
                <a:solidFill>
                  <a:srgbClr val="095E4F"/>
                </a:solidFill>
                <a:latin typeface="Calibri"/>
              </a:defRPr>
            </a:pPr>
            <a:r>
              <a:rPr lang="en-IN" sz="1600" dirty="0">
                <a:latin typeface="Avenir Next" panose="020B0503020202020204" pitchFamily="34" charset="0"/>
              </a:rPr>
              <a:t>Comparative Legal Analysis</a:t>
            </a:r>
          </a:p>
          <a:p>
            <a:pPr>
              <a:defRPr sz="1200" b="0">
                <a:solidFill>
                  <a:srgbClr val="3A3A4A"/>
                </a:solidFill>
                <a:latin typeface="Calibri"/>
              </a:defRPr>
            </a:pPr>
            <a:r>
              <a:rPr sz="1400" dirty="0">
                <a:latin typeface="Avenir Next" panose="020B0503020202020204" pitchFamily="34" charset="0"/>
              </a:rPr>
              <a:t>Cross-jurisdictional study of EU, US, UK,</a:t>
            </a:r>
            <a:r>
              <a:rPr lang="en-US" sz="1400" dirty="0">
                <a:latin typeface="Avenir Next" panose="020B0503020202020204" pitchFamily="34" charset="0"/>
              </a:rPr>
              <a:t> </a:t>
            </a:r>
            <a:r>
              <a:rPr sz="1400" dirty="0">
                <a:latin typeface="Avenir Next" panose="020B0503020202020204" pitchFamily="34" charset="0"/>
              </a:rPr>
              <a:t>Australia, and </a:t>
            </a:r>
            <a:r>
              <a:rPr lang="en-US" sz="1400" dirty="0">
                <a:latin typeface="Avenir Next" panose="020B0503020202020204" pitchFamily="34" charset="0"/>
              </a:rPr>
              <a:t>also developing countries</a:t>
            </a:r>
            <a:r>
              <a:rPr sz="1400" dirty="0">
                <a:latin typeface="Avenir Next" panose="020B0503020202020204" pitchFamily="34" charset="0"/>
              </a:rPr>
              <a:t>.</a:t>
            </a:r>
          </a:p>
        </p:txBody>
      </p:sp>
      <p:sp>
        <p:nvSpPr>
          <p:cNvPr id="13" name="Rounded Rectangle 12"/>
          <p:cNvSpPr/>
          <p:nvPr/>
        </p:nvSpPr>
        <p:spPr>
          <a:xfrm>
            <a:off x="731520" y="3943508"/>
            <a:ext cx="3383280" cy="2284818"/>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Avenir Next" panose="020B0503020202020204" pitchFamily="34" charset="0"/>
            </a:endParaRPr>
          </a:p>
        </p:txBody>
      </p:sp>
      <p:sp>
        <p:nvSpPr>
          <p:cNvPr id="14" name="Rectangle 13"/>
          <p:cNvSpPr/>
          <p:nvPr/>
        </p:nvSpPr>
        <p:spPr>
          <a:xfrm>
            <a:off x="822960" y="4080668"/>
            <a:ext cx="54864" cy="469314"/>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Avenir Next" panose="020B0503020202020204" pitchFamily="34" charset="0"/>
            </a:endParaRPr>
          </a:p>
        </p:txBody>
      </p:sp>
      <p:sp>
        <p:nvSpPr>
          <p:cNvPr id="16" name="Rounded Rectangle 15"/>
          <p:cNvSpPr/>
          <p:nvPr/>
        </p:nvSpPr>
        <p:spPr>
          <a:xfrm>
            <a:off x="4389120" y="3943508"/>
            <a:ext cx="3383280" cy="2284818"/>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Avenir Next" panose="020B0503020202020204" pitchFamily="34" charset="0"/>
            </a:endParaRPr>
          </a:p>
        </p:txBody>
      </p:sp>
      <p:sp>
        <p:nvSpPr>
          <p:cNvPr id="17" name="Rectangle 16"/>
          <p:cNvSpPr/>
          <p:nvPr/>
        </p:nvSpPr>
        <p:spPr>
          <a:xfrm>
            <a:off x="4480560" y="4080668"/>
            <a:ext cx="54864" cy="469314"/>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Avenir Next" panose="020B0503020202020204" pitchFamily="34" charset="0"/>
            </a:endParaRPr>
          </a:p>
        </p:txBody>
      </p:sp>
      <p:sp>
        <p:nvSpPr>
          <p:cNvPr id="18" name="TextBox 17"/>
          <p:cNvSpPr txBox="1"/>
          <p:nvPr/>
        </p:nvSpPr>
        <p:spPr>
          <a:xfrm>
            <a:off x="960223" y="4080669"/>
            <a:ext cx="2926080" cy="1492716"/>
          </a:xfrm>
          <a:prstGeom prst="rect">
            <a:avLst/>
          </a:prstGeom>
          <a:noFill/>
        </p:spPr>
        <p:txBody>
          <a:bodyPr wrap="square" lIns="91440" tIns="45720" rIns="91440" bIns="45720" anchor="t">
            <a:spAutoFit/>
          </a:bodyPr>
          <a:lstStyle/>
          <a:p>
            <a:pPr>
              <a:spcAft>
                <a:spcPts val="600"/>
              </a:spcAft>
              <a:defRPr sz="1500" b="1">
                <a:solidFill>
                  <a:srgbClr val="095E4F"/>
                </a:solidFill>
                <a:latin typeface="Calibri"/>
              </a:defRPr>
            </a:pPr>
            <a:r>
              <a:rPr lang="en-IN" sz="1600" dirty="0">
                <a:latin typeface="Avenir Next" panose="020B0503020202020204" pitchFamily="34" charset="0"/>
              </a:rPr>
              <a:t>Statutory Interpretation</a:t>
            </a:r>
          </a:p>
          <a:p>
            <a:pPr>
              <a:defRPr sz="1200" b="0">
                <a:solidFill>
                  <a:srgbClr val="3A3A4A"/>
                </a:solidFill>
                <a:latin typeface="Calibri"/>
              </a:defRPr>
            </a:pPr>
            <a:r>
              <a:rPr lang="en-IN" sz="1400" dirty="0">
                <a:latin typeface="Avenir Next" panose="020B0503020202020204" pitchFamily="34" charset="0"/>
              </a:rPr>
              <a:t>Textual, contextual and purposive analysis of relevant sections of the Companies Act 2013, Consumer Protection Act 2019. And of relevant SEBI Regulations.</a:t>
            </a:r>
            <a:endParaRPr lang="en-IN" sz="1400" dirty="0">
              <a:latin typeface="Avenir Next" panose="020B0503020202020204" pitchFamily="34" charset="0"/>
              <a:ea typeface="Calibri"/>
              <a:cs typeface="Calibri"/>
            </a:endParaRPr>
          </a:p>
        </p:txBody>
      </p:sp>
      <p:sp>
        <p:nvSpPr>
          <p:cNvPr id="19" name="Rounded Rectangle 18"/>
          <p:cNvSpPr/>
          <p:nvPr/>
        </p:nvSpPr>
        <p:spPr>
          <a:xfrm>
            <a:off x="8046720" y="3943508"/>
            <a:ext cx="3383280" cy="2284818"/>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Avenir Next" panose="020B0503020202020204" pitchFamily="34" charset="0"/>
            </a:endParaRPr>
          </a:p>
        </p:txBody>
      </p:sp>
      <p:sp>
        <p:nvSpPr>
          <p:cNvPr id="20" name="Rectangle 19"/>
          <p:cNvSpPr/>
          <p:nvPr/>
        </p:nvSpPr>
        <p:spPr>
          <a:xfrm>
            <a:off x="8138160" y="4080668"/>
            <a:ext cx="54864" cy="469314"/>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Avenir Next" panose="020B0503020202020204" pitchFamily="34" charset="0"/>
            </a:endParaRPr>
          </a:p>
        </p:txBody>
      </p:sp>
      <p:sp>
        <p:nvSpPr>
          <p:cNvPr id="21" name="TextBox 20"/>
          <p:cNvSpPr txBox="1"/>
          <p:nvPr/>
        </p:nvSpPr>
        <p:spPr>
          <a:xfrm>
            <a:off x="4632807" y="4080669"/>
            <a:ext cx="2926080" cy="1492716"/>
          </a:xfrm>
          <a:prstGeom prst="rect">
            <a:avLst/>
          </a:prstGeom>
          <a:noFill/>
        </p:spPr>
        <p:txBody>
          <a:bodyPr wrap="square" lIns="91440" tIns="45720" rIns="91440" bIns="45720" anchor="t">
            <a:spAutoFit/>
          </a:bodyPr>
          <a:lstStyle/>
          <a:p>
            <a:pPr algn="l">
              <a:spcAft>
                <a:spcPts val="600"/>
              </a:spcAft>
              <a:defRPr sz="1500" b="1">
                <a:solidFill>
                  <a:srgbClr val="095E4F"/>
                </a:solidFill>
                <a:latin typeface="Calibri"/>
              </a:defRPr>
            </a:pPr>
            <a:r>
              <a:rPr lang="en-IN" sz="1600" dirty="0">
                <a:latin typeface="Avenir Next" panose="020B0503020202020204" pitchFamily="34" charset="0"/>
              </a:rPr>
              <a:t>Lex Lata vs. Lex Ferenda</a:t>
            </a:r>
          </a:p>
          <a:p>
            <a:pPr algn="l">
              <a:spcAft>
                <a:spcPts val="0"/>
              </a:spcAft>
              <a:defRPr sz="1200" b="0">
                <a:solidFill>
                  <a:srgbClr val="3A3A4A"/>
                </a:solidFill>
                <a:latin typeface="Calibri"/>
              </a:defRPr>
            </a:pPr>
            <a:r>
              <a:rPr sz="1400" dirty="0">
                <a:latin typeface="Avenir Next" panose="020B0503020202020204" pitchFamily="34" charset="0"/>
              </a:rPr>
              <a:t>Explicit distinction</a:t>
            </a:r>
            <a:r>
              <a:rPr lang="en-US" sz="1400" dirty="0">
                <a:latin typeface="Avenir Next" panose="020B0503020202020204" pitchFamily="34" charset="0"/>
              </a:rPr>
              <a:t> maintained</a:t>
            </a:r>
            <a:r>
              <a:rPr sz="1400" dirty="0">
                <a:latin typeface="Avenir Next" panose="020B0503020202020204" pitchFamily="34" charset="0"/>
              </a:rPr>
              <a:t> between what the law currently provides and what it should provide (normative reform proposals).</a:t>
            </a:r>
          </a:p>
        </p:txBody>
      </p:sp>
      <p:sp>
        <p:nvSpPr>
          <p:cNvPr id="22" name="TextBox 21"/>
          <p:cNvSpPr txBox="1"/>
          <p:nvPr/>
        </p:nvSpPr>
        <p:spPr>
          <a:xfrm>
            <a:off x="731520" y="6268719"/>
            <a:ext cx="10698480" cy="307777"/>
          </a:xfrm>
          <a:prstGeom prst="rect">
            <a:avLst/>
          </a:prstGeom>
          <a:noFill/>
        </p:spPr>
        <p:txBody>
          <a:bodyPr wrap="square" lIns="91440" tIns="45720" rIns="91440" bIns="45720" anchor="t">
            <a:spAutoFit/>
          </a:bodyPr>
          <a:lstStyle/>
          <a:p>
            <a:pPr algn="l">
              <a:spcAft>
                <a:spcPts val="600"/>
              </a:spcAft>
              <a:defRPr sz="1300" b="0">
                <a:solidFill>
                  <a:srgbClr val="6B6B7B"/>
                </a:solidFill>
                <a:latin typeface="Calibri"/>
              </a:defRPr>
            </a:pPr>
            <a:r>
              <a:rPr sz="1400" dirty="0"/>
              <a:t>Nature of Study:  Qualitative, analytical, and comparative — focused on identification, analysis and synthesis of legal rules and standards.</a:t>
            </a:r>
          </a:p>
        </p:txBody>
      </p:sp>
      <p:sp>
        <p:nvSpPr>
          <p:cNvPr id="15" name="TextBox 14"/>
          <p:cNvSpPr txBox="1"/>
          <p:nvPr/>
        </p:nvSpPr>
        <p:spPr>
          <a:xfrm>
            <a:off x="8284464" y="4080669"/>
            <a:ext cx="2926080" cy="1954381"/>
          </a:xfrm>
          <a:prstGeom prst="rect">
            <a:avLst/>
          </a:prstGeom>
          <a:noFill/>
        </p:spPr>
        <p:txBody>
          <a:bodyPr wrap="square" lIns="91440" tIns="45720" rIns="91440" bIns="45720" anchor="t">
            <a:spAutoFit/>
          </a:bodyPr>
          <a:lstStyle/>
          <a:p>
            <a:pPr algn="l">
              <a:spcAft>
                <a:spcPts val="600"/>
              </a:spcAft>
              <a:defRPr sz="1500" b="1">
                <a:solidFill>
                  <a:srgbClr val="095E4F"/>
                </a:solidFill>
                <a:latin typeface="Calibri"/>
              </a:defRPr>
            </a:pPr>
            <a:r>
              <a:rPr lang="en-IN" sz="1600" dirty="0">
                <a:latin typeface="Avenir Next" panose="020B0503020202020204" pitchFamily="34" charset="0"/>
              </a:rPr>
              <a:t>Critical Regulatory Assessment</a:t>
            </a:r>
          </a:p>
          <a:p>
            <a:pPr>
              <a:defRPr sz="1200" b="0">
                <a:solidFill>
                  <a:srgbClr val="3A3A4A"/>
                </a:solidFill>
                <a:latin typeface="Calibri"/>
              </a:defRPr>
            </a:pPr>
            <a:r>
              <a:rPr sz="1400" dirty="0">
                <a:latin typeface="Avenir Next" panose="020B0503020202020204" pitchFamily="34" charset="0"/>
              </a:rPr>
              <a:t>Mapping </a:t>
            </a:r>
            <a:r>
              <a:rPr lang="en-US" sz="1400" dirty="0">
                <a:latin typeface="Avenir Next" panose="020B0503020202020204" pitchFamily="34" charset="0"/>
              </a:rPr>
              <a:t>design issues and coordination issues </a:t>
            </a:r>
            <a:r>
              <a:rPr sz="1400" dirty="0">
                <a:latin typeface="Avenir Next" panose="020B0503020202020204" pitchFamily="34" charset="0"/>
              </a:rPr>
              <a:t>between MCA, SEBI, CCPA, ASCI</a:t>
            </a:r>
            <a:r>
              <a:rPr lang="en-US" sz="1400" dirty="0">
                <a:latin typeface="Avenir Next" panose="020B0503020202020204" pitchFamily="34" charset="0"/>
              </a:rPr>
              <a:t>, </a:t>
            </a:r>
            <a:r>
              <a:rPr sz="1400" dirty="0">
                <a:latin typeface="Avenir Next" panose="020B0503020202020204" pitchFamily="34" charset="0"/>
              </a:rPr>
              <a:t>identifying gaps, penalty arbitrage, and regulatory backsliding.</a:t>
            </a:r>
          </a:p>
        </p:txBody>
      </p:sp>
      <p:sp>
        <p:nvSpPr>
          <p:cNvPr id="25" name="Rectangle 24">
            <a:extLst>
              <a:ext uri="{FF2B5EF4-FFF2-40B4-BE49-F238E27FC236}">
                <a16:creationId xmlns:a16="http://schemas.microsoft.com/office/drawing/2014/main" id="{F63913AA-4ABF-4507-4BA4-0FBD2CFFE5C4}"/>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1076" y="424508"/>
            <a:ext cx="10058400" cy="584775"/>
          </a:xfrm>
          <a:prstGeom prst="rect">
            <a:avLst/>
          </a:prstGeom>
          <a:noFill/>
        </p:spPr>
        <p:txBody>
          <a:bodyPr wrap="square" lIns="91440" tIns="45720" rIns="91440" bIns="45720" anchor="t">
            <a:spAutoFit/>
          </a:bodyPr>
          <a:lstStyle/>
          <a:p>
            <a:pPr>
              <a:spcAft>
                <a:spcPts val="600"/>
              </a:spcAft>
              <a:defRPr sz="3000" b="1">
                <a:solidFill>
                  <a:srgbClr val="1B1B2F"/>
                </a:solidFill>
                <a:latin typeface="Calibri Light"/>
              </a:defRPr>
            </a:pPr>
            <a:r>
              <a:rPr sz="3200" b="1" dirty="0">
                <a:solidFill>
                  <a:srgbClr val="173F35"/>
                </a:solidFill>
                <a:latin typeface="Avenir Next Demi Bold"/>
              </a:rPr>
              <a:t>Hypotheses</a:t>
            </a:r>
          </a:p>
        </p:txBody>
      </p:sp>
      <p:sp>
        <p:nvSpPr>
          <p:cNvPr id="4" name="Rounded Rectangle 3"/>
          <p:cNvSpPr/>
          <p:nvPr/>
        </p:nvSpPr>
        <p:spPr>
          <a:xfrm>
            <a:off x="728707" y="1508760"/>
            <a:ext cx="3386093" cy="3527186"/>
          </a:xfrm>
          <a:prstGeom prst="roundRect">
            <a:avLst/>
          </a:prstGeom>
          <a:solidFill>
            <a:srgbClr val="FFFFFF"/>
          </a:solidFill>
          <a:ln w="1524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5" name="Oval 4"/>
          <p:cNvSpPr/>
          <p:nvPr/>
        </p:nvSpPr>
        <p:spPr>
          <a:xfrm>
            <a:off x="973943" y="1645919"/>
            <a:ext cx="386679" cy="418511"/>
          </a:xfrm>
          <a:prstGeom prst="ellipse">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rPr>
                <a:latin typeface="Avenir Next" panose="020B0503020202020204" pitchFamily="34" charset="0"/>
              </a:rPr>
              <a:t>1</a:t>
            </a:r>
          </a:p>
        </p:txBody>
      </p:sp>
      <p:sp>
        <p:nvSpPr>
          <p:cNvPr id="6" name="TextBox 5"/>
          <p:cNvSpPr txBox="1"/>
          <p:nvPr/>
        </p:nvSpPr>
        <p:spPr>
          <a:xfrm>
            <a:off x="893724" y="2148840"/>
            <a:ext cx="3038196" cy="2641749"/>
          </a:xfrm>
          <a:prstGeom prst="rect">
            <a:avLst/>
          </a:prstGeom>
          <a:noFill/>
        </p:spPr>
        <p:txBody>
          <a:bodyPr wrap="square" lIns="91440" tIns="45720" rIns="91440" bIns="45720" anchor="t">
            <a:spAutoFit/>
          </a:bodyPr>
          <a:lstStyle/>
          <a:p>
            <a:pPr algn="l">
              <a:spcAft>
                <a:spcPts val="800"/>
              </a:spcAft>
              <a:defRPr sz="1500" b="1">
                <a:solidFill>
                  <a:srgbClr val="095E4F"/>
                </a:solidFill>
                <a:latin typeface="Calibri"/>
              </a:defRPr>
            </a:pPr>
            <a:r>
              <a:rPr sz="1500" dirty="0">
                <a:latin typeface="Avenir Next" panose="020B0503020202020204" pitchFamily="34" charset="0"/>
              </a:rPr>
              <a:t>H₁  —  Accountability Failure</a:t>
            </a:r>
          </a:p>
          <a:p>
            <a:r>
              <a:rPr lang="en-IN" dirty="0">
                <a:latin typeface="Avenir Next" panose="020B0503020202020204" pitchFamily="34" charset="0"/>
                <a:ea typeface="+mn-lt"/>
                <a:cs typeface="+mn-lt"/>
              </a:rPr>
              <a:t>Greenwashing in India is primarily a consequence of weak corporate governance and the limited operationalisation of board-level environmental responsibility.</a:t>
            </a:r>
          </a:p>
        </p:txBody>
      </p:sp>
      <p:sp>
        <p:nvSpPr>
          <p:cNvPr id="7" name="Rounded Rectangle 6"/>
          <p:cNvSpPr/>
          <p:nvPr/>
        </p:nvSpPr>
        <p:spPr>
          <a:xfrm>
            <a:off x="4365938" y="1508759"/>
            <a:ext cx="3406462" cy="3732942"/>
          </a:xfrm>
          <a:prstGeom prst="roundRect">
            <a:avLst/>
          </a:prstGeom>
          <a:solidFill>
            <a:srgbClr val="FFFFFF"/>
          </a:solidFill>
          <a:ln w="1524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8" name="Oval 7"/>
          <p:cNvSpPr/>
          <p:nvPr/>
        </p:nvSpPr>
        <p:spPr>
          <a:xfrm>
            <a:off x="4631543" y="1645919"/>
            <a:ext cx="386679" cy="418511"/>
          </a:xfrm>
          <a:prstGeom prst="ellipse">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rPr>
                <a:latin typeface="Avenir Next" panose="020B0503020202020204" pitchFamily="34" charset="0"/>
              </a:rPr>
              <a:t>2</a:t>
            </a:r>
          </a:p>
        </p:txBody>
      </p:sp>
      <p:sp>
        <p:nvSpPr>
          <p:cNvPr id="9" name="TextBox 8"/>
          <p:cNvSpPr txBox="1"/>
          <p:nvPr/>
        </p:nvSpPr>
        <p:spPr>
          <a:xfrm>
            <a:off x="4551324" y="2148840"/>
            <a:ext cx="3038196" cy="2918748"/>
          </a:xfrm>
          <a:prstGeom prst="rect">
            <a:avLst/>
          </a:prstGeom>
          <a:noFill/>
        </p:spPr>
        <p:txBody>
          <a:bodyPr wrap="square" lIns="91440" tIns="45720" rIns="91440" bIns="45720" anchor="t">
            <a:spAutoFit/>
          </a:bodyPr>
          <a:lstStyle/>
          <a:p>
            <a:pPr algn="l">
              <a:spcAft>
                <a:spcPts val="800"/>
              </a:spcAft>
              <a:defRPr sz="1500" b="1">
                <a:solidFill>
                  <a:srgbClr val="095E4F"/>
                </a:solidFill>
                <a:latin typeface="Calibri"/>
              </a:defRPr>
            </a:pPr>
            <a:r>
              <a:rPr dirty="0">
                <a:latin typeface="Avenir Next" panose="020B0503020202020204" pitchFamily="34" charset="0"/>
              </a:rPr>
              <a:t>H₂  —  Liability Shield</a:t>
            </a:r>
          </a:p>
          <a:p>
            <a:r>
              <a:rPr lang="en-IN" dirty="0">
                <a:latin typeface="Avenir Next" panose="020B0503020202020204" pitchFamily="34" charset="0"/>
                <a:ea typeface="+mn-lt"/>
                <a:cs typeface="+mn-lt"/>
              </a:rPr>
              <a:t>The existing legal framework does not impose sufficiently clear, stringent, and deterrent liability for misleading environmental disclosures, thereby enabling corporations to avoid meaningful accountability.</a:t>
            </a:r>
          </a:p>
        </p:txBody>
      </p:sp>
      <p:sp>
        <p:nvSpPr>
          <p:cNvPr id="10" name="Rounded Rectangle 9"/>
          <p:cNvSpPr/>
          <p:nvPr/>
        </p:nvSpPr>
        <p:spPr>
          <a:xfrm>
            <a:off x="8023538" y="1508759"/>
            <a:ext cx="3406462" cy="3218547"/>
          </a:xfrm>
          <a:prstGeom prst="roundRect">
            <a:avLst/>
          </a:prstGeom>
          <a:solidFill>
            <a:srgbClr val="FFFFFF"/>
          </a:solidFill>
          <a:ln w="1524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1" name="Oval 10"/>
          <p:cNvSpPr/>
          <p:nvPr/>
        </p:nvSpPr>
        <p:spPr>
          <a:xfrm>
            <a:off x="8289143" y="1645919"/>
            <a:ext cx="386679" cy="418511"/>
          </a:xfrm>
          <a:prstGeom prst="ellipse">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rPr>
                <a:latin typeface="Avenir Next" panose="020B0503020202020204" pitchFamily="34" charset="0"/>
              </a:rPr>
              <a:t>3</a:t>
            </a:r>
          </a:p>
        </p:txBody>
      </p:sp>
      <p:sp>
        <p:nvSpPr>
          <p:cNvPr id="12" name="TextBox 11"/>
          <p:cNvSpPr txBox="1"/>
          <p:nvPr/>
        </p:nvSpPr>
        <p:spPr>
          <a:xfrm>
            <a:off x="8208924" y="2148840"/>
            <a:ext cx="3038196" cy="2087751"/>
          </a:xfrm>
          <a:prstGeom prst="rect">
            <a:avLst/>
          </a:prstGeom>
          <a:noFill/>
        </p:spPr>
        <p:txBody>
          <a:bodyPr wrap="square">
            <a:spAutoFit/>
          </a:bodyPr>
          <a:lstStyle/>
          <a:p>
            <a:pPr algn="l">
              <a:spcAft>
                <a:spcPts val="800"/>
              </a:spcAft>
              <a:defRPr sz="1500" b="1">
                <a:solidFill>
                  <a:srgbClr val="095E4F"/>
                </a:solidFill>
                <a:latin typeface="Calibri"/>
              </a:defRPr>
            </a:pPr>
            <a:r>
              <a:rPr dirty="0">
                <a:latin typeface="Avenir Next" panose="020B0503020202020204" pitchFamily="34" charset="0"/>
              </a:rPr>
              <a:t>H₃  —  Regulatory Inchoateness</a:t>
            </a:r>
          </a:p>
          <a:p>
            <a:r>
              <a:rPr lang="en-IN" dirty="0">
                <a:latin typeface="Avenir Next" panose="020B0503020202020204" pitchFamily="34" charset="0"/>
              </a:rPr>
              <a:t>In addressing the issue of greenwashing, the present legal mechanism involving different regulatory bodies is inchoate and incomplete.</a:t>
            </a:r>
          </a:p>
        </p:txBody>
      </p:sp>
      <p:sp>
        <p:nvSpPr>
          <p:cNvPr id="13" name="TextBox 12"/>
          <p:cNvSpPr txBox="1"/>
          <p:nvPr/>
        </p:nvSpPr>
        <p:spPr>
          <a:xfrm>
            <a:off x="731520" y="5436858"/>
            <a:ext cx="11014012" cy="661720"/>
          </a:xfrm>
          <a:prstGeom prst="rect">
            <a:avLst/>
          </a:prstGeom>
          <a:noFill/>
        </p:spPr>
        <p:txBody>
          <a:bodyPr wrap="square" lIns="91440" tIns="45720" rIns="91440" bIns="45720" anchor="t">
            <a:spAutoFit/>
          </a:bodyPr>
          <a:lstStyle/>
          <a:p>
            <a:pPr algn="ctr">
              <a:spcAft>
                <a:spcPts val="600"/>
              </a:spcAft>
              <a:defRPr sz="1400" b="0">
                <a:solidFill>
                  <a:srgbClr val="6B6B7B"/>
                </a:solidFill>
                <a:latin typeface="Calibri"/>
              </a:defRPr>
            </a:pPr>
            <a:r>
              <a:rPr sz="1600" dirty="0">
                <a:latin typeface="Avenir Next" panose="020B0503020202020204" pitchFamily="34" charset="0"/>
              </a:rPr>
              <a:t>These hypotheses are mutually reinforcing: </a:t>
            </a:r>
            <a:endParaRPr lang="en-US" sz="1600" dirty="0">
              <a:latin typeface="Avenir Next" panose="020B0503020202020204" pitchFamily="34" charset="0"/>
            </a:endParaRPr>
          </a:p>
          <a:p>
            <a:pPr algn="ctr">
              <a:spcAft>
                <a:spcPts val="600"/>
              </a:spcAft>
              <a:defRPr sz="1400" b="0">
                <a:solidFill>
                  <a:srgbClr val="6B6B7B"/>
                </a:solidFill>
                <a:latin typeface="Calibri"/>
              </a:defRPr>
            </a:pPr>
            <a:r>
              <a:rPr sz="1600" dirty="0">
                <a:latin typeface="Avenir Next" panose="020B0503020202020204" pitchFamily="34" charset="0"/>
              </a:rPr>
              <a:t>governance-level gaps (H₁) are amplified by non-deterrent sanctions (H₂) and enabled by fragmented regulators (H₃).</a:t>
            </a:r>
            <a:endParaRPr lang="en-US" sz="1600" dirty="0">
              <a:latin typeface="Avenir Next" panose="020B0503020202020204" pitchFamily="34" charset="0"/>
              <a:ea typeface="Calibri"/>
              <a:cs typeface="Calibri"/>
            </a:endParaRPr>
          </a:p>
        </p:txBody>
      </p:sp>
      <p:sp>
        <p:nvSpPr>
          <p:cNvPr id="16" name="Rectangle 15">
            <a:extLst>
              <a:ext uri="{FF2B5EF4-FFF2-40B4-BE49-F238E27FC236}">
                <a16:creationId xmlns:a16="http://schemas.microsoft.com/office/drawing/2014/main" id="{AB595195-4E03-2970-9562-1758B7FEA633}"/>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a:extLst>
            <a:ext uri="{FF2B5EF4-FFF2-40B4-BE49-F238E27FC236}">
              <a16:creationId xmlns:a16="http://schemas.microsoft.com/office/drawing/2014/main" id="{414D469F-7263-64C3-2E1A-70B9676F18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5C5FDB-15DA-9434-851A-9DCEEEC993A0}"/>
              </a:ext>
            </a:extLst>
          </p:cNvPr>
          <p:cNvSpPr txBox="1"/>
          <p:nvPr/>
        </p:nvSpPr>
        <p:spPr>
          <a:xfrm>
            <a:off x="903767" y="428064"/>
            <a:ext cx="10058400" cy="584775"/>
          </a:xfrm>
          <a:prstGeom prst="rect">
            <a:avLst/>
          </a:prstGeom>
          <a:noFill/>
        </p:spPr>
        <p:txBody>
          <a:bodyPr wrap="square" lIns="91440" tIns="45720" rIns="91440" bIns="45720" anchor="t">
            <a:spAutoFit/>
          </a:bodyPr>
          <a:lstStyle/>
          <a:p>
            <a:pPr>
              <a:spcAft>
                <a:spcPts val="600"/>
              </a:spcAft>
              <a:defRPr sz="3000" b="1">
                <a:solidFill>
                  <a:srgbClr val="1B1B2F"/>
                </a:solidFill>
                <a:latin typeface="Calibri Light"/>
              </a:defRPr>
            </a:pPr>
            <a:r>
              <a:rPr lang="en-US" sz="3200" b="1" dirty="0" err="1">
                <a:solidFill>
                  <a:srgbClr val="173F35"/>
                </a:solidFill>
                <a:latin typeface="Avenir Next Demi Bold"/>
              </a:rPr>
              <a:t>Chapterization</a:t>
            </a:r>
            <a:r>
              <a:rPr lang="en-US" sz="3200" b="1" dirty="0">
                <a:solidFill>
                  <a:srgbClr val="173F35"/>
                </a:solidFill>
                <a:latin typeface="Avenir Next Demi Bold"/>
              </a:rPr>
              <a:t> Scheme</a:t>
            </a:r>
            <a:r>
              <a:rPr lang="en-IN" sz="3200" b="1" dirty="0">
                <a:solidFill>
                  <a:srgbClr val="173F35"/>
                </a:solidFill>
                <a:latin typeface="Avenir Next Demi Bold"/>
              </a:rPr>
              <a:t> </a:t>
            </a:r>
            <a:endParaRPr sz="3200" b="1" dirty="0">
              <a:solidFill>
                <a:srgbClr val="173F35"/>
              </a:solidFill>
              <a:latin typeface="Avenir Next Demi Bold"/>
            </a:endParaRPr>
          </a:p>
        </p:txBody>
      </p:sp>
      <p:sp>
        <p:nvSpPr>
          <p:cNvPr id="20" name="Rounded Rectangle 19">
            <a:extLst>
              <a:ext uri="{FF2B5EF4-FFF2-40B4-BE49-F238E27FC236}">
                <a16:creationId xmlns:a16="http://schemas.microsoft.com/office/drawing/2014/main" id="{4BB8293B-4D33-088C-E1E0-5243AAA66B85}"/>
              </a:ext>
            </a:extLst>
          </p:cNvPr>
          <p:cNvSpPr/>
          <p:nvPr/>
        </p:nvSpPr>
        <p:spPr>
          <a:xfrm>
            <a:off x="0" y="0"/>
            <a:ext cx="0" cy="0"/>
          </a:xfrm>
          <a:prstGeom prst="roundRect">
            <a:avLst/>
          </a:prstGeom>
          <a:solidFill>
            <a:srgbClr val="E8F5F2"/>
          </a:solidFill>
          <a:ln w="12700">
            <a:solidFill>
              <a:srgbClr val="0E8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ECC1D241-AE9B-9456-557F-8AA8C4E73E91}"/>
              </a:ext>
            </a:extLst>
          </p:cNvPr>
          <p:cNvSpPr txBox="1"/>
          <p:nvPr/>
        </p:nvSpPr>
        <p:spPr>
          <a:xfrm>
            <a:off x="0" y="0"/>
            <a:ext cx="0" cy="0"/>
          </a:xfrm>
          <a:prstGeom prst="rect">
            <a:avLst/>
          </a:prstGeom>
          <a:noFill/>
        </p:spPr>
        <p:txBody>
          <a:bodyPr wrap="square" lIns="91440" tIns="45720" rIns="91440" bIns="45720" anchor="t">
            <a:spAutoFit/>
          </a:bodyPr>
          <a:lstStyle/>
          <a:p>
            <a:pPr algn="l">
              <a:spcAft>
                <a:spcPts val="1400"/>
              </a:spcAft>
              <a:defRPr sz="1400" b="1">
                <a:solidFill>
                  <a:srgbClr val="12402D"/>
                </a:solidFill>
                <a:latin typeface="Calibri"/>
              </a:defRPr>
            </a:pPr>
            <a:endParaRPr/>
          </a:p>
        </p:txBody>
      </p:sp>
      <p:sp>
        <p:nvSpPr>
          <p:cNvPr id="5" name="Rectangle 4">
            <a:extLst>
              <a:ext uri="{FF2B5EF4-FFF2-40B4-BE49-F238E27FC236}">
                <a16:creationId xmlns:a16="http://schemas.microsoft.com/office/drawing/2014/main" id="{45E7479F-A5BD-77D9-0954-558DE28C0DA5}"/>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a:extLst>
              <a:ext uri="{FF2B5EF4-FFF2-40B4-BE49-F238E27FC236}">
                <a16:creationId xmlns:a16="http://schemas.microsoft.com/office/drawing/2014/main" id="{E5A98227-A602-7C6C-F27B-A1F5ABA5BDF6}"/>
              </a:ext>
            </a:extLst>
          </p:cNvPr>
          <p:cNvSpPr/>
          <p:nvPr/>
        </p:nvSpPr>
        <p:spPr>
          <a:xfrm>
            <a:off x="716530" y="1638110"/>
            <a:ext cx="10698480" cy="4784654"/>
          </a:xfrm>
          <a:prstGeom prst="roundRect">
            <a:avLst/>
          </a:prstGeom>
          <a:solidFill>
            <a:srgbClr val="E8F5F2"/>
          </a:solidFill>
          <a:ln w="12700">
            <a:solidFill>
              <a:srgbClr val="0E8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6" name="TextBox 5">
            <a:extLst>
              <a:ext uri="{FF2B5EF4-FFF2-40B4-BE49-F238E27FC236}">
                <a16:creationId xmlns:a16="http://schemas.microsoft.com/office/drawing/2014/main" id="{9E68BA75-3E5C-9BBE-D130-9C152BC72F38}"/>
              </a:ext>
            </a:extLst>
          </p:cNvPr>
          <p:cNvSpPr txBox="1"/>
          <p:nvPr/>
        </p:nvSpPr>
        <p:spPr>
          <a:xfrm>
            <a:off x="1416327" y="2149667"/>
            <a:ext cx="7549117" cy="3088025"/>
          </a:xfrm>
          <a:prstGeom prst="rect">
            <a:avLst/>
          </a:prstGeom>
          <a:noFill/>
        </p:spPr>
        <p:txBody>
          <a:bodyPr wrap="square" lIns="91440" tIns="45720" rIns="91440" bIns="45720" anchor="t">
            <a:spAutoFit/>
          </a:bodyPr>
          <a:lstStyle/>
          <a:p>
            <a:pPr algn="l">
              <a:spcAft>
                <a:spcPts val="400"/>
              </a:spcAft>
              <a:defRPr sz="1200" b="1">
                <a:solidFill>
                  <a:srgbClr val="095E4F"/>
                </a:solidFill>
                <a:latin typeface="Calibri"/>
              </a:defRPr>
            </a:pPr>
            <a:r>
              <a:rPr dirty="0">
                <a:latin typeface="Avenir Next" panose="020B0503020202020204" pitchFamily="34" charset="0"/>
              </a:rPr>
              <a:t>THIS STUDY</a:t>
            </a:r>
            <a:r>
              <a:rPr lang="en-US" dirty="0">
                <a:latin typeface="Avenir Next" panose="020B0503020202020204" pitchFamily="34" charset="0"/>
              </a:rPr>
              <a:t> COMPRISES OF FOLLOWING SIX CHAPTERS-</a:t>
            </a:r>
          </a:p>
          <a:p>
            <a:pPr algn="l">
              <a:spcAft>
                <a:spcPts val="400"/>
              </a:spcAft>
              <a:defRPr sz="1200" b="1">
                <a:solidFill>
                  <a:srgbClr val="095E4F"/>
                </a:solidFill>
                <a:latin typeface="Calibri"/>
              </a:defRPr>
            </a:pPr>
            <a:endParaRPr lang="en-US" sz="1400" dirty="0">
              <a:latin typeface="Avenir Next" panose="020B0503020202020204" pitchFamily="34" charset="0"/>
            </a:endParaRPr>
          </a:p>
          <a:p>
            <a:pPr marL="228600" indent="-228600" algn="l">
              <a:lnSpc>
                <a:spcPct val="150000"/>
              </a:lnSpc>
              <a:spcAft>
                <a:spcPts val="400"/>
              </a:spcAft>
              <a:buAutoNum type="arabicPeriod"/>
              <a:defRPr sz="1200" b="1">
                <a:solidFill>
                  <a:srgbClr val="095E4F"/>
                </a:solidFill>
                <a:latin typeface="Calibri"/>
              </a:defRPr>
            </a:pPr>
            <a:r>
              <a:rPr lang="en-US" sz="1400" cap="small" dirty="0">
                <a:latin typeface="Avenir Next" panose="020B0503020202020204" pitchFamily="34" charset="0"/>
              </a:rPr>
              <a:t>Introduction</a:t>
            </a:r>
            <a:endParaRPr lang="en-US" sz="1400" cap="small" dirty="0">
              <a:latin typeface="Avenir Next" panose="020B0503020202020204" pitchFamily="34" charset="0"/>
              <a:ea typeface="Calibri"/>
              <a:cs typeface="Calibri"/>
            </a:endParaRPr>
          </a:p>
          <a:p>
            <a:pPr marL="228600" indent="-228600">
              <a:lnSpc>
                <a:spcPct val="150000"/>
              </a:lnSpc>
              <a:spcAft>
                <a:spcPts val="400"/>
              </a:spcAft>
              <a:buFontTx/>
              <a:buAutoNum type="arabicPeriod"/>
              <a:defRPr sz="1200" b="1">
                <a:solidFill>
                  <a:srgbClr val="095E4F"/>
                </a:solidFill>
                <a:latin typeface="Calibri"/>
              </a:defRPr>
            </a:pPr>
            <a:r>
              <a:rPr lang="en-US" sz="1400" b="1" cap="small" dirty="0">
                <a:latin typeface="Avenir Next" panose="020B0503020202020204" pitchFamily="34" charset="0"/>
              </a:rPr>
              <a:t>Conceptualizing Greenwashing And Corporate Governance Intervention</a:t>
            </a:r>
            <a:endParaRPr lang="en-US" sz="1400" b="1" cap="small" dirty="0">
              <a:latin typeface="Avenir Next" panose="020B0503020202020204" pitchFamily="34" charset="0"/>
              <a:ea typeface="Calibri"/>
              <a:cs typeface="Calibri"/>
            </a:endParaRPr>
          </a:p>
          <a:p>
            <a:pPr marL="228600" indent="-228600">
              <a:lnSpc>
                <a:spcPct val="150000"/>
              </a:lnSpc>
              <a:spcAft>
                <a:spcPts val="400"/>
              </a:spcAft>
              <a:buFontTx/>
              <a:buAutoNum type="arabicPeriod"/>
              <a:defRPr sz="1200" b="1">
                <a:solidFill>
                  <a:srgbClr val="095E4F"/>
                </a:solidFill>
                <a:latin typeface="Calibri"/>
              </a:defRPr>
            </a:pPr>
            <a:r>
              <a:rPr lang="en-US" sz="1400" b="1" cap="small" dirty="0">
                <a:latin typeface="Avenir Next" panose="020B0503020202020204" pitchFamily="34" charset="0"/>
              </a:rPr>
              <a:t>Greenwashing: Corporate Responsibility And Accountability</a:t>
            </a:r>
            <a:endParaRPr lang="en-IN" sz="1400" b="1" cap="small" dirty="0">
              <a:latin typeface="Avenir Next" panose="020B0503020202020204" pitchFamily="34" charset="0"/>
              <a:ea typeface="Calibri"/>
              <a:cs typeface="Calibri"/>
            </a:endParaRPr>
          </a:p>
          <a:p>
            <a:pPr marL="228600" indent="-228600">
              <a:lnSpc>
                <a:spcPct val="150000"/>
              </a:lnSpc>
              <a:spcAft>
                <a:spcPts val="400"/>
              </a:spcAft>
              <a:buFontTx/>
              <a:buAutoNum type="arabicPeriod"/>
              <a:defRPr sz="1200" b="1">
                <a:solidFill>
                  <a:srgbClr val="095E4F"/>
                </a:solidFill>
                <a:latin typeface="Calibri"/>
              </a:defRPr>
            </a:pPr>
            <a:r>
              <a:rPr lang="en-US" sz="1400" b="1" cap="small" dirty="0">
                <a:latin typeface="Avenir Next" panose="020B0503020202020204" pitchFamily="34" charset="0"/>
              </a:rPr>
              <a:t>Prevention Of Greenwashing: International Perspective</a:t>
            </a:r>
            <a:endParaRPr lang="en-IN" sz="1400" b="1" cap="small" dirty="0">
              <a:latin typeface="Avenir Next" panose="020B0503020202020204" pitchFamily="34" charset="0"/>
              <a:ea typeface="Calibri"/>
              <a:cs typeface="Calibri"/>
            </a:endParaRPr>
          </a:p>
          <a:p>
            <a:pPr marL="228600" indent="-228600">
              <a:lnSpc>
                <a:spcPct val="150000"/>
              </a:lnSpc>
              <a:spcAft>
                <a:spcPts val="400"/>
              </a:spcAft>
              <a:buFontTx/>
              <a:buAutoNum type="arabicPeriod"/>
              <a:defRPr sz="1200" b="1">
                <a:solidFill>
                  <a:srgbClr val="095E4F"/>
                </a:solidFill>
                <a:latin typeface="Calibri"/>
              </a:defRPr>
            </a:pPr>
            <a:r>
              <a:rPr lang="en-US" sz="1400" b="1" cap="small" dirty="0">
                <a:latin typeface="Avenir Next" panose="020B0503020202020204" pitchFamily="34" charset="0"/>
              </a:rPr>
              <a:t>Indian Regulatory Ecosystem To Prevent Greenwashing</a:t>
            </a:r>
            <a:r>
              <a:rPr lang="en-IN" sz="1400" b="1" cap="small" dirty="0">
                <a:latin typeface="Avenir Next" panose="020B0503020202020204" pitchFamily="34" charset="0"/>
              </a:rPr>
              <a:t> </a:t>
            </a:r>
            <a:endParaRPr lang="en-IN" sz="1400" b="1" cap="small" dirty="0">
              <a:latin typeface="Avenir Next" panose="020B0503020202020204" pitchFamily="34" charset="0"/>
              <a:ea typeface="Calibri"/>
              <a:cs typeface="Calibri"/>
            </a:endParaRPr>
          </a:p>
          <a:p>
            <a:pPr marL="228600" indent="-228600">
              <a:lnSpc>
                <a:spcPct val="150000"/>
              </a:lnSpc>
              <a:spcAft>
                <a:spcPts val="400"/>
              </a:spcAft>
              <a:buFontTx/>
              <a:buAutoNum type="arabicPeriod"/>
              <a:defRPr sz="1200" b="1">
                <a:solidFill>
                  <a:srgbClr val="095E4F"/>
                </a:solidFill>
                <a:latin typeface="Calibri"/>
              </a:defRPr>
            </a:pPr>
            <a:r>
              <a:rPr lang="en-US" sz="1400" b="1" cap="small" dirty="0">
                <a:latin typeface="Avenir Next" panose="020B0503020202020204" pitchFamily="34" charset="0"/>
              </a:rPr>
              <a:t>Conclusion</a:t>
            </a:r>
            <a:endParaRPr lang="en-IN" sz="1400" b="1" cap="small" dirty="0">
              <a:latin typeface="Avenir Next" panose="020B0503020202020204" pitchFamily="34" charset="0"/>
              <a:ea typeface="Calibri"/>
              <a:cs typeface="Calibri"/>
            </a:endParaRPr>
          </a:p>
          <a:p>
            <a:pPr marL="228600" indent="-228600" algn="l">
              <a:spcAft>
                <a:spcPts val="400"/>
              </a:spcAft>
              <a:buAutoNum type="arabicPeriod"/>
              <a:defRPr sz="1200" b="1">
                <a:solidFill>
                  <a:srgbClr val="095E4F"/>
                </a:solidFill>
                <a:latin typeface="Calibri"/>
              </a:defRPr>
            </a:pPr>
            <a:endParaRPr lang="en-US" sz="1600" dirty="0">
              <a:latin typeface="Avenir Next" panose="020B0503020202020204" pitchFamily="34" charset="0"/>
            </a:endParaRPr>
          </a:p>
        </p:txBody>
      </p:sp>
    </p:spTree>
    <p:extLst>
      <p:ext uri="{BB962C8B-B14F-4D97-AF65-F5344CB8AC3E}">
        <p14:creationId xmlns:p14="http://schemas.microsoft.com/office/powerpoint/2010/main" val="197839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784" y="347472"/>
            <a:ext cx="10972800" cy="584775"/>
          </a:xfrm>
          <a:prstGeom prst="rect">
            <a:avLst/>
          </a:prstGeom>
          <a:noFill/>
        </p:spPr>
        <p:txBody>
          <a:bodyPr wrap="square">
            <a:spAutoFit/>
          </a:bodyPr>
          <a:lstStyle/>
          <a:p>
            <a:pPr>
              <a:spcAft>
                <a:spcPts val="600"/>
              </a:spcAft>
              <a:defRPr sz="3000" b="1">
                <a:solidFill>
                  <a:srgbClr val="1B1B2F"/>
                </a:solidFill>
                <a:latin typeface="Calibri Light"/>
              </a:defRPr>
            </a:pPr>
            <a:r>
              <a:rPr lang="en-US" sz="3200" b="1" dirty="0">
                <a:solidFill>
                  <a:srgbClr val="173F35"/>
                </a:solidFill>
                <a:latin typeface="Avenir Next Demi Bold"/>
              </a:rPr>
              <a:t>How </a:t>
            </a:r>
            <a:r>
              <a:rPr sz="3200" b="1" dirty="0">
                <a:solidFill>
                  <a:srgbClr val="173F35"/>
                </a:solidFill>
                <a:latin typeface="Avenir Next Demi Bold"/>
              </a:rPr>
              <a:t>Greenwashing </a:t>
            </a:r>
            <a:r>
              <a:rPr lang="en-US" sz="3200" b="1" dirty="0">
                <a:solidFill>
                  <a:srgbClr val="173F35"/>
                </a:solidFill>
                <a:latin typeface="Avenir Next Demi Bold"/>
              </a:rPr>
              <a:t>has </a:t>
            </a:r>
            <a:r>
              <a:rPr sz="3200" b="1" dirty="0">
                <a:solidFill>
                  <a:srgbClr val="173F35"/>
                </a:solidFill>
                <a:latin typeface="Avenir Next Demi Bold"/>
              </a:rPr>
              <a:t>evolved and </a:t>
            </a:r>
            <a:r>
              <a:rPr lang="en-US" sz="3200" b="1" dirty="0">
                <a:solidFill>
                  <a:srgbClr val="173F35"/>
                </a:solidFill>
                <a:latin typeface="Avenir Next Demi Bold"/>
              </a:rPr>
              <a:t>its consequences</a:t>
            </a:r>
            <a:r>
              <a:rPr sz="3200" b="1" dirty="0">
                <a:solidFill>
                  <a:srgbClr val="173F35"/>
                </a:solidFill>
                <a:latin typeface="Avenir Next Demi Bold"/>
              </a:rPr>
              <a:t>?</a:t>
            </a:r>
          </a:p>
        </p:txBody>
      </p:sp>
      <p:sp>
        <p:nvSpPr>
          <p:cNvPr id="8" name="TextBox 7"/>
          <p:cNvSpPr txBox="1"/>
          <p:nvPr/>
        </p:nvSpPr>
        <p:spPr>
          <a:xfrm>
            <a:off x="519684" y="6508941"/>
            <a:ext cx="1908984" cy="307777"/>
          </a:xfrm>
          <a:prstGeom prst="rect">
            <a:avLst/>
          </a:prstGeom>
          <a:noFill/>
        </p:spPr>
        <p:txBody>
          <a:bodyPr wrap="none">
            <a:spAutoFit/>
          </a:bodyPr>
          <a:lstStyle/>
          <a:p>
            <a:pPr>
              <a:defRPr sz="950">
                <a:solidFill>
                  <a:srgbClr val="4A4A4A"/>
                </a:solidFill>
                <a:latin typeface="Calibri"/>
              </a:defRPr>
            </a:pPr>
            <a:r>
              <a:rPr sz="1400" dirty="0"/>
              <a:t>Source base: Chapter </a:t>
            </a:r>
            <a:r>
              <a:rPr lang="en-US" sz="1400" dirty="0"/>
              <a:t>2.</a:t>
            </a:r>
            <a:endParaRPr sz="1400" dirty="0"/>
          </a:p>
        </p:txBody>
      </p:sp>
      <p:sp>
        <p:nvSpPr>
          <p:cNvPr id="9" name="Rounded Rectangle 8">
            <a:extLst>
              <a:ext uri="{FF2B5EF4-FFF2-40B4-BE49-F238E27FC236}">
                <a16:creationId xmlns:a16="http://schemas.microsoft.com/office/drawing/2014/main" id="{3828D458-2210-BD31-6238-1A5B8AA11B3C}"/>
              </a:ext>
            </a:extLst>
          </p:cNvPr>
          <p:cNvSpPr/>
          <p:nvPr/>
        </p:nvSpPr>
        <p:spPr>
          <a:xfrm>
            <a:off x="557784" y="5777861"/>
            <a:ext cx="11073384" cy="469743"/>
          </a:xfrm>
          <a:prstGeom prst="roundRect">
            <a:avLst/>
          </a:prstGeom>
          <a:solidFill>
            <a:srgbClr val="FFF6EA"/>
          </a:solidFill>
          <a:ln w="19050">
            <a:solidFill>
              <a:srgbClr val="E7C894"/>
            </a:solidFill>
          </a:ln>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ctr"/>
          <a:lstStyle/>
          <a:p>
            <a:pPr>
              <a:defRPr sz="1300" b="1">
                <a:solidFill>
                  <a:srgbClr val="173F35"/>
                </a:solidFill>
                <a:latin typeface="Calibri"/>
              </a:defRPr>
            </a:pPr>
            <a:r>
              <a:rPr lang="en-IN" dirty="0">
                <a:latin typeface="Avenir Next" panose="020B0503020202020204" pitchFamily="34" charset="0"/>
              </a:rPr>
              <a:t>Answers Research Question 1: What is greenwashing, how has it evolved, and what are its consequences?</a:t>
            </a:r>
          </a:p>
        </p:txBody>
      </p:sp>
      <p:sp>
        <p:nvSpPr>
          <p:cNvPr id="55" name="Rounded Rectangle 54">
            <a:extLst>
              <a:ext uri="{FF2B5EF4-FFF2-40B4-BE49-F238E27FC236}">
                <a16:creationId xmlns:a16="http://schemas.microsoft.com/office/drawing/2014/main" id="{C9BA0869-E04F-0349-ADAB-9183F4D0C548}"/>
              </a:ext>
            </a:extLst>
          </p:cNvPr>
          <p:cNvSpPr/>
          <p:nvPr/>
        </p:nvSpPr>
        <p:spPr>
          <a:xfrm>
            <a:off x="557530" y="1056640"/>
            <a:ext cx="3352800" cy="4043679"/>
          </a:xfrm>
          <a:prstGeom prst="roundRect">
            <a:avLst/>
          </a:prstGeom>
          <a:solidFill>
            <a:srgbClr val="FFF8EE"/>
          </a:solidFill>
          <a:ln w="12700" cap="flat" cmpd="sng" algn="ctr">
            <a:solidFill>
              <a:srgbClr val="E4C28D"/>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56" name="Rounded Rectangle 55">
            <a:extLst>
              <a:ext uri="{FF2B5EF4-FFF2-40B4-BE49-F238E27FC236}">
                <a16:creationId xmlns:a16="http://schemas.microsoft.com/office/drawing/2014/main" id="{3593AA0C-24A7-3046-B4DA-3F5DB7699358}"/>
              </a:ext>
            </a:extLst>
          </p:cNvPr>
          <p:cNvSpPr/>
          <p:nvPr/>
        </p:nvSpPr>
        <p:spPr>
          <a:xfrm>
            <a:off x="4104458" y="1056640"/>
            <a:ext cx="3619500" cy="4043679"/>
          </a:xfrm>
          <a:prstGeom prst="roundRect">
            <a:avLst/>
          </a:prstGeom>
          <a:solidFill>
            <a:srgbClr val="EEF5F0"/>
          </a:solidFill>
          <a:ln w="12700" cap="flat" cmpd="sng" algn="ctr">
            <a:solidFill>
              <a:srgbClr val="A9C6B2"/>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57" name="Rounded Rectangle 56">
            <a:extLst>
              <a:ext uri="{FF2B5EF4-FFF2-40B4-BE49-F238E27FC236}">
                <a16:creationId xmlns:a16="http://schemas.microsoft.com/office/drawing/2014/main" id="{0C9A670F-AC7C-044F-A888-D7E9A358BB19}"/>
              </a:ext>
            </a:extLst>
          </p:cNvPr>
          <p:cNvSpPr/>
          <p:nvPr/>
        </p:nvSpPr>
        <p:spPr>
          <a:xfrm>
            <a:off x="7885430" y="1056640"/>
            <a:ext cx="3746500" cy="4043679"/>
          </a:xfrm>
          <a:prstGeom prst="roundRect">
            <a:avLst/>
          </a:prstGeom>
          <a:solidFill>
            <a:srgbClr val="FBFCFA"/>
          </a:solidFill>
          <a:ln w="12700" cap="flat" cmpd="sng" algn="ctr">
            <a:solidFill>
              <a:srgbClr val="A9C6B2"/>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58" name="TextBox 57">
            <a:extLst>
              <a:ext uri="{FF2B5EF4-FFF2-40B4-BE49-F238E27FC236}">
                <a16:creationId xmlns:a16="http://schemas.microsoft.com/office/drawing/2014/main" id="{71CEE6AD-8511-3748-8703-AD112E08D0E6}"/>
              </a:ext>
            </a:extLst>
          </p:cNvPr>
          <p:cNvSpPr txBox="1"/>
          <p:nvPr/>
        </p:nvSpPr>
        <p:spPr>
          <a:xfrm>
            <a:off x="774700" y="1219200"/>
            <a:ext cx="2921000" cy="292100"/>
          </a:xfrm>
          <a:prstGeom prst="rect">
            <a:avLst/>
          </a:prstGeom>
          <a:noFill/>
          <a:ln>
            <a:noFill/>
          </a:ln>
        </p:spPr>
        <p:txBody>
          <a:bodyPr vertOverflow="overflow" vert="horz" wrap="square" rtlCol="0" anchor="ctr" anchorCtr="0">
            <a:normAutofit lnSpcReduction="10000"/>
          </a:bodyPr>
          <a:lstStyle/>
          <a:p>
            <a:pPr algn="l"/>
            <a:r>
              <a:rPr lang="en-US" sz="1400" b="1" dirty="0">
                <a:solidFill>
                  <a:srgbClr val="12402D"/>
                </a:solidFill>
                <a:latin typeface="Avenir Next"/>
              </a:rPr>
              <a:t>1. CCPA DEFINITION</a:t>
            </a:r>
          </a:p>
        </p:txBody>
      </p:sp>
      <p:sp>
        <p:nvSpPr>
          <p:cNvPr id="60" name="Rounded Rectangle 59">
            <a:extLst>
              <a:ext uri="{FF2B5EF4-FFF2-40B4-BE49-F238E27FC236}">
                <a16:creationId xmlns:a16="http://schemas.microsoft.com/office/drawing/2014/main" id="{714F67E9-9F81-ED47-819B-4FEFB9ADF290}"/>
              </a:ext>
            </a:extLst>
          </p:cNvPr>
          <p:cNvSpPr/>
          <p:nvPr/>
        </p:nvSpPr>
        <p:spPr>
          <a:xfrm>
            <a:off x="665019" y="1600200"/>
            <a:ext cx="3094180" cy="3365500"/>
          </a:xfrm>
          <a:prstGeom prst="roundRect">
            <a:avLst/>
          </a:prstGeom>
          <a:solidFill>
            <a:srgbClr val="FFFFFF"/>
          </a:solidFill>
          <a:ln w="12700" cap="flat" cmpd="sng" algn="ctr">
            <a:solidFill>
              <a:srgbClr val="D8C7AA"/>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rmAutofit/>
          </a:bodyPr>
          <a:lstStyle/>
          <a:p>
            <a:pPr algn="l"/>
            <a:r>
              <a:rPr lang="en-US" sz="1400" dirty="0">
                <a:solidFill>
                  <a:srgbClr val="2D2D2D"/>
                </a:solidFill>
                <a:latin typeface="Avenir Next"/>
              </a:rPr>
              <a:t>India’s CCPA Guidelines define greenwashing as "any deceptive or misleading practice" involving: (</a:t>
            </a:r>
            <a:r>
              <a:rPr lang="en-US" sz="1400" dirty="0" err="1">
                <a:solidFill>
                  <a:srgbClr val="2D2D2D"/>
                </a:solidFill>
                <a:latin typeface="Avenir Next"/>
              </a:rPr>
              <a:t>i</a:t>
            </a:r>
            <a:r>
              <a:rPr lang="en-US" sz="1400" dirty="0">
                <a:solidFill>
                  <a:srgbClr val="2D2D2D"/>
                </a:solidFill>
                <a:latin typeface="Avenir Next"/>
              </a:rPr>
              <a:t>) concealing or omitting info; (ii) making vague, false, or unsubstantiated claims; or (iii) using misleading words/imagery emphasizing positive aspects while downplaying harmful attributes.</a:t>
            </a:r>
          </a:p>
        </p:txBody>
      </p:sp>
      <p:sp>
        <p:nvSpPr>
          <p:cNvPr id="62" name="TextBox 61">
            <a:extLst>
              <a:ext uri="{FF2B5EF4-FFF2-40B4-BE49-F238E27FC236}">
                <a16:creationId xmlns:a16="http://schemas.microsoft.com/office/drawing/2014/main" id="{6442682B-924F-9843-88ED-F061C01A8E3C}"/>
              </a:ext>
            </a:extLst>
          </p:cNvPr>
          <p:cNvSpPr txBox="1"/>
          <p:nvPr/>
        </p:nvSpPr>
        <p:spPr>
          <a:xfrm>
            <a:off x="4305300" y="1219200"/>
            <a:ext cx="3187700" cy="292100"/>
          </a:xfrm>
          <a:prstGeom prst="rect">
            <a:avLst/>
          </a:prstGeom>
          <a:noFill/>
          <a:ln>
            <a:noFill/>
          </a:ln>
        </p:spPr>
        <p:txBody>
          <a:bodyPr vertOverflow="overflow" vert="horz" wrap="square" rtlCol="0" anchor="ctr" anchorCtr="0">
            <a:normAutofit lnSpcReduction="10000"/>
          </a:bodyPr>
          <a:lstStyle/>
          <a:p>
            <a:pPr algn="l"/>
            <a:r>
              <a:rPr lang="en-US" sz="1400" b="1" dirty="0">
                <a:solidFill>
                  <a:srgbClr val="12402D"/>
                </a:solidFill>
                <a:latin typeface="Avenir Next"/>
              </a:rPr>
              <a:t>2. HOW IT HAS EVOLVED</a:t>
            </a:r>
          </a:p>
        </p:txBody>
      </p:sp>
      <p:sp>
        <p:nvSpPr>
          <p:cNvPr id="63" name="TextBox 62">
            <a:extLst>
              <a:ext uri="{FF2B5EF4-FFF2-40B4-BE49-F238E27FC236}">
                <a16:creationId xmlns:a16="http://schemas.microsoft.com/office/drawing/2014/main" id="{66F3AFD2-580F-9149-91D1-5F851BF42EC4}"/>
              </a:ext>
            </a:extLst>
          </p:cNvPr>
          <p:cNvSpPr txBox="1"/>
          <p:nvPr/>
        </p:nvSpPr>
        <p:spPr>
          <a:xfrm>
            <a:off x="4356100" y="1511300"/>
            <a:ext cx="3086100" cy="254000"/>
          </a:xfrm>
          <a:prstGeom prst="rect">
            <a:avLst/>
          </a:prstGeom>
          <a:noFill/>
          <a:ln>
            <a:noFill/>
          </a:ln>
        </p:spPr>
        <p:txBody>
          <a:bodyPr vertOverflow="overflow" vert="horz" wrap="square" rtlCol="0" anchor="ctr" anchorCtr="0">
            <a:normAutofit/>
          </a:bodyPr>
          <a:lstStyle/>
          <a:p>
            <a:pPr algn="l"/>
            <a:r>
              <a:rPr lang="en-US" sz="950">
                <a:solidFill>
                  <a:srgbClr val="22704E"/>
                </a:solidFill>
                <a:latin typeface="Avenir Next"/>
              </a:rPr>
              <a:t>The unit of deception expanded over time</a:t>
            </a:r>
          </a:p>
        </p:txBody>
      </p:sp>
      <p:sp>
        <p:nvSpPr>
          <p:cNvPr id="64" name="Right Arrow 63">
            <a:extLst>
              <a:ext uri="{FF2B5EF4-FFF2-40B4-BE49-F238E27FC236}">
                <a16:creationId xmlns:a16="http://schemas.microsoft.com/office/drawing/2014/main" id="{AAFD3188-06A7-7345-8741-2AE4B5640AC0}"/>
              </a:ext>
            </a:extLst>
          </p:cNvPr>
          <p:cNvSpPr/>
          <p:nvPr/>
        </p:nvSpPr>
        <p:spPr>
          <a:xfrm>
            <a:off x="4381500" y="1892300"/>
            <a:ext cx="2590800" cy="787400"/>
          </a:xfrm>
          <a:prstGeom prst="rightArrow">
            <a:avLst/>
          </a:prstGeom>
          <a:solidFill>
            <a:srgbClr val="79A98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rmAutofit/>
          </a:bodyPr>
          <a:lstStyle/>
          <a:p>
            <a:pPr algn="l"/>
            <a:r>
              <a:rPr lang="en-US" sz="950" b="1">
                <a:solidFill>
                  <a:srgbClr val="FFFFFF"/>
                </a:solidFill>
                <a:latin typeface="Avenir Next"/>
              </a:rPr>
              <a:t>PRODUCT LEVEL  |  1986–
Claims, seals &amp; imagery</a:t>
            </a:r>
          </a:p>
        </p:txBody>
      </p:sp>
      <p:sp>
        <p:nvSpPr>
          <p:cNvPr id="65" name="Right Arrow 64">
            <a:extLst>
              <a:ext uri="{FF2B5EF4-FFF2-40B4-BE49-F238E27FC236}">
                <a16:creationId xmlns:a16="http://schemas.microsoft.com/office/drawing/2014/main" id="{3ACAB8D5-EBAF-B344-B081-466A0A57BF99}"/>
              </a:ext>
            </a:extLst>
          </p:cNvPr>
          <p:cNvSpPr/>
          <p:nvPr/>
        </p:nvSpPr>
        <p:spPr>
          <a:xfrm>
            <a:off x="4381500" y="2806700"/>
            <a:ext cx="2870200" cy="787400"/>
          </a:xfrm>
          <a:prstGeom prst="rightArrow">
            <a:avLst/>
          </a:prstGeom>
          <a:solidFill>
            <a:srgbClr val="3D866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rmAutofit/>
          </a:bodyPr>
          <a:lstStyle/>
          <a:p>
            <a:pPr algn="l"/>
            <a:r>
              <a:rPr lang="en-US" sz="950" b="1">
                <a:solidFill>
                  <a:srgbClr val="FFFFFF"/>
                </a:solidFill>
                <a:latin typeface="Avenir Next"/>
              </a:rPr>
              <a:t>CORPORATE LEVEL  |  1990s–
Brand halo masks operations</a:t>
            </a:r>
          </a:p>
        </p:txBody>
      </p:sp>
      <p:sp>
        <p:nvSpPr>
          <p:cNvPr id="66" name="Right Arrow 65">
            <a:extLst>
              <a:ext uri="{FF2B5EF4-FFF2-40B4-BE49-F238E27FC236}">
                <a16:creationId xmlns:a16="http://schemas.microsoft.com/office/drawing/2014/main" id="{AEB5DAE7-821E-5B4F-A416-0446D0F9ADBC}"/>
              </a:ext>
            </a:extLst>
          </p:cNvPr>
          <p:cNvSpPr/>
          <p:nvPr/>
        </p:nvSpPr>
        <p:spPr>
          <a:xfrm>
            <a:off x="4381500" y="3721100"/>
            <a:ext cx="3149600" cy="939800"/>
          </a:xfrm>
          <a:prstGeom prst="rightArrow">
            <a:avLst/>
          </a:prstGeom>
          <a:solidFill>
            <a:srgbClr val="22704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rmAutofit/>
          </a:bodyPr>
          <a:lstStyle/>
          <a:p>
            <a:pPr algn="l"/>
            <a:r>
              <a:rPr lang="en-US" sz="800" b="1" dirty="0">
                <a:solidFill>
                  <a:srgbClr val="FFFFFF"/>
                </a:solidFill>
                <a:latin typeface="Avenir Next"/>
              </a:rPr>
              <a:t>ESG &amp; FINANCIAL  |  TODAY
BRSR Reports, Green Debt, ESG Funds, Net Zero Claims</a:t>
            </a:r>
          </a:p>
        </p:txBody>
      </p:sp>
      <p:sp>
        <p:nvSpPr>
          <p:cNvPr id="67" name="TextBox 66">
            <a:extLst>
              <a:ext uri="{FF2B5EF4-FFF2-40B4-BE49-F238E27FC236}">
                <a16:creationId xmlns:a16="http://schemas.microsoft.com/office/drawing/2014/main" id="{7D0F4A9C-2EF7-244F-94E5-BB3E9EA358A1}"/>
              </a:ext>
            </a:extLst>
          </p:cNvPr>
          <p:cNvSpPr txBox="1"/>
          <p:nvPr/>
        </p:nvSpPr>
        <p:spPr>
          <a:xfrm>
            <a:off x="4610100" y="4737100"/>
            <a:ext cx="2679700" cy="228600"/>
          </a:xfrm>
          <a:prstGeom prst="rect">
            <a:avLst/>
          </a:prstGeom>
          <a:noFill/>
          <a:ln>
            <a:noFill/>
          </a:ln>
        </p:spPr>
        <p:txBody>
          <a:bodyPr vertOverflow="overflow" vert="horz" wrap="square" rtlCol="0" anchor="ctr" anchorCtr="0">
            <a:normAutofit lnSpcReduction="10000"/>
          </a:bodyPr>
          <a:lstStyle/>
          <a:p>
            <a:pPr algn="l"/>
            <a:r>
              <a:rPr lang="en-US" sz="950" b="1">
                <a:solidFill>
                  <a:srgbClr val="12402D"/>
                </a:solidFill>
                <a:latin typeface="Avenir Next"/>
              </a:rPr>
              <a:t>Wider scope  →  higher stakes</a:t>
            </a:r>
          </a:p>
        </p:txBody>
      </p:sp>
      <p:sp>
        <p:nvSpPr>
          <p:cNvPr id="68" name="TextBox 67">
            <a:extLst>
              <a:ext uri="{FF2B5EF4-FFF2-40B4-BE49-F238E27FC236}">
                <a16:creationId xmlns:a16="http://schemas.microsoft.com/office/drawing/2014/main" id="{84AA710A-7D92-FD49-8562-7F4BB2B1E368}"/>
              </a:ext>
            </a:extLst>
          </p:cNvPr>
          <p:cNvSpPr txBox="1"/>
          <p:nvPr/>
        </p:nvSpPr>
        <p:spPr>
          <a:xfrm>
            <a:off x="8102600" y="1219200"/>
            <a:ext cx="3302000" cy="292100"/>
          </a:xfrm>
          <a:prstGeom prst="rect">
            <a:avLst/>
          </a:prstGeom>
          <a:noFill/>
          <a:ln>
            <a:noFill/>
          </a:ln>
        </p:spPr>
        <p:txBody>
          <a:bodyPr vertOverflow="overflow" vert="horz" wrap="square" rtlCol="0" anchor="ctr" anchorCtr="0">
            <a:normAutofit lnSpcReduction="10000"/>
          </a:bodyPr>
          <a:lstStyle/>
          <a:p>
            <a:pPr algn="l"/>
            <a:r>
              <a:rPr lang="en-US" sz="1400" b="1" dirty="0">
                <a:solidFill>
                  <a:srgbClr val="12402D"/>
                </a:solidFill>
                <a:latin typeface="Avenir Next"/>
              </a:rPr>
              <a:t>3. MULTI-LAYERED HARM</a:t>
            </a:r>
          </a:p>
        </p:txBody>
      </p:sp>
      <p:sp>
        <p:nvSpPr>
          <p:cNvPr id="69" name="Rounded Rectangle 68">
            <a:extLst>
              <a:ext uri="{FF2B5EF4-FFF2-40B4-BE49-F238E27FC236}">
                <a16:creationId xmlns:a16="http://schemas.microsoft.com/office/drawing/2014/main" id="{E325F56B-D42A-F642-9DF6-4534FB567509}"/>
              </a:ext>
            </a:extLst>
          </p:cNvPr>
          <p:cNvSpPr/>
          <p:nvPr/>
        </p:nvSpPr>
        <p:spPr>
          <a:xfrm>
            <a:off x="8928100" y="1625600"/>
            <a:ext cx="1676400" cy="431800"/>
          </a:xfrm>
          <a:prstGeom prst="roundRect">
            <a:avLst/>
          </a:prstGeom>
          <a:solidFill>
            <a:srgbClr val="12402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rmAutofit/>
          </a:bodyPr>
          <a:lstStyle/>
          <a:p>
            <a:pPr algn="l"/>
            <a:r>
              <a:rPr lang="en-US" sz="1100" b="1">
                <a:solidFill>
                  <a:srgbClr val="FFFFFF"/>
                </a:solidFill>
                <a:latin typeface="Avenir Next"/>
              </a:rPr>
              <a:t>GREENWASHING</a:t>
            </a:r>
          </a:p>
        </p:txBody>
      </p:sp>
      <p:sp>
        <p:nvSpPr>
          <p:cNvPr id="70" name="Rectangle 69">
            <a:extLst>
              <a:ext uri="{FF2B5EF4-FFF2-40B4-BE49-F238E27FC236}">
                <a16:creationId xmlns:a16="http://schemas.microsoft.com/office/drawing/2014/main" id="{9A0EFC77-BBB7-C746-A489-7A0330D2A6E8}"/>
              </a:ext>
            </a:extLst>
          </p:cNvPr>
          <p:cNvSpPr/>
          <p:nvPr/>
        </p:nvSpPr>
        <p:spPr>
          <a:xfrm>
            <a:off x="9740900" y="2057400"/>
            <a:ext cx="50800" cy="2400300"/>
          </a:xfrm>
          <a:prstGeom prst="rect">
            <a:avLst/>
          </a:prstGeom>
          <a:solidFill>
            <a:srgbClr val="C9D8C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71" name="Rectangle 70">
            <a:extLst>
              <a:ext uri="{FF2B5EF4-FFF2-40B4-BE49-F238E27FC236}">
                <a16:creationId xmlns:a16="http://schemas.microsoft.com/office/drawing/2014/main" id="{F06362E0-BFA8-224A-A772-2222F79E111F}"/>
              </a:ext>
            </a:extLst>
          </p:cNvPr>
          <p:cNvSpPr/>
          <p:nvPr/>
        </p:nvSpPr>
        <p:spPr>
          <a:xfrm>
            <a:off x="8559800" y="2476500"/>
            <a:ext cx="1206500" cy="38100"/>
          </a:xfrm>
          <a:prstGeom prst="rect">
            <a:avLst/>
          </a:prstGeom>
          <a:solidFill>
            <a:srgbClr val="C9D8C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72" name="Rectangle 71">
            <a:extLst>
              <a:ext uri="{FF2B5EF4-FFF2-40B4-BE49-F238E27FC236}">
                <a16:creationId xmlns:a16="http://schemas.microsoft.com/office/drawing/2014/main" id="{19191E99-846B-C848-BE63-9302BE25AA3F}"/>
              </a:ext>
            </a:extLst>
          </p:cNvPr>
          <p:cNvSpPr/>
          <p:nvPr/>
        </p:nvSpPr>
        <p:spPr>
          <a:xfrm>
            <a:off x="9766300" y="3213100"/>
            <a:ext cx="279400" cy="38100"/>
          </a:xfrm>
          <a:prstGeom prst="rect">
            <a:avLst/>
          </a:prstGeom>
          <a:solidFill>
            <a:srgbClr val="C9D8C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73" name="Rectangle 72">
            <a:extLst>
              <a:ext uri="{FF2B5EF4-FFF2-40B4-BE49-F238E27FC236}">
                <a16:creationId xmlns:a16="http://schemas.microsoft.com/office/drawing/2014/main" id="{6B843D70-0C59-8A4B-92B0-BB4F3CADDEC3}"/>
              </a:ext>
            </a:extLst>
          </p:cNvPr>
          <p:cNvSpPr/>
          <p:nvPr/>
        </p:nvSpPr>
        <p:spPr>
          <a:xfrm>
            <a:off x="8559800" y="4051300"/>
            <a:ext cx="1206500" cy="38100"/>
          </a:xfrm>
          <a:prstGeom prst="rect">
            <a:avLst/>
          </a:prstGeom>
          <a:solidFill>
            <a:srgbClr val="C9D8C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74" name="Rounded Rectangle 73">
            <a:extLst>
              <a:ext uri="{FF2B5EF4-FFF2-40B4-BE49-F238E27FC236}">
                <a16:creationId xmlns:a16="http://schemas.microsoft.com/office/drawing/2014/main" id="{0573DC19-537D-DD4E-BDA3-F63AD4CA431E}"/>
              </a:ext>
            </a:extLst>
          </p:cNvPr>
          <p:cNvSpPr/>
          <p:nvPr/>
        </p:nvSpPr>
        <p:spPr>
          <a:xfrm>
            <a:off x="8128000" y="2235200"/>
            <a:ext cx="2082800" cy="749300"/>
          </a:xfrm>
          <a:prstGeom prst="roundRect">
            <a:avLst/>
          </a:prstGeom>
          <a:solidFill>
            <a:srgbClr val="DCEBE1"/>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rmAutofit/>
          </a:bodyPr>
          <a:lstStyle/>
          <a:p>
            <a:pPr algn="l"/>
            <a:r>
              <a:rPr lang="en-US" sz="1020" b="1">
                <a:solidFill>
                  <a:srgbClr val="12402D"/>
                </a:solidFill>
                <a:latin typeface="Avenir Next"/>
              </a:rPr>
              <a:t>CLIMATE &amp; ENVIRONMENT
Delays real decarbonisation</a:t>
            </a:r>
          </a:p>
        </p:txBody>
      </p:sp>
      <p:sp>
        <p:nvSpPr>
          <p:cNvPr id="75" name="Rounded Rectangle 74">
            <a:extLst>
              <a:ext uri="{FF2B5EF4-FFF2-40B4-BE49-F238E27FC236}">
                <a16:creationId xmlns:a16="http://schemas.microsoft.com/office/drawing/2014/main" id="{2CAEAA33-469A-5141-B67C-9D7B011EB19A}"/>
              </a:ext>
            </a:extLst>
          </p:cNvPr>
          <p:cNvSpPr/>
          <p:nvPr/>
        </p:nvSpPr>
        <p:spPr>
          <a:xfrm>
            <a:off x="10033000" y="2984500"/>
            <a:ext cx="1371600" cy="736600"/>
          </a:xfrm>
          <a:prstGeom prst="roundRect">
            <a:avLst/>
          </a:prstGeom>
          <a:solidFill>
            <a:srgbClr val="E7F0E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rmAutofit/>
          </a:bodyPr>
          <a:lstStyle/>
          <a:p>
            <a:pPr algn="l"/>
            <a:r>
              <a:rPr lang="en-US" sz="970" b="1">
                <a:solidFill>
                  <a:srgbClr val="12402D"/>
                </a:solidFill>
                <a:latin typeface="Avenir Next"/>
              </a:rPr>
              <a:t>FINANCIAL
Misdirects green capital</a:t>
            </a:r>
          </a:p>
        </p:txBody>
      </p:sp>
      <p:sp>
        <p:nvSpPr>
          <p:cNvPr id="76" name="Rounded Rectangle 75">
            <a:extLst>
              <a:ext uri="{FF2B5EF4-FFF2-40B4-BE49-F238E27FC236}">
                <a16:creationId xmlns:a16="http://schemas.microsoft.com/office/drawing/2014/main" id="{92CCE726-3310-804B-BF66-1E6FEF259D92}"/>
              </a:ext>
            </a:extLst>
          </p:cNvPr>
          <p:cNvSpPr/>
          <p:nvPr/>
        </p:nvSpPr>
        <p:spPr>
          <a:xfrm>
            <a:off x="8128000" y="3810000"/>
            <a:ext cx="2082800" cy="812800"/>
          </a:xfrm>
          <a:prstGeom prst="roundRect">
            <a:avLst/>
          </a:prstGeom>
          <a:solidFill>
            <a:srgbClr val="FFF8E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rmAutofit/>
          </a:bodyPr>
          <a:lstStyle/>
          <a:p>
            <a:pPr algn="l"/>
            <a:r>
              <a:rPr lang="en-US" sz="980" b="1">
                <a:solidFill>
                  <a:srgbClr val="12402D"/>
                </a:solidFill>
                <a:latin typeface="Avenir Next"/>
              </a:rPr>
              <a:t>MARKET TRUST
Erodes investor and consumer confidence</a:t>
            </a:r>
          </a:p>
        </p:txBody>
      </p:sp>
      <p:sp>
        <p:nvSpPr>
          <p:cNvPr id="77" name="TextBox 76">
            <a:extLst>
              <a:ext uri="{FF2B5EF4-FFF2-40B4-BE49-F238E27FC236}">
                <a16:creationId xmlns:a16="http://schemas.microsoft.com/office/drawing/2014/main" id="{2DC1F6D8-1081-3741-9E0D-0420B988EC79}"/>
              </a:ext>
            </a:extLst>
          </p:cNvPr>
          <p:cNvSpPr txBox="1"/>
          <p:nvPr/>
        </p:nvSpPr>
        <p:spPr>
          <a:xfrm>
            <a:off x="10261600" y="2209800"/>
            <a:ext cx="1041400" cy="381000"/>
          </a:xfrm>
          <a:prstGeom prst="rect">
            <a:avLst/>
          </a:prstGeom>
          <a:noFill/>
          <a:ln>
            <a:noFill/>
          </a:ln>
        </p:spPr>
        <p:txBody>
          <a:bodyPr vertOverflow="overflow" vert="horz" wrap="square" rtlCol="0" anchor="ctr" anchorCtr="0">
            <a:normAutofit/>
          </a:bodyPr>
          <a:lstStyle/>
          <a:p>
            <a:pPr algn="l"/>
            <a:r>
              <a:rPr lang="en-US" sz="900" b="1">
                <a:solidFill>
                  <a:srgbClr val="22704E"/>
                </a:solidFill>
                <a:latin typeface="Avenir Next"/>
              </a:rPr>
              <a:t>False comfort</a:t>
            </a:r>
          </a:p>
        </p:txBody>
      </p:sp>
      <p:sp>
        <p:nvSpPr>
          <p:cNvPr id="78" name="TextBox 77">
            <a:extLst>
              <a:ext uri="{FF2B5EF4-FFF2-40B4-BE49-F238E27FC236}">
                <a16:creationId xmlns:a16="http://schemas.microsoft.com/office/drawing/2014/main" id="{454AF2D3-12E6-CD49-8F6D-0BE022F0774E}"/>
              </a:ext>
            </a:extLst>
          </p:cNvPr>
          <p:cNvSpPr txBox="1"/>
          <p:nvPr/>
        </p:nvSpPr>
        <p:spPr>
          <a:xfrm>
            <a:off x="10261600" y="3949700"/>
            <a:ext cx="1117600" cy="571500"/>
          </a:xfrm>
          <a:prstGeom prst="rect">
            <a:avLst/>
          </a:prstGeom>
          <a:noFill/>
          <a:ln>
            <a:noFill/>
          </a:ln>
        </p:spPr>
        <p:txBody>
          <a:bodyPr vertOverflow="overflow" vert="horz" wrap="square" rtlCol="0" anchor="ctr" anchorCtr="0">
            <a:normAutofit/>
          </a:bodyPr>
          <a:lstStyle/>
          <a:p>
            <a:pPr algn="l"/>
            <a:r>
              <a:rPr lang="en-US" sz="870" b="1">
                <a:solidFill>
                  <a:srgbClr val="22704E"/>
                </a:solidFill>
                <a:latin typeface="Avenir Next"/>
              </a:rPr>
              <a:t>Crowds out genuine green business</a:t>
            </a:r>
          </a:p>
        </p:txBody>
      </p:sp>
    </p:spTree>
    <p:extLst>
      <p:ext uri="{BB962C8B-B14F-4D97-AF65-F5344CB8AC3E}">
        <p14:creationId xmlns:p14="http://schemas.microsoft.com/office/powerpoint/2010/main" val="4012266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4" name="TextBox 3"/>
          <p:cNvSpPr txBox="1"/>
          <p:nvPr/>
        </p:nvSpPr>
        <p:spPr>
          <a:xfrm>
            <a:off x="413495" y="423308"/>
            <a:ext cx="11868966" cy="492443"/>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sz="2600" dirty="0">
                <a:latin typeface="Avenir Next" panose="020B0503020202020204" pitchFamily="34" charset="0"/>
              </a:rPr>
              <a:t>India</a:t>
            </a:r>
            <a:r>
              <a:rPr lang="en-US" sz="2600" dirty="0">
                <a:latin typeface="Avenir Next" panose="020B0503020202020204" pitchFamily="34" charset="0"/>
              </a:rPr>
              <a:t>’s</a:t>
            </a:r>
            <a:r>
              <a:rPr sz="2600" dirty="0">
                <a:latin typeface="Avenir Next" panose="020B0503020202020204" pitchFamily="34" charset="0"/>
              </a:rPr>
              <a:t> Legal Ecosystem</a:t>
            </a:r>
            <a:r>
              <a:rPr lang="en-US" sz="2600" dirty="0">
                <a:latin typeface="Avenir Next" panose="020B0503020202020204" pitchFamily="34" charset="0"/>
              </a:rPr>
              <a:t> For Tackling Misleading Environmental Claims</a:t>
            </a:r>
            <a:endParaRPr lang="en-IN" sz="2600" dirty="0">
              <a:latin typeface="Avenir Next" panose="020B0503020202020204" pitchFamily="34" charset="0"/>
            </a:endParaRPr>
          </a:p>
        </p:txBody>
      </p:sp>
      <p:sp>
        <p:nvSpPr>
          <p:cNvPr id="6" name="Rounded Rectangle 5"/>
          <p:cNvSpPr/>
          <p:nvPr/>
        </p:nvSpPr>
        <p:spPr>
          <a:xfrm>
            <a:off x="980081" y="1091428"/>
            <a:ext cx="10058400" cy="867621"/>
          </a:xfrm>
          <a:prstGeom prst="roundRect">
            <a:avLst/>
          </a:prstGeom>
          <a:solidFill>
            <a:srgbClr val="EEF5F0"/>
          </a:solidFill>
          <a:ln w="12700" cap="flat" cmpd="sng" algn="ctr">
            <a:solidFill>
              <a:srgbClr val="A9C6B2"/>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endParaRPr dirty="0"/>
          </a:p>
        </p:txBody>
      </p:sp>
      <p:sp>
        <p:nvSpPr>
          <p:cNvPr id="8" name="Rounded Rectangle 7"/>
          <p:cNvSpPr/>
          <p:nvPr/>
        </p:nvSpPr>
        <p:spPr>
          <a:xfrm>
            <a:off x="757509" y="2353330"/>
            <a:ext cx="3425798" cy="2221384"/>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Avenir Next" panose="020B0503020202020204" pitchFamily="34" charset="0"/>
            </a:endParaRPr>
          </a:p>
        </p:txBody>
      </p:sp>
      <p:sp>
        <p:nvSpPr>
          <p:cNvPr id="9" name="Rectangle 8"/>
          <p:cNvSpPr/>
          <p:nvPr/>
        </p:nvSpPr>
        <p:spPr>
          <a:xfrm>
            <a:off x="757509" y="2285896"/>
            <a:ext cx="3291840" cy="80632"/>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Avenir Next" panose="020B0503020202020204" pitchFamily="34" charset="0"/>
            </a:endParaRPr>
          </a:p>
        </p:txBody>
      </p:sp>
      <p:sp>
        <p:nvSpPr>
          <p:cNvPr id="10" name="TextBox 9"/>
          <p:cNvSpPr txBox="1"/>
          <p:nvPr/>
        </p:nvSpPr>
        <p:spPr>
          <a:xfrm>
            <a:off x="903812" y="2481346"/>
            <a:ext cx="3279495" cy="338554"/>
          </a:xfrm>
          <a:prstGeom prst="rect">
            <a:avLst/>
          </a:prstGeom>
          <a:noFill/>
        </p:spPr>
        <p:txBody>
          <a:bodyPr wrap="square" anchor="t">
            <a:spAutoFit/>
          </a:bodyPr>
          <a:lstStyle/>
          <a:p>
            <a:pPr algn="l">
              <a:defRPr sz="1600" b="1">
                <a:solidFill>
                  <a:srgbClr val="173F35"/>
                </a:solidFill>
                <a:latin typeface="Avenir Next Demi Bold"/>
              </a:defRPr>
            </a:pPr>
            <a:r>
              <a:rPr sz="1600" dirty="0">
                <a:latin typeface="Avenir Next" panose="020B0503020202020204" pitchFamily="34" charset="0"/>
              </a:rPr>
              <a:t>Pillar 1: Consumer Protection</a:t>
            </a:r>
          </a:p>
        </p:txBody>
      </p:sp>
      <p:sp>
        <p:nvSpPr>
          <p:cNvPr id="11" name="TextBox 10"/>
          <p:cNvSpPr txBox="1"/>
          <p:nvPr/>
        </p:nvSpPr>
        <p:spPr>
          <a:xfrm>
            <a:off x="903813" y="2806765"/>
            <a:ext cx="3145536" cy="1449115"/>
          </a:xfrm>
          <a:prstGeom prst="rect">
            <a:avLst/>
          </a:prstGeom>
          <a:noFill/>
        </p:spPr>
        <p:txBody>
          <a:bodyPr wrap="square" lIns="91440" tIns="45720" rIns="91440" bIns="45720" anchor="t">
            <a:spAutoFit/>
          </a:bodyPr>
          <a:lstStyle/>
          <a:p>
            <a:pPr>
              <a:spcAft>
                <a:spcPts val="300"/>
              </a:spcAft>
              <a:defRPr sz="1050" b="0">
                <a:solidFill>
                  <a:srgbClr val="2A2A2A"/>
                </a:solidFill>
                <a:latin typeface="Avenir Next"/>
              </a:defRPr>
            </a:pPr>
            <a:r>
              <a:rPr sz="1400" dirty="0">
                <a:latin typeface="Avenir Next" panose="020B0503020202020204" pitchFamily="34" charset="0"/>
              </a:rPr>
              <a:t>CPA 2019, CCPA, Consumer Courts, and ASCI govern misleading product ads.</a:t>
            </a:r>
            <a:endParaRPr lang="en-US" sz="1400" dirty="0">
              <a:latin typeface="Avenir Next" panose="020B0503020202020204" pitchFamily="34" charset="0"/>
            </a:endParaRPr>
          </a:p>
          <a:p>
            <a:pPr>
              <a:spcAft>
                <a:spcPts val="200"/>
              </a:spcAft>
              <a:defRPr sz="1000" b="1"/>
            </a:pPr>
            <a:endParaRPr lang="en-US" sz="1400" dirty="0">
              <a:latin typeface="Avenir Next" panose="020B0503020202020204" pitchFamily="34" charset="0"/>
            </a:endParaRPr>
          </a:p>
          <a:p>
            <a:pPr>
              <a:spcAft>
                <a:spcPts val="200"/>
              </a:spcAft>
              <a:defRPr sz="1000" b="1"/>
            </a:pPr>
            <a:r>
              <a:rPr sz="1400" dirty="0">
                <a:latin typeface="Avenir Next" panose="020B0503020202020204" pitchFamily="34" charset="0"/>
              </a:rPr>
              <a:t>• Strength: Broad jurisdiction over advertisements.</a:t>
            </a:r>
          </a:p>
        </p:txBody>
      </p:sp>
      <p:sp>
        <p:nvSpPr>
          <p:cNvPr id="12" name="Rounded Rectangle 11"/>
          <p:cNvSpPr/>
          <p:nvPr/>
        </p:nvSpPr>
        <p:spPr>
          <a:xfrm>
            <a:off x="4341957" y="2353330"/>
            <a:ext cx="3425798" cy="2221384"/>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Avenir Next" panose="020B0503020202020204" pitchFamily="34" charset="0"/>
            </a:endParaRPr>
          </a:p>
        </p:txBody>
      </p:sp>
      <p:sp>
        <p:nvSpPr>
          <p:cNvPr id="13" name="Rectangle 12"/>
          <p:cNvSpPr/>
          <p:nvPr/>
        </p:nvSpPr>
        <p:spPr>
          <a:xfrm>
            <a:off x="4341957" y="2285896"/>
            <a:ext cx="3291840" cy="80632"/>
          </a:xfrm>
          <a:prstGeom prst="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Avenir Next" panose="020B0503020202020204" pitchFamily="34" charset="0"/>
            </a:endParaRPr>
          </a:p>
        </p:txBody>
      </p:sp>
      <p:sp>
        <p:nvSpPr>
          <p:cNvPr id="14" name="TextBox 13"/>
          <p:cNvSpPr txBox="1"/>
          <p:nvPr/>
        </p:nvSpPr>
        <p:spPr>
          <a:xfrm>
            <a:off x="4488261" y="2481346"/>
            <a:ext cx="3304186" cy="338554"/>
          </a:xfrm>
          <a:prstGeom prst="rect">
            <a:avLst/>
          </a:prstGeom>
          <a:noFill/>
        </p:spPr>
        <p:txBody>
          <a:bodyPr wrap="square" anchor="t">
            <a:spAutoFit/>
          </a:bodyPr>
          <a:lstStyle/>
          <a:p>
            <a:pPr algn="l">
              <a:defRPr sz="1600" b="1">
                <a:solidFill>
                  <a:srgbClr val="173F35"/>
                </a:solidFill>
                <a:latin typeface="Avenir Next Demi Bold"/>
              </a:defRPr>
            </a:pPr>
            <a:r>
              <a:rPr sz="1600" dirty="0">
                <a:latin typeface="Avenir Next" panose="020B0503020202020204" pitchFamily="34" charset="0"/>
              </a:rPr>
              <a:t>Pillar 2: Securities and Finance</a:t>
            </a:r>
          </a:p>
        </p:txBody>
      </p:sp>
      <p:sp>
        <p:nvSpPr>
          <p:cNvPr id="15" name="TextBox 14"/>
          <p:cNvSpPr txBox="1"/>
          <p:nvPr/>
        </p:nvSpPr>
        <p:spPr>
          <a:xfrm>
            <a:off x="4475915" y="2825053"/>
            <a:ext cx="3316531" cy="1395254"/>
          </a:xfrm>
          <a:prstGeom prst="rect">
            <a:avLst/>
          </a:prstGeom>
          <a:noFill/>
        </p:spPr>
        <p:txBody>
          <a:bodyPr wrap="square" lIns="91440" tIns="45720" rIns="91440" bIns="45720" anchor="t">
            <a:spAutoFit/>
          </a:bodyPr>
          <a:lstStyle/>
          <a:p>
            <a:pPr>
              <a:spcAft>
                <a:spcPts val="300"/>
              </a:spcAft>
              <a:defRPr sz="1050" b="0">
                <a:solidFill>
                  <a:srgbClr val="2A2A2A"/>
                </a:solidFill>
                <a:latin typeface="Avenir Next"/>
              </a:defRPr>
            </a:pPr>
            <a:r>
              <a:rPr sz="1400" dirty="0">
                <a:latin typeface="Avenir Next" panose="020B0503020202020204" pitchFamily="34" charset="0"/>
              </a:rPr>
              <a:t>SEBI, BRSR, BRSR Core, ESG debt rules, and PFUTP cover investor disclosures.</a:t>
            </a:r>
            <a:endParaRPr lang="en-US" sz="1400" dirty="0">
              <a:latin typeface="Avenir Next" panose="020B0503020202020204" pitchFamily="34" charset="0"/>
            </a:endParaRPr>
          </a:p>
          <a:p>
            <a:pPr>
              <a:spcAft>
                <a:spcPts val="200"/>
              </a:spcAft>
              <a:defRPr sz="1000" b="1"/>
            </a:pPr>
            <a:endParaRPr lang="en-US" sz="1050" dirty="0">
              <a:latin typeface="Avenir Next" panose="020B0503020202020204" pitchFamily="34" charset="0"/>
            </a:endParaRPr>
          </a:p>
          <a:p>
            <a:pPr>
              <a:spcAft>
                <a:spcPts val="200"/>
              </a:spcAft>
              <a:defRPr sz="1000" b="1"/>
            </a:pPr>
            <a:r>
              <a:rPr sz="1400" dirty="0">
                <a:latin typeface="Avenir Next" panose="020B0503020202020204" pitchFamily="34" charset="0"/>
              </a:rPr>
              <a:t>• Strength: Formalized ESG reporting structure.</a:t>
            </a:r>
          </a:p>
        </p:txBody>
      </p:sp>
      <p:sp>
        <p:nvSpPr>
          <p:cNvPr id="16" name="Rounded Rectangle 15"/>
          <p:cNvSpPr/>
          <p:nvPr/>
        </p:nvSpPr>
        <p:spPr>
          <a:xfrm>
            <a:off x="7926405" y="2353330"/>
            <a:ext cx="3425798" cy="2221384"/>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Avenir Next" panose="020B0503020202020204" pitchFamily="34" charset="0"/>
            </a:endParaRPr>
          </a:p>
        </p:txBody>
      </p:sp>
      <p:sp>
        <p:nvSpPr>
          <p:cNvPr id="17" name="Rectangle 16"/>
          <p:cNvSpPr/>
          <p:nvPr/>
        </p:nvSpPr>
        <p:spPr>
          <a:xfrm>
            <a:off x="7926405" y="2285896"/>
            <a:ext cx="3291840" cy="80632"/>
          </a:xfrm>
          <a:prstGeom prst="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Avenir Next" panose="020B0503020202020204" pitchFamily="34" charset="0"/>
            </a:endParaRPr>
          </a:p>
        </p:txBody>
      </p:sp>
      <p:sp>
        <p:nvSpPr>
          <p:cNvPr id="18" name="TextBox 17"/>
          <p:cNvSpPr txBox="1"/>
          <p:nvPr/>
        </p:nvSpPr>
        <p:spPr>
          <a:xfrm>
            <a:off x="8072709" y="2481346"/>
            <a:ext cx="3279494" cy="338554"/>
          </a:xfrm>
          <a:prstGeom prst="rect">
            <a:avLst/>
          </a:prstGeom>
          <a:noFill/>
        </p:spPr>
        <p:txBody>
          <a:bodyPr wrap="square" anchor="t">
            <a:spAutoFit/>
          </a:bodyPr>
          <a:lstStyle/>
          <a:p>
            <a:pPr algn="l">
              <a:defRPr sz="1600" b="1">
                <a:solidFill>
                  <a:srgbClr val="173F35"/>
                </a:solidFill>
                <a:latin typeface="Avenir Next Demi Bold"/>
              </a:defRPr>
            </a:pPr>
            <a:r>
              <a:rPr sz="1600" dirty="0">
                <a:latin typeface="Avenir Next" panose="020B0503020202020204" pitchFamily="34" charset="0"/>
              </a:rPr>
              <a:t>Pillar 3: Corporate Governance</a:t>
            </a:r>
          </a:p>
        </p:txBody>
      </p:sp>
      <p:sp>
        <p:nvSpPr>
          <p:cNvPr id="19" name="TextBox 18"/>
          <p:cNvSpPr txBox="1"/>
          <p:nvPr/>
        </p:nvSpPr>
        <p:spPr>
          <a:xfrm>
            <a:off x="8139687" y="2849406"/>
            <a:ext cx="3212515" cy="1449115"/>
          </a:xfrm>
          <a:prstGeom prst="rect">
            <a:avLst/>
          </a:prstGeom>
          <a:noFill/>
        </p:spPr>
        <p:txBody>
          <a:bodyPr wrap="square" lIns="91440" tIns="45720" rIns="91440" bIns="45720" anchor="t">
            <a:spAutoFit/>
          </a:bodyPr>
          <a:lstStyle/>
          <a:p>
            <a:pPr>
              <a:spcAft>
                <a:spcPts val="300"/>
              </a:spcAft>
              <a:defRPr sz="1050" b="0">
                <a:solidFill>
                  <a:srgbClr val="2A2A2A"/>
                </a:solidFill>
                <a:latin typeface="Avenir Next"/>
              </a:defRPr>
            </a:pPr>
            <a:r>
              <a:rPr sz="1400" dirty="0">
                <a:latin typeface="Avenir Next" panose="020B0503020202020204" pitchFamily="34" charset="0"/>
              </a:rPr>
              <a:t>MCA and Companies Act place environmental care inside directors' duties.</a:t>
            </a:r>
            <a:endParaRPr lang="en-US" sz="1400" dirty="0">
              <a:latin typeface="Avenir Next" panose="020B0503020202020204" pitchFamily="34" charset="0"/>
            </a:endParaRPr>
          </a:p>
          <a:p>
            <a:pPr>
              <a:spcAft>
                <a:spcPts val="200"/>
              </a:spcAft>
              <a:defRPr sz="1000" b="1"/>
            </a:pPr>
            <a:endParaRPr lang="en-US" sz="1400" dirty="0">
              <a:latin typeface="Avenir Next" panose="020B0503020202020204" pitchFamily="34" charset="0"/>
            </a:endParaRPr>
          </a:p>
          <a:p>
            <a:pPr>
              <a:spcAft>
                <a:spcPts val="200"/>
              </a:spcAft>
              <a:defRPr sz="1000" b="1"/>
            </a:pPr>
            <a:r>
              <a:rPr sz="1400" dirty="0">
                <a:latin typeface="Avenir Next" panose="020B0503020202020204" pitchFamily="34" charset="0"/>
              </a:rPr>
              <a:t>• Strength: Section 166(2) is textually strong.</a:t>
            </a:r>
          </a:p>
        </p:txBody>
      </p:sp>
      <p:sp>
        <p:nvSpPr>
          <p:cNvPr id="20" name="Rounded Rectangle 19"/>
          <p:cNvSpPr/>
          <p:nvPr/>
        </p:nvSpPr>
        <p:spPr>
          <a:xfrm>
            <a:off x="1249519" y="4785759"/>
            <a:ext cx="9775867" cy="1706207"/>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Avenir Next" panose="020B0503020202020204" pitchFamily="34" charset="0"/>
            </a:endParaRPr>
          </a:p>
        </p:txBody>
      </p:sp>
      <p:sp>
        <p:nvSpPr>
          <p:cNvPr id="21" name="TextBox 20"/>
          <p:cNvSpPr txBox="1"/>
          <p:nvPr/>
        </p:nvSpPr>
        <p:spPr>
          <a:xfrm>
            <a:off x="1405426" y="4876140"/>
            <a:ext cx="9576650" cy="1615827"/>
          </a:xfrm>
          <a:prstGeom prst="rect">
            <a:avLst/>
          </a:prstGeom>
          <a:noFill/>
        </p:spPr>
        <p:txBody>
          <a:bodyPr wrap="square" lIns="91440" tIns="45720" rIns="91440" bIns="45720" anchor="t">
            <a:spAutoFit/>
          </a:bodyPr>
          <a:lstStyle/>
          <a:p>
            <a:pPr>
              <a:spcAft>
                <a:spcPts val="200"/>
              </a:spcAft>
              <a:defRPr sz="1100" b="1">
                <a:solidFill>
                  <a:srgbClr val="12402D"/>
                </a:solidFill>
                <a:latin typeface="Avenir Next"/>
              </a:defRPr>
            </a:pPr>
            <a:r>
              <a:rPr lang="en-US" sz="1400" dirty="0">
                <a:latin typeface="Avenir Next" panose="020B0503020202020204" pitchFamily="34" charset="0"/>
              </a:rPr>
              <a:t>Other </a:t>
            </a:r>
            <a:r>
              <a:rPr sz="1400" dirty="0">
                <a:latin typeface="Avenir Next" panose="020B0503020202020204" pitchFamily="34" charset="0"/>
              </a:rPr>
              <a:t>Complementary Laws &amp; Regulators:</a:t>
            </a:r>
            <a:endParaRPr lang="en-US" sz="1400" b="1" dirty="0">
              <a:solidFill>
                <a:srgbClr val="2A2A2A"/>
              </a:solidFill>
              <a:latin typeface="Avenir Next" panose="020B0503020202020204" pitchFamily="34" charset="0"/>
              <a:ea typeface="Calibri"/>
              <a:cs typeface="Calibri"/>
            </a:endParaRPr>
          </a:p>
          <a:p>
            <a:pPr marL="285750" indent="-285750">
              <a:spcAft>
                <a:spcPts val="400"/>
              </a:spcAft>
              <a:buFont typeface="Arial" panose="020B0604020202020204" pitchFamily="34" charset="0"/>
              <a:buChar char="•"/>
              <a:defRPr sz="1000"/>
            </a:pPr>
            <a:r>
              <a:rPr sz="1400" dirty="0">
                <a:latin typeface="Avenir Next" panose="020B0503020202020204" pitchFamily="34" charset="0"/>
              </a:rPr>
              <a:t>EPA 1986 (environmental standards</a:t>
            </a:r>
            <a:r>
              <a:rPr lang="en-US" sz="1400" dirty="0">
                <a:latin typeface="Avenir Next" panose="020B0503020202020204" pitchFamily="34" charset="0"/>
              </a:rPr>
              <a:t> as objective benchmarks</a:t>
            </a:r>
            <a:r>
              <a:rPr sz="1400" dirty="0">
                <a:latin typeface="Avenir Next" panose="020B0503020202020204" pitchFamily="34" charset="0"/>
              </a:rPr>
              <a:t>)</a:t>
            </a:r>
            <a:endParaRPr lang="en-US" sz="1400" dirty="0">
              <a:latin typeface="Avenir Next" panose="020B0503020202020204" pitchFamily="34" charset="0"/>
            </a:endParaRPr>
          </a:p>
          <a:p>
            <a:pPr marL="285750" indent="-285750">
              <a:spcAft>
                <a:spcPts val="400"/>
              </a:spcAft>
              <a:buFont typeface="Arial" panose="020B0604020202020204" pitchFamily="34" charset="0"/>
              <a:buChar char="•"/>
              <a:defRPr sz="1000"/>
            </a:pPr>
            <a:r>
              <a:rPr sz="1400" dirty="0">
                <a:latin typeface="Avenir Next" panose="020B0503020202020204" pitchFamily="34" charset="0"/>
              </a:rPr>
              <a:t>NGT (</a:t>
            </a:r>
            <a:r>
              <a:rPr sz="1400" dirty="0" err="1">
                <a:latin typeface="Avenir Next" panose="020B0503020202020204" pitchFamily="34" charset="0"/>
              </a:rPr>
              <a:t>suo</a:t>
            </a:r>
            <a:r>
              <a:rPr sz="1400" dirty="0">
                <a:latin typeface="Avenir Next" panose="020B0503020202020204" pitchFamily="34" charset="0"/>
              </a:rPr>
              <a:t> motu powers</a:t>
            </a:r>
            <a:r>
              <a:rPr lang="en-US" sz="1400" dirty="0">
                <a:latin typeface="Avenir Next" panose="020B0503020202020204" pitchFamily="34" charset="0"/>
              </a:rPr>
              <a:t>, broad remedial powers, </a:t>
            </a:r>
            <a:r>
              <a:rPr sz="1400" dirty="0">
                <a:latin typeface="Avenir Next" panose="020B0503020202020204" pitchFamily="34" charset="0"/>
              </a:rPr>
              <a:t>proportional fines</a:t>
            </a:r>
            <a:r>
              <a:rPr lang="en-US" sz="1400" dirty="0">
                <a:latin typeface="Avenir Next" panose="020B0503020202020204" pitchFamily="34" charset="0"/>
              </a:rPr>
              <a:t>, but is a tribunal not regulator</a:t>
            </a:r>
            <a:r>
              <a:rPr sz="1400" dirty="0">
                <a:latin typeface="Avenir Next" panose="020B0503020202020204" pitchFamily="34" charset="0"/>
              </a:rPr>
              <a:t>) </a:t>
            </a:r>
            <a:endParaRPr lang="en-US" sz="1400" dirty="0">
              <a:latin typeface="Avenir Next" panose="020B0503020202020204" pitchFamily="34" charset="0"/>
            </a:endParaRPr>
          </a:p>
          <a:p>
            <a:pPr marL="285750" indent="-285750">
              <a:spcAft>
                <a:spcPts val="400"/>
              </a:spcAft>
              <a:buFont typeface="Arial" panose="020B0604020202020204" pitchFamily="34" charset="0"/>
              <a:buChar char="•"/>
              <a:defRPr sz="1000"/>
            </a:pPr>
            <a:r>
              <a:rPr sz="1400" dirty="0">
                <a:latin typeface="Avenir Next" panose="020B0503020202020204" pitchFamily="34" charset="0"/>
              </a:rPr>
              <a:t>FSSAI (</a:t>
            </a:r>
            <a:r>
              <a:rPr lang="en-US" sz="1400" dirty="0">
                <a:latin typeface="Avenir Next" panose="020B0503020202020204" pitchFamily="34" charset="0"/>
              </a:rPr>
              <a:t>sector specific, varied enforcement</a:t>
            </a:r>
            <a:r>
              <a:rPr sz="1400" dirty="0">
                <a:latin typeface="Avenir Next" panose="020B0503020202020204" pitchFamily="34" charset="0"/>
              </a:rPr>
              <a:t>)</a:t>
            </a:r>
            <a:endParaRPr lang="en-US" sz="1400" dirty="0">
              <a:latin typeface="Avenir Next" panose="020B0503020202020204" pitchFamily="34" charset="0"/>
            </a:endParaRPr>
          </a:p>
          <a:p>
            <a:pPr marL="285750" indent="-285750">
              <a:spcAft>
                <a:spcPts val="400"/>
              </a:spcAft>
              <a:buFont typeface="Arial" panose="020B0604020202020204" pitchFamily="34" charset="0"/>
              <a:buChar char="•"/>
              <a:defRPr sz="1000"/>
            </a:pPr>
            <a:r>
              <a:rPr sz="1400" dirty="0">
                <a:latin typeface="Avenir Next" panose="020B0503020202020204" pitchFamily="34" charset="0"/>
              </a:rPr>
              <a:t>BIS </a:t>
            </a:r>
            <a:r>
              <a:rPr sz="1400" dirty="0" err="1">
                <a:latin typeface="Avenir Next" panose="020B0503020202020204" pitchFamily="34" charset="0"/>
              </a:rPr>
              <a:t>Ecomark</a:t>
            </a:r>
            <a:r>
              <a:rPr sz="1400" dirty="0">
                <a:latin typeface="Avenir Next" panose="020B0503020202020204" pitchFamily="34" charset="0"/>
              </a:rPr>
              <a:t> (voluntary certification)</a:t>
            </a:r>
            <a:endParaRPr lang="en-US" sz="1400" dirty="0">
              <a:latin typeface="Avenir Next" panose="020B0503020202020204" pitchFamily="34" charset="0"/>
            </a:endParaRPr>
          </a:p>
          <a:p>
            <a:pPr marL="285750" indent="-285750">
              <a:spcAft>
                <a:spcPts val="400"/>
              </a:spcAft>
              <a:buFont typeface="Arial" panose="020B0604020202020204" pitchFamily="34" charset="0"/>
              <a:buChar char="•"/>
              <a:defRPr sz="1000"/>
            </a:pPr>
            <a:r>
              <a:rPr sz="1400" dirty="0">
                <a:latin typeface="Avenir Next" panose="020B0503020202020204" pitchFamily="34" charset="0"/>
              </a:rPr>
              <a:t>Trade Marks Act § 9(1)(b) (</a:t>
            </a:r>
            <a:r>
              <a:rPr lang="en-IN" sz="1400" dirty="0">
                <a:solidFill>
                  <a:srgbClr val="3A3A4A"/>
                </a:solidFill>
                <a:latin typeface="Avenir Next" panose="020B0503020202020204" pitchFamily="34" charset="0"/>
                <a:ea typeface="Calibri"/>
                <a:cs typeface="Calibri"/>
              </a:rPr>
              <a:t>provides indirect protection by refusing registration of deceptive 'green’ trademarks</a:t>
            </a:r>
            <a:r>
              <a:rPr sz="1400" dirty="0">
                <a:latin typeface="Avenir Next" panose="020B0503020202020204" pitchFamily="34" charset="0"/>
              </a:rPr>
              <a:t>).</a:t>
            </a:r>
          </a:p>
        </p:txBody>
      </p:sp>
      <p:sp>
        <p:nvSpPr>
          <p:cNvPr id="22" name="TextBox 21">
            <a:extLst>
              <a:ext uri="{FF2B5EF4-FFF2-40B4-BE49-F238E27FC236}">
                <a16:creationId xmlns:a16="http://schemas.microsoft.com/office/drawing/2014/main" id="{D5AC17E7-B862-394E-AABA-62A96475E223}"/>
              </a:ext>
            </a:extLst>
          </p:cNvPr>
          <p:cNvSpPr txBox="1"/>
          <p:nvPr/>
        </p:nvSpPr>
        <p:spPr>
          <a:xfrm>
            <a:off x="925833" y="6664060"/>
            <a:ext cx="4000000" cy="246221"/>
          </a:xfrm>
          <a:prstGeom prst="rect">
            <a:avLst/>
          </a:prstGeom>
          <a:noFill/>
        </p:spPr>
        <p:txBody>
          <a:bodyPr wrap="square" lIns="45720" tIns="22860" rIns="45720" bIns="22860" anchor="t">
            <a:spAutoFit/>
          </a:bodyPr>
          <a:lstStyle/>
          <a:p>
            <a:pPr algn="l"/>
            <a:r>
              <a:rPr sz="1300" b="0" i="0" dirty="0">
                <a:latin typeface="Avenir Next" panose="020B0503020202020204" pitchFamily="34" charset="0"/>
              </a:rPr>
              <a:t>Source base: Chapte</a:t>
            </a:r>
            <a:r>
              <a:rPr lang="en-US" sz="1300" b="0" i="0" dirty="0">
                <a:latin typeface="Avenir Next" panose="020B0503020202020204" pitchFamily="34" charset="0"/>
              </a:rPr>
              <a:t>r 5.</a:t>
            </a:r>
            <a:endParaRPr sz="1300" b="0" i="0" dirty="0">
              <a:latin typeface="Avenir Next" panose="020B0503020202020204" pitchFamily="34" charset="0"/>
            </a:endParaRPr>
          </a:p>
        </p:txBody>
      </p:sp>
      <p:sp>
        <p:nvSpPr>
          <p:cNvPr id="2" name="Rectangle 1">
            <a:extLst>
              <a:ext uri="{FF2B5EF4-FFF2-40B4-BE49-F238E27FC236}">
                <a16:creationId xmlns:a16="http://schemas.microsoft.com/office/drawing/2014/main" id="{31E9E058-3437-A04F-963A-EEB454EC2EEF}"/>
              </a:ext>
            </a:extLst>
          </p:cNvPr>
          <p:cNvSpPr/>
          <p:nvPr/>
        </p:nvSpPr>
        <p:spPr>
          <a:xfrm>
            <a:off x="980081" y="1091429"/>
            <a:ext cx="46438" cy="867620"/>
          </a:xfrm>
          <a:prstGeom prst="rect">
            <a:avLst/>
          </a:prstGeom>
          <a:solidFill>
            <a:srgbClr val="D1A94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7" name="TextBox 6"/>
          <p:cNvSpPr txBox="1"/>
          <p:nvPr/>
        </p:nvSpPr>
        <p:spPr>
          <a:xfrm>
            <a:off x="1282700" y="1136650"/>
            <a:ext cx="9499600" cy="1146468"/>
          </a:xfrm>
          <a:prstGeom prst="rect">
            <a:avLst/>
          </a:prstGeom>
          <a:noFill/>
        </p:spPr>
        <p:txBody>
          <a:bodyPr wrap="square" anchor="t">
            <a:spAutoFit/>
          </a:bodyPr>
          <a:lstStyle/>
          <a:p>
            <a:pPr algn="l">
              <a:defRPr sz="1250" b="1">
                <a:solidFill>
                  <a:srgbClr val="D1A94B"/>
                </a:solidFill>
                <a:latin typeface="Avenir Next"/>
              </a:defRPr>
            </a:pPr>
            <a:r>
              <a:rPr sz="1250" b="1" dirty="0">
                <a:solidFill>
                  <a:schemeClr val="tx1">
                    <a:lumMod val="95000"/>
                    <a:lumOff val="5000"/>
                  </a:schemeClr>
                </a:solidFill>
                <a:latin typeface="Avenir Next" panose="020B0503020202020204" pitchFamily="34" charset="0"/>
              </a:rPr>
              <a:t>Constitutional Bedrock: </a:t>
            </a:r>
            <a:endParaRPr lang="en-US" sz="1250" b="1" dirty="0">
              <a:solidFill>
                <a:schemeClr val="tx1">
                  <a:lumMod val="95000"/>
                  <a:lumOff val="5000"/>
                </a:schemeClr>
              </a:solidFill>
              <a:latin typeface="Avenir Next" panose="020B0503020202020204" pitchFamily="34" charset="0"/>
            </a:endParaRPr>
          </a:p>
          <a:p>
            <a:pPr marL="285750" indent="-285750" algn="l">
              <a:buFont typeface="Arial" panose="020B0604020202020204" pitchFamily="34" charset="0"/>
              <a:buChar char="•"/>
              <a:defRPr sz="1400" b="1">
                <a:solidFill>
                  <a:srgbClr val="FFFFFF"/>
                </a:solidFill>
                <a:latin typeface="Avenir Next"/>
              </a:defRPr>
            </a:pPr>
            <a:r>
              <a:rPr sz="1400" b="1" dirty="0">
                <a:solidFill>
                  <a:schemeClr val="tx1">
                    <a:lumMod val="95000"/>
                    <a:lumOff val="5000"/>
                  </a:schemeClr>
                </a:solidFill>
                <a:latin typeface="Avenir Next" panose="020B0503020202020204" pitchFamily="34" charset="0"/>
              </a:rPr>
              <a:t>Articles 21, 48A, 51A(g)</a:t>
            </a:r>
            <a:r>
              <a:rPr lang="en-US" sz="1400" b="1" dirty="0">
                <a:solidFill>
                  <a:schemeClr val="tx1">
                    <a:lumMod val="95000"/>
                    <a:lumOff val="5000"/>
                  </a:schemeClr>
                </a:solidFill>
                <a:latin typeface="Avenir Next" panose="020B0503020202020204" pitchFamily="34" charset="0"/>
              </a:rPr>
              <a:t> of the constitution.</a:t>
            </a:r>
          </a:p>
          <a:p>
            <a:pPr marL="285750" indent="-285750" algn="l">
              <a:buFont typeface="Arial" panose="020B0604020202020204" pitchFamily="34" charset="0"/>
              <a:buChar char="•"/>
              <a:defRPr sz="1400" b="1">
                <a:solidFill>
                  <a:srgbClr val="FFFFFF"/>
                </a:solidFill>
                <a:latin typeface="Avenir Next"/>
              </a:defRPr>
            </a:pPr>
            <a:r>
              <a:rPr lang="en-US" sz="1400" b="1" dirty="0">
                <a:solidFill>
                  <a:schemeClr val="tx1">
                    <a:lumMod val="95000"/>
                    <a:lumOff val="5000"/>
                  </a:schemeClr>
                </a:solidFill>
                <a:latin typeface="Avenir Next" panose="020B0503020202020204" pitchFamily="34" charset="0"/>
              </a:rPr>
              <a:t>Supreme Court rulings (Tata-Mistry and MK Ranjitsinh) affirm environmental duties and climate rights.</a:t>
            </a:r>
          </a:p>
          <a:p>
            <a:pPr algn="l">
              <a:defRPr sz="1400" b="1">
                <a:solidFill>
                  <a:srgbClr val="FFFFFF"/>
                </a:solidFill>
                <a:latin typeface="Avenir Next"/>
              </a:defRPr>
            </a:pPr>
            <a:endParaRPr lang="en-US" sz="1400" b="1" dirty="0">
              <a:solidFill>
                <a:schemeClr val="tx1">
                  <a:lumMod val="95000"/>
                  <a:lumOff val="5000"/>
                </a:schemeClr>
              </a:solidFill>
              <a:latin typeface="Avenir Next" panose="020B0503020202020204" pitchFamily="34" charset="0"/>
            </a:endParaRPr>
          </a:p>
          <a:p>
            <a:pPr algn="l">
              <a:defRPr sz="1400" b="1">
                <a:solidFill>
                  <a:srgbClr val="FFFFFF"/>
                </a:solidFill>
                <a:latin typeface="Avenir Next"/>
              </a:defRPr>
            </a:pPr>
            <a:endParaRPr lang="en-US" sz="1400" b="1" dirty="0">
              <a:solidFill>
                <a:schemeClr val="tx1">
                  <a:lumMod val="95000"/>
                  <a:lumOff val="5000"/>
                </a:schemeClr>
              </a:solidFill>
              <a:latin typeface="Avenir Next" panose="020B0503020202020204" pitchFamily="34" charset="0"/>
            </a:endParaRPr>
          </a:p>
        </p:txBody>
      </p:sp>
    </p:spTree>
    <p:extLst>
      <p:ext uri="{BB962C8B-B14F-4D97-AF65-F5344CB8AC3E}">
        <p14:creationId xmlns:p14="http://schemas.microsoft.com/office/powerpoint/2010/main" val="1693384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393978"/>
            <a:ext cx="10082335" cy="584775"/>
          </a:xfrm>
          <a:prstGeom prst="rect">
            <a:avLst/>
          </a:prstGeom>
          <a:noFill/>
        </p:spPr>
        <p:txBody>
          <a:bodyPr wrap="square" lIns="91440" tIns="45720" rIns="91440" bIns="45720" anchor="t">
            <a:spAutoFit/>
          </a:bodyPr>
          <a:lstStyle/>
          <a:p>
            <a:pPr algn="ctr">
              <a:defRPr sz="2200" b="1">
                <a:solidFill>
                  <a:srgbClr val="173F35"/>
                </a:solidFill>
                <a:latin typeface="Avenir Next Demi Bold"/>
              </a:defRPr>
            </a:pPr>
            <a:r>
              <a:rPr lang="en-US" sz="3200" dirty="0"/>
              <a:t>Main Limitations of CCPA Greenwashing Guidelines</a:t>
            </a:r>
          </a:p>
        </p:txBody>
      </p:sp>
      <p:sp>
        <p:nvSpPr>
          <p:cNvPr id="19" name="Rounded Rectangle 18"/>
          <p:cNvSpPr/>
          <p:nvPr/>
        </p:nvSpPr>
        <p:spPr>
          <a:xfrm>
            <a:off x="7570381" y="1950397"/>
            <a:ext cx="4226454" cy="2622908"/>
          </a:xfrm>
          <a:prstGeom prst="roundRect">
            <a:avLst/>
          </a:prstGeom>
          <a:solidFill>
            <a:schemeClr val="accent5">
              <a:lumMod val="40000"/>
              <a:lumOff val="60000"/>
            </a:schemeClr>
          </a:solidFill>
          <a:ln w="12700">
            <a:solidFill>
              <a:srgbClr val="E7B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20" name="TextBox 19"/>
          <p:cNvSpPr txBox="1"/>
          <p:nvPr/>
        </p:nvSpPr>
        <p:spPr>
          <a:xfrm>
            <a:off x="7740502" y="2105439"/>
            <a:ext cx="3934413" cy="1918474"/>
          </a:xfrm>
          <a:prstGeom prst="rect">
            <a:avLst/>
          </a:prstGeom>
          <a:noFill/>
        </p:spPr>
        <p:txBody>
          <a:bodyPr wrap="square" lIns="91440" tIns="45720" rIns="91440" bIns="45720" anchor="t">
            <a:spAutoFit/>
          </a:bodyPr>
          <a:lstStyle/>
          <a:p>
            <a:pPr algn="ctr">
              <a:spcAft>
                <a:spcPts val="400"/>
              </a:spcAft>
              <a:defRPr sz="1400" b="1">
                <a:solidFill>
                  <a:srgbClr val="A8552F"/>
                </a:solidFill>
                <a:latin typeface="Georgia"/>
              </a:defRPr>
            </a:pPr>
            <a:r>
              <a:rPr sz="1600" dirty="0">
                <a:latin typeface="Avenir Next" panose="020B0503020202020204" pitchFamily="34" charset="0"/>
              </a:rPr>
              <a:t>The Corporate Governance </a:t>
            </a:r>
            <a:r>
              <a:rPr lang="en-US" sz="1600" dirty="0">
                <a:latin typeface="Avenir Next" panose="020B0503020202020204" pitchFamily="34" charset="0"/>
              </a:rPr>
              <a:t>Pathway</a:t>
            </a:r>
            <a:endParaRPr sz="1600" dirty="0">
              <a:latin typeface="Avenir Next" panose="020B0503020202020204" pitchFamily="34" charset="0"/>
            </a:endParaRPr>
          </a:p>
          <a:p>
            <a:pPr>
              <a:spcAft>
                <a:spcPts val="400"/>
              </a:spcAft>
              <a:defRPr sz="1150">
                <a:solidFill>
                  <a:srgbClr val="2D2D2D"/>
                </a:solidFill>
              </a:defRPr>
            </a:pPr>
            <a:r>
              <a:rPr sz="1600" dirty="0">
                <a:latin typeface="Avenir Next" panose="020B0503020202020204" pitchFamily="34" charset="0"/>
              </a:rPr>
              <a:t>• Moves enforcement </a:t>
            </a:r>
            <a:r>
              <a:rPr sz="1600" dirty="0" err="1">
                <a:latin typeface="Avenir Next" panose="020B0503020202020204" pitchFamily="34" charset="0"/>
              </a:rPr>
              <a:t>upstrea</a:t>
            </a:r>
            <a:r>
              <a:rPr lang="en-IN" sz="1600" dirty="0">
                <a:latin typeface="Avenir Next" panose="020B0503020202020204" pitchFamily="34" charset="0"/>
              </a:rPr>
              <a:t>m</a:t>
            </a:r>
            <a:r>
              <a:rPr lang="en-US" sz="1600" dirty="0">
                <a:latin typeface="Avenir Next" panose="020B0503020202020204" pitchFamily="34" charset="0"/>
              </a:rPr>
              <a:t>, </a:t>
            </a:r>
            <a:r>
              <a:rPr sz="1600" dirty="0">
                <a:latin typeface="Avenir Next" panose="020B0503020202020204" pitchFamily="34" charset="0"/>
              </a:rPr>
              <a:t>requiring verified data before any claim leaves the boardroom.</a:t>
            </a:r>
          </a:p>
          <a:p>
            <a:pPr>
              <a:defRPr sz="1150">
                <a:solidFill>
                  <a:srgbClr val="2D2D2D"/>
                </a:solidFill>
              </a:defRPr>
            </a:pPr>
            <a:r>
              <a:rPr sz="1600" dirty="0">
                <a:latin typeface="Avenir Next" panose="020B0503020202020204" pitchFamily="34" charset="0"/>
              </a:rPr>
              <a:t>• Uses Section 166(2) and audit committees to hold leadership</a:t>
            </a:r>
            <a:r>
              <a:rPr lang="en-US" sz="1600" dirty="0">
                <a:latin typeface="Avenir Next" panose="020B0503020202020204" pitchFamily="34" charset="0"/>
              </a:rPr>
              <a:t> </a:t>
            </a:r>
            <a:r>
              <a:rPr sz="1600" dirty="0">
                <a:latin typeface="Avenir Next" panose="020B0503020202020204" pitchFamily="34" charset="0"/>
              </a:rPr>
              <a:t>responsible for truth in sustainability.</a:t>
            </a:r>
          </a:p>
        </p:txBody>
      </p:sp>
      <p:sp>
        <p:nvSpPr>
          <p:cNvPr id="21" name="TextBox 20"/>
          <p:cNvSpPr txBox="1"/>
          <p:nvPr/>
        </p:nvSpPr>
        <p:spPr>
          <a:xfrm>
            <a:off x="566928" y="6657419"/>
            <a:ext cx="2132315" cy="261610"/>
          </a:xfrm>
          <a:prstGeom prst="rect">
            <a:avLst/>
          </a:prstGeom>
          <a:noFill/>
        </p:spPr>
        <p:txBody>
          <a:bodyPr wrap="none" lIns="91440" tIns="45720" rIns="91440" bIns="45720" anchor="t">
            <a:spAutoFit/>
          </a:bodyPr>
          <a:lstStyle/>
          <a:p>
            <a:pPr>
              <a:defRPr sz="850">
                <a:solidFill>
                  <a:srgbClr val="6B6F6A"/>
                </a:solidFill>
                <a:latin typeface="Avenir Next"/>
              </a:defRPr>
            </a:pPr>
            <a:r>
              <a:rPr sz="1100" dirty="0"/>
              <a:t>Source base: Chapter </a:t>
            </a:r>
            <a:r>
              <a:rPr lang="en-US" sz="1100" dirty="0"/>
              <a:t>2</a:t>
            </a:r>
            <a:r>
              <a:rPr sz="1100" dirty="0"/>
              <a:t> </a:t>
            </a:r>
            <a:r>
              <a:rPr lang="en-US" sz="1100" dirty="0"/>
              <a:t>and 5.</a:t>
            </a:r>
            <a:endParaRPr sz="1100" dirty="0"/>
          </a:p>
        </p:txBody>
      </p:sp>
      <p:sp>
        <p:nvSpPr>
          <p:cNvPr id="23" name="Rounded Rectangle 9">
            <a:extLst>
              <a:ext uri="{FF2B5EF4-FFF2-40B4-BE49-F238E27FC236}">
                <a16:creationId xmlns:a16="http://schemas.microsoft.com/office/drawing/2014/main" id="{0E653A44-3F67-9BCF-3AE1-8BC7E169994B}"/>
              </a:ext>
            </a:extLst>
          </p:cNvPr>
          <p:cNvSpPr/>
          <p:nvPr/>
        </p:nvSpPr>
        <p:spPr>
          <a:xfrm>
            <a:off x="608896" y="1206485"/>
            <a:ext cx="6678424" cy="4153527"/>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latin typeface="Avenir Next" panose="020B0503020202020204" pitchFamily="34" charset="0"/>
            </a:endParaRPr>
          </a:p>
        </p:txBody>
      </p:sp>
      <p:sp>
        <p:nvSpPr>
          <p:cNvPr id="24" name="TextBox 11">
            <a:extLst>
              <a:ext uri="{FF2B5EF4-FFF2-40B4-BE49-F238E27FC236}">
                <a16:creationId xmlns:a16="http://schemas.microsoft.com/office/drawing/2014/main" id="{2FA7C47A-7E34-1C32-1E36-4508B062D93C}"/>
              </a:ext>
            </a:extLst>
          </p:cNvPr>
          <p:cNvSpPr txBox="1"/>
          <p:nvPr/>
        </p:nvSpPr>
        <p:spPr>
          <a:xfrm>
            <a:off x="903211" y="1348657"/>
            <a:ext cx="6089793" cy="4011355"/>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spcBef>
                <a:spcPts val="200"/>
              </a:spcBef>
              <a:spcAft>
                <a:spcPts val="300"/>
              </a:spcAft>
              <a:buAutoNum type="arabicPeriod"/>
            </a:pPr>
            <a:r>
              <a:rPr lang="en-IN" sz="1400" b="1" dirty="0">
                <a:solidFill>
                  <a:srgbClr val="22704E"/>
                </a:solidFill>
                <a:latin typeface="Avenir Next" panose="020B0503020202020204" pitchFamily="34" charset="0"/>
              </a:rPr>
              <a:t>Guidelines without Governance Obligations: </a:t>
            </a:r>
            <a:r>
              <a:rPr lang="en-IN" sz="1400" dirty="0">
                <a:solidFill>
                  <a:srgbClr val="2D2D2D"/>
                </a:solidFill>
                <a:latin typeface="Avenir Next" panose="020B0503020202020204" pitchFamily="34" charset="0"/>
              </a:rPr>
              <a:t>They prescribe what environmental claims must demonstrate but not what internal governance or processes must exist to ensure such demonstration.</a:t>
            </a:r>
            <a:endParaRPr lang="en-IN" sz="1400" b="1" dirty="0">
              <a:solidFill>
                <a:srgbClr val="22704E"/>
              </a:solidFill>
              <a:latin typeface="Avenir Next" panose="020B0503020202020204" pitchFamily="34" charset="0"/>
            </a:endParaRPr>
          </a:p>
          <a:p>
            <a:pPr marL="342900" indent="-342900">
              <a:spcBef>
                <a:spcPts val="200"/>
              </a:spcBef>
              <a:spcAft>
                <a:spcPts val="300"/>
              </a:spcAft>
              <a:buAutoNum type="arabicPeriod"/>
            </a:pPr>
            <a:r>
              <a:rPr lang="en-IN" sz="1400" b="1" dirty="0">
                <a:solidFill>
                  <a:srgbClr val="22704E"/>
                </a:solidFill>
                <a:latin typeface="Avenir Next" panose="020B0503020202020204" pitchFamily="34" charset="0"/>
              </a:rPr>
              <a:t>No Board Level Deterrence: </a:t>
            </a:r>
            <a:r>
              <a:rPr lang="en-IN" sz="1400" dirty="0">
                <a:solidFill>
                  <a:srgbClr val="2D2D2D"/>
                </a:solidFill>
                <a:latin typeface="Avenir Next" panose="020B0503020202020204" pitchFamily="34" charset="0"/>
              </a:rPr>
              <a:t>Because its remit is restricted to consumer facing products and ads only; the institutional greenwashing such as corporate PR campaigns, annual sustainability overstatements that do not mention any specific product or service are allowed.</a:t>
            </a:r>
            <a:endParaRPr lang="en-US" sz="1400" dirty="0">
              <a:solidFill>
                <a:srgbClr val="2D2D2D"/>
              </a:solidFill>
              <a:latin typeface="Avenir Next" panose="020B0503020202020204" pitchFamily="34" charset="0"/>
            </a:endParaRPr>
          </a:p>
          <a:p>
            <a:pPr marL="342900" indent="-342900">
              <a:spcBef>
                <a:spcPts val="200"/>
              </a:spcBef>
              <a:spcAft>
                <a:spcPts val="300"/>
              </a:spcAft>
              <a:buFontTx/>
              <a:buAutoNum type="arabicPeriod"/>
            </a:pPr>
            <a:r>
              <a:rPr lang="en-US" sz="1400" b="1" dirty="0">
                <a:solidFill>
                  <a:srgbClr val="22704E"/>
                </a:solidFill>
                <a:latin typeface="Avenir Next" panose="020B0503020202020204" pitchFamily="34" charset="0"/>
              </a:rPr>
              <a:t>Weak Oversight on Future Claims: </a:t>
            </a:r>
            <a:r>
              <a:rPr lang="en-US" sz="1400" dirty="0">
                <a:solidFill>
                  <a:srgbClr val="2D2D2D"/>
                </a:solidFill>
                <a:latin typeface="Avenir Next" panose="020B0503020202020204" pitchFamily="34" charset="0"/>
              </a:rPr>
              <a:t>It permits futuristic claims, without mandatory interim milestone reporting and no independent verification of interim progress or a penalty on non-delivery of these targets. </a:t>
            </a:r>
          </a:p>
          <a:p>
            <a:pPr marL="342900" indent="-342900">
              <a:spcBef>
                <a:spcPts val="200"/>
              </a:spcBef>
              <a:spcAft>
                <a:spcPts val="300"/>
              </a:spcAft>
              <a:buFontTx/>
              <a:buAutoNum type="arabicPeriod"/>
            </a:pPr>
            <a:r>
              <a:rPr lang="en-US" sz="1400" b="1" dirty="0">
                <a:solidFill>
                  <a:srgbClr val="22704E"/>
                </a:solidFill>
                <a:latin typeface="Avenir Next" panose="020B0503020202020204" pitchFamily="34" charset="0"/>
              </a:rPr>
              <a:t>Visual Imagery &amp; Puffery Loophole: </a:t>
            </a:r>
            <a:r>
              <a:rPr lang="en-US" sz="1400" dirty="0">
                <a:solidFill>
                  <a:srgbClr val="2D2D2D"/>
                </a:solidFill>
                <a:latin typeface="Avenir Next" panose="020B0503020202020204" pitchFamily="34" charset="0"/>
              </a:rPr>
              <a:t>It exempts generic nature visuals and exaggerated talk in advertisements, which leaves scope for greenwashing. </a:t>
            </a:r>
          </a:p>
          <a:p>
            <a:pPr marL="342900" indent="-342900">
              <a:spcBef>
                <a:spcPts val="200"/>
              </a:spcBef>
              <a:spcAft>
                <a:spcPts val="300"/>
              </a:spcAft>
              <a:buFontTx/>
              <a:buAutoNum type="arabicPeriod"/>
            </a:pPr>
            <a:r>
              <a:rPr lang="en-US" sz="1400" b="1" dirty="0">
                <a:solidFill>
                  <a:srgbClr val="22704E"/>
                </a:solidFill>
                <a:latin typeface="Avenir Next" panose="020B0503020202020204" pitchFamily="34" charset="0"/>
              </a:rPr>
              <a:t>Fixed cap penalties</a:t>
            </a:r>
            <a:r>
              <a:rPr sz="1400" b="1" dirty="0">
                <a:solidFill>
                  <a:srgbClr val="22704E"/>
                </a:solidFill>
                <a:latin typeface="Avenir Next" panose="020B0503020202020204" pitchFamily="34" charset="0"/>
              </a:rPr>
              <a:t>: </a:t>
            </a:r>
            <a:r>
              <a:rPr lang="en-IN" sz="1400" dirty="0">
                <a:solidFill>
                  <a:srgbClr val="2D2D2D"/>
                </a:solidFill>
                <a:latin typeface="Avenir Next" panose="020B0503020202020204" pitchFamily="34" charset="0"/>
              </a:rPr>
              <a:t>Not turnover linked</a:t>
            </a:r>
            <a:r>
              <a:rPr sz="1400" dirty="0">
                <a:solidFill>
                  <a:srgbClr val="2D2D2D"/>
                </a:solidFill>
                <a:latin typeface="Avenir Next" panose="020B0503020202020204" pitchFamily="34" charset="0"/>
              </a:rPr>
              <a:t>.</a:t>
            </a:r>
            <a:r>
              <a:rPr lang="en-US" sz="1400" dirty="0">
                <a:solidFill>
                  <a:srgbClr val="2D2D2D"/>
                </a:solidFill>
                <a:latin typeface="Avenir Next" panose="020B0503020202020204" pitchFamily="34" charset="0"/>
              </a:rPr>
              <a:t> Limited deterrence for big companies.</a:t>
            </a:r>
            <a:endParaRPr lang="en-US" sz="1400" dirty="0">
              <a:latin typeface="Avenir Next" panose="020B0503020202020204" pitchFamily="34" charset="0"/>
              <a:ea typeface="Calibri"/>
              <a:cs typeface="Calibri"/>
            </a:endParaRPr>
          </a:p>
        </p:txBody>
      </p:sp>
      <p:sp>
        <p:nvSpPr>
          <p:cNvPr id="6" name="Rounded Rectangle 5">
            <a:extLst>
              <a:ext uri="{FF2B5EF4-FFF2-40B4-BE49-F238E27FC236}">
                <a16:creationId xmlns:a16="http://schemas.microsoft.com/office/drawing/2014/main" id="{76858014-9536-3F1C-E2EA-411ACEBFD818}"/>
              </a:ext>
            </a:extLst>
          </p:cNvPr>
          <p:cNvSpPr/>
          <p:nvPr/>
        </p:nvSpPr>
        <p:spPr>
          <a:xfrm>
            <a:off x="646996" y="5845210"/>
            <a:ext cx="11073384" cy="584775"/>
          </a:xfrm>
          <a:prstGeom prst="roundRect">
            <a:avLst/>
          </a:prstGeom>
          <a:solidFill>
            <a:srgbClr val="FFF6EA"/>
          </a:solidFill>
          <a:ln w="19050">
            <a:solidFill>
              <a:srgbClr val="E7C894"/>
            </a:solidFill>
          </a:ln>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ctr"/>
          <a:lstStyle/>
          <a:p>
            <a:pPr>
              <a:defRPr sz="1300" b="1">
                <a:solidFill>
                  <a:srgbClr val="173F35"/>
                </a:solidFill>
                <a:latin typeface="Calibri"/>
              </a:defRPr>
            </a:pPr>
            <a:r>
              <a:rPr lang="en-IN" sz="1300" dirty="0">
                <a:latin typeface="Avenir Next" panose="020B0503020202020204" pitchFamily="34" charset="0"/>
              </a:rPr>
              <a:t>Answers Research Question 2: What are the structural limitations of consumer protection and advertising law in addressing greenwashing and what legal pathways exist through corporate governance?</a:t>
            </a:r>
          </a:p>
        </p:txBody>
      </p:sp>
    </p:spTree>
    <p:extLst>
      <p:ext uri="{BB962C8B-B14F-4D97-AF65-F5344CB8AC3E}">
        <p14:creationId xmlns:p14="http://schemas.microsoft.com/office/powerpoint/2010/main" val="3047954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173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3" name="TextBox 2"/>
          <p:cNvSpPr txBox="1"/>
          <p:nvPr/>
        </p:nvSpPr>
        <p:spPr>
          <a:xfrm>
            <a:off x="440000" y="370000"/>
            <a:ext cx="11300000" cy="507831"/>
          </a:xfrm>
          <a:prstGeom prst="rect">
            <a:avLst/>
          </a:prstGeom>
          <a:noFill/>
        </p:spPr>
        <p:txBody>
          <a:bodyPr wrap="square" lIns="45720" tIns="22860" rIns="45720" bIns="22860" anchor="t">
            <a:spAutoFit/>
          </a:bodyPr>
          <a:lstStyle/>
          <a:p>
            <a:pPr algn="l"/>
            <a:r>
              <a:rPr sz="3000" b="1" dirty="0">
                <a:solidFill>
                  <a:srgbClr val="173F35"/>
                </a:solidFill>
                <a:latin typeface="Avenir Next" panose="020B0503020202020204" pitchFamily="34" charset="0"/>
              </a:rPr>
              <a:t>Greenwashing </a:t>
            </a:r>
            <a:r>
              <a:rPr lang="en-US" sz="3000" b="1" dirty="0">
                <a:solidFill>
                  <a:srgbClr val="173F35"/>
                </a:solidFill>
                <a:latin typeface="Avenir Next" panose="020B0503020202020204" pitchFamily="34" charset="0"/>
              </a:rPr>
              <a:t>as a</a:t>
            </a:r>
            <a:r>
              <a:rPr sz="3000" b="1" dirty="0">
                <a:solidFill>
                  <a:srgbClr val="173F35"/>
                </a:solidFill>
                <a:latin typeface="Avenir Next" panose="020B0503020202020204" pitchFamily="34" charset="0"/>
              </a:rPr>
              <a:t> Corporate Accountability Failure</a:t>
            </a:r>
          </a:p>
        </p:txBody>
      </p:sp>
      <p:sp>
        <p:nvSpPr>
          <p:cNvPr id="5" name="Rounded Rectangle 4"/>
          <p:cNvSpPr/>
          <p:nvPr/>
        </p:nvSpPr>
        <p:spPr>
          <a:xfrm>
            <a:off x="495300" y="939800"/>
            <a:ext cx="11188700" cy="990600"/>
          </a:xfrm>
          <a:prstGeom prst="roundRect">
            <a:avLst>
              <a:gd name="adj" fmla="val 6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6" name="TextBox 5"/>
          <p:cNvSpPr txBox="1"/>
          <p:nvPr/>
        </p:nvSpPr>
        <p:spPr>
          <a:xfrm>
            <a:off x="622300" y="977900"/>
            <a:ext cx="10934700" cy="914400"/>
          </a:xfrm>
          <a:prstGeom prst="rect">
            <a:avLst/>
          </a:prstGeom>
          <a:noFill/>
        </p:spPr>
        <p:txBody>
          <a:bodyPr wrap="square" lIns="45720" tIns="22860" rIns="45720" bIns="22860" anchor="t">
            <a:spAutoFit/>
          </a:bodyPr>
          <a:lstStyle/>
          <a:p>
            <a:pPr algn="l">
              <a:spcAft>
                <a:spcPts val="300"/>
              </a:spcAft>
              <a:buNone/>
            </a:pPr>
            <a:r>
              <a:rPr lang="en-US" sz="1400" b="1" dirty="0">
                <a:solidFill>
                  <a:srgbClr val="12402D"/>
                </a:solidFill>
                <a:latin typeface="Avenir Next"/>
                <a:ea typeface="Avenir Next"/>
                <a:cs typeface="Avenir Next"/>
              </a:rPr>
              <a:t>What a Company Actually Is</a:t>
            </a:r>
          </a:p>
          <a:p>
            <a:pPr marL="171450" indent="-171450" algn="l">
              <a:spcAft>
                <a:spcPts val="200"/>
              </a:spcAft>
              <a:buFont typeface="Arial"/>
              <a:buChar char="•"/>
            </a:pPr>
            <a:r>
              <a:rPr lang="en-US" sz="1200" dirty="0">
                <a:solidFill>
                  <a:srgbClr val="2D2D2D"/>
                </a:solidFill>
                <a:latin typeface="Avenir Next"/>
                <a:ea typeface="Avenir Next"/>
                <a:cs typeface="Avenir Next"/>
              </a:rPr>
              <a:t>Five classic theories of corporate personality are tested in the thesis.</a:t>
            </a:r>
          </a:p>
          <a:p>
            <a:pPr marL="171450" indent="-171450" algn="l">
              <a:spcAft>
                <a:spcPts val="200"/>
              </a:spcAft>
              <a:buFont typeface="Arial"/>
              <a:buChar char="•"/>
            </a:pPr>
            <a:r>
              <a:rPr lang="en-US" sz="1200" dirty="0">
                <a:solidFill>
                  <a:srgbClr val="2D2D2D"/>
                </a:solidFill>
                <a:latin typeface="Avenir Next"/>
                <a:ea typeface="Avenir Next"/>
                <a:cs typeface="Avenir Next"/>
              </a:rPr>
              <a:t>Interpretation says that a company is a real social actor and green promises create legal expectations on the company.</a:t>
            </a:r>
          </a:p>
          <a:p>
            <a:pPr marL="171450" indent="-171450" algn="l">
              <a:buFont typeface="Arial"/>
              <a:buChar char="•"/>
            </a:pPr>
            <a:r>
              <a:rPr lang="en-US" sz="1200" dirty="0">
                <a:solidFill>
                  <a:srgbClr val="2D2D2D"/>
                </a:solidFill>
                <a:latin typeface="Avenir Next"/>
                <a:ea typeface="Avenir Next"/>
                <a:cs typeface="Avenir Next"/>
              </a:rPr>
              <a:t>Indian law follows the stakeholder position: Section 166(2) makes environmental care an inherent duty of the company.</a:t>
            </a:r>
          </a:p>
        </p:txBody>
      </p:sp>
      <p:sp>
        <p:nvSpPr>
          <p:cNvPr id="13" name="Rounded Rectangle 12"/>
          <p:cNvSpPr/>
          <p:nvPr/>
        </p:nvSpPr>
        <p:spPr>
          <a:xfrm>
            <a:off x="500000" y="5980168"/>
            <a:ext cx="11192000" cy="507831"/>
          </a:xfrm>
          <a:prstGeom prst="roundRect">
            <a:avLst>
              <a:gd name="adj" fmla="val 14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400">
              <a:latin typeface="Avenir Next" panose="020B0503020202020204" pitchFamily="34" charset="0"/>
            </a:endParaRPr>
          </a:p>
        </p:txBody>
      </p:sp>
      <p:sp>
        <p:nvSpPr>
          <p:cNvPr id="14" name="TextBox 13"/>
          <p:cNvSpPr txBox="1"/>
          <p:nvPr/>
        </p:nvSpPr>
        <p:spPr>
          <a:xfrm>
            <a:off x="640000" y="6037291"/>
            <a:ext cx="10912000" cy="538609"/>
          </a:xfrm>
          <a:prstGeom prst="rect">
            <a:avLst/>
          </a:prstGeom>
          <a:noFill/>
        </p:spPr>
        <p:txBody>
          <a:bodyPr wrap="square" lIns="45720" tIns="22860" rIns="45720" bIns="22860" anchor="ctr">
            <a:spAutoFit/>
          </a:bodyPr>
          <a:lstStyle/>
          <a:p>
            <a:pPr algn="just">
              <a:defRPr sz="1100">
                <a:solidFill>
                  <a:srgbClr val="282828"/>
                </a:solidFill>
              </a:defRPr>
            </a:pPr>
            <a:r>
              <a:rPr lang="en-IN" sz="1300" b="1" dirty="0">
                <a:solidFill>
                  <a:srgbClr val="3C4A1F"/>
                </a:solidFill>
                <a:latin typeface="Avenir Next" panose="020B0503020202020204" pitchFamily="34" charset="0"/>
              </a:rPr>
              <a:t>Answers Research Question 3: </a:t>
            </a:r>
            <a:r>
              <a:rPr lang="en-IN" sz="1300" b="1" dirty="0">
                <a:solidFill>
                  <a:srgbClr val="3C4A1F"/>
                </a:solidFill>
                <a:latin typeface="Avenir Next" panose="020B0503020202020204" pitchFamily="34" charset="0"/>
                <a:ea typeface="+mn-lt"/>
                <a:cs typeface="+mn-lt"/>
              </a:rPr>
              <a:t>What are the jurisprudential foundations of corporate responsibility that justify treating greenwashing as a failure of corporate accountability?</a:t>
            </a:r>
          </a:p>
          <a:p>
            <a:pPr algn="just">
              <a:defRPr sz="1100">
                <a:solidFill>
                  <a:srgbClr val="282828"/>
                </a:solidFill>
              </a:defRPr>
            </a:pPr>
            <a:endParaRPr lang="en-IN" sz="600" b="1" dirty="0">
              <a:solidFill>
                <a:srgbClr val="3C4A1F"/>
              </a:solidFill>
              <a:latin typeface="Avenir Next" panose="020B0503020202020204" pitchFamily="34" charset="0"/>
              <a:ea typeface="+mn-lt"/>
              <a:cs typeface="+mn-lt"/>
            </a:endParaRPr>
          </a:p>
        </p:txBody>
      </p:sp>
      <p:sp>
        <p:nvSpPr>
          <p:cNvPr id="15" name="TextBox 14"/>
          <p:cNvSpPr txBox="1"/>
          <p:nvPr/>
        </p:nvSpPr>
        <p:spPr>
          <a:xfrm>
            <a:off x="500000" y="6609023"/>
            <a:ext cx="4000000" cy="215444"/>
          </a:xfrm>
          <a:prstGeom prst="rect">
            <a:avLst/>
          </a:prstGeom>
          <a:noFill/>
        </p:spPr>
        <p:txBody>
          <a:bodyPr wrap="square" lIns="45720" tIns="22860" rIns="45720" bIns="22860" anchor="t">
            <a:spAutoFit/>
          </a:bodyPr>
          <a:lstStyle/>
          <a:p>
            <a:pPr algn="l"/>
            <a:r>
              <a:rPr sz="1100" b="0" i="0" dirty="0">
                <a:latin typeface="Avenir Next" panose="020B0503020202020204" pitchFamily="34" charset="0"/>
              </a:rPr>
              <a:t>Source base: Chapter 3.</a:t>
            </a:r>
          </a:p>
        </p:txBody>
      </p:sp>
      <p:sp>
        <p:nvSpPr>
          <p:cNvPr id="100" name="Card"/>
          <p:cNvSpPr/>
          <p:nvPr/>
        </p:nvSpPr>
        <p:spPr>
          <a:xfrm>
            <a:off x="495300" y="2043671"/>
            <a:ext cx="5410200" cy="1913126"/>
          </a:xfrm>
          <a:prstGeom prst="roundRect">
            <a:avLst>
              <a:gd name="adj" fmla="val 7000"/>
            </a:avLst>
          </a:prstGeom>
          <a:solidFill>
            <a:srgbClr val="F6F3EB"/>
          </a:solidFill>
          <a:ln w="12700">
            <a:solidFill>
              <a:srgbClr val="A23A32"/>
            </a:solidFill>
          </a:ln>
        </p:spPr>
        <p:txBody>
          <a:bodyPr/>
          <a:lstStyle/>
          <a:p>
            <a:endParaRPr lang="en-US"/>
          </a:p>
        </p:txBody>
      </p:sp>
      <p:sp>
        <p:nvSpPr>
          <p:cNvPr id="101" name="Badge"/>
          <p:cNvSpPr/>
          <p:nvPr/>
        </p:nvSpPr>
        <p:spPr>
          <a:xfrm>
            <a:off x="698500" y="2115155"/>
            <a:ext cx="982019" cy="381880"/>
          </a:xfrm>
          <a:prstGeom prst="roundRect">
            <a:avLst>
              <a:gd name="adj" fmla="val 50000"/>
            </a:avLst>
          </a:prstGeom>
          <a:solidFill>
            <a:schemeClr val="accent6">
              <a:lumMod val="75000"/>
            </a:schemeClr>
          </a:solidFill>
          <a:ln>
            <a:noFill/>
          </a:ln>
        </p:spPr>
        <p:txBody>
          <a:bodyPr anchor="ctr"/>
          <a:lstStyle/>
          <a:p>
            <a:pPr algn="ctr"/>
            <a:r>
              <a:rPr lang="en-US" sz="1200" b="1" dirty="0">
                <a:solidFill>
                  <a:srgbClr val="FFFFFF"/>
                </a:solidFill>
                <a:latin typeface="Avenir Next"/>
              </a:rPr>
              <a:t>Duty</a:t>
            </a:r>
          </a:p>
        </p:txBody>
      </p:sp>
      <p:sp>
        <p:nvSpPr>
          <p:cNvPr id="102" name="Title"/>
          <p:cNvSpPr/>
          <p:nvPr/>
        </p:nvSpPr>
        <p:spPr>
          <a:xfrm>
            <a:off x="698500" y="2551671"/>
            <a:ext cx="5003800" cy="306940"/>
          </a:xfrm>
          <a:prstGeom prst="rect">
            <a:avLst/>
          </a:prstGeom>
          <a:noFill/>
          <a:ln>
            <a:noFill/>
          </a:ln>
        </p:spPr>
        <p:txBody>
          <a:bodyPr/>
          <a:lstStyle/>
          <a:p>
            <a:r>
              <a:rPr lang="en-US" sz="1400" b="1" dirty="0">
                <a:solidFill>
                  <a:srgbClr val="173F35"/>
                </a:solidFill>
                <a:latin typeface="Avenir Next"/>
              </a:rPr>
              <a:t>1. Broken Duty &amp; no Claimant </a:t>
            </a:r>
          </a:p>
        </p:txBody>
      </p:sp>
      <p:sp>
        <p:nvSpPr>
          <p:cNvPr id="103" name="Desc"/>
          <p:cNvSpPr/>
          <p:nvPr/>
        </p:nvSpPr>
        <p:spPr>
          <a:xfrm>
            <a:off x="698500" y="2856471"/>
            <a:ext cx="5003800" cy="530170"/>
          </a:xfrm>
          <a:prstGeom prst="rect">
            <a:avLst/>
          </a:prstGeom>
          <a:noFill/>
          <a:ln>
            <a:noFill/>
          </a:ln>
        </p:spPr>
        <p:txBody>
          <a:bodyPr/>
          <a:lstStyle/>
          <a:p>
            <a:pPr>
              <a:lnSpc>
                <a:spcPts val="1500"/>
              </a:lnSpc>
            </a:pPr>
            <a:r>
              <a:rPr lang="en-US" sz="1300" dirty="0">
                <a:solidFill>
                  <a:srgbClr val="2D2D2D"/>
                </a:solidFill>
                <a:latin typeface="Avenir Next"/>
              </a:rPr>
              <a:t>Section 166(2) mandates environmental care, yet affected stakeholders are given no standing (claim-right) to sue.</a:t>
            </a:r>
          </a:p>
        </p:txBody>
      </p:sp>
      <p:sp>
        <p:nvSpPr>
          <p:cNvPr id="104" name="Callout"/>
          <p:cNvSpPr/>
          <p:nvPr/>
        </p:nvSpPr>
        <p:spPr>
          <a:xfrm>
            <a:off x="673100" y="3524426"/>
            <a:ext cx="5054600" cy="334844"/>
          </a:xfrm>
          <a:prstGeom prst="roundRect">
            <a:avLst>
              <a:gd name="adj" fmla="val 30000"/>
            </a:avLst>
          </a:prstGeom>
          <a:solidFill>
            <a:srgbClr val="F4E4E3"/>
          </a:solidFill>
          <a:ln>
            <a:noFill/>
          </a:ln>
        </p:spPr>
        <p:txBody>
          <a:bodyPr anchor="ctr"/>
          <a:lstStyle/>
          <a:p>
            <a:r>
              <a:rPr lang="en-US" sz="1200" b="1" dirty="0">
                <a:solidFill>
                  <a:srgbClr val="A23A32"/>
                </a:solidFill>
                <a:latin typeface="Avenir Next"/>
              </a:rPr>
              <a:t>So, Duty remains purely aspirational and un-enforced.</a:t>
            </a:r>
          </a:p>
        </p:txBody>
      </p:sp>
      <p:sp>
        <p:nvSpPr>
          <p:cNvPr id="120" name="Card"/>
          <p:cNvSpPr/>
          <p:nvPr/>
        </p:nvSpPr>
        <p:spPr>
          <a:xfrm>
            <a:off x="6197600" y="2043671"/>
            <a:ext cx="5410200" cy="1913126"/>
          </a:xfrm>
          <a:prstGeom prst="roundRect">
            <a:avLst>
              <a:gd name="adj" fmla="val 7000"/>
            </a:avLst>
          </a:prstGeom>
          <a:solidFill>
            <a:srgbClr val="F6F3EB"/>
          </a:solidFill>
          <a:ln w="12700">
            <a:solidFill>
              <a:srgbClr val="8A6410"/>
            </a:solidFill>
          </a:ln>
        </p:spPr>
        <p:txBody>
          <a:bodyPr/>
          <a:lstStyle/>
          <a:p>
            <a:endParaRPr lang="en-US"/>
          </a:p>
        </p:txBody>
      </p:sp>
      <p:sp>
        <p:nvSpPr>
          <p:cNvPr id="121" name="Badge"/>
          <p:cNvSpPr/>
          <p:nvPr/>
        </p:nvSpPr>
        <p:spPr>
          <a:xfrm>
            <a:off x="6375400" y="2115155"/>
            <a:ext cx="1078531" cy="381880"/>
          </a:xfrm>
          <a:prstGeom prst="roundRect">
            <a:avLst>
              <a:gd name="adj" fmla="val 50000"/>
            </a:avLst>
          </a:prstGeom>
          <a:solidFill>
            <a:srgbClr val="8A6410"/>
          </a:solidFill>
          <a:ln>
            <a:noFill/>
          </a:ln>
        </p:spPr>
        <p:txBody>
          <a:bodyPr anchor="ctr"/>
          <a:lstStyle/>
          <a:p>
            <a:pPr algn="ctr"/>
            <a:r>
              <a:rPr lang="en-US" sz="1200" b="1" dirty="0">
                <a:solidFill>
                  <a:srgbClr val="FFFFFF"/>
                </a:solidFill>
                <a:latin typeface="Avenir Next"/>
              </a:rPr>
              <a:t>Privilege</a:t>
            </a:r>
          </a:p>
        </p:txBody>
      </p:sp>
      <p:sp>
        <p:nvSpPr>
          <p:cNvPr id="122" name="Title"/>
          <p:cNvSpPr/>
          <p:nvPr/>
        </p:nvSpPr>
        <p:spPr>
          <a:xfrm>
            <a:off x="6400800" y="2551671"/>
            <a:ext cx="5003800" cy="306940"/>
          </a:xfrm>
          <a:prstGeom prst="rect">
            <a:avLst/>
          </a:prstGeom>
          <a:noFill/>
          <a:ln>
            <a:noFill/>
          </a:ln>
        </p:spPr>
        <p:txBody>
          <a:bodyPr/>
          <a:lstStyle/>
          <a:p>
            <a:r>
              <a:rPr lang="en-US" sz="1400" b="1">
                <a:solidFill>
                  <a:srgbClr val="173F35"/>
                </a:solidFill>
                <a:latin typeface="Avenir Next"/>
              </a:rPr>
              <a:t>2. Abused Communication Liberty</a:t>
            </a:r>
          </a:p>
        </p:txBody>
      </p:sp>
      <p:sp>
        <p:nvSpPr>
          <p:cNvPr id="124" name="Callout"/>
          <p:cNvSpPr/>
          <p:nvPr/>
        </p:nvSpPr>
        <p:spPr>
          <a:xfrm>
            <a:off x="6375400" y="3524426"/>
            <a:ext cx="5054600" cy="334844"/>
          </a:xfrm>
          <a:prstGeom prst="roundRect">
            <a:avLst>
              <a:gd name="adj" fmla="val 30000"/>
            </a:avLst>
          </a:prstGeom>
          <a:solidFill>
            <a:srgbClr val="F4ECD6"/>
          </a:solidFill>
          <a:ln>
            <a:noFill/>
          </a:ln>
        </p:spPr>
        <p:txBody>
          <a:bodyPr anchor="ctr"/>
          <a:lstStyle/>
          <a:p>
            <a:r>
              <a:rPr lang="en-US" sz="1200" b="1" dirty="0">
                <a:solidFill>
                  <a:srgbClr val="8A6410"/>
                </a:solidFill>
                <a:latin typeface="Avenir Next"/>
              </a:rPr>
              <a:t>Managerial Discretion ≠ License to mislead</a:t>
            </a:r>
          </a:p>
        </p:txBody>
      </p:sp>
      <p:sp>
        <p:nvSpPr>
          <p:cNvPr id="140" name="Card"/>
          <p:cNvSpPr/>
          <p:nvPr/>
        </p:nvSpPr>
        <p:spPr>
          <a:xfrm>
            <a:off x="495300" y="4117550"/>
            <a:ext cx="5410200" cy="1676400"/>
          </a:xfrm>
          <a:prstGeom prst="roundRect">
            <a:avLst>
              <a:gd name="adj" fmla="val 7000"/>
            </a:avLst>
          </a:prstGeom>
          <a:solidFill>
            <a:srgbClr val="F6F3EB"/>
          </a:solidFill>
          <a:ln w="12700">
            <a:solidFill>
              <a:srgbClr val="176B63"/>
            </a:solidFill>
          </a:ln>
        </p:spPr>
        <p:txBody>
          <a:bodyPr/>
          <a:lstStyle/>
          <a:p>
            <a:endParaRPr lang="en-US"/>
          </a:p>
        </p:txBody>
      </p:sp>
      <p:sp>
        <p:nvSpPr>
          <p:cNvPr id="141" name="Badge"/>
          <p:cNvSpPr/>
          <p:nvPr/>
        </p:nvSpPr>
        <p:spPr>
          <a:xfrm>
            <a:off x="673100" y="4189034"/>
            <a:ext cx="1007419" cy="347616"/>
          </a:xfrm>
          <a:prstGeom prst="roundRect">
            <a:avLst>
              <a:gd name="adj" fmla="val 50000"/>
            </a:avLst>
          </a:prstGeom>
          <a:solidFill>
            <a:srgbClr val="176B63"/>
          </a:solidFill>
          <a:ln>
            <a:noFill/>
          </a:ln>
        </p:spPr>
        <p:txBody>
          <a:bodyPr anchor="ctr"/>
          <a:lstStyle/>
          <a:p>
            <a:pPr algn="ctr"/>
            <a:r>
              <a:rPr lang="en-US" sz="1200" b="1" dirty="0">
                <a:solidFill>
                  <a:srgbClr val="FFFFFF"/>
                </a:solidFill>
                <a:latin typeface="Avenir Next"/>
              </a:rPr>
              <a:t>Power</a:t>
            </a:r>
          </a:p>
        </p:txBody>
      </p:sp>
      <p:sp>
        <p:nvSpPr>
          <p:cNvPr id="142" name="Title"/>
          <p:cNvSpPr/>
          <p:nvPr/>
        </p:nvSpPr>
        <p:spPr>
          <a:xfrm>
            <a:off x="698500" y="4625550"/>
            <a:ext cx="5003800" cy="279400"/>
          </a:xfrm>
          <a:prstGeom prst="rect">
            <a:avLst/>
          </a:prstGeom>
          <a:noFill/>
          <a:ln>
            <a:noFill/>
          </a:ln>
        </p:spPr>
        <p:txBody>
          <a:bodyPr/>
          <a:lstStyle/>
          <a:p>
            <a:r>
              <a:rPr lang="en-US" sz="1400" b="1" dirty="0">
                <a:solidFill>
                  <a:srgbClr val="173F35"/>
                </a:solidFill>
                <a:latin typeface="Avenir Next"/>
              </a:rPr>
              <a:t>3. ESG Related Information Asymmetry</a:t>
            </a:r>
          </a:p>
        </p:txBody>
      </p:sp>
      <p:sp>
        <p:nvSpPr>
          <p:cNvPr id="143" name="Desc"/>
          <p:cNvSpPr/>
          <p:nvPr/>
        </p:nvSpPr>
        <p:spPr>
          <a:xfrm>
            <a:off x="698500" y="4930350"/>
            <a:ext cx="5207000" cy="482600"/>
          </a:xfrm>
          <a:prstGeom prst="rect">
            <a:avLst/>
          </a:prstGeom>
          <a:noFill/>
          <a:ln>
            <a:noFill/>
          </a:ln>
        </p:spPr>
        <p:txBody>
          <a:bodyPr/>
          <a:lstStyle/>
          <a:p>
            <a:pPr>
              <a:lnSpc>
                <a:spcPts val="1500"/>
              </a:lnSpc>
            </a:pPr>
            <a:r>
              <a:rPr lang="en-US" sz="1300" dirty="0">
                <a:solidFill>
                  <a:srgbClr val="2D2D2D"/>
                </a:solidFill>
                <a:latin typeface="Avenir Next"/>
              </a:rPr>
              <a:t>Companies hold informational power as the BRSR disclosures remain unverified; and the public bears the liability of acting on it.</a:t>
            </a:r>
          </a:p>
        </p:txBody>
      </p:sp>
      <p:sp>
        <p:nvSpPr>
          <p:cNvPr id="144" name="Callout"/>
          <p:cNvSpPr/>
          <p:nvPr/>
        </p:nvSpPr>
        <p:spPr>
          <a:xfrm>
            <a:off x="673100" y="5412950"/>
            <a:ext cx="5054600" cy="304800"/>
          </a:xfrm>
          <a:prstGeom prst="roundRect">
            <a:avLst>
              <a:gd name="adj" fmla="val 30000"/>
            </a:avLst>
          </a:prstGeom>
          <a:solidFill>
            <a:srgbClr val="DCEDEB"/>
          </a:solidFill>
          <a:ln>
            <a:noFill/>
          </a:ln>
        </p:spPr>
        <p:txBody>
          <a:bodyPr anchor="ctr"/>
          <a:lstStyle/>
          <a:p>
            <a:r>
              <a:rPr lang="en-US" sz="1200" b="1">
                <a:solidFill>
                  <a:srgbClr val="176B63"/>
                </a:solidFill>
                <a:latin typeface="Avenir Next"/>
              </a:rPr>
              <a:t>Remedial Flaw: Public lacks upstream verification</a:t>
            </a:r>
          </a:p>
        </p:txBody>
      </p:sp>
      <p:sp>
        <p:nvSpPr>
          <p:cNvPr id="160" name="Card"/>
          <p:cNvSpPr/>
          <p:nvPr/>
        </p:nvSpPr>
        <p:spPr>
          <a:xfrm>
            <a:off x="6197600" y="4117550"/>
            <a:ext cx="5410200" cy="1676400"/>
          </a:xfrm>
          <a:prstGeom prst="roundRect">
            <a:avLst>
              <a:gd name="adj" fmla="val 7000"/>
            </a:avLst>
          </a:prstGeom>
          <a:solidFill>
            <a:srgbClr val="F6F3EB"/>
          </a:solidFill>
          <a:ln w="12700">
            <a:solidFill>
              <a:srgbClr val="2A6B2E"/>
            </a:solidFill>
          </a:ln>
        </p:spPr>
        <p:txBody>
          <a:bodyPr/>
          <a:lstStyle/>
          <a:p>
            <a:endParaRPr lang="en-US" dirty="0"/>
          </a:p>
        </p:txBody>
      </p:sp>
      <p:sp>
        <p:nvSpPr>
          <p:cNvPr id="161" name="Badge"/>
          <p:cNvSpPr/>
          <p:nvPr/>
        </p:nvSpPr>
        <p:spPr>
          <a:xfrm>
            <a:off x="6375400" y="4189034"/>
            <a:ext cx="1078531" cy="347616"/>
          </a:xfrm>
          <a:prstGeom prst="roundRect">
            <a:avLst>
              <a:gd name="adj" fmla="val 50000"/>
            </a:avLst>
          </a:prstGeom>
          <a:solidFill>
            <a:srgbClr val="2A6B2E"/>
          </a:solidFill>
          <a:ln>
            <a:noFill/>
          </a:ln>
        </p:spPr>
        <p:txBody>
          <a:bodyPr anchor="ctr"/>
          <a:lstStyle/>
          <a:p>
            <a:pPr algn="ctr"/>
            <a:r>
              <a:rPr lang="en-US" sz="1200" b="1" dirty="0">
                <a:solidFill>
                  <a:srgbClr val="FFFFFF"/>
                </a:solidFill>
                <a:latin typeface="Avenir Next"/>
              </a:rPr>
              <a:t>Immunity</a:t>
            </a:r>
          </a:p>
        </p:txBody>
      </p:sp>
      <p:sp>
        <p:nvSpPr>
          <p:cNvPr id="162" name="Title"/>
          <p:cNvSpPr/>
          <p:nvPr/>
        </p:nvSpPr>
        <p:spPr>
          <a:xfrm>
            <a:off x="6400800" y="4625550"/>
            <a:ext cx="5003800" cy="279400"/>
          </a:xfrm>
          <a:prstGeom prst="rect">
            <a:avLst/>
          </a:prstGeom>
          <a:noFill/>
          <a:ln>
            <a:noFill/>
          </a:ln>
        </p:spPr>
        <p:txBody>
          <a:bodyPr/>
          <a:lstStyle/>
          <a:p>
            <a:r>
              <a:rPr lang="en-US" sz="1400" b="1" dirty="0">
                <a:solidFill>
                  <a:srgbClr val="173F35"/>
                </a:solidFill>
                <a:latin typeface="Avenir Next"/>
              </a:rPr>
              <a:t>4. Limited Liability Shield</a:t>
            </a:r>
          </a:p>
        </p:txBody>
      </p:sp>
      <p:sp>
        <p:nvSpPr>
          <p:cNvPr id="163" name="Desc"/>
          <p:cNvSpPr/>
          <p:nvPr/>
        </p:nvSpPr>
        <p:spPr>
          <a:xfrm>
            <a:off x="6400800" y="4930350"/>
            <a:ext cx="5003800" cy="482600"/>
          </a:xfrm>
          <a:prstGeom prst="rect">
            <a:avLst/>
          </a:prstGeom>
          <a:noFill/>
          <a:ln>
            <a:noFill/>
          </a:ln>
        </p:spPr>
        <p:txBody>
          <a:bodyPr/>
          <a:lstStyle/>
          <a:p>
            <a:pPr>
              <a:lnSpc>
                <a:spcPts val="1500"/>
              </a:lnSpc>
            </a:pPr>
            <a:r>
              <a:rPr lang="en-US" sz="1300" dirty="0">
                <a:solidFill>
                  <a:srgbClr val="2D2D2D"/>
                </a:solidFill>
                <a:latin typeface="Avenir Next"/>
              </a:rPr>
              <a:t>The ‘corporate veil’ shields the corporate beneficiaries. ESG gains stay private. While environmental damage is externalized.</a:t>
            </a:r>
          </a:p>
        </p:txBody>
      </p:sp>
      <p:sp>
        <p:nvSpPr>
          <p:cNvPr id="164" name="Callout"/>
          <p:cNvSpPr/>
          <p:nvPr/>
        </p:nvSpPr>
        <p:spPr>
          <a:xfrm>
            <a:off x="6375400" y="5412950"/>
            <a:ext cx="5054600" cy="304800"/>
          </a:xfrm>
          <a:prstGeom prst="roundRect">
            <a:avLst>
              <a:gd name="adj" fmla="val 30000"/>
            </a:avLst>
          </a:prstGeom>
          <a:solidFill>
            <a:srgbClr val="E4EFE4"/>
          </a:solidFill>
          <a:ln>
            <a:noFill/>
          </a:ln>
        </p:spPr>
        <p:txBody>
          <a:bodyPr anchor="ctr"/>
          <a:lstStyle/>
          <a:p>
            <a:r>
              <a:rPr lang="en-US" sz="1200" b="1" dirty="0">
                <a:solidFill>
                  <a:srgbClr val="2A6B2E"/>
                </a:solidFill>
                <a:latin typeface="Avenir Next"/>
              </a:rPr>
              <a:t>Deterrence Failure.</a:t>
            </a:r>
          </a:p>
        </p:txBody>
      </p:sp>
      <p:sp>
        <p:nvSpPr>
          <p:cNvPr id="4" name="Badge">
            <a:extLst>
              <a:ext uri="{FF2B5EF4-FFF2-40B4-BE49-F238E27FC236}">
                <a16:creationId xmlns:a16="http://schemas.microsoft.com/office/drawing/2014/main" id="{C38B49C3-AEC7-3574-4D7A-B5831F6FE320}"/>
              </a:ext>
            </a:extLst>
          </p:cNvPr>
          <p:cNvSpPr/>
          <p:nvPr/>
        </p:nvSpPr>
        <p:spPr>
          <a:xfrm>
            <a:off x="2097554" y="2120990"/>
            <a:ext cx="1293058" cy="381880"/>
          </a:xfrm>
          <a:prstGeom prst="roundRect">
            <a:avLst>
              <a:gd name="adj" fmla="val 50000"/>
            </a:avLst>
          </a:prstGeom>
          <a:solidFill>
            <a:schemeClr val="accent6">
              <a:lumMod val="75000"/>
            </a:schemeClr>
          </a:solidFill>
          <a:ln>
            <a:noFill/>
          </a:ln>
        </p:spPr>
        <p:txBody>
          <a:bodyPr anchor="ctr"/>
          <a:lstStyle/>
          <a:p>
            <a:pPr algn="ctr"/>
            <a:r>
              <a:rPr lang="en-US" sz="1200" b="1" dirty="0">
                <a:solidFill>
                  <a:srgbClr val="FFFFFF"/>
                </a:solidFill>
                <a:latin typeface="Avenir Next"/>
              </a:rPr>
              <a:t>Claim-Right</a:t>
            </a:r>
          </a:p>
        </p:txBody>
      </p:sp>
      <p:sp>
        <p:nvSpPr>
          <p:cNvPr id="7" name="Badge">
            <a:extLst>
              <a:ext uri="{FF2B5EF4-FFF2-40B4-BE49-F238E27FC236}">
                <a16:creationId xmlns:a16="http://schemas.microsoft.com/office/drawing/2014/main" id="{10E2D65F-29F5-8E7B-DC9F-C0F783B62D55}"/>
              </a:ext>
            </a:extLst>
          </p:cNvPr>
          <p:cNvSpPr/>
          <p:nvPr/>
        </p:nvSpPr>
        <p:spPr>
          <a:xfrm>
            <a:off x="7722281" y="2115155"/>
            <a:ext cx="1078531" cy="381880"/>
          </a:xfrm>
          <a:prstGeom prst="roundRect">
            <a:avLst>
              <a:gd name="adj" fmla="val 50000"/>
            </a:avLst>
          </a:prstGeom>
          <a:solidFill>
            <a:srgbClr val="8A6410"/>
          </a:solidFill>
          <a:ln>
            <a:noFill/>
          </a:ln>
        </p:spPr>
        <p:txBody>
          <a:bodyPr anchor="ctr"/>
          <a:lstStyle/>
          <a:p>
            <a:pPr algn="ctr"/>
            <a:r>
              <a:rPr lang="en-US" sz="1200" b="1" dirty="0">
                <a:solidFill>
                  <a:srgbClr val="FFFFFF"/>
                </a:solidFill>
                <a:latin typeface="Avenir Next"/>
              </a:rPr>
              <a:t>No-Right</a:t>
            </a:r>
          </a:p>
        </p:txBody>
      </p:sp>
      <p:sp>
        <p:nvSpPr>
          <p:cNvPr id="8" name="Badge">
            <a:extLst>
              <a:ext uri="{FF2B5EF4-FFF2-40B4-BE49-F238E27FC236}">
                <a16:creationId xmlns:a16="http://schemas.microsoft.com/office/drawing/2014/main" id="{0214B8AB-2C86-F250-84B4-D310F2FF66B3}"/>
              </a:ext>
            </a:extLst>
          </p:cNvPr>
          <p:cNvSpPr/>
          <p:nvPr/>
        </p:nvSpPr>
        <p:spPr>
          <a:xfrm>
            <a:off x="2097554" y="4189034"/>
            <a:ext cx="1293058" cy="347616"/>
          </a:xfrm>
          <a:prstGeom prst="roundRect">
            <a:avLst>
              <a:gd name="adj" fmla="val 50000"/>
            </a:avLst>
          </a:prstGeom>
          <a:solidFill>
            <a:srgbClr val="176B63"/>
          </a:solidFill>
          <a:ln>
            <a:noFill/>
          </a:ln>
        </p:spPr>
        <p:txBody>
          <a:bodyPr anchor="ctr"/>
          <a:lstStyle/>
          <a:p>
            <a:pPr algn="ctr"/>
            <a:r>
              <a:rPr lang="en-US" sz="1200" b="1" dirty="0">
                <a:solidFill>
                  <a:srgbClr val="FFFFFF"/>
                </a:solidFill>
                <a:latin typeface="Avenir Next"/>
              </a:rPr>
              <a:t>Liability</a:t>
            </a:r>
          </a:p>
        </p:txBody>
      </p:sp>
      <p:sp>
        <p:nvSpPr>
          <p:cNvPr id="9" name="Badge">
            <a:extLst>
              <a:ext uri="{FF2B5EF4-FFF2-40B4-BE49-F238E27FC236}">
                <a16:creationId xmlns:a16="http://schemas.microsoft.com/office/drawing/2014/main" id="{0D8EB7B1-7CE7-94D2-A920-66925B4D13AC}"/>
              </a:ext>
            </a:extLst>
          </p:cNvPr>
          <p:cNvSpPr/>
          <p:nvPr/>
        </p:nvSpPr>
        <p:spPr>
          <a:xfrm>
            <a:off x="7722281" y="4190407"/>
            <a:ext cx="1078531" cy="347616"/>
          </a:xfrm>
          <a:prstGeom prst="roundRect">
            <a:avLst>
              <a:gd name="adj" fmla="val 50000"/>
            </a:avLst>
          </a:prstGeom>
          <a:solidFill>
            <a:srgbClr val="2A6B2E"/>
          </a:solidFill>
          <a:ln>
            <a:noFill/>
          </a:ln>
        </p:spPr>
        <p:txBody>
          <a:bodyPr anchor="ctr"/>
          <a:lstStyle/>
          <a:p>
            <a:pPr algn="ctr"/>
            <a:r>
              <a:rPr lang="en-US" sz="1200" b="1" dirty="0">
                <a:solidFill>
                  <a:srgbClr val="FFFFFF"/>
                </a:solidFill>
                <a:latin typeface="Avenir Next"/>
              </a:rPr>
              <a:t>Disability</a:t>
            </a:r>
          </a:p>
        </p:txBody>
      </p:sp>
      <p:sp>
        <p:nvSpPr>
          <p:cNvPr id="123" name="Desc"/>
          <p:cNvSpPr/>
          <p:nvPr/>
        </p:nvSpPr>
        <p:spPr>
          <a:xfrm>
            <a:off x="6400800" y="2856471"/>
            <a:ext cx="5003800" cy="530170"/>
          </a:xfrm>
          <a:prstGeom prst="rect">
            <a:avLst/>
          </a:prstGeom>
          <a:noFill/>
          <a:ln>
            <a:noFill/>
          </a:ln>
        </p:spPr>
        <p:txBody>
          <a:bodyPr/>
          <a:lstStyle/>
          <a:p>
            <a:pPr>
              <a:lnSpc>
                <a:spcPts val="1500"/>
              </a:lnSpc>
            </a:pPr>
            <a:r>
              <a:rPr lang="en-US" sz="1300" dirty="0">
                <a:solidFill>
                  <a:srgbClr val="2D2D2D"/>
                </a:solidFill>
                <a:latin typeface="Avenir Next"/>
              </a:rPr>
              <a:t>Management holds commercial freedom (Privilege) to advertise. But this privilege is abused by crossing into deception and unsubstantiated claims.</a:t>
            </a:r>
          </a:p>
        </p:txBody>
      </p:sp>
    </p:spTree>
    <p:extLst>
      <p:ext uri="{BB962C8B-B14F-4D97-AF65-F5344CB8AC3E}">
        <p14:creationId xmlns:p14="http://schemas.microsoft.com/office/powerpoint/2010/main" val="2908205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bar"/>
          <p:cNvSpPr/>
          <p:nvPr/>
        </p:nvSpPr>
        <p:spPr>
          <a:xfrm>
            <a:off x="0" y="0"/>
            <a:ext cx="12192000" cy="203200"/>
          </a:xfrm>
          <a:prstGeom prst="rect">
            <a:avLst/>
          </a:prstGeom>
          <a:solidFill>
            <a:srgbClr val="1A3C34"/>
          </a:solidFill>
          <a:ln>
            <a:noFill/>
          </a:ln>
        </p:spPr>
        <p:txBody>
          <a:bodyPr/>
          <a:lstStyle/>
          <a:p>
            <a:endParaRPr lang="en-US"/>
          </a:p>
        </p:txBody>
      </p:sp>
      <p:sp>
        <p:nvSpPr>
          <p:cNvPr id="3" name="Title"/>
          <p:cNvSpPr txBox="1"/>
          <p:nvPr/>
        </p:nvSpPr>
        <p:spPr>
          <a:xfrm>
            <a:off x="433858" y="429742"/>
            <a:ext cx="11176000" cy="508000"/>
          </a:xfrm>
          <a:prstGeom prst="rect">
            <a:avLst/>
          </a:prstGeom>
        </p:spPr>
        <p:txBody>
          <a:bodyPr wrap="square" rtlCol="0" anchor="ctr">
            <a:normAutofit lnSpcReduction="10000"/>
          </a:bodyPr>
          <a:lstStyle/>
          <a:p>
            <a:pPr algn="l"/>
            <a:r>
              <a:rPr lang="en-US" sz="2800" b="1" dirty="0">
                <a:solidFill>
                  <a:srgbClr val="173F35"/>
                </a:solidFill>
              </a:rPr>
              <a:t>Why Section 166(2) of Companies Act Remains Weakly Enforced ?</a:t>
            </a:r>
          </a:p>
        </p:txBody>
      </p:sp>
      <p:sp>
        <p:nvSpPr>
          <p:cNvPr id="4" name="Card 1 bg"/>
          <p:cNvSpPr/>
          <p:nvPr/>
        </p:nvSpPr>
        <p:spPr>
          <a:xfrm>
            <a:off x="457200" y="1399748"/>
            <a:ext cx="3657600" cy="3810000"/>
          </a:xfrm>
          <a:prstGeom prst="roundRect">
            <a:avLst/>
          </a:prstGeom>
          <a:solidFill>
            <a:srgbClr val="F7F3E8"/>
          </a:solidFill>
          <a:ln>
            <a:noFill/>
          </a:ln>
        </p:spPr>
        <p:txBody>
          <a:bodyPr/>
          <a:lstStyle/>
          <a:p>
            <a:endParaRPr lang="en-US"/>
          </a:p>
        </p:txBody>
      </p:sp>
      <p:sp>
        <p:nvSpPr>
          <p:cNvPr id="5" name="Card 2 bg"/>
          <p:cNvSpPr/>
          <p:nvPr/>
        </p:nvSpPr>
        <p:spPr>
          <a:xfrm>
            <a:off x="4267200" y="1399748"/>
            <a:ext cx="3657600" cy="3810000"/>
          </a:xfrm>
          <a:prstGeom prst="roundRect">
            <a:avLst/>
          </a:prstGeom>
          <a:solidFill>
            <a:srgbClr val="E8F0EA"/>
          </a:solidFill>
          <a:ln>
            <a:noFill/>
          </a:ln>
        </p:spPr>
        <p:txBody>
          <a:bodyPr/>
          <a:lstStyle/>
          <a:p>
            <a:endParaRPr lang="en-US"/>
          </a:p>
        </p:txBody>
      </p:sp>
      <p:sp>
        <p:nvSpPr>
          <p:cNvPr id="6" name="Card 3 bg"/>
          <p:cNvSpPr/>
          <p:nvPr/>
        </p:nvSpPr>
        <p:spPr>
          <a:xfrm>
            <a:off x="8077200" y="1399748"/>
            <a:ext cx="3657600" cy="3810000"/>
          </a:xfrm>
          <a:prstGeom prst="roundRect">
            <a:avLst/>
          </a:prstGeom>
          <a:solidFill>
            <a:srgbClr val="F5EDE6"/>
          </a:solidFill>
          <a:ln>
            <a:noFill/>
          </a:ln>
        </p:spPr>
        <p:txBody>
          <a:bodyPr/>
          <a:lstStyle/>
          <a:p>
            <a:endParaRPr lang="en-US"/>
          </a:p>
        </p:txBody>
      </p:sp>
      <p:sp>
        <p:nvSpPr>
          <p:cNvPr id="7" name="Num 1 circle"/>
          <p:cNvSpPr/>
          <p:nvPr/>
        </p:nvSpPr>
        <p:spPr>
          <a:xfrm>
            <a:off x="660400" y="1577548"/>
            <a:ext cx="457200" cy="457200"/>
          </a:xfrm>
          <a:prstGeom prst="ellipse">
            <a:avLst/>
          </a:prstGeom>
          <a:solidFill>
            <a:srgbClr val="1A3C34"/>
          </a:solidFill>
          <a:ln>
            <a:noFill/>
          </a:ln>
        </p:spPr>
        <p:txBody>
          <a:bodyPr/>
          <a:lstStyle/>
          <a:p>
            <a:endParaRPr lang="en-US"/>
          </a:p>
        </p:txBody>
      </p:sp>
      <p:sp>
        <p:nvSpPr>
          <p:cNvPr id="8" name="Num 1"/>
          <p:cNvSpPr txBox="1"/>
          <p:nvPr/>
        </p:nvSpPr>
        <p:spPr>
          <a:xfrm>
            <a:off x="660400" y="1577548"/>
            <a:ext cx="457200" cy="457200"/>
          </a:xfrm>
          <a:prstGeom prst="rect">
            <a:avLst/>
          </a:prstGeom>
        </p:spPr>
        <p:txBody>
          <a:bodyPr wrap="square" rtlCol="0" anchor="ctr">
            <a:normAutofit/>
          </a:bodyPr>
          <a:lstStyle/>
          <a:p>
            <a:pPr algn="ctr"/>
            <a:r>
              <a:rPr lang="en-US" sz="1600" b="1" dirty="0">
                <a:solidFill>
                  <a:srgbClr val="FFFFFF"/>
                </a:solidFill>
              </a:rPr>
              <a:t>1</a:t>
            </a:r>
          </a:p>
        </p:txBody>
      </p:sp>
      <p:sp>
        <p:nvSpPr>
          <p:cNvPr id="9" name="Num 2 circle"/>
          <p:cNvSpPr/>
          <p:nvPr/>
        </p:nvSpPr>
        <p:spPr>
          <a:xfrm>
            <a:off x="4470400" y="1577548"/>
            <a:ext cx="457200" cy="457200"/>
          </a:xfrm>
          <a:prstGeom prst="ellipse">
            <a:avLst/>
          </a:prstGeom>
          <a:solidFill>
            <a:srgbClr val="2F6B4F"/>
          </a:solidFill>
          <a:ln>
            <a:noFill/>
          </a:ln>
        </p:spPr>
        <p:txBody>
          <a:bodyPr/>
          <a:lstStyle/>
          <a:p>
            <a:endParaRPr lang="en-US"/>
          </a:p>
        </p:txBody>
      </p:sp>
      <p:sp>
        <p:nvSpPr>
          <p:cNvPr id="10" name="Num 2"/>
          <p:cNvSpPr txBox="1"/>
          <p:nvPr/>
        </p:nvSpPr>
        <p:spPr>
          <a:xfrm>
            <a:off x="4470400" y="1577548"/>
            <a:ext cx="457200" cy="457200"/>
          </a:xfrm>
          <a:prstGeom prst="rect">
            <a:avLst/>
          </a:prstGeom>
        </p:spPr>
        <p:txBody>
          <a:bodyPr wrap="square" rtlCol="0" anchor="ctr">
            <a:normAutofit/>
          </a:bodyPr>
          <a:lstStyle/>
          <a:p>
            <a:pPr algn="ctr"/>
            <a:r>
              <a:rPr lang="en-US" sz="1600" b="1" dirty="0">
                <a:solidFill>
                  <a:srgbClr val="FFFFFF"/>
                </a:solidFill>
              </a:rPr>
              <a:t>2</a:t>
            </a:r>
          </a:p>
        </p:txBody>
      </p:sp>
      <p:sp>
        <p:nvSpPr>
          <p:cNvPr id="11" name="Num 3 circle"/>
          <p:cNvSpPr/>
          <p:nvPr/>
        </p:nvSpPr>
        <p:spPr>
          <a:xfrm>
            <a:off x="8280400" y="1577548"/>
            <a:ext cx="457200" cy="457200"/>
          </a:xfrm>
          <a:prstGeom prst="ellipse">
            <a:avLst/>
          </a:prstGeom>
          <a:solidFill>
            <a:srgbClr val="8B5A2B"/>
          </a:solidFill>
          <a:ln>
            <a:noFill/>
          </a:ln>
        </p:spPr>
        <p:txBody>
          <a:bodyPr/>
          <a:lstStyle/>
          <a:p>
            <a:endParaRPr lang="en-US"/>
          </a:p>
        </p:txBody>
      </p:sp>
      <p:sp>
        <p:nvSpPr>
          <p:cNvPr id="12" name="Num 3"/>
          <p:cNvSpPr txBox="1"/>
          <p:nvPr/>
        </p:nvSpPr>
        <p:spPr>
          <a:xfrm>
            <a:off x="8280400" y="1577548"/>
            <a:ext cx="457200" cy="457200"/>
          </a:xfrm>
          <a:prstGeom prst="rect">
            <a:avLst/>
          </a:prstGeom>
        </p:spPr>
        <p:txBody>
          <a:bodyPr wrap="square" rtlCol="0" anchor="ctr">
            <a:normAutofit/>
          </a:bodyPr>
          <a:lstStyle/>
          <a:p>
            <a:pPr algn="ctr"/>
            <a:r>
              <a:rPr lang="en-US" sz="1600" b="1" dirty="0">
                <a:solidFill>
                  <a:srgbClr val="FFFFFF"/>
                </a:solidFill>
              </a:rPr>
              <a:t>3</a:t>
            </a:r>
          </a:p>
        </p:txBody>
      </p:sp>
      <p:sp>
        <p:nvSpPr>
          <p:cNvPr id="13" name="H1"/>
          <p:cNvSpPr txBox="1"/>
          <p:nvPr/>
        </p:nvSpPr>
        <p:spPr>
          <a:xfrm>
            <a:off x="1219200" y="1602948"/>
            <a:ext cx="2692400" cy="508000"/>
          </a:xfrm>
          <a:prstGeom prst="rect">
            <a:avLst/>
          </a:prstGeom>
        </p:spPr>
        <p:txBody>
          <a:bodyPr wrap="square" rtlCol="0" anchor="ctr">
            <a:noAutofit/>
          </a:bodyPr>
          <a:lstStyle/>
          <a:p>
            <a:pPr algn="l"/>
            <a:r>
              <a:rPr lang="en-US" sz="1600" b="1" dirty="0">
                <a:solidFill>
                  <a:srgbClr val="173F35"/>
                </a:solidFill>
              </a:rPr>
              <a:t>Substantive &amp;</a:t>
            </a:r>
          </a:p>
          <a:p>
            <a:pPr algn="l"/>
            <a:r>
              <a:rPr lang="en-US" sz="1600" b="1" dirty="0">
                <a:solidFill>
                  <a:srgbClr val="173F35"/>
                </a:solidFill>
              </a:rPr>
              <a:t>Doctrinal Hurdles</a:t>
            </a:r>
          </a:p>
        </p:txBody>
      </p:sp>
      <p:sp>
        <p:nvSpPr>
          <p:cNvPr id="14" name="H2"/>
          <p:cNvSpPr txBox="1"/>
          <p:nvPr/>
        </p:nvSpPr>
        <p:spPr>
          <a:xfrm>
            <a:off x="5029200" y="1602948"/>
            <a:ext cx="2692400" cy="508000"/>
          </a:xfrm>
          <a:prstGeom prst="rect">
            <a:avLst/>
          </a:prstGeom>
        </p:spPr>
        <p:txBody>
          <a:bodyPr wrap="square" rtlCol="0" anchor="ctr">
            <a:noAutofit/>
          </a:bodyPr>
          <a:lstStyle/>
          <a:p>
            <a:pPr algn="l"/>
            <a:r>
              <a:rPr lang="en-US" sz="1600" b="1" dirty="0">
                <a:solidFill>
                  <a:srgbClr val="173F35"/>
                </a:solidFill>
              </a:rPr>
              <a:t>Procedural &amp;</a:t>
            </a:r>
          </a:p>
          <a:p>
            <a:pPr algn="l"/>
            <a:r>
              <a:rPr lang="en-US" sz="1600" b="1" dirty="0">
                <a:solidFill>
                  <a:srgbClr val="173F35"/>
                </a:solidFill>
              </a:rPr>
              <a:t>Standing Barriers</a:t>
            </a:r>
          </a:p>
        </p:txBody>
      </p:sp>
      <p:sp>
        <p:nvSpPr>
          <p:cNvPr id="15" name="H3"/>
          <p:cNvSpPr txBox="1"/>
          <p:nvPr/>
        </p:nvSpPr>
        <p:spPr>
          <a:xfrm>
            <a:off x="8839200" y="1602948"/>
            <a:ext cx="2692400" cy="508000"/>
          </a:xfrm>
          <a:prstGeom prst="rect">
            <a:avLst/>
          </a:prstGeom>
        </p:spPr>
        <p:txBody>
          <a:bodyPr wrap="square" rtlCol="0" anchor="ctr">
            <a:noAutofit/>
          </a:bodyPr>
          <a:lstStyle/>
          <a:p>
            <a:pPr algn="l"/>
            <a:r>
              <a:rPr lang="en-US" sz="1600" b="1" dirty="0">
                <a:solidFill>
                  <a:srgbClr val="173F35"/>
                </a:solidFill>
              </a:rPr>
              <a:t>Remedial &amp;</a:t>
            </a:r>
          </a:p>
          <a:p>
            <a:pPr algn="l"/>
            <a:r>
              <a:rPr lang="en-US" sz="1600" b="1" dirty="0">
                <a:solidFill>
                  <a:srgbClr val="173F35"/>
                </a:solidFill>
              </a:rPr>
              <a:t>Economic Deficits</a:t>
            </a:r>
          </a:p>
        </p:txBody>
      </p:sp>
      <p:sp>
        <p:nvSpPr>
          <p:cNvPr id="16" name="Div 1"/>
          <p:cNvSpPr/>
          <p:nvPr/>
        </p:nvSpPr>
        <p:spPr>
          <a:xfrm>
            <a:off x="660400" y="2212548"/>
            <a:ext cx="3251200" cy="25400"/>
          </a:xfrm>
          <a:prstGeom prst="rect">
            <a:avLst/>
          </a:prstGeom>
          <a:solidFill>
            <a:srgbClr val="C5B89A"/>
          </a:solidFill>
          <a:ln>
            <a:noFill/>
          </a:ln>
        </p:spPr>
        <p:txBody>
          <a:bodyPr/>
          <a:lstStyle/>
          <a:p>
            <a:endParaRPr lang="en-US"/>
          </a:p>
        </p:txBody>
      </p:sp>
      <p:sp>
        <p:nvSpPr>
          <p:cNvPr id="17" name="Div 2"/>
          <p:cNvSpPr/>
          <p:nvPr/>
        </p:nvSpPr>
        <p:spPr>
          <a:xfrm>
            <a:off x="4470400" y="2212548"/>
            <a:ext cx="3251200" cy="25400"/>
          </a:xfrm>
          <a:prstGeom prst="rect">
            <a:avLst/>
          </a:prstGeom>
          <a:solidFill>
            <a:srgbClr val="A8C4B0"/>
          </a:solidFill>
          <a:ln>
            <a:noFill/>
          </a:ln>
        </p:spPr>
        <p:txBody>
          <a:bodyPr/>
          <a:lstStyle/>
          <a:p>
            <a:endParaRPr lang="en-US"/>
          </a:p>
        </p:txBody>
      </p:sp>
      <p:sp>
        <p:nvSpPr>
          <p:cNvPr id="18" name="Div 3"/>
          <p:cNvSpPr/>
          <p:nvPr/>
        </p:nvSpPr>
        <p:spPr>
          <a:xfrm>
            <a:off x="8280400" y="2212548"/>
            <a:ext cx="3251200" cy="25400"/>
          </a:xfrm>
          <a:prstGeom prst="rect">
            <a:avLst/>
          </a:prstGeom>
          <a:solidFill>
            <a:srgbClr val="D4B89A"/>
          </a:solidFill>
          <a:ln>
            <a:noFill/>
          </a:ln>
        </p:spPr>
        <p:txBody>
          <a:bodyPr/>
          <a:lstStyle/>
          <a:p>
            <a:endParaRPr lang="en-US"/>
          </a:p>
        </p:txBody>
      </p:sp>
      <p:sp>
        <p:nvSpPr>
          <p:cNvPr id="19" name="Body 1"/>
          <p:cNvSpPr txBox="1"/>
          <p:nvPr/>
        </p:nvSpPr>
        <p:spPr>
          <a:xfrm>
            <a:off x="660400" y="2309528"/>
            <a:ext cx="3403600" cy="2362200"/>
          </a:xfrm>
          <a:prstGeom prst="rect">
            <a:avLst/>
          </a:prstGeom>
        </p:spPr>
        <p:txBody>
          <a:bodyPr wrap="square" rtlCol="0" anchor="t">
            <a:noAutofit/>
          </a:bodyPr>
          <a:lstStyle/>
          <a:p>
            <a:pPr algn="l"/>
            <a:r>
              <a:rPr lang="en-US" sz="1400" b="1" dirty="0">
                <a:solidFill>
                  <a:srgbClr val="173F35"/>
                </a:solidFill>
                <a:latin typeface="Calibri"/>
                <a:ea typeface="Calibri"/>
                <a:cs typeface="Calibri"/>
              </a:rPr>
              <a:t>Vague terms</a:t>
            </a:r>
          </a:p>
          <a:p>
            <a:pPr algn="l"/>
            <a:r>
              <a:rPr lang="en-US" sz="1400" dirty="0">
                <a:solidFill>
                  <a:srgbClr val="2A2A2A"/>
                </a:solidFill>
                <a:latin typeface="Calibri"/>
                <a:ea typeface="Calibri"/>
                <a:cs typeface="Calibri"/>
              </a:rPr>
              <a:t>"Community," "environment," and stakeholder "best interests" stay undefined.</a:t>
            </a:r>
          </a:p>
          <a:p>
            <a:pPr algn="l"/>
            <a:endParaRPr lang="en-US" sz="1400" dirty="0"/>
          </a:p>
          <a:p>
            <a:pPr algn="l"/>
            <a:r>
              <a:rPr lang="en-US" sz="1400" b="1" dirty="0">
                <a:solidFill>
                  <a:srgbClr val="173F35"/>
                </a:solidFill>
                <a:latin typeface="Calibri"/>
                <a:ea typeface="Calibri"/>
                <a:cs typeface="Calibri"/>
              </a:rPr>
              <a:t>Business judgment shield</a:t>
            </a:r>
          </a:p>
          <a:p>
            <a:pPr algn="l"/>
            <a:r>
              <a:rPr lang="en-US" sz="1400" dirty="0">
                <a:solidFill>
                  <a:srgbClr val="2A2A2A"/>
                </a:solidFill>
                <a:latin typeface="Calibri"/>
                <a:ea typeface="Calibri"/>
                <a:cs typeface="Calibri"/>
              </a:rPr>
              <a:t>Courts rarely second-guess commercial fiduciary choices.</a:t>
            </a:r>
          </a:p>
          <a:p>
            <a:pPr algn="l"/>
            <a:endParaRPr lang="en-US" sz="1400" dirty="0"/>
          </a:p>
          <a:p>
            <a:pPr algn="l"/>
            <a:r>
              <a:rPr lang="en-US" sz="1400" b="1" dirty="0">
                <a:solidFill>
                  <a:srgbClr val="173F35"/>
                </a:solidFill>
                <a:latin typeface="Calibri"/>
                <a:ea typeface="Calibri"/>
                <a:cs typeface="Calibri"/>
              </a:rPr>
              <a:t>Precedent gap</a:t>
            </a:r>
          </a:p>
          <a:p>
            <a:pPr algn="l"/>
            <a:r>
              <a:rPr lang="en-US" sz="1400" dirty="0">
                <a:solidFill>
                  <a:srgbClr val="2A2A2A"/>
                </a:solidFill>
                <a:latin typeface="Calibri"/>
                <a:ea typeface="Calibri"/>
                <a:cs typeface="Calibri"/>
              </a:rPr>
              <a:t>No case law links environmental misstatements to a director's breach of duty.</a:t>
            </a:r>
          </a:p>
        </p:txBody>
      </p:sp>
      <p:sp>
        <p:nvSpPr>
          <p:cNvPr id="20" name="Body 2"/>
          <p:cNvSpPr txBox="1"/>
          <p:nvPr/>
        </p:nvSpPr>
        <p:spPr>
          <a:xfrm>
            <a:off x="4470400" y="2309528"/>
            <a:ext cx="3251200" cy="2362200"/>
          </a:xfrm>
          <a:prstGeom prst="rect">
            <a:avLst/>
          </a:prstGeom>
        </p:spPr>
        <p:txBody>
          <a:bodyPr wrap="square" rtlCol="0" anchor="t">
            <a:noAutofit/>
          </a:bodyPr>
          <a:lstStyle/>
          <a:p>
            <a:pPr algn="l"/>
            <a:r>
              <a:rPr lang="en-US" sz="1400" b="1" dirty="0">
                <a:solidFill>
                  <a:srgbClr val="173F35"/>
                </a:solidFill>
                <a:latin typeface="Calibri"/>
                <a:ea typeface="Calibri"/>
                <a:cs typeface="Calibri"/>
              </a:rPr>
              <a:t>Narrow standing</a:t>
            </a:r>
          </a:p>
          <a:p>
            <a:pPr algn="l"/>
            <a:r>
              <a:rPr lang="en-US" sz="1400" dirty="0">
                <a:solidFill>
                  <a:srgbClr val="2A2A2A"/>
                </a:solidFill>
                <a:latin typeface="Calibri"/>
                <a:ea typeface="Calibri"/>
                <a:cs typeface="Calibri"/>
              </a:rPr>
              <a:t>Ss. 241–244 mismanagement petitions open only to shareholders.</a:t>
            </a:r>
          </a:p>
          <a:p>
            <a:pPr algn="l"/>
            <a:endParaRPr lang="en-US" sz="1400" dirty="0"/>
          </a:p>
          <a:p>
            <a:pPr algn="l"/>
            <a:r>
              <a:rPr lang="en-US" sz="1400" b="1" dirty="0">
                <a:solidFill>
                  <a:srgbClr val="173F35"/>
                </a:solidFill>
                <a:latin typeface="Calibri"/>
                <a:ea typeface="Calibri"/>
                <a:cs typeface="Calibri"/>
              </a:rPr>
              <a:t>Stakeholders shut out</a:t>
            </a:r>
          </a:p>
          <a:p>
            <a:pPr algn="l"/>
            <a:r>
              <a:rPr lang="en-US" sz="1400" dirty="0">
                <a:solidFill>
                  <a:srgbClr val="2A2A2A"/>
                </a:solidFill>
                <a:latin typeface="Calibri"/>
                <a:ea typeface="Calibri"/>
                <a:cs typeface="Calibri"/>
              </a:rPr>
              <a:t>External parties cannot enforce the environmental duty.</a:t>
            </a:r>
          </a:p>
          <a:p>
            <a:pPr algn="l"/>
            <a:endParaRPr lang="en-US" sz="1400" dirty="0"/>
          </a:p>
          <a:p>
            <a:pPr algn="l"/>
            <a:r>
              <a:rPr lang="en-US" sz="1400" b="1" dirty="0">
                <a:solidFill>
                  <a:srgbClr val="173F35"/>
                </a:solidFill>
                <a:latin typeface="Calibri"/>
                <a:ea typeface="Calibri"/>
                <a:cs typeface="Calibri"/>
              </a:rPr>
              <a:t>Missing referral bridge</a:t>
            </a:r>
          </a:p>
          <a:p>
            <a:pPr algn="l"/>
            <a:r>
              <a:rPr lang="en-US" sz="1400" dirty="0">
                <a:solidFill>
                  <a:srgbClr val="2A2A2A"/>
                </a:solidFill>
                <a:latin typeface="Calibri"/>
                <a:ea typeface="Calibri"/>
                <a:cs typeface="Calibri"/>
              </a:rPr>
              <a:t>CCPA or SEBI greenwashing findings do not auto-trigger MCA action under s. 166(2).</a:t>
            </a:r>
          </a:p>
        </p:txBody>
      </p:sp>
      <p:sp>
        <p:nvSpPr>
          <p:cNvPr id="21" name="Body 3"/>
          <p:cNvSpPr txBox="1"/>
          <p:nvPr/>
        </p:nvSpPr>
        <p:spPr>
          <a:xfrm>
            <a:off x="8280400" y="2309528"/>
            <a:ext cx="3251200" cy="2362200"/>
          </a:xfrm>
          <a:prstGeom prst="rect">
            <a:avLst/>
          </a:prstGeom>
        </p:spPr>
        <p:txBody>
          <a:bodyPr wrap="square" rtlCol="0" anchor="t">
            <a:normAutofit/>
          </a:bodyPr>
          <a:lstStyle/>
          <a:p>
            <a:pPr algn="l"/>
            <a:r>
              <a:rPr lang="en-US" sz="1400" b="1" dirty="0">
                <a:solidFill>
                  <a:srgbClr val="173F35"/>
                </a:solidFill>
                <a:latin typeface="Calibri"/>
                <a:ea typeface="Calibri"/>
                <a:cs typeface="Calibri"/>
              </a:rPr>
              <a:t>Ineffective fines</a:t>
            </a:r>
          </a:p>
          <a:p>
            <a:pPr algn="l"/>
            <a:r>
              <a:rPr lang="en-US" sz="1400" dirty="0">
                <a:solidFill>
                  <a:srgbClr val="2A2A2A"/>
                </a:solidFill>
                <a:latin typeface="Calibri"/>
                <a:ea typeface="Calibri"/>
                <a:cs typeface="Calibri"/>
              </a:rPr>
              <a:t>S. 166(7) caps penalties at ₹1–5 Lakh, too small to deter board-level greenwashing.</a:t>
            </a:r>
          </a:p>
          <a:p>
            <a:pPr algn="l"/>
            <a:endParaRPr lang="en-US" sz="1400" dirty="0"/>
          </a:p>
          <a:p>
            <a:pPr algn="l"/>
            <a:r>
              <a:rPr lang="en-US" sz="1400" b="1" dirty="0">
                <a:solidFill>
                  <a:srgbClr val="173F35"/>
                </a:solidFill>
                <a:latin typeface="Calibri"/>
                <a:ea typeface="Calibri"/>
                <a:cs typeface="Calibri"/>
              </a:rPr>
              <a:t>Short-term bias</a:t>
            </a:r>
          </a:p>
          <a:p>
            <a:pPr algn="l"/>
            <a:r>
              <a:rPr lang="en-US" sz="1400" dirty="0">
                <a:solidFill>
                  <a:srgbClr val="2A2A2A"/>
                </a:solidFill>
                <a:latin typeface="Calibri"/>
                <a:ea typeface="Calibri"/>
                <a:cs typeface="Calibri"/>
              </a:rPr>
              <a:t>Directors favour immediate profit over unpenalized environmental duties.</a:t>
            </a:r>
          </a:p>
        </p:txBody>
      </p:sp>
      <p:sp>
        <p:nvSpPr>
          <p:cNvPr id="22" name="Answer bar"/>
          <p:cNvSpPr/>
          <p:nvPr/>
        </p:nvSpPr>
        <p:spPr>
          <a:xfrm>
            <a:off x="457200" y="5689600"/>
            <a:ext cx="11277600" cy="660400"/>
          </a:xfrm>
          <a:prstGeom prst="roundRect">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sz="2400">
              <a:solidFill>
                <a:schemeClr val="lt1"/>
              </a:solidFill>
              <a:latin typeface="Avenir Next" panose="020B0503020202020204" pitchFamily="34" charset="0"/>
            </a:endParaRPr>
          </a:p>
        </p:txBody>
      </p:sp>
      <p:sp>
        <p:nvSpPr>
          <p:cNvPr id="23" name="Answer"/>
          <p:cNvSpPr txBox="1"/>
          <p:nvPr/>
        </p:nvSpPr>
        <p:spPr>
          <a:xfrm>
            <a:off x="660400" y="5799441"/>
            <a:ext cx="10871200" cy="457200"/>
          </a:xfrm>
          <a:prstGeom prst="rect">
            <a:avLst/>
          </a:prstGeom>
        </p:spPr>
        <p:txBody>
          <a:bodyPr wrap="square" rtlCol="0" anchor="ctr">
            <a:noAutofit/>
          </a:bodyPr>
          <a:lstStyle/>
          <a:p>
            <a:r>
              <a:rPr lang="en-IN" sz="1400" b="1" dirty="0">
                <a:solidFill>
                  <a:srgbClr val="173F35"/>
                </a:solidFill>
              </a:rPr>
              <a:t>Answers Research Question 4: What duties of directors, disclosure obligations and assurance requirements, under Indian company and securities law, can ground liability for misleading environmental claims?</a:t>
            </a:r>
          </a:p>
        </p:txBody>
      </p:sp>
      <p:sp>
        <p:nvSpPr>
          <p:cNvPr id="24" name="Source"/>
          <p:cNvSpPr txBox="1"/>
          <p:nvPr/>
        </p:nvSpPr>
        <p:spPr>
          <a:xfrm>
            <a:off x="457200" y="6474695"/>
            <a:ext cx="3556000" cy="279400"/>
          </a:xfrm>
          <a:prstGeom prst="rect">
            <a:avLst/>
          </a:prstGeom>
        </p:spPr>
        <p:txBody>
          <a:bodyPr wrap="square" rtlCol="0" anchor="t">
            <a:normAutofit/>
          </a:bodyPr>
          <a:lstStyle/>
          <a:p>
            <a:pPr algn="l"/>
            <a:r>
              <a:rPr lang="en-US" sz="1200" dirty="0">
                <a:solidFill>
                  <a:srgbClr val="6B6B6B"/>
                </a:solidFill>
              </a:rPr>
              <a:t>Source base: Chapter 3.</a:t>
            </a:r>
          </a:p>
        </p:txBody>
      </p:sp>
    </p:spTree>
    <p:extLst>
      <p:ext uri="{BB962C8B-B14F-4D97-AF65-F5344CB8AC3E}">
        <p14:creationId xmlns:p14="http://schemas.microsoft.com/office/powerpoint/2010/main" val="4076067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7850" y="403898"/>
            <a:ext cx="11300000"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lang="en-US" sz="2800" dirty="0"/>
              <a:t>Limitations of </a:t>
            </a:r>
            <a:r>
              <a:rPr sz="2800" dirty="0"/>
              <a:t>SEBI's ESG Regime</a:t>
            </a:r>
          </a:p>
        </p:txBody>
      </p:sp>
      <p:sp>
        <p:nvSpPr>
          <p:cNvPr id="6" name="Rounded Rectangle 5"/>
          <p:cNvSpPr/>
          <p:nvPr/>
        </p:nvSpPr>
        <p:spPr>
          <a:xfrm>
            <a:off x="790823" y="5290044"/>
            <a:ext cx="10587831" cy="605058"/>
          </a:xfrm>
          <a:prstGeom prst="roundRect">
            <a:avLst/>
          </a:prstGeom>
          <a:solidFill>
            <a:srgbClr val="FFF6EA"/>
          </a:solidFill>
          <a:ln w="12700">
            <a:solidFill>
              <a:srgbClr val="E7C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7" name="TextBox 6"/>
          <p:cNvSpPr txBox="1"/>
          <p:nvPr/>
        </p:nvSpPr>
        <p:spPr>
          <a:xfrm>
            <a:off x="908748" y="5380949"/>
            <a:ext cx="10186416" cy="523220"/>
          </a:xfrm>
          <a:prstGeom prst="rect">
            <a:avLst/>
          </a:prstGeom>
          <a:noFill/>
        </p:spPr>
        <p:txBody>
          <a:bodyPr wrap="square" anchor="t">
            <a:spAutoFit/>
          </a:bodyPr>
          <a:lstStyle/>
          <a:p>
            <a:pPr algn="ctr">
              <a:defRPr sz="1150" b="1">
                <a:solidFill>
                  <a:srgbClr val="12402D"/>
                </a:solidFill>
                <a:latin typeface="Avenir Next Demi Bold"/>
              </a:defRPr>
            </a:pPr>
            <a:r>
              <a:rPr lang="en-IN" sz="1400" dirty="0">
                <a:latin typeface="Avenir Next" panose="020B0503020202020204" pitchFamily="34" charset="0"/>
              </a:rPr>
              <a:t>SEBI's BRSR has just improved ESG disclosure format, but scope, assurance, and enforcement remain too weak to make greenwashing costly.</a:t>
            </a:r>
          </a:p>
        </p:txBody>
      </p:sp>
      <p:sp>
        <p:nvSpPr>
          <p:cNvPr id="8" name="Rounded Rectangle 7"/>
          <p:cNvSpPr/>
          <p:nvPr/>
        </p:nvSpPr>
        <p:spPr>
          <a:xfrm>
            <a:off x="790823" y="4001368"/>
            <a:ext cx="2468880" cy="1067934"/>
          </a:xfrm>
          <a:prstGeom prst="roundRect">
            <a:avLst/>
          </a:prstGeom>
          <a:solidFill>
            <a:srgbClr val="F5E7DE"/>
          </a:solidFill>
          <a:ln w="12700">
            <a:solidFill>
              <a:srgbClr val="F5E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73F35"/>
                </a:solidFill>
                <a:latin typeface="Georgia"/>
              </a:defRPr>
            </a:pPr>
            <a:r>
              <a:rPr dirty="0">
                <a:latin typeface="Avenir Next" panose="020B0503020202020204" pitchFamily="34" charset="0"/>
              </a:rPr>
              <a:t>2021</a:t>
            </a:r>
          </a:p>
          <a:p>
            <a:pPr algn="ctr">
              <a:defRPr sz="1050">
                <a:solidFill>
                  <a:srgbClr val="2A2A2A"/>
                </a:solidFill>
                <a:latin typeface="Avenir Next"/>
              </a:defRPr>
            </a:pPr>
            <a:r>
              <a:rPr dirty="0">
                <a:latin typeface="Avenir Next" panose="020B0503020202020204" pitchFamily="34" charset="0"/>
              </a:rPr>
              <a:t>BRSR </a:t>
            </a:r>
            <a:r>
              <a:rPr lang="en-US" dirty="0">
                <a:latin typeface="Avenir Next" panose="020B0503020202020204" pitchFamily="34" charset="0"/>
              </a:rPr>
              <a:t>introduced: </a:t>
            </a:r>
            <a:r>
              <a:rPr dirty="0">
                <a:latin typeface="Avenir Next" panose="020B0503020202020204" pitchFamily="34" charset="0"/>
              </a:rPr>
              <a:t> mandatory for the top 1000 listed entities</a:t>
            </a:r>
          </a:p>
        </p:txBody>
      </p:sp>
      <p:sp>
        <p:nvSpPr>
          <p:cNvPr id="9" name="Rounded Rectangle 8"/>
          <p:cNvSpPr/>
          <p:nvPr/>
        </p:nvSpPr>
        <p:spPr>
          <a:xfrm>
            <a:off x="3406007" y="4001368"/>
            <a:ext cx="2468880" cy="1067934"/>
          </a:xfrm>
          <a:prstGeom prst="roundRect">
            <a:avLst/>
          </a:prstGeom>
          <a:solidFill>
            <a:srgbClr val="E8EFE6"/>
          </a:solidFill>
          <a:ln w="12700">
            <a:solidFill>
              <a:srgbClr val="E8E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73F35"/>
                </a:solidFill>
                <a:latin typeface="Georgia"/>
              </a:defRPr>
            </a:pPr>
            <a:r>
              <a:rPr dirty="0">
                <a:latin typeface="Avenir Next" panose="020B0503020202020204" pitchFamily="34" charset="0"/>
              </a:rPr>
              <a:t>2023</a:t>
            </a:r>
          </a:p>
          <a:p>
            <a:pPr algn="ctr">
              <a:defRPr sz="1050">
                <a:solidFill>
                  <a:srgbClr val="2A2A2A"/>
                </a:solidFill>
                <a:latin typeface="Avenir Next"/>
              </a:defRPr>
            </a:pPr>
            <a:r>
              <a:rPr dirty="0">
                <a:latin typeface="Avenir Next" panose="020B0503020202020204" pitchFamily="34" charset="0"/>
              </a:rPr>
              <a:t>BRSR Core</a:t>
            </a:r>
            <a:r>
              <a:rPr lang="en-US" dirty="0">
                <a:latin typeface="Avenir Next" panose="020B0503020202020204" pitchFamily="34" charset="0"/>
              </a:rPr>
              <a:t> introduced: stricter,</a:t>
            </a:r>
            <a:r>
              <a:rPr dirty="0">
                <a:latin typeface="Avenir Next" panose="020B0503020202020204" pitchFamily="34" charset="0"/>
              </a:rPr>
              <a:t> adds KPIs, </a:t>
            </a:r>
            <a:r>
              <a:rPr lang="en-US" dirty="0">
                <a:latin typeface="Avenir Next" panose="020B0503020202020204" pitchFamily="34" charset="0"/>
              </a:rPr>
              <a:t>mandatory reasonable </a:t>
            </a:r>
            <a:r>
              <a:rPr dirty="0">
                <a:latin typeface="Avenir Next" panose="020B0503020202020204" pitchFamily="34" charset="0"/>
              </a:rPr>
              <a:t>assurance and value-chain reporting</a:t>
            </a:r>
          </a:p>
        </p:txBody>
      </p:sp>
      <p:sp>
        <p:nvSpPr>
          <p:cNvPr id="10" name="Rounded Rectangle 9"/>
          <p:cNvSpPr/>
          <p:nvPr/>
        </p:nvSpPr>
        <p:spPr>
          <a:xfrm>
            <a:off x="6021191" y="4001368"/>
            <a:ext cx="2468880" cy="1067934"/>
          </a:xfrm>
          <a:prstGeom prst="roundRect">
            <a:avLst/>
          </a:prstGeom>
          <a:solidFill>
            <a:srgbClr val="F7F0DE"/>
          </a:solidFill>
          <a:ln w="12700">
            <a:solidFill>
              <a:srgbClr val="F7F0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73F35"/>
                </a:solidFill>
                <a:latin typeface="Georgia"/>
              </a:defRPr>
            </a:pPr>
            <a:r>
              <a:rPr dirty="0">
                <a:latin typeface="Avenir Next" panose="020B0503020202020204" pitchFamily="34" charset="0"/>
              </a:rPr>
              <a:t>Dec</a:t>
            </a:r>
            <a:r>
              <a:rPr lang="en-US" dirty="0">
                <a:latin typeface="Avenir Next" panose="020B0503020202020204" pitchFamily="34" charset="0"/>
              </a:rPr>
              <a:t>.</a:t>
            </a:r>
            <a:r>
              <a:rPr dirty="0">
                <a:latin typeface="Avenir Next" panose="020B0503020202020204" pitchFamily="34" charset="0"/>
              </a:rPr>
              <a:t> 2024</a:t>
            </a:r>
          </a:p>
          <a:p>
            <a:pPr algn="ctr">
              <a:defRPr sz="1050">
                <a:solidFill>
                  <a:srgbClr val="2A2A2A"/>
                </a:solidFill>
                <a:latin typeface="Avenir Next"/>
              </a:defRPr>
            </a:pPr>
            <a:r>
              <a:rPr dirty="0">
                <a:latin typeface="Avenir Next" panose="020B0503020202020204" pitchFamily="34" charset="0"/>
              </a:rPr>
              <a:t>assurance diluted </a:t>
            </a:r>
            <a:r>
              <a:rPr lang="en-US" dirty="0">
                <a:latin typeface="Avenir Next" panose="020B0503020202020204" pitchFamily="34" charset="0"/>
              </a:rPr>
              <a:t>to assessment </a:t>
            </a:r>
            <a:r>
              <a:rPr dirty="0">
                <a:latin typeface="Avenir Next" panose="020B0503020202020204" pitchFamily="34" charset="0"/>
              </a:rPr>
              <a:t>and value-chain disclosure deferred and made voluntary</a:t>
            </a:r>
          </a:p>
        </p:txBody>
      </p:sp>
      <p:sp>
        <p:nvSpPr>
          <p:cNvPr id="11" name="Rounded Rectangle 10"/>
          <p:cNvSpPr/>
          <p:nvPr/>
        </p:nvSpPr>
        <p:spPr>
          <a:xfrm>
            <a:off x="8636375" y="4001368"/>
            <a:ext cx="2468880" cy="1067934"/>
          </a:xfrm>
          <a:prstGeom prst="roundRect">
            <a:avLst/>
          </a:prstGeom>
          <a:solidFill>
            <a:srgbClr val="F5E7DE"/>
          </a:solidFill>
          <a:ln w="12700">
            <a:solidFill>
              <a:srgbClr val="F5E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73F35"/>
                </a:solidFill>
                <a:latin typeface="Georgia"/>
              </a:defRPr>
            </a:pPr>
            <a:r>
              <a:rPr dirty="0">
                <a:latin typeface="Avenir Next" panose="020B0503020202020204" pitchFamily="34" charset="0"/>
              </a:rPr>
              <a:t>2025</a:t>
            </a:r>
          </a:p>
          <a:p>
            <a:pPr algn="ctr">
              <a:defRPr sz="1050">
                <a:solidFill>
                  <a:srgbClr val="2A2A2A"/>
                </a:solidFill>
                <a:latin typeface="Avenir Next"/>
              </a:defRPr>
            </a:pPr>
            <a:r>
              <a:rPr dirty="0">
                <a:latin typeface="Avenir Next" panose="020B0503020202020204" pitchFamily="34" charset="0"/>
              </a:rPr>
              <a:t>scope narrowed further</a:t>
            </a:r>
          </a:p>
        </p:txBody>
      </p:sp>
      <p:sp>
        <p:nvSpPr>
          <p:cNvPr id="12" name="Rounded Rectangle 11"/>
          <p:cNvSpPr/>
          <p:nvPr/>
        </p:nvSpPr>
        <p:spPr>
          <a:xfrm>
            <a:off x="771613" y="1043361"/>
            <a:ext cx="3292762" cy="2765038"/>
          </a:xfrm>
          <a:prstGeom prst="roundRect">
            <a:avLst/>
          </a:prstGeom>
          <a:solidFill>
            <a:srgbClr val="E8EFE6"/>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Avenir Next" panose="020B0503020202020204" pitchFamily="34" charset="0"/>
            </a:endParaRPr>
          </a:p>
        </p:txBody>
      </p:sp>
      <p:sp>
        <p:nvSpPr>
          <p:cNvPr id="13" name="Rounded Rectangle 12"/>
          <p:cNvSpPr/>
          <p:nvPr/>
        </p:nvSpPr>
        <p:spPr>
          <a:xfrm>
            <a:off x="777805" y="1050441"/>
            <a:ext cx="1389888" cy="400229"/>
          </a:xfrm>
          <a:prstGeom prst="round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venir Next"/>
              </a:defRPr>
            </a:pPr>
            <a:r>
              <a:rPr sz="1400">
                <a:latin typeface="Avenir Next" panose="020B0503020202020204" pitchFamily="34" charset="0"/>
              </a:rPr>
              <a:t>Design limits</a:t>
            </a:r>
          </a:p>
        </p:txBody>
      </p:sp>
      <p:sp>
        <p:nvSpPr>
          <p:cNvPr id="14" name="TextBox 13"/>
          <p:cNvSpPr txBox="1"/>
          <p:nvPr/>
        </p:nvSpPr>
        <p:spPr>
          <a:xfrm>
            <a:off x="977339" y="1607285"/>
            <a:ext cx="2906923" cy="2108269"/>
          </a:xfrm>
          <a:prstGeom prst="rect">
            <a:avLst/>
          </a:prstGeom>
          <a:noFill/>
        </p:spPr>
        <p:txBody>
          <a:bodyPr wrap="square" lIns="91440" tIns="45720" rIns="91440" bIns="45720" anchor="t">
            <a:spAutoFit/>
          </a:bodyPr>
          <a:lstStyle/>
          <a:p>
            <a:pPr>
              <a:spcAft>
                <a:spcPts val="300"/>
              </a:spcAft>
              <a:defRPr sz="1000">
                <a:solidFill>
                  <a:srgbClr val="2A2A2A"/>
                </a:solidFill>
                <a:latin typeface="Avenir Next"/>
              </a:defRPr>
            </a:pPr>
            <a:r>
              <a:rPr sz="1400" dirty="0">
                <a:latin typeface="Avenir Next" panose="020B0503020202020204" pitchFamily="34" charset="0"/>
              </a:rPr>
              <a:t>• BRSR covers only Top 1000 listed firms, leaving large unlisted polluters outside.</a:t>
            </a:r>
            <a:endParaRPr lang="en-US" sz="1400" dirty="0">
              <a:latin typeface="Avenir Next" panose="020B0503020202020204" pitchFamily="34" charset="0"/>
            </a:endParaRPr>
          </a:p>
          <a:p>
            <a:pPr>
              <a:spcAft>
                <a:spcPts val="300"/>
              </a:spcAft>
              <a:defRPr sz="1000"/>
            </a:pPr>
            <a:r>
              <a:rPr sz="1400" dirty="0">
                <a:latin typeface="Avenir Next" panose="020B0503020202020204" pitchFamily="34" charset="0"/>
              </a:rPr>
              <a:t>• Single-materiality focus means impacts on the wider environment stay under-reported.</a:t>
            </a:r>
          </a:p>
          <a:p>
            <a:pPr>
              <a:defRPr sz="1000"/>
            </a:pPr>
            <a:r>
              <a:rPr sz="1400" dirty="0">
                <a:latin typeface="Avenir Next" panose="020B0503020202020204" pitchFamily="34" charset="0"/>
              </a:rPr>
              <a:t>• Lack of sector-specific metrics weakens data comparability.</a:t>
            </a:r>
          </a:p>
        </p:txBody>
      </p:sp>
      <p:sp>
        <p:nvSpPr>
          <p:cNvPr id="15" name="Rounded Rectangle 14"/>
          <p:cNvSpPr/>
          <p:nvPr/>
        </p:nvSpPr>
        <p:spPr>
          <a:xfrm>
            <a:off x="4436538" y="1036959"/>
            <a:ext cx="3267149" cy="2197358"/>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Avenir Next" panose="020B0503020202020204" pitchFamily="34" charset="0"/>
            </a:endParaRPr>
          </a:p>
        </p:txBody>
      </p:sp>
      <p:sp>
        <p:nvSpPr>
          <p:cNvPr id="16" name="Rounded Rectangle 15"/>
          <p:cNvSpPr/>
          <p:nvPr/>
        </p:nvSpPr>
        <p:spPr>
          <a:xfrm>
            <a:off x="4417117" y="1050441"/>
            <a:ext cx="1719072" cy="400229"/>
          </a:xfrm>
          <a:prstGeom prst="round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173F35"/>
                </a:solidFill>
                <a:latin typeface="Avenir Next"/>
              </a:defRPr>
            </a:pPr>
            <a:r>
              <a:rPr lang="en-US" sz="1400">
                <a:latin typeface="Avenir Next" panose="020B0503020202020204" pitchFamily="34" charset="0"/>
              </a:rPr>
              <a:t>Backsliding</a:t>
            </a:r>
            <a:endParaRPr lang="en-US" sz="1400" dirty="0">
              <a:latin typeface="Avenir Next" panose="020B0503020202020204" pitchFamily="34" charset="0"/>
            </a:endParaRPr>
          </a:p>
        </p:txBody>
      </p:sp>
      <p:sp>
        <p:nvSpPr>
          <p:cNvPr id="17" name="TextBox 16"/>
          <p:cNvSpPr txBox="1"/>
          <p:nvPr/>
        </p:nvSpPr>
        <p:spPr>
          <a:xfrm>
            <a:off x="4616652" y="1607285"/>
            <a:ext cx="2921592" cy="1638910"/>
          </a:xfrm>
          <a:prstGeom prst="rect">
            <a:avLst/>
          </a:prstGeom>
          <a:noFill/>
        </p:spPr>
        <p:txBody>
          <a:bodyPr wrap="square" lIns="91440" tIns="45720" rIns="91440" bIns="45720" anchor="t">
            <a:spAutoFit/>
          </a:bodyPr>
          <a:lstStyle/>
          <a:p>
            <a:pPr>
              <a:spcAft>
                <a:spcPts val="300"/>
              </a:spcAft>
              <a:defRPr sz="1000">
                <a:solidFill>
                  <a:srgbClr val="2A2A2A"/>
                </a:solidFill>
                <a:latin typeface="Avenir Next"/>
              </a:defRPr>
            </a:pPr>
            <a:r>
              <a:rPr sz="1400" dirty="0">
                <a:latin typeface="Avenir Next" panose="020B0503020202020204" pitchFamily="34" charset="0"/>
              </a:rPr>
              <a:t>• Mandatory audits replaced with soft 'assessment or assurance' option.</a:t>
            </a:r>
            <a:endParaRPr lang="en-US" sz="1400" dirty="0">
              <a:latin typeface="Avenir Next" panose="020B0503020202020204" pitchFamily="34" charset="0"/>
            </a:endParaRPr>
          </a:p>
          <a:p>
            <a:pPr>
              <a:defRPr sz="1000"/>
            </a:pPr>
            <a:r>
              <a:rPr sz="1400" dirty="0">
                <a:latin typeface="Avenir Next" panose="020B0503020202020204" pitchFamily="34" charset="0"/>
              </a:rPr>
              <a:t>• Value-chain reporting deferred</a:t>
            </a:r>
            <a:r>
              <a:rPr lang="en-US" sz="1400" dirty="0">
                <a:latin typeface="Avenir Next" panose="020B0503020202020204" pitchFamily="34" charset="0"/>
              </a:rPr>
              <a:t> and</a:t>
            </a:r>
            <a:r>
              <a:rPr sz="1400" dirty="0">
                <a:latin typeface="Avenir Next" panose="020B0503020202020204" pitchFamily="34" charset="0"/>
              </a:rPr>
              <a:t> made voluntary, and narrowed (2% threshold / 75% cap).</a:t>
            </a:r>
          </a:p>
        </p:txBody>
      </p:sp>
      <p:sp>
        <p:nvSpPr>
          <p:cNvPr id="18" name="Rounded Rectangle 17"/>
          <p:cNvSpPr/>
          <p:nvPr/>
        </p:nvSpPr>
        <p:spPr>
          <a:xfrm>
            <a:off x="8069446" y="1036959"/>
            <a:ext cx="3279955" cy="2745599"/>
          </a:xfrm>
          <a:prstGeom prst="roundRect">
            <a:avLst/>
          </a:prstGeom>
          <a:solidFill>
            <a:srgbClr val="FFF3F0"/>
          </a:solidFill>
          <a:ln w="12700">
            <a:solidFill>
              <a:srgbClr val="E7B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Avenir Next" panose="020B0503020202020204" pitchFamily="34" charset="0"/>
            </a:endParaRPr>
          </a:p>
        </p:txBody>
      </p:sp>
      <p:sp>
        <p:nvSpPr>
          <p:cNvPr id="19" name="Rounded Rectangle 18"/>
          <p:cNvSpPr/>
          <p:nvPr/>
        </p:nvSpPr>
        <p:spPr>
          <a:xfrm>
            <a:off x="8038322" y="1050442"/>
            <a:ext cx="1997376" cy="467266"/>
          </a:xfrm>
          <a:prstGeom prst="round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venir Next"/>
              </a:defRPr>
            </a:pPr>
            <a:r>
              <a:rPr sz="1400" dirty="0">
                <a:latin typeface="Avenir Next" panose="020B0503020202020204" pitchFamily="34" charset="0"/>
              </a:rPr>
              <a:t>Enforcement </a:t>
            </a:r>
            <a:r>
              <a:rPr lang="en-US" sz="1400" dirty="0">
                <a:latin typeface="Avenir Next" panose="020B0503020202020204" pitchFamily="34" charset="0"/>
              </a:rPr>
              <a:t>R</a:t>
            </a:r>
            <a:r>
              <a:rPr sz="1400" dirty="0">
                <a:latin typeface="Avenir Next" panose="020B0503020202020204" pitchFamily="34" charset="0"/>
              </a:rPr>
              <a:t>eality</a:t>
            </a:r>
          </a:p>
        </p:txBody>
      </p:sp>
      <p:sp>
        <p:nvSpPr>
          <p:cNvPr id="20" name="TextBox 19"/>
          <p:cNvSpPr txBox="1"/>
          <p:nvPr/>
        </p:nvSpPr>
        <p:spPr>
          <a:xfrm>
            <a:off x="8255962" y="1607285"/>
            <a:ext cx="2968921" cy="1892826"/>
          </a:xfrm>
          <a:prstGeom prst="rect">
            <a:avLst/>
          </a:prstGeom>
          <a:noFill/>
        </p:spPr>
        <p:txBody>
          <a:bodyPr wrap="square" lIns="91440" tIns="45720" rIns="91440" bIns="45720" anchor="t">
            <a:spAutoFit/>
          </a:bodyPr>
          <a:lstStyle/>
          <a:p>
            <a:pPr>
              <a:spcAft>
                <a:spcPts val="300"/>
              </a:spcAft>
              <a:defRPr sz="1000">
                <a:solidFill>
                  <a:srgbClr val="2A2A2A"/>
                </a:solidFill>
                <a:latin typeface="Avenir Next"/>
              </a:defRPr>
            </a:pPr>
            <a:r>
              <a:rPr sz="1400" dirty="0">
                <a:latin typeface="Avenir Next" panose="020B0503020202020204" pitchFamily="34" charset="0"/>
              </a:rPr>
              <a:t>• </a:t>
            </a:r>
            <a:r>
              <a:rPr sz="1400" dirty="0" err="1">
                <a:latin typeface="Avenir Next" panose="020B0503020202020204" pitchFamily="34" charset="0"/>
              </a:rPr>
              <a:t>Gensol-BluSmart</a:t>
            </a:r>
            <a:r>
              <a:rPr sz="1400" dirty="0">
                <a:latin typeface="Avenir Next" panose="020B0503020202020204" pitchFamily="34" charset="0"/>
              </a:rPr>
              <a:t> action was triggered by whistleblowers, not routine ESG market scans.</a:t>
            </a:r>
            <a:endParaRPr lang="en-US" sz="1400" dirty="0">
              <a:latin typeface="Avenir Next" panose="020B0503020202020204" pitchFamily="34" charset="0"/>
            </a:endParaRPr>
          </a:p>
          <a:p>
            <a:pPr>
              <a:spcAft>
                <a:spcPts val="300"/>
              </a:spcAft>
              <a:defRPr sz="1000"/>
            </a:pPr>
            <a:r>
              <a:rPr sz="1400" dirty="0">
                <a:latin typeface="Avenir Next" panose="020B0503020202020204" pitchFamily="34" charset="0"/>
              </a:rPr>
              <a:t>• SEBI Whole-Time Member publicly flagged false BRSR claims in Jan 2025.</a:t>
            </a:r>
          </a:p>
          <a:p>
            <a:pPr>
              <a:defRPr sz="1000"/>
            </a:pPr>
            <a:r>
              <a:rPr sz="1400" dirty="0">
                <a:latin typeface="Avenir Next" panose="020B0503020202020204" pitchFamily="34" charset="0"/>
              </a:rPr>
              <a:t>• S</a:t>
            </a:r>
            <a:r>
              <a:rPr lang="en-US" sz="1400" dirty="0">
                <a:latin typeface="Avenir Next" panose="020B0503020202020204" pitchFamily="34" charset="0"/>
              </a:rPr>
              <a:t>EBI s</a:t>
            </a:r>
            <a:r>
              <a:rPr sz="1400" dirty="0">
                <a:latin typeface="Avenir Next" panose="020B0503020202020204" pitchFamily="34" charset="0"/>
              </a:rPr>
              <a:t>till lacks a dedicated ESG enforcement team</a:t>
            </a:r>
            <a:r>
              <a:rPr lang="en-US" sz="1400" dirty="0">
                <a:latin typeface="Avenir Next" panose="020B0503020202020204" pitchFamily="34" charset="0"/>
              </a:rPr>
              <a:t>.</a:t>
            </a:r>
            <a:endParaRPr sz="1400" dirty="0">
              <a:latin typeface="Avenir Next" panose="020B0503020202020204" pitchFamily="34" charset="0"/>
            </a:endParaRPr>
          </a:p>
        </p:txBody>
      </p:sp>
      <p:sp>
        <p:nvSpPr>
          <p:cNvPr id="24" name="TextBox 23"/>
          <p:cNvSpPr txBox="1"/>
          <p:nvPr/>
        </p:nvSpPr>
        <p:spPr>
          <a:xfrm>
            <a:off x="11304573" y="4627235"/>
            <a:ext cx="184730" cy="261610"/>
          </a:xfrm>
          <a:prstGeom prst="rect">
            <a:avLst/>
          </a:prstGeom>
          <a:noFill/>
        </p:spPr>
        <p:txBody>
          <a:bodyPr wrap="none">
            <a:spAutoFit/>
          </a:bodyPr>
          <a:lstStyle/>
          <a:p>
            <a:pPr algn="r">
              <a:defRPr sz="900">
                <a:solidFill>
                  <a:srgbClr val="6B6F6A"/>
                </a:solidFill>
                <a:latin typeface="Avenir Next"/>
              </a:defRPr>
            </a:pPr>
            <a:endParaRPr sz="1100">
              <a:latin typeface="Avenir Next" panose="020B0503020202020204" pitchFamily="34" charset="0"/>
            </a:endParaRPr>
          </a:p>
        </p:txBody>
      </p:sp>
      <p:sp>
        <p:nvSpPr>
          <p:cNvPr id="2" name="TextBox 1">
            <a:extLst>
              <a:ext uri="{FF2B5EF4-FFF2-40B4-BE49-F238E27FC236}">
                <a16:creationId xmlns:a16="http://schemas.microsoft.com/office/drawing/2014/main" id="{DE3DB7FA-663C-7695-9E18-0CC77EDD8972}"/>
              </a:ext>
            </a:extLst>
          </p:cNvPr>
          <p:cNvSpPr txBox="1"/>
          <p:nvPr/>
        </p:nvSpPr>
        <p:spPr>
          <a:xfrm>
            <a:off x="822960" y="6651506"/>
            <a:ext cx="4000000" cy="215444"/>
          </a:xfrm>
          <a:prstGeom prst="rect">
            <a:avLst/>
          </a:prstGeom>
          <a:noFill/>
        </p:spPr>
        <p:txBody>
          <a:bodyPr wrap="square" lIns="45720" tIns="22860" rIns="45720" bIns="22860" anchor="t">
            <a:spAutoFit/>
          </a:bodyPr>
          <a:lstStyle/>
          <a:p>
            <a:pPr algn="l"/>
            <a:r>
              <a:rPr sz="1100" b="0" i="0" dirty="0">
                <a:latin typeface="Avenir Next" panose="020B0503020202020204" pitchFamily="34" charset="0"/>
              </a:rPr>
              <a:t>Source base: Chapte</a:t>
            </a:r>
            <a:r>
              <a:rPr lang="en-US" sz="1100" b="0" i="0" dirty="0">
                <a:latin typeface="Avenir Next" panose="020B0503020202020204" pitchFamily="34" charset="0"/>
              </a:rPr>
              <a:t>r 5.</a:t>
            </a:r>
            <a:endParaRPr sz="1100" b="0" i="0" dirty="0">
              <a:latin typeface="Avenir Next" panose="020B0503020202020204" pitchFamily="34" charset="0"/>
            </a:endParaRPr>
          </a:p>
        </p:txBody>
      </p:sp>
      <p:sp>
        <p:nvSpPr>
          <p:cNvPr id="5" name="Answer bar">
            <a:extLst>
              <a:ext uri="{FF2B5EF4-FFF2-40B4-BE49-F238E27FC236}">
                <a16:creationId xmlns:a16="http://schemas.microsoft.com/office/drawing/2014/main" id="{D1033B60-B52B-281A-5CB1-3FC4571723FE}"/>
              </a:ext>
            </a:extLst>
          </p:cNvPr>
          <p:cNvSpPr/>
          <p:nvPr/>
        </p:nvSpPr>
        <p:spPr>
          <a:xfrm>
            <a:off x="568413" y="6116086"/>
            <a:ext cx="11277600" cy="461833"/>
          </a:xfrm>
          <a:prstGeom prst="roundRect">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sz="2400">
              <a:solidFill>
                <a:schemeClr val="lt1"/>
              </a:solidFill>
              <a:latin typeface="Avenir Next" panose="020B0503020202020204" pitchFamily="34" charset="0"/>
            </a:endParaRPr>
          </a:p>
        </p:txBody>
      </p:sp>
      <p:sp>
        <p:nvSpPr>
          <p:cNvPr id="21" name="Answer">
            <a:extLst>
              <a:ext uri="{FF2B5EF4-FFF2-40B4-BE49-F238E27FC236}">
                <a16:creationId xmlns:a16="http://schemas.microsoft.com/office/drawing/2014/main" id="{57C6C143-8251-AA30-5511-720353997CC2}"/>
              </a:ext>
            </a:extLst>
          </p:cNvPr>
          <p:cNvSpPr txBox="1"/>
          <p:nvPr/>
        </p:nvSpPr>
        <p:spPr>
          <a:xfrm>
            <a:off x="771613" y="6120719"/>
            <a:ext cx="10871200" cy="457200"/>
          </a:xfrm>
          <a:prstGeom prst="rect">
            <a:avLst/>
          </a:prstGeom>
        </p:spPr>
        <p:txBody>
          <a:bodyPr wrap="square" rtlCol="0" anchor="ctr">
            <a:noAutofit/>
          </a:bodyPr>
          <a:lstStyle/>
          <a:p>
            <a:r>
              <a:rPr lang="en-IN" sz="1400" b="1" dirty="0">
                <a:solidFill>
                  <a:srgbClr val="173F35"/>
                </a:solidFill>
              </a:rPr>
              <a:t>Answers Research Question 4 (Contd.)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33524" y="384048"/>
            <a:ext cx="11629874"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sz="2800" dirty="0"/>
              <a:t>India Has Legal </a:t>
            </a:r>
            <a:r>
              <a:rPr lang="en-US" sz="2800" dirty="0"/>
              <a:t>Grounds</a:t>
            </a:r>
            <a:r>
              <a:rPr sz="2800" dirty="0"/>
              <a:t> </a:t>
            </a:r>
            <a:r>
              <a:rPr lang="en-US" sz="2800" dirty="0"/>
              <a:t>B</a:t>
            </a:r>
            <a:r>
              <a:rPr sz="2800" dirty="0"/>
              <a:t>ut </a:t>
            </a:r>
            <a:r>
              <a:rPr lang="en-US" sz="2800" dirty="0"/>
              <a:t>Enforcement </a:t>
            </a:r>
            <a:r>
              <a:rPr sz="2800" dirty="0"/>
              <a:t>Is Weak</a:t>
            </a:r>
            <a:r>
              <a:rPr lang="en-US" sz="2800" dirty="0"/>
              <a:t>: A comparison</a:t>
            </a:r>
            <a:endParaRPr sz="2800" dirty="0"/>
          </a:p>
        </p:txBody>
      </p:sp>
      <p:sp>
        <p:nvSpPr>
          <p:cNvPr id="5" name="TextBox 4"/>
          <p:cNvSpPr txBox="1"/>
          <p:nvPr/>
        </p:nvSpPr>
        <p:spPr>
          <a:xfrm>
            <a:off x="490348" y="934772"/>
            <a:ext cx="8817863" cy="307777"/>
          </a:xfrm>
          <a:prstGeom prst="rect">
            <a:avLst/>
          </a:prstGeom>
          <a:noFill/>
        </p:spPr>
        <p:txBody>
          <a:bodyPr wrap="none" lIns="91440" tIns="45720" rIns="91440" bIns="45720" anchor="t">
            <a:spAutoFit/>
          </a:bodyPr>
          <a:lstStyle/>
          <a:p>
            <a:pPr>
              <a:defRPr sz="1200">
                <a:solidFill>
                  <a:srgbClr val="6B6F6A"/>
                </a:solidFill>
                <a:latin typeface="Avenir Next"/>
              </a:defRPr>
            </a:pPr>
            <a:r>
              <a:rPr lang="en-US" sz="1400" b="1" dirty="0">
                <a:latin typeface="Avenir Next" panose="020B0503020202020204" pitchFamily="34" charset="0"/>
              </a:rPr>
              <a:t>There is </a:t>
            </a:r>
            <a:r>
              <a:rPr sz="1400" b="1" dirty="0">
                <a:latin typeface="Avenir Next" panose="020B0503020202020204" pitchFamily="34" charset="0"/>
              </a:rPr>
              <a:t>doctrinal strength </a:t>
            </a:r>
            <a:r>
              <a:rPr lang="en-US" sz="1400" b="1" dirty="0">
                <a:latin typeface="Avenir Next" panose="020B0503020202020204" pitchFamily="34" charset="0"/>
              </a:rPr>
              <a:t>in laws but has</a:t>
            </a:r>
            <a:r>
              <a:rPr sz="1400" b="1" dirty="0">
                <a:latin typeface="Avenir Next" panose="020B0503020202020204" pitchFamily="34" charset="0"/>
              </a:rPr>
              <a:t> not yet been converted into visible, routine </a:t>
            </a:r>
            <a:r>
              <a:rPr lang="en-US" sz="1400" b="1" dirty="0">
                <a:latin typeface="Avenir Next" panose="020B0503020202020204" pitchFamily="34" charset="0"/>
              </a:rPr>
              <a:t>enforcement</a:t>
            </a:r>
            <a:r>
              <a:rPr sz="1400" b="1" dirty="0">
                <a:latin typeface="Avenir Next" panose="020B0503020202020204" pitchFamily="34" charset="0"/>
              </a:rPr>
              <a:t>.</a:t>
            </a:r>
          </a:p>
        </p:txBody>
      </p:sp>
      <p:sp>
        <p:nvSpPr>
          <p:cNvPr id="8" name="Rounded Rectangle 7"/>
          <p:cNvSpPr/>
          <p:nvPr/>
        </p:nvSpPr>
        <p:spPr>
          <a:xfrm>
            <a:off x="723900" y="1975759"/>
            <a:ext cx="4914900" cy="3666674"/>
          </a:xfrm>
          <a:prstGeom prst="roundRect">
            <a:avLst/>
          </a:prstGeom>
          <a:solidFill>
            <a:srgbClr val="E8EFE6"/>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Avenir Next" panose="020B0503020202020204" pitchFamily="34" charset="0"/>
            </a:endParaRPr>
          </a:p>
        </p:txBody>
      </p:sp>
      <p:sp>
        <p:nvSpPr>
          <p:cNvPr id="9" name="Rounded Rectangle 8"/>
          <p:cNvSpPr/>
          <p:nvPr/>
        </p:nvSpPr>
        <p:spPr>
          <a:xfrm>
            <a:off x="965200" y="1966685"/>
            <a:ext cx="4432300" cy="342900"/>
          </a:xfrm>
          <a:prstGeom prst="round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rPr lang="en-US" sz="1600" dirty="0">
                <a:latin typeface="Avenir Next" panose="020B0503020202020204" pitchFamily="34" charset="0"/>
              </a:rPr>
              <a:t>Already in Law — But Unenforced</a:t>
            </a:r>
          </a:p>
        </p:txBody>
      </p:sp>
      <p:sp>
        <p:nvSpPr>
          <p:cNvPr id="10" name="TextBox 9"/>
          <p:cNvSpPr txBox="1"/>
          <p:nvPr/>
        </p:nvSpPr>
        <p:spPr>
          <a:xfrm>
            <a:off x="952500" y="2559959"/>
            <a:ext cx="4445000" cy="2831544"/>
          </a:xfrm>
          <a:prstGeom prst="rect">
            <a:avLst/>
          </a:prstGeom>
          <a:noFill/>
        </p:spPr>
        <p:txBody>
          <a:bodyPr wrap="square" lIns="91440" tIns="45720" rIns="91440" bIns="45720" anchor="t">
            <a:spAutoFit/>
          </a:bodyPr>
          <a:lstStyle/>
          <a:p>
            <a:pPr marL="171450" indent="-171450">
              <a:spcAft>
                <a:spcPts val="600"/>
              </a:spcAft>
              <a:defRPr sz="1150">
                <a:solidFill>
                  <a:srgbClr val="2D2D2D"/>
                </a:solidFill>
                <a:latin typeface="Avenir Next"/>
              </a:defRPr>
            </a:pPr>
            <a:r>
              <a:rPr lang="en-US" sz="1400" dirty="0">
                <a:latin typeface="Avenir Next" panose="020B0503020202020204" pitchFamily="34" charset="0"/>
              </a:rPr>
              <a:t>• Section 166(2) explicitly places environmental protection inside directors' duties, yet not a single director liability case has been reported under it for green claims.</a:t>
            </a:r>
          </a:p>
          <a:p>
            <a:pPr marL="171450" indent="-171450">
              <a:spcAft>
                <a:spcPts val="600"/>
              </a:spcAft>
              <a:defRPr sz="1150">
                <a:solidFill>
                  <a:srgbClr val="2D2D2D"/>
                </a:solidFill>
                <a:latin typeface="Avenir Next"/>
              </a:defRPr>
            </a:pPr>
            <a:r>
              <a:rPr lang="en-US" sz="1400" dirty="0">
                <a:latin typeface="Avenir Next" panose="020B0503020202020204" pitchFamily="34" charset="0"/>
              </a:rPr>
              <a:t>• Supreme Court rulings (Tata-Mistry, Ranjitsinh) affirm environmental duties and climate rights, but narrow legal standing keeps the affected public and civil society from filing claims.</a:t>
            </a:r>
          </a:p>
          <a:p>
            <a:pPr marL="171450" indent="-171450">
              <a:spcAft>
                <a:spcPts val="600"/>
              </a:spcAft>
              <a:defRPr sz="1150">
                <a:solidFill>
                  <a:srgbClr val="2D2D2D"/>
                </a:solidFill>
                <a:latin typeface="Avenir Next"/>
              </a:defRPr>
            </a:pPr>
            <a:r>
              <a:rPr lang="en-US" sz="1400" dirty="0">
                <a:latin typeface="Avenir Next" panose="020B0503020202020204" pitchFamily="34" charset="0"/>
              </a:rPr>
              <a:t>• SEBI's BRSR and BRSR Core formalize detailed sustainability disclosures, while audits remain partial and delayed, leaving the data largely self-certified.</a:t>
            </a:r>
          </a:p>
        </p:txBody>
      </p:sp>
      <p:sp>
        <p:nvSpPr>
          <p:cNvPr id="17" name="TextBox 16"/>
          <p:cNvSpPr txBox="1"/>
          <p:nvPr/>
        </p:nvSpPr>
        <p:spPr>
          <a:xfrm>
            <a:off x="569593" y="6548663"/>
            <a:ext cx="5295580" cy="261610"/>
          </a:xfrm>
          <a:prstGeom prst="rect">
            <a:avLst/>
          </a:prstGeom>
          <a:noFill/>
        </p:spPr>
        <p:txBody>
          <a:bodyPr wrap="square" lIns="91440" tIns="45720" rIns="91440" bIns="45720" anchor="t">
            <a:spAutoFit/>
          </a:bodyPr>
          <a:lstStyle/>
          <a:p>
            <a:pPr>
              <a:defRPr sz="850">
                <a:solidFill>
                  <a:srgbClr val="6B6F6A"/>
                </a:solidFill>
                <a:latin typeface="Avenir Next"/>
              </a:defRPr>
            </a:pPr>
            <a:r>
              <a:rPr sz="1100" dirty="0">
                <a:latin typeface="Avenir Next" panose="020B0503020202020204" pitchFamily="34" charset="0"/>
              </a:rPr>
              <a:t>Source base: </a:t>
            </a:r>
            <a:r>
              <a:rPr lang="en-US" sz="1100" dirty="0">
                <a:latin typeface="Avenir Next" panose="020B0503020202020204" pitchFamily="34" charset="0"/>
              </a:rPr>
              <a:t>Chapter</a:t>
            </a:r>
            <a:r>
              <a:rPr sz="1100" dirty="0">
                <a:latin typeface="Avenir Next" panose="020B0503020202020204" pitchFamily="34" charset="0"/>
              </a:rPr>
              <a:t> 3</a:t>
            </a:r>
            <a:r>
              <a:rPr lang="en-US" sz="1100" dirty="0">
                <a:latin typeface="Avenir Next" panose="020B0503020202020204" pitchFamily="34" charset="0"/>
              </a:rPr>
              <a:t>, 4, </a:t>
            </a:r>
            <a:r>
              <a:rPr sz="1100" dirty="0">
                <a:latin typeface="Avenir Next" panose="020B0503020202020204" pitchFamily="34" charset="0"/>
              </a:rPr>
              <a:t>5.</a:t>
            </a:r>
          </a:p>
        </p:txBody>
      </p:sp>
      <p:sp>
        <p:nvSpPr>
          <p:cNvPr id="2" name="Rounded Rectangle 1">
            <a:extLst>
              <a:ext uri="{FF2B5EF4-FFF2-40B4-BE49-F238E27FC236}">
                <a16:creationId xmlns:a16="http://schemas.microsoft.com/office/drawing/2014/main" id="{31D2653C-AA1D-EB96-9FD8-1D9C12FA8911}"/>
              </a:ext>
            </a:extLst>
          </p:cNvPr>
          <p:cNvSpPr/>
          <p:nvPr/>
        </p:nvSpPr>
        <p:spPr>
          <a:xfrm>
            <a:off x="5842000" y="1975759"/>
            <a:ext cx="2603500" cy="1609271"/>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6" name="Rectangle 5">
            <a:extLst>
              <a:ext uri="{FF2B5EF4-FFF2-40B4-BE49-F238E27FC236}">
                <a16:creationId xmlns:a16="http://schemas.microsoft.com/office/drawing/2014/main" id="{EA45468F-BB4A-4C6B-D391-61D333C81DAF}"/>
              </a:ext>
            </a:extLst>
          </p:cNvPr>
          <p:cNvSpPr/>
          <p:nvPr/>
        </p:nvSpPr>
        <p:spPr>
          <a:xfrm>
            <a:off x="5842000" y="1975759"/>
            <a:ext cx="2603500" cy="88900"/>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7" name="TextBox 6">
            <a:extLst>
              <a:ext uri="{FF2B5EF4-FFF2-40B4-BE49-F238E27FC236}">
                <a16:creationId xmlns:a16="http://schemas.microsoft.com/office/drawing/2014/main" id="{E13F0F5A-3BB8-8B7E-7EA6-5EECBB00BD2C}"/>
              </a:ext>
            </a:extLst>
          </p:cNvPr>
          <p:cNvSpPr txBox="1"/>
          <p:nvPr/>
        </p:nvSpPr>
        <p:spPr>
          <a:xfrm>
            <a:off x="5981700" y="2128159"/>
            <a:ext cx="2324100" cy="342900"/>
          </a:xfrm>
          <a:prstGeom prst="rect">
            <a:avLst/>
          </a:prstGeom>
          <a:noFill/>
        </p:spPr>
        <p:txBody>
          <a:bodyPr wrap="square" anchor="t">
            <a:spAutoFit/>
          </a:bodyPr>
          <a:lstStyle/>
          <a:p>
            <a:pPr algn="l">
              <a:defRPr sz="1600" b="1">
                <a:solidFill>
                  <a:srgbClr val="173F35"/>
                </a:solidFill>
                <a:latin typeface="Avenir Next Demi Bold"/>
              </a:defRPr>
            </a:pPr>
            <a:r>
              <a:rPr sz="1600" dirty="0">
                <a:latin typeface="Avenir Next" panose="020B0503020202020204" pitchFamily="34" charset="0"/>
              </a:rPr>
              <a:t>Australia</a:t>
            </a:r>
          </a:p>
        </p:txBody>
      </p:sp>
      <p:sp>
        <p:nvSpPr>
          <p:cNvPr id="14" name="TextBox 13">
            <a:extLst>
              <a:ext uri="{FF2B5EF4-FFF2-40B4-BE49-F238E27FC236}">
                <a16:creationId xmlns:a16="http://schemas.microsoft.com/office/drawing/2014/main" id="{331775EE-D103-F149-F830-2F0D5D597336}"/>
              </a:ext>
            </a:extLst>
          </p:cNvPr>
          <p:cNvSpPr txBox="1"/>
          <p:nvPr/>
        </p:nvSpPr>
        <p:spPr>
          <a:xfrm>
            <a:off x="5981700" y="2460172"/>
            <a:ext cx="2324100" cy="1015663"/>
          </a:xfrm>
          <a:prstGeom prst="rect">
            <a:avLst/>
          </a:prstGeom>
          <a:noFill/>
        </p:spPr>
        <p:txBody>
          <a:bodyPr wrap="square" anchor="t">
            <a:spAutoFit/>
          </a:bodyPr>
          <a:lstStyle/>
          <a:p>
            <a:pPr>
              <a:defRPr sz="1000" b="0">
                <a:solidFill>
                  <a:srgbClr val="2A2A2A"/>
                </a:solidFill>
                <a:latin typeface="Avenir Next"/>
              </a:defRPr>
            </a:pPr>
            <a:r>
              <a:rPr lang="en-IN" sz="1200" dirty="0">
                <a:latin typeface="Avenir Next" panose="020B0503020202020204" pitchFamily="34" charset="0"/>
              </a:rPr>
              <a:t>In Australia, its securities regulator, ASIC made 47 greenwashing-related regulatory interventions in just 15 months ending June 2024.</a:t>
            </a:r>
          </a:p>
        </p:txBody>
      </p:sp>
      <p:sp>
        <p:nvSpPr>
          <p:cNvPr id="15" name="Rounded Rectangle 14">
            <a:extLst>
              <a:ext uri="{FF2B5EF4-FFF2-40B4-BE49-F238E27FC236}">
                <a16:creationId xmlns:a16="http://schemas.microsoft.com/office/drawing/2014/main" id="{9EEE3F2A-EEE2-7DC1-9ED6-9B10A4742DF4}"/>
              </a:ext>
            </a:extLst>
          </p:cNvPr>
          <p:cNvSpPr/>
          <p:nvPr/>
        </p:nvSpPr>
        <p:spPr>
          <a:xfrm>
            <a:off x="8712200" y="1975759"/>
            <a:ext cx="2603500" cy="1609271"/>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16" name="Rectangle 15">
            <a:extLst>
              <a:ext uri="{FF2B5EF4-FFF2-40B4-BE49-F238E27FC236}">
                <a16:creationId xmlns:a16="http://schemas.microsoft.com/office/drawing/2014/main" id="{84F83AD5-B75A-FAFB-70F3-C09E32B80BAC}"/>
              </a:ext>
            </a:extLst>
          </p:cNvPr>
          <p:cNvSpPr/>
          <p:nvPr/>
        </p:nvSpPr>
        <p:spPr>
          <a:xfrm>
            <a:off x="8712200" y="1975759"/>
            <a:ext cx="2603500" cy="88900"/>
          </a:xfrm>
          <a:prstGeom prst="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18" name="TextBox 17">
            <a:extLst>
              <a:ext uri="{FF2B5EF4-FFF2-40B4-BE49-F238E27FC236}">
                <a16:creationId xmlns:a16="http://schemas.microsoft.com/office/drawing/2014/main" id="{AFD4E64D-B14D-9396-911D-8FEAE51B63FA}"/>
              </a:ext>
            </a:extLst>
          </p:cNvPr>
          <p:cNvSpPr txBox="1"/>
          <p:nvPr/>
        </p:nvSpPr>
        <p:spPr>
          <a:xfrm>
            <a:off x="8851900" y="2128159"/>
            <a:ext cx="2324100" cy="342900"/>
          </a:xfrm>
          <a:prstGeom prst="rect">
            <a:avLst/>
          </a:prstGeom>
          <a:noFill/>
        </p:spPr>
        <p:txBody>
          <a:bodyPr wrap="square" anchor="t">
            <a:spAutoFit/>
          </a:bodyPr>
          <a:lstStyle/>
          <a:p>
            <a:pPr algn="l">
              <a:defRPr sz="1600" b="1">
                <a:solidFill>
                  <a:srgbClr val="173F35"/>
                </a:solidFill>
                <a:latin typeface="Avenir Next Demi Bold"/>
              </a:defRPr>
            </a:pPr>
            <a:r>
              <a:rPr sz="1600" dirty="0">
                <a:latin typeface="Avenir Next" panose="020B0503020202020204" pitchFamily="34" charset="0"/>
              </a:rPr>
              <a:t>Uni</a:t>
            </a:r>
            <a:r>
              <a:rPr lang="en-US" sz="1600" dirty="0">
                <a:latin typeface="Avenir Next" panose="020B0503020202020204" pitchFamily="34" charset="0"/>
              </a:rPr>
              <a:t>ted States</a:t>
            </a:r>
            <a:endParaRPr sz="1600" dirty="0">
              <a:latin typeface="Avenir Next" panose="020B0503020202020204" pitchFamily="34" charset="0"/>
            </a:endParaRPr>
          </a:p>
        </p:txBody>
      </p:sp>
      <p:sp>
        <p:nvSpPr>
          <p:cNvPr id="19" name="TextBox 18">
            <a:extLst>
              <a:ext uri="{FF2B5EF4-FFF2-40B4-BE49-F238E27FC236}">
                <a16:creationId xmlns:a16="http://schemas.microsoft.com/office/drawing/2014/main" id="{B4755C55-9279-EAC2-E8F1-D870948CA206}"/>
              </a:ext>
            </a:extLst>
          </p:cNvPr>
          <p:cNvSpPr txBox="1"/>
          <p:nvPr/>
        </p:nvSpPr>
        <p:spPr>
          <a:xfrm>
            <a:off x="8851900" y="2509159"/>
            <a:ext cx="2324100" cy="830997"/>
          </a:xfrm>
          <a:prstGeom prst="rect">
            <a:avLst/>
          </a:prstGeom>
          <a:noFill/>
        </p:spPr>
        <p:txBody>
          <a:bodyPr wrap="square" anchor="t">
            <a:spAutoFit/>
          </a:bodyPr>
          <a:lstStyle/>
          <a:p>
            <a:pPr algn="l">
              <a:defRPr sz="1000" b="0">
                <a:solidFill>
                  <a:srgbClr val="2A2A2A"/>
                </a:solidFill>
                <a:latin typeface="Avenir Next"/>
              </a:defRPr>
            </a:pPr>
            <a:r>
              <a:rPr sz="1200" dirty="0">
                <a:latin typeface="Avenir Next" panose="020B0503020202020204" pitchFamily="34" charset="0"/>
              </a:rPr>
              <a:t>US FTC and SEC brought </a:t>
            </a:r>
            <a:r>
              <a:rPr lang="en-US" sz="1200" dirty="0">
                <a:latin typeface="Avenir Next" panose="020B0503020202020204" pitchFamily="34" charset="0"/>
              </a:rPr>
              <a:t>over </a:t>
            </a:r>
            <a:r>
              <a:rPr sz="1200" dirty="0">
                <a:latin typeface="Avenir Next" panose="020B0503020202020204" pitchFamily="34" charset="0"/>
              </a:rPr>
              <a:t>90 greenwashing enforcement actions </a:t>
            </a:r>
            <a:r>
              <a:rPr lang="en-US" sz="1200" dirty="0">
                <a:latin typeface="Avenir Next" panose="020B0503020202020204" pitchFamily="34" charset="0"/>
              </a:rPr>
              <a:t>between </a:t>
            </a:r>
            <a:r>
              <a:rPr sz="1200" dirty="0">
                <a:latin typeface="Avenir Next" panose="020B0503020202020204" pitchFamily="34" charset="0"/>
              </a:rPr>
              <a:t>2021</a:t>
            </a:r>
            <a:r>
              <a:rPr lang="en-US" sz="1200" dirty="0">
                <a:latin typeface="Avenir Next" panose="020B0503020202020204" pitchFamily="34" charset="0"/>
              </a:rPr>
              <a:t> and 2023.</a:t>
            </a:r>
            <a:endParaRPr sz="1050" dirty="0">
              <a:latin typeface="Avenir Next" panose="020B0503020202020204" pitchFamily="34" charset="0"/>
            </a:endParaRPr>
          </a:p>
        </p:txBody>
      </p:sp>
      <p:sp>
        <p:nvSpPr>
          <p:cNvPr id="20" name="Rounded Rectangle 19">
            <a:extLst>
              <a:ext uri="{FF2B5EF4-FFF2-40B4-BE49-F238E27FC236}">
                <a16:creationId xmlns:a16="http://schemas.microsoft.com/office/drawing/2014/main" id="{ECB1D669-893A-BBDD-652A-47D573EA4F54}"/>
              </a:ext>
            </a:extLst>
          </p:cNvPr>
          <p:cNvSpPr/>
          <p:nvPr/>
        </p:nvSpPr>
        <p:spPr>
          <a:xfrm>
            <a:off x="5842000" y="4000500"/>
            <a:ext cx="2603500" cy="1733729"/>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21" name="Rectangle 20">
            <a:extLst>
              <a:ext uri="{FF2B5EF4-FFF2-40B4-BE49-F238E27FC236}">
                <a16:creationId xmlns:a16="http://schemas.microsoft.com/office/drawing/2014/main" id="{564762B8-CB94-4D6E-A9B7-FA824D421ACA}"/>
              </a:ext>
            </a:extLst>
          </p:cNvPr>
          <p:cNvSpPr/>
          <p:nvPr/>
        </p:nvSpPr>
        <p:spPr>
          <a:xfrm>
            <a:off x="5842000" y="4000500"/>
            <a:ext cx="2603500" cy="88900"/>
          </a:xfrm>
          <a:prstGeom prst="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22" name="TextBox 21">
            <a:extLst>
              <a:ext uri="{FF2B5EF4-FFF2-40B4-BE49-F238E27FC236}">
                <a16:creationId xmlns:a16="http://schemas.microsoft.com/office/drawing/2014/main" id="{87D40DC7-91CB-FC5A-49FF-F2E491E28AA9}"/>
              </a:ext>
            </a:extLst>
          </p:cNvPr>
          <p:cNvSpPr txBox="1"/>
          <p:nvPr/>
        </p:nvSpPr>
        <p:spPr>
          <a:xfrm>
            <a:off x="5981700" y="4152900"/>
            <a:ext cx="2324100" cy="342900"/>
          </a:xfrm>
          <a:prstGeom prst="rect">
            <a:avLst/>
          </a:prstGeom>
          <a:noFill/>
        </p:spPr>
        <p:txBody>
          <a:bodyPr wrap="square" anchor="t">
            <a:spAutoFit/>
          </a:bodyPr>
          <a:lstStyle/>
          <a:p>
            <a:pPr algn="l">
              <a:defRPr sz="1600" b="1">
                <a:solidFill>
                  <a:srgbClr val="173F35"/>
                </a:solidFill>
                <a:latin typeface="Avenir Next Demi Bold"/>
              </a:defRPr>
            </a:pPr>
            <a:r>
              <a:rPr sz="1600">
                <a:latin typeface="Avenir Next" panose="020B0503020202020204" pitchFamily="34" charset="0"/>
              </a:rPr>
              <a:t>European Union</a:t>
            </a:r>
          </a:p>
        </p:txBody>
      </p:sp>
      <p:sp>
        <p:nvSpPr>
          <p:cNvPr id="23" name="TextBox 22">
            <a:extLst>
              <a:ext uri="{FF2B5EF4-FFF2-40B4-BE49-F238E27FC236}">
                <a16:creationId xmlns:a16="http://schemas.microsoft.com/office/drawing/2014/main" id="{AC3EB8E3-E237-96A6-C5E0-5944B4A00204}"/>
              </a:ext>
            </a:extLst>
          </p:cNvPr>
          <p:cNvSpPr txBox="1"/>
          <p:nvPr/>
        </p:nvSpPr>
        <p:spPr>
          <a:xfrm>
            <a:off x="5981700" y="4484913"/>
            <a:ext cx="2324100" cy="1200329"/>
          </a:xfrm>
          <a:prstGeom prst="rect">
            <a:avLst/>
          </a:prstGeom>
          <a:noFill/>
        </p:spPr>
        <p:txBody>
          <a:bodyPr wrap="square" anchor="t">
            <a:spAutoFit/>
          </a:bodyPr>
          <a:lstStyle/>
          <a:p>
            <a:pPr algn="l">
              <a:defRPr sz="1000" b="0">
                <a:solidFill>
                  <a:srgbClr val="2A2A2A"/>
                </a:solidFill>
                <a:latin typeface="Avenir Next"/>
              </a:defRPr>
            </a:pPr>
            <a:r>
              <a:rPr lang="en-IN" sz="1200" dirty="0">
                <a:latin typeface="Avenir Next" panose="020B0503020202020204" pitchFamily="34" charset="0"/>
              </a:rPr>
              <a:t>n the European Union, France’s competition authority</a:t>
            </a:r>
          </a:p>
          <a:p>
            <a:pPr algn="l">
              <a:defRPr sz="1000" b="0">
                <a:solidFill>
                  <a:srgbClr val="2A2A2A"/>
                </a:solidFill>
                <a:latin typeface="Avenir Next"/>
              </a:defRPr>
            </a:pPr>
            <a:r>
              <a:rPr lang="en-IN" sz="1200" dirty="0">
                <a:latin typeface="Avenir Next" panose="020B0503020202020204" pitchFamily="34" charset="0"/>
              </a:rPr>
              <a:t>alone issued 141 warnings and 114 injunctions for misleading environmental claims.</a:t>
            </a:r>
            <a:endParaRPr lang="en-US" sz="1400" dirty="0">
              <a:latin typeface="Avenir Next" panose="020B0503020202020204" pitchFamily="34" charset="0"/>
            </a:endParaRPr>
          </a:p>
        </p:txBody>
      </p:sp>
      <p:sp>
        <p:nvSpPr>
          <p:cNvPr id="24" name="Rounded Rectangle 23">
            <a:extLst>
              <a:ext uri="{FF2B5EF4-FFF2-40B4-BE49-F238E27FC236}">
                <a16:creationId xmlns:a16="http://schemas.microsoft.com/office/drawing/2014/main" id="{DB524ECD-0D2D-5A1D-CF13-897C1810DCE3}"/>
              </a:ext>
            </a:extLst>
          </p:cNvPr>
          <p:cNvSpPr/>
          <p:nvPr/>
        </p:nvSpPr>
        <p:spPr>
          <a:xfrm>
            <a:off x="8712200" y="4000500"/>
            <a:ext cx="2603500" cy="1609271"/>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25" name="Rectangle 24">
            <a:extLst>
              <a:ext uri="{FF2B5EF4-FFF2-40B4-BE49-F238E27FC236}">
                <a16:creationId xmlns:a16="http://schemas.microsoft.com/office/drawing/2014/main" id="{1ED3E6F9-37CC-3768-999F-3D30D75E9687}"/>
              </a:ext>
            </a:extLst>
          </p:cNvPr>
          <p:cNvSpPr/>
          <p:nvPr/>
        </p:nvSpPr>
        <p:spPr>
          <a:xfrm>
            <a:off x="8712200" y="4000500"/>
            <a:ext cx="2603500" cy="88900"/>
          </a:xfrm>
          <a:prstGeom prst="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26" name="TextBox 25">
            <a:extLst>
              <a:ext uri="{FF2B5EF4-FFF2-40B4-BE49-F238E27FC236}">
                <a16:creationId xmlns:a16="http://schemas.microsoft.com/office/drawing/2014/main" id="{7EBBD021-C5EB-6F08-152C-EFC835203AA0}"/>
              </a:ext>
            </a:extLst>
          </p:cNvPr>
          <p:cNvSpPr txBox="1"/>
          <p:nvPr/>
        </p:nvSpPr>
        <p:spPr>
          <a:xfrm>
            <a:off x="8851900" y="4152900"/>
            <a:ext cx="2324100" cy="342900"/>
          </a:xfrm>
          <a:prstGeom prst="rect">
            <a:avLst/>
          </a:prstGeom>
          <a:noFill/>
        </p:spPr>
        <p:txBody>
          <a:bodyPr wrap="square" anchor="t">
            <a:spAutoFit/>
          </a:bodyPr>
          <a:lstStyle/>
          <a:p>
            <a:pPr algn="l">
              <a:defRPr sz="1600" b="1">
                <a:solidFill>
                  <a:srgbClr val="173F35"/>
                </a:solidFill>
                <a:latin typeface="Avenir Next Demi Bold"/>
              </a:defRPr>
            </a:pPr>
            <a:r>
              <a:rPr sz="1600">
                <a:latin typeface="Avenir Next" panose="020B0503020202020204" pitchFamily="34" charset="0"/>
              </a:rPr>
              <a:t>India</a:t>
            </a:r>
          </a:p>
        </p:txBody>
      </p:sp>
      <p:sp>
        <p:nvSpPr>
          <p:cNvPr id="27" name="TextBox 26">
            <a:extLst>
              <a:ext uri="{FF2B5EF4-FFF2-40B4-BE49-F238E27FC236}">
                <a16:creationId xmlns:a16="http://schemas.microsoft.com/office/drawing/2014/main" id="{8EC782C2-B1A4-EC21-4F07-5D39E28F3BB5}"/>
              </a:ext>
            </a:extLst>
          </p:cNvPr>
          <p:cNvSpPr txBox="1"/>
          <p:nvPr/>
        </p:nvSpPr>
        <p:spPr>
          <a:xfrm>
            <a:off x="8851900" y="4533900"/>
            <a:ext cx="2324100" cy="646331"/>
          </a:xfrm>
          <a:prstGeom prst="rect">
            <a:avLst/>
          </a:prstGeom>
          <a:noFill/>
        </p:spPr>
        <p:txBody>
          <a:bodyPr wrap="square" anchor="t">
            <a:spAutoFit/>
          </a:bodyPr>
          <a:lstStyle/>
          <a:p>
            <a:pPr algn="l">
              <a:defRPr sz="1000" b="1">
                <a:solidFill>
                  <a:srgbClr val="2A2A2A"/>
                </a:solidFill>
                <a:latin typeface="Avenir Next"/>
              </a:defRPr>
            </a:pPr>
            <a:r>
              <a:rPr sz="1200" dirty="0">
                <a:latin typeface="Avenir Next" panose="020B0503020202020204" pitchFamily="34" charset="0"/>
              </a:rPr>
              <a:t>Comprehensive</a:t>
            </a:r>
            <a:r>
              <a:rPr lang="en-US" sz="1200" dirty="0">
                <a:latin typeface="Avenir Next" panose="020B0503020202020204" pitchFamily="34" charset="0"/>
              </a:rPr>
              <a:t>ly</a:t>
            </a:r>
            <a:r>
              <a:rPr sz="1200" dirty="0">
                <a:latin typeface="Avenir Next" panose="020B0503020202020204" pitchFamily="34" charset="0"/>
              </a:rPr>
              <a:t> written rules, but </a:t>
            </a:r>
            <a:r>
              <a:rPr lang="en-US" sz="1200" dirty="0">
                <a:latin typeface="Avenir Next" panose="020B0503020202020204" pitchFamily="34" charset="0"/>
              </a:rPr>
              <a:t>enforcement is scarce.</a:t>
            </a:r>
            <a:endParaRPr sz="1200" dirty="0">
              <a:latin typeface="Avenir Next" panose="020B0503020202020204" pitchFamily="34" charset="0"/>
            </a:endParaRPr>
          </a:p>
        </p:txBody>
      </p:sp>
    </p:spTree>
    <p:extLst>
      <p:ext uri="{BB962C8B-B14F-4D97-AF65-F5344CB8AC3E}">
        <p14:creationId xmlns:p14="http://schemas.microsoft.com/office/powerpoint/2010/main" val="91152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45137" y="351390"/>
            <a:ext cx="11636617" cy="492443"/>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sz="2600" dirty="0"/>
              <a:t>India's Enforcement Gap Is</a:t>
            </a:r>
            <a:r>
              <a:rPr lang="en-US" sz="2600" dirty="0"/>
              <a:t> A</a:t>
            </a:r>
            <a:r>
              <a:rPr sz="2600" dirty="0"/>
              <a:t> Design Problem</a:t>
            </a:r>
            <a:r>
              <a:rPr lang="en-US" sz="2600" dirty="0"/>
              <a:t>: A Comparative Study</a:t>
            </a:r>
            <a:endParaRPr sz="2600" dirty="0"/>
          </a:p>
        </p:txBody>
      </p:sp>
      <p:sp>
        <p:nvSpPr>
          <p:cNvPr id="21" name="TextBox 20"/>
          <p:cNvSpPr txBox="1"/>
          <p:nvPr/>
        </p:nvSpPr>
        <p:spPr>
          <a:xfrm>
            <a:off x="566928" y="6580418"/>
            <a:ext cx="3698448" cy="261610"/>
          </a:xfrm>
          <a:prstGeom prst="rect">
            <a:avLst/>
          </a:prstGeom>
          <a:noFill/>
        </p:spPr>
        <p:txBody>
          <a:bodyPr wrap="none" lIns="91440" tIns="45720" rIns="91440" bIns="45720" anchor="t">
            <a:spAutoFit/>
          </a:bodyPr>
          <a:lstStyle/>
          <a:p>
            <a:pPr>
              <a:defRPr sz="850">
                <a:solidFill>
                  <a:srgbClr val="6B6F6A"/>
                </a:solidFill>
                <a:latin typeface="Avenir Next"/>
              </a:defRPr>
            </a:pPr>
            <a:r>
              <a:rPr lang="en-US" sz="1100" dirty="0"/>
              <a:t>Source base: Comparative study, Chapter 4, Chapter 5</a:t>
            </a:r>
          </a:p>
        </p:txBody>
      </p:sp>
      <p:sp>
        <p:nvSpPr>
          <p:cNvPr id="41" name="Shape 41"/>
          <p:cNvSpPr/>
          <p:nvPr/>
        </p:nvSpPr>
        <p:spPr>
          <a:xfrm>
            <a:off x="609600" y="1030511"/>
            <a:ext cx="3568700" cy="3341916"/>
          </a:xfrm>
          <a:prstGeom prst="roundRect">
            <a:avLst>
              <a:gd name="adj" fmla="val 8000"/>
            </a:avLst>
          </a:prstGeom>
          <a:solidFill>
            <a:srgbClr val="FFFDF8"/>
          </a:solidFill>
          <a:ln w="9525">
            <a:solidFill>
              <a:srgbClr val="E5E0D8"/>
            </a:solidFill>
          </a:ln>
        </p:spPr>
        <p:txBody>
          <a:bodyPr/>
          <a:lstStyle/>
          <a:p>
            <a:endParaRPr/>
          </a:p>
        </p:txBody>
      </p:sp>
      <p:sp>
        <p:nvSpPr>
          <p:cNvPr id="42" name="Shape 42"/>
          <p:cNvSpPr/>
          <p:nvPr/>
        </p:nvSpPr>
        <p:spPr>
          <a:xfrm>
            <a:off x="609600" y="1030511"/>
            <a:ext cx="3568700" cy="88900"/>
          </a:xfrm>
          <a:prstGeom prst="rect">
            <a:avLst/>
          </a:prstGeom>
          <a:solidFill>
            <a:srgbClr val="6A8C69"/>
          </a:solidFill>
          <a:ln>
            <a:noFill/>
          </a:ln>
        </p:spPr>
        <p:txBody>
          <a:bodyPr/>
          <a:lstStyle/>
          <a:p>
            <a:endParaRPr/>
          </a:p>
        </p:txBody>
      </p:sp>
      <p:sp>
        <p:nvSpPr>
          <p:cNvPr id="43" name="TextBox 43"/>
          <p:cNvSpPr txBox="1"/>
          <p:nvPr/>
        </p:nvSpPr>
        <p:spPr>
          <a:xfrm>
            <a:off x="812800" y="1284511"/>
            <a:ext cx="3022600" cy="584200"/>
          </a:xfrm>
          <a:prstGeom prst="rect">
            <a:avLst/>
          </a:prstGeom>
          <a:noFill/>
        </p:spPr>
        <p:txBody>
          <a:bodyPr wrap="square" lIns="0" tIns="0" rIns="0" bIns="0">
            <a:normAutofit/>
          </a:bodyPr>
          <a:lstStyle/>
          <a:p>
            <a:pPr>
              <a:spcAft>
                <a:spcPts val="200"/>
              </a:spcAft>
            </a:pPr>
            <a:r>
              <a:rPr lang="en-US" sz="1800" b="1" dirty="0">
                <a:solidFill>
                  <a:srgbClr val="173F35"/>
                </a:solidFill>
                <a:latin typeface="Avenir Next" panose="020B0503020202020204" pitchFamily="34" charset="0"/>
              </a:rPr>
              <a:t>European Union</a:t>
            </a:r>
          </a:p>
          <a:p>
            <a:r>
              <a:rPr lang="en-US" sz="1400" b="1" dirty="0">
                <a:solidFill>
                  <a:srgbClr val="6A8C69"/>
                </a:solidFill>
                <a:latin typeface="Avenir Next" panose="020B0503020202020204" pitchFamily="34" charset="0"/>
              </a:rPr>
              <a:t>Integrated reporting architecture</a:t>
            </a:r>
          </a:p>
        </p:txBody>
      </p:sp>
      <p:sp>
        <p:nvSpPr>
          <p:cNvPr id="44" name="TextBox 44"/>
          <p:cNvSpPr txBox="1"/>
          <p:nvPr/>
        </p:nvSpPr>
        <p:spPr>
          <a:xfrm>
            <a:off x="812800" y="1914065"/>
            <a:ext cx="3365500" cy="2458361"/>
          </a:xfrm>
          <a:prstGeom prst="rect">
            <a:avLst/>
          </a:prstGeom>
          <a:noFill/>
        </p:spPr>
        <p:txBody>
          <a:bodyPr wrap="square" lIns="0" tIns="0" rIns="0" bIns="0">
            <a:noAutofit/>
          </a:bodyPr>
          <a:lstStyle/>
          <a:p>
            <a:pPr marL="171450" indent="-171450">
              <a:spcAft>
                <a:spcPts val="500"/>
              </a:spcAft>
            </a:pPr>
            <a:r>
              <a:rPr lang="en-US" sz="1600" b="0" i="0" dirty="0">
                <a:solidFill>
                  <a:srgbClr val="2D2D2D"/>
                </a:solidFill>
                <a:latin typeface="Avenir Next" panose="020B0503020202020204" pitchFamily="34" charset="0"/>
              </a:rPr>
              <a:t>• CSRD: direct board accountability, double materiality, phased move to reasonable assurance and audits, standardized ESRS format for reports.</a:t>
            </a:r>
          </a:p>
          <a:p>
            <a:pPr marL="171450" indent="-171450">
              <a:spcAft>
                <a:spcPts val="500"/>
              </a:spcAft>
            </a:pPr>
            <a:r>
              <a:rPr lang="en-US" sz="1600" b="0" i="0" dirty="0">
                <a:solidFill>
                  <a:srgbClr val="2D2D2D"/>
                </a:solidFill>
                <a:latin typeface="Avenir Next" panose="020B0503020202020204" pitchFamily="34" charset="0"/>
              </a:rPr>
              <a:t>• Green Claims Directive: lifecycle substantiation, accredited verification pre-publication</a:t>
            </a:r>
          </a:p>
          <a:p>
            <a:pPr marL="171450" indent="-171450">
              <a:spcAft>
                <a:spcPts val="500"/>
              </a:spcAft>
            </a:pPr>
            <a:r>
              <a:rPr lang="en-US" sz="1600" dirty="0">
                <a:solidFill>
                  <a:srgbClr val="2D2D2D"/>
                </a:solidFill>
                <a:latin typeface="Avenir Next" panose="020B0503020202020204" pitchFamily="34" charset="0"/>
              </a:rPr>
              <a:t>• Turnover Linked Penalties</a:t>
            </a:r>
            <a:endParaRPr lang="en-US" sz="1600" b="0" i="0" dirty="0">
              <a:solidFill>
                <a:srgbClr val="2D2D2D"/>
              </a:solidFill>
              <a:latin typeface="Avenir Next" panose="020B0503020202020204" pitchFamily="34" charset="0"/>
            </a:endParaRPr>
          </a:p>
        </p:txBody>
      </p:sp>
      <p:sp>
        <p:nvSpPr>
          <p:cNvPr id="45" name="Shape 45"/>
          <p:cNvSpPr/>
          <p:nvPr/>
        </p:nvSpPr>
        <p:spPr>
          <a:xfrm>
            <a:off x="4381500" y="1030510"/>
            <a:ext cx="3568700" cy="3341917"/>
          </a:xfrm>
          <a:prstGeom prst="roundRect">
            <a:avLst>
              <a:gd name="adj" fmla="val 8000"/>
            </a:avLst>
          </a:prstGeom>
          <a:solidFill>
            <a:srgbClr val="FFFDF8"/>
          </a:solidFill>
          <a:ln w="9525">
            <a:solidFill>
              <a:srgbClr val="E5E0D8"/>
            </a:solidFill>
          </a:ln>
        </p:spPr>
        <p:txBody>
          <a:bodyPr/>
          <a:lstStyle/>
          <a:p>
            <a:endParaRPr/>
          </a:p>
        </p:txBody>
      </p:sp>
      <p:sp>
        <p:nvSpPr>
          <p:cNvPr id="46" name="Shape 46"/>
          <p:cNvSpPr/>
          <p:nvPr/>
        </p:nvSpPr>
        <p:spPr>
          <a:xfrm>
            <a:off x="4381500" y="1030511"/>
            <a:ext cx="3568700" cy="88900"/>
          </a:xfrm>
          <a:prstGeom prst="rect">
            <a:avLst/>
          </a:prstGeom>
          <a:solidFill>
            <a:srgbClr val="C8A24D"/>
          </a:solidFill>
          <a:ln>
            <a:noFill/>
          </a:ln>
        </p:spPr>
        <p:txBody>
          <a:bodyPr/>
          <a:lstStyle/>
          <a:p>
            <a:endParaRPr/>
          </a:p>
        </p:txBody>
      </p:sp>
      <p:sp>
        <p:nvSpPr>
          <p:cNvPr id="47" name="TextBox 47"/>
          <p:cNvSpPr txBox="1"/>
          <p:nvPr/>
        </p:nvSpPr>
        <p:spPr>
          <a:xfrm>
            <a:off x="4584700" y="1284511"/>
            <a:ext cx="3022600" cy="584200"/>
          </a:xfrm>
          <a:prstGeom prst="rect">
            <a:avLst/>
          </a:prstGeom>
          <a:noFill/>
        </p:spPr>
        <p:txBody>
          <a:bodyPr wrap="square" lIns="0" tIns="0" rIns="0" bIns="0">
            <a:normAutofit/>
          </a:bodyPr>
          <a:lstStyle/>
          <a:p>
            <a:pPr>
              <a:spcAft>
                <a:spcPts val="200"/>
              </a:spcAft>
            </a:pPr>
            <a:r>
              <a:rPr lang="en-US" sz="1800" b="1" dirty="0">
                <a:solidFill>
                  <a:srgbClr val="173F35"/>
                </a:solidFill>
                <a:latin typeface="Avenir Next" panose="020B0503020202020204" pitchFamily="34" charset="0"/>
              </a:rPr>
              <a:t>United Kingdom</a:t>
            </a:r>
          </a:p>
          <a:p>
            <a:r>
              <a:rPr lang="en-US" sz="1400" b="1" dirty="0">
                <a:solidFill>
                  <a:srgbClr val="C8A24D"/>
                </a:solidFill>
                <a:latin typeface="Avenir Next" panose="020B0503020202020204" pitchFamily="34" charset="0"/>
              </a:rPr>
              <a:t>Aligned regulators</a:t>
            </a:r>
          </a:p>
        </p:txBody>
      </p:sp>
      <p:sp>
        <p:nvSpPr>
          <p:cNvPr id="48" name="TextBox 48"/>
          <p:cNvSpPr txBox="1"/>
          <p:nvPr/>
        </p:nvSpPr>
        <p:spPr>
          <a:xfrm>
            <a:off x="4584700" y="1914066"/>
            <a:ext cx="3365500" cy="2545446"/>
          </a:xfrm>
          <a:prstGeom prst="rect">
            <a:avLst/>
          </a:prstGeom>
          <a:noFill/>
        </p:spPr>
        <p:txBody>
          <a:bodyPr wrap="square" lIns="0" tIns="0" rIns="0" bIns="0">
            <a:noAutofit/>
          </a:bodyPr>
          <a:lstStyle/>
          <a:p>
            <a:pPr marL="171450" indent="-171450">
              <a:spcAft>
                <a:spcPts val="500"/>
              </a:spcAft>
            </a:pPr>
            <a:r>
              <a:rPr lang="en-US" sz="1600" b="0" i="0" dirty="0">
                <a:solidFill>
                  <a:srgbClr val="2D2D2D"/>
                </a:solidFill>
                <a:latin typeface="Avenir Next" panose="020B0503020202020204" pitchFamily="34" charset="0"/>
              </a:rPr>
              <a:t>• FCA rule: environmental claims must be fair, clear, not misleading and evidence-backed</a:t>
            </a:r>
          </a:p>
          <a:p>
            <a:pPr marL="171450" indent="-171450">
              <a:spcAft>
                <a:spcPts val="500"/>
              </a:spcAft>
            </a:pPr>
            <a:r>
              <a:rPr lang="en-US" sz="1600" b="0" i="0" dirty="0">
                <a:solidFill>
                  <a:srgbClr val="2D2D2D"/>
                </a:solidFill>
                <a:latin typeface="Avenir Next" panose="020B0503020202020204" pitchFamily="34" charset="0"/>
              </a:rPr>
              <a:t>• CMA can fine up to 10% of global turnover for breaking consumer laws</a:t>
            </a:r>
          </a:p>
          <a:p>
            <a:pPr marL="171450" indent="-171450"/>
            <a:r>
              <a:rPr lang="en-US" sz="1600" b="0" i="0" dirty="0">
                <a:solidFill>
                  <a:srgbClr val="2D2D2D"/>
                </a:solidFill>
                <a:latin typeface="Avenir Next" panose="020B0503020202020204" pitchFamily="34" charset="0"/>
              </a:rPr>
              <a:t>• FCA and CMA act as one aligned enforcement structure, not silos</a:t>
            </a:r>
          </a:p>
          <a:p>
            <a:pPr marL="171450" indent="-171450"/>
            <a:r>
              <a:rPr lang="en-US" sz="1600" dirty="0">
                <a:solidFill>
                  <a:srgbClr val="2D2D2D"/>
                </a:solidFill>
                <a:latin typeface="Avenir Next" panose="020B0503020202020204" pitchFamily="34" charset="0"/>
              </a:rPr>
              <a:t>• Turnover Linked Penalties</a:t>
            </a:r>
          </a:p>
        </p:txBody>
      </p:sp>
      <p:sp>
        <p:nvSpPr>
          <p:cNvPr id="49" name="Shape 49"/>
          <p:cNvSpPr/>
          <p:nvPr/>
        </p:nvSpPr>
        <p:spPr>
          <a:xfrm>
            <a:off x="8153400" y="1030511"/>
            <a:ext cx="3568700" cy="3341916"/>
          </a:xfrm>
          <a:prstGeom prst="roundRect">
            <a:avLst>
              <a:gd name="adj" fmla="val 8000"/>
            </a:avLst>
          </a:prstGeom>
          <a:solidFill>
            <a:srgbClr val="FFFDF8"/>
          </a:solidFill>
          <a:ln w="9525">
            <a:solidFill>
              <a:srgbClr val="E5E0D8"/>
            </a:solidFill>
          </a:ln>
        </p:spPr>
        <p:txBody>
          <a:bodyPr/>
          <a:lstStyle/>
          <a:p>
            <a:endParaRPr/>
          </a:p>
        </p:txBody>
      </p:sp>
      <p:sp>
        <p:nvSpPr>
          <p:cNvPr id="50" name="Shape 50"/>
          <p:cNvSpPr/>
          <p:nvPr/>
        </p:nvSpPr>
        <p:spPr>
          <a:xfrm>
            <a:off x="8153400" y="1030511"/>
            <a:ext cx="3568700" cy="88900"/>
          </a:xfrm>
          <a:prstGeom prst="rect">
            <a:avLst/>
          </a:prstGeom>
          <a:solidFill>
            <a:srgbClr val="C96A3D"/>
          </a:solidFill>
          <a:ln>
            <a:noFill/>
          </a:ln>
        </p:spPr>
        <p:txBody>
          <a:bodyPr/>
          <a:lstStyle/>
          <a:p>
            <a:endParaRPr/>
          </a:p>
        </p:txBody>
      </p:sp>
      <p:sp>
        <p:nvSpPr>
          <p:cNvPr id="51" name="TextBox 51"/>
          <p:cNvSpPr txBox="1"/>
          <p:nvPr/>
        </p:nvSpPr>
        <p:spPr>
          <a:xfrm>
            <a:off x="8356600" y="1284511"/>
            <a:ext cx="3022600" cy="584200"/>
          </a:xfrm>
          <a:prstGeom prst="rect">
            <a:avLst/>
          </a:prstGeom>
          <a:noFill/>
        </p:spPr>
        <p:txBody>
          <a:bodyPr wrap="square" lIns="0" tIns="0" rIns="0" bIns="0">
            <a:normAutofit/>
          </a:bodyPr>
          <a:lstStyle/>
          <a:p>
            <a:pPr>
              <a:spcAft>
                <a:spcPts val="200"/>
              </a:spcAft>
            </a:pPr>
            <a:r>
              <a:rPr lang="en-US" sz="1800" b="1" dirty="0">
                <a:solidFill>
                  <a:srgbClr val="173F35"/>
                </a:solidFill>
                <a:latin typeface="Avenir Next" panose="020B0503020202020204" pitchFamily="34" charset="0"/>
              </a:rPr>
              <a:t>Australia</a:t>
            </a:r>
          </a:p>
          <a:p>
            <a:r>
              <a:rPr lang="en-US" sz="1400" b="1" dirty="0">
                <a:solidFill>
                  <a:srgbClr val="C96A3D"/>
                </a:solidFill>
                <a:latin typeface="Avenir Next" panose="020B0503020202020204" pitchFamily="34" charset="0"/>
              </a:rPr>
              <a:t>Visible enforcement</a:t>
            </a:r>
          </a:p>
        </p:txBody>
      </p:sp>
      <p:sp>
        <p:nvSpPr>
          <p:cNvPr id="52" name="TextBox 52"/>
          <p:cNvSpPr txBox="1"/>
          <p:nvPr/>
        </p:nvSpPr>
        <p:spPr>
          <a:xfrm>
            <a:off x="8356600" y="1914065"/>
            <a:ext cx="3225800" cy="2509163"/>
          </a:xfrm>
          <a:prstGeom prst="rect">
            <a:avLst/>
          </a:prstGeom>
          <a:noFill/>
        </p:spPr>
        <p:txBody>
          <a:bodyPr wrap="square" lIns="0" tIns="0" rIns="0" bIns="0">
            <a:noAutofit/>
          </a:bodyPr>
          <a:lstStyle/>
          <a:p>
            <a:pPr marL="171450" indent="-171450">
              <a:spcAft>
                <a:spcPts val="500"/>
              </a:spcAft>
            </a:pPr>
            <a:r>
              <a:rPr lang="en-US" sz="1600" b="0" i="0" dirty="0">
                <a:solidFill>
                  <a:srgbClr val="2D2D2D"/>
                </a:solidFill>
                <a:latin typeface="Avenir Next" panose="020B0503020202020204" pitchFamily="34" charset="0"/>
              </a:rPr>
              <a:t>• ASIC: 47 greenwashing interventions in the 15 months to 30 June 2024</a:t>
            </a:r>
          </a:p>
          <a:p>
            <a:pPr marL="171450" indent="-171450">
              <a:spcAft>
                <a:spcPts val="500"/>
              </a:spcAft>
            </a:pPr>
            <a:r>
              <a:rPr lang="en-US" sz="1600" b="0" i="0" dirty="0">
                <a:solidFill>
                  <a:srgbClr val="2D2D2D"/>
                </a:solidFill>
                <a:latin typeface="Avenir Next" panose="020B0503020202020204" pitchFamily="34" charset="0"/>
              </a:rPr>
              <a:t>• AUD 11.3 Million penalty against Mercer Super for misleading ESG disclosures</a:t>
            </a:r>
          </a:p>
          <a:p>
            <a:pPr marL="171450" indent="-171450"/>
            <a:r>
              <a:rPr lang="en-US" sz="1600" b="0" i="0" dirty="0">
                <a:solidFill>
                  <a:srgbClr val="2D2D2D"/>
                </a:solidFill>
                <a:latin typeface="Avenir Next" panose="020B0503020202020204" pitchFamily="34" charset="0"/>
              </a:rPr>
              <a:t>• ASIC and ACCC treat greenwashing as a joint priority</a:t>
            </a:r>
          </a:p>
          <a:p>
            <a:pPr marL="171450" indent="-171450"/>
            <a:r>
              <a:rPr lang="en-US" sz="1600" dirty="0">
                <a:solidFill>
                  <a:srgbClr val="2D2D2D"/>
                </a:solidFill>
                <a:latin typeface="Avenir Next" panose="020B0503020202020204" pitchFamily="34" charset="0"/>
              </a:rPr>
              <a:t>• Turnover Linked Penalties</a:t>
            </a:r>
          </a:p>
        </p:txBody>
      </p:sp>
      <p:sp>
        <p:nvSpPr>
          <p:cNvPr id="53" name="Shape 53"/>
          <p:cNvSpPr/>
          <p:nvPr/>
        </p:nvSpPr>
        <p:spPr>
          <a:xfrm>
            <a:off x="609600" y="4497612"/>
            <a:ext cx="10972800" cy="2044706"/>
          </a:xfrm>
          <a:prstGeom prst="roundRect">
            <a:avLst>
              <a:gd name="adj" fmla="val 8000"/>
            </a:avLst>
          </a:prstGeom>
          <a:solidFill>
            <a:srgbClr val="E8EFE6"/>
          </a:solidFill>
          <a:ln>
            <a:noFill/>
          </a:ln>
        </p:spPr>
        <p:txBody>
          <a:bodyPr/>
          <a:lstStyle/>
          <a:p>
            <a:endParaRPr/>
          </a:p>
        </p:txBody>
      </p:sp>
      <p:sp>
        <p:nvSpPr>
          <p:cNvPr id="54" name="Shape 54"/>
          <p:cNvSpPr/>
          <p:nvPr/>
        </p:nvSpPr>
        <p:spPr>
          <a:xfrm>
            <a:off x="609600" y="4497613"/>
            <a:ext cx="10972800" cy="88900"/>
          </a:xfrm>
          <a:prstGeom prst="rect">
            <a:avLst/>
          </a:prstGeom>
          <a:solidFill>
            <a:srgbClr val="173F35"/>
          </a:solidFill>
          <a:ln>
            <a:noFill/>
          </a:ln>
        </p:spPr>
        <p:txBody>
          <a:bodyPr/>
          <a:lstStyle/>
          <a:p>
            <a:endParaRPr/>
          </a:p>
        </p:txBody>
      </p:sp>
      <p:sp>
        <p:nvSpPr>
          <p:cNvPr id="55" name="TextBox 55"/>
          <p:cNvSpPr txBox="1"/>
          <p:nvPr/>
        </p:nvSpPr>
        <p:spPr>
          <a:xfrm>
            <a:off x="838200" y="4660897"/>
            <a:ext cx="10515600" cy="304800"/>
          </a:xfrm>
          <a:prstGeom prst="rect">
            <a:avLst/>
          </a:prstGeom>
          <a:noFill/>
        </p:spPr>
        <p:txBody>
          <a:bodyPr wrap="square" lIns="0" tIns="0" rIns="0" bIns="0">
            <a:normAutofit/>
          </a:bodyPr>
          <a:lstStyle/>
          <a:p>
            <a:r>
              <a:rPr lang="en-US" sz="1600" b="1" dirty="0">
                <a:solidFill>
                  <a:srgbClr val="173F35"/>
                </a:solidFill>
                <a:latin typeface="Avenir Next" panose="020B0503020202020204" pitchFamily="34" charset="0"/>
              </a:rPr>
              <a:t>Indian Regulatory Design Failures</a:t>
            </a:r>
          </a:p>
        </p:txBody>
      </p:sp>
      <p:sp>
        <p:nvSpPr>
          <p:cNvPr id="56" name="TextBox 56"/>
          <p:cNvSpPr txBox="1"/>
          <p:nvPr/>
        </p:nvSpPr>
        <p:spPr>
          <a:xfrm>
            <a:off x="838200" y="4982026"/>
            <a:ext cx="10515600" cy="1560292"/>
          </a:xfrm>
          <a:prstGeom prst="rect">
            <a:avLst/>
          </a:prstGeom>
          <a:noFill/>
        </p:spPr>
        <p:txBody>
          <a:bodyPr wrap="square" lIns="0" tIns="0" rIns="0" bIns="0">
            <a:noAutofit/>
          </a:bodyPr>
          <a:lstStyle/>
          <a:p>
            <a:pPr marL="171450" indent="-171450">
              <a:spcAft>
                <a:spcPts val="300"/>
              </a:spcAft>
            </a:pPr>
            <a:r>
              <a:rPr lang="en-US" sz="1500" b="0" i="0" dirty="0">
                <a:solidFill>
                  <a:srgbClr val="2D2D2D"/>
                </a:solidFill>
                <a:latin typeface="Avenir Next" panose="020B0503020202020204" pitchFamily="34" charset="0"/>
              </a:rPr>
              <a:t>• No integrated architecture linking Section 166(2), SEBI's BRSR and the CCPA guidelines across the life cycle of a claim.</a:t>
            </a:r>
          </a:p>
          <a:p>
            <a:pPr marL="171450" indent="-171450">
              <a:spcAft>
                <a:spcPts val="300"/>
              </a:spcAft>
            </a:pPr>
            <a:r>
              <a:rPr lang="en-US" sz="1500" b="0" i="0" dirty="0">
                <a:solidFill>
                  <a:srgbClr val="2D2D2D"/>
                </a:solidFill>
                <a:latin typeface="Avenir Next" panose="020B0503020202020204" pitchFamily="34" charset="0"/>
              </a:rPr>
              <a:t>• No protocol for operational coordination.</a:t>
            </a:r>
          </a:p>
          <a:p>
            <a:pPr marL="171450" indent="-171450">
              <a:spcAft>
                <a:spcPts val="300"/>
              </a:spcAft>
            </a:pPr>
            <a:r>
              <a:rPr lang="en-US" sz="1500" dirty="0">
                <a:solidFill>
                  <a:srgbClr val="2D2D2D"/>
                </a:solidFill>
                <a:latin typeface="Avenir Next" panose="020B0503020202020204" pitchFamily="34" charset="0"/>
              </a:rPr>
              <a:t>• The </a:t>
            </a:r>
            <a:r>
              <a:rPr lang="en-US" sz="1500" b="0" i="0" dirty="0">
                <a:solidFill>
                  <a:srgbClr val="2D2D2D"/>
                </a:solidFill>
                <a:latin typeface="Avenir Next" panose="020B0503020202020204" pitchFamily="34" charset="0"/>
              </a:rPr>
              <a:t>study finds poor enforcement record not just for section 166(2), but also for SEBI BRSR and CCPA Greenwashing Guidelines.</a:t>
            </a:r>
          </a:p>
          <a:p>
            <a:pPr marL="171450" indent="-171450"/>
            <a:r>
              <a:rPr lang="en-US" sz="1500" b="0" i="0" dirty="0">
                <a:solidFill>
                  <a:srgbClr val="2D2D2D"/>
                </a:solidFill>
                <a:latin typeface="Avenir Next" panose="020B0503020202020204" pitchFamily="34" charset="0"/>
              </a:rPr>
              <a:t>• Backsliding rather than tightening: BRSR assurance and value-chain relaxations.</a:t>
            </a:r>
          </a:p>
          <a:p>
            <a:pPr marL="171450" indent="-171450"/>
            <a:r>
              <a:rPr lang="en-US" sz="1500" dirty="0">
                <a:solidFill>
                  <a:srgbClr val="2D2D2D"/>
                </a:solidFill>
                <a:latin typeface="Avenir Next" panose="020B0503020202020204" pitchFamily="34" charset="0"/>
              </a:rPr>
              <a:t>• Fixed low cap penalties: CCPA ₹50L, Section 166(7) ₹5L, FSSAI ₹10L, far below global practice.</a:t>
            </a:r>
            <a:endParaRPr lang="en-US" sz="1500" b="0" i="0" dirty="0">
              <a:solidFill>
                <a:srgbClr val="2D2D2D"/>
              </a:solidFill>
              <a:latin typeface="Avenir Next" panose="020B0503020202020204" pitchFamily="34" charset="0"/>
            </a:endParaRPr>
          </a:p>
          <a:p>
            <a:pPr marL="171450" indent="-171450"/>
            <a:endParaRPr lang="en-US" sz="1500" b="0" i="0" dirty="0">
              <a:solidFill>
                <a:srgbClr val="2D2D2D"/>
              </a:solidFill>
              <a:latin typeface="Avenir Next" panose="020B0503020202020204" pitchFamily="34" charset="0"/>
            </a:endParaRPr>
          </a:p>
        </p:txBody>
      </p:sp>
    </p:spTree>
    <p:extLst>
      <p:ext uri="{BB962C8B-B14F-4D97-AF65-F5344CB8AC3E}">
        <p14:creationId xmlns:p14="http://schemas.microsoft.com/office/powerpoint/2010/main" val="2996162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6" name="Rounded Rectangle 5"/>
          <p:cNvSpPr/>
          <p:nvPr/>
        </p:nvSpPr>
        <p:spPr>
          <a:xfrm>
            <a:off x="717224" y="1048852"/>
            <a:ext cx="5226376" cy="77133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latin typeface="Avenir Next" panose="020B0503020202020204" pitchFamily="34" charset="0"/>
            </a:endParaRPr>
          </a:p>
        </p:txBody>
      </p:sp>
      <p:sp>
        <p:nvSpPr>
          <p:cNvPr id="7" name="Rounded Rectangle 6"/>
          <p:cNvSpPr/>
          <p:nvPr/>
        </p:nvSpPr>
        <p:spPr>
          <a:xfrm>
            <a:off x="500033" y="990131"/>
            <a:ext cx="348425" cy="292179"/>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200" dirty="0">
                <a:latin typeface="Avenir Next" panose="020B0503020202020204" pitchFamily="34" charset="0"/>
              </a:rPr>
              <a:t>1</a:t>
            </a:r>
          </a:p>
        </p:txBody>
      </p:sp>
      <p:sp>
        <p:nvSpPr>
          <p:cNvPr id="8" name="TextBox 7"/>
          <p:cNvSpPr txBox="1"/>
          <p:nvPr/>
        </p:nvSpPr>
        <p:spPr>
          <a:xfrm>
            <a:off x="890016" y="1049380"/>
            <a:ext cx="4925568" cy="733534"/>
          </a:xfrm>
          <a:prstGeom prst="rect">
            <a:avLst/>
          </a:prstGeom>
          <a:noFill/>
        </p:spPr>
        <p:txBody>
          <a:bodyPr wrap="square">
            <a:spAutoFit/>
          </a:bodyPr>
          <a:lstStyle/>
          <a:p>
            <a:pPr algn="l">
              <a:spcAft>
                <a:spcPts val="200"/>
              </a:spcAft>
              <a:defRPr sz="1200" b="1">
                <a:solidFill>
                  <a:srgbClr val="12402D"/>
                </a:solidFill>
                <a:latin typeface="Calibri"/>
              </a:defRPr>
            </a:pPr>
            <a:r>
              <a:rPr sz="1600" dirty="0">
                <a:latin typeface="Avenir Next" panose="020B0503020202020204" pitchFamily="34" charset="0"/>
              </a:rPr>
              <a:t>Pre-Approval for Claims</a:t>
            </a:r>
          </a:p>
          <a:p>
            <a:pPr>
              <a:defRPr sz="1050">
                <a:solidFill>
                  <a:srgbClr val="282828"/>
                </a:solidFill>
              </a:defRPr>
            </a:pPr>
            <a:r>
              <a:rPr sz="1200" dirty="0">
                <a:latin typeface="Avenir Next" panose="020B0503020202020204" pitchFamily="34" charset="0"/>
              </a:rPr>
              <a:t>Independent certification required before publishing any green claim (EU GCD, Colombia).</a:t>
            </a:r>
          </a:p>
        </p:txBody>
      </p:sp>
      <p:sp>
        <p:nvSpPr>
          <p:cNvPr id="9" name="Rounded Rectangle 8"/>
          <p:cNvSpPr/>
          <p:nvPr/>
        </p:nvSpPr>
        <p:spPr>
          <a:xfrm>
            <a:off x="6203624" y="1048852"/>
            <a:ext cx="5226376" cy="782913"/>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latin typeface="Avenir Next" panose="020B0503020202020204" pitchFamily="34" charset="0"/>
            </a:endParaRPr>
          </a:p>
        </p:txBody>
      </p:sp>
      <p:sp>
        <p:nvSpPr>
          <p:cNvPr id="10" name="Rounded Rectangle 9"/>
          <p:cNvSpPr/>
          <p:nvPr/>
        </p:nvSpPr>
        <p:spPr>
          <a:xfrm>
            <a:off x="5986433" y="990131"/>
            <a:ext cx="348425" cy="292179"/>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200">
                <a:latin typeface="Avenir Next" panose="020B0503020202020204" pitchFamily="34" charset="0"/>
              </a:rPr>
              <a:t>2</a:t>
            </a:r>
          </a:p>
        </p:txBody>
      </p:sp>
      <p:sp>
        <p:nvSpPr>
          <p:cNvPr id="11" name="TextBox 10"/>
          <p:cNvSpPr txBox="1"/>
          <p:nvPr/>
        </p:nvSpPr>
        <p:spPr>
          <a:xfrm>
            <a:off x="6436423" y="1049380"/>
            <a:ext cx="4865561" cy="733534"/>
          </a:xfrm>
          <a:prstGeom prst="rect">
            <a:avLst/>
          </a:prstGeom>
          <a:noFill/>
        </p:spPr>
        <p:txBody>
          <a:bodyPr wrap="square">
            <a:spAutoFit/>
          </a:bodyPr>
          <a:lstStyle/>
          <a:p>
            <a:pPr algn="l">
              <a:spcAft>
                <a:spcPts val="200"/>
              </a:spcAft>
              <a:defRPr sz="1200" b="1">
                <a:solidFill>
                  <a:srgbClr val="12402D"/>
                </a:solidFill>
                <a:latin typeface="Calibri"/>
              </a:defRPr>
            </a:pPr>
            <a:r>
              <a:rPr sz="1600" dirty="0">
                <a:latin typeface="Avenir Next" panose="020B0503020202020204" pitchFamily="34" charset="0"/>
              </a:rPr>
              <a:t>Mandatory Third-Party Auditing</a:t>
            </a:r>
          </a:p>
          <a:p>
            <a:pPr>
              <a:defRPr sz="1050">
                <a:solidFill>
                  <a:srgbClr val="282828"/>
                </a:solidFill>
              </a:defRPr>
            </a:pPr>
            <a:r>
              <a:rPr sz="1200" dirty="0">
                <a:latin typeface="Avenir Next" panose="020B0503020202020204" pitchFamily="34" charset="0"/>
              </a:rPr>
              <a:t>Phased move from basic reviews to full financial-grade audits (EU CSRD, Australia).</a:t>
            </a:r>
          </a:p>
        </p:txBody>
      </p:sp>
      <p:sp>
        <p:nvSpPr>
          <p:cNvPr id="12" name="Rounded Rectangle 11"/>
          <p:cNvSpPr/>
          <p:nvPr/>
        </p:nvSpPr>
        <p:spPr>
          <a:xfrm>
            <a:off x="717224" y="2097833"/>
            <a:ext cx="5226376" cy="77133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latin typeface="Avenir Next" panose="020B0503020202020204" pitchFamily="34" charset="0"/>
            </a:endParaRPr>
          </a:p>
        </p:txBody>
      </p:sp>
      <p:sp>
        <p:nvSpPr>
          <p:cNvPr id="13" name="Rounded Rectangle 12"/>
          <p:cNvSpPr/>
          <p:nvPr/>
        </p:nvSpPr>
        <p:spPr>
          <a:xfrm>
            <a:off x="500033" y="2039112"/>
            <a:ext cx="348425" cy="292179"/>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200">
                <a:latin typeface="Avenir Next" panose="020B0503020202020204" pitchFamily="34" charset="0"/>
              </a:rPr>
              <a:t>3</a:t>
            </a:r>
          </a:p>
        </p:txBody>
      </p:sp>
      <p:sp>
        <p:nvSpPr>
          <p:cNvPr id="14" name="TextBox 13"/>
          <p:cNvSpPr txBox="1"/>
          <p:nvPr/>
        </p:nvSpPr>
        <p:spPr>
          <a:xfrm>
            <a:off x="890016" y="2098361"/>
            <a:ext cx="4925568" cy="733534"/>
          </a:xfrm>
          <a:prstGeom prst="rect">
            <a:avLst/>
          </a:prstGeom>
          <a:noFill/>
        </p:spPr>
        <p:txBody>
          <a:bodyPr wrap="square">
            <a:spAutoFit/>
          </a:bodyPr>
          <a:lstStyle/>
          <a:p>
            <a:pPr algn="l">
              <a:spcAft>
                <a:spcPts val="200"/>
              </a:spcAft>
              <a:defRPr sz="1200" b="1">
                <a:solidFill>
                  <a:srgbClr val="12402D"/>
                </a:solidFill>
                <a:latin typeface="Calibri"/>
              </a:defRPr>
            </a:pPr>
            <a:r>
              <a:rPr sz="1600" dirty="0">
                <a:latin typeface="Avenir Next" panose="020B0503020202020204" pitchFamily="34" charset="0"/>
              </a:rPr>
              <a:t>Double Materiality</a:t>
            </a:r>
          </a:p>
          <a:p>
            <a:pPr>
              <a:defRPr sz="1050">
                <a:solidFill>
                  <a:srgbClr val="282828"/>
                </a:solidFill>
              </a:defRPr>
            </a:pPr>
            <a:r>
              <a:rPr sz="1200" dirty="0">
                <a:latin typeface="Avenir Next" panose="020B0503020202020204" pitchFamily="34" charset="0"/>
              </a:rPr>
              <a:t>Disclosing financial risks to the firm AND the firm's real impact on the planet (EU ESRS).</a:t>
            </a:r>
          </a:p>
        </p:txBody>
      </p:sp>
      <p:sp>
        <p:nvSpPr>
          <p:cNvPr id="15" name="Rounded Rectangle 14"/>
          <p:cNvSpPr/>
          <p:nvPr/>
        </p:nvSpPr>
        <p:spPr>
          <a:xfrm>
            <a:off x="6203624" y="2097833"/>
            <a:ext cx="5226376" cy="804285"/>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latin typeface="Avenir Next" panose="020B0503020202020204" pitchFamily="34" charset="0"/>
            </a:endParaRPr>
          </a:p>
        </p:txBody>
      </p:sp>
      <p:sp>
        <p:nvSpPr>
          <p:cNvPr id="16" name="Rounded Rectangle 15"/>
          <p:cNvSpPr/>
          <p:nvPr/>
        </p:nvSpPr>
        <p:spPr>
          <a:xfrm>
            <a:off x="5986433" y="2039112"/>
            <a:ext cx="348425" cy="292179"/>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200">
                <a:latin typeface="Avenir Next" panose="020B0503020202020204" pitchFamily="34" charset="0"/>
              </a:rPr>
              <a:t>4</a:t>
            </a:r>
          </a:p>
        </p:txBody>
      </p:sp>
      <p:sp>
        <p:nvSpPr>
          <p:cNvPr id="17" name="TextBox 16"/>
          <p:cNvSpPr txBox="1"/>
          <p:nvPr/>
        </p:nvSpPr>
        <p:spPr>
          <a:xfrm>
            <a:off x="6436423" y="2098361"/>
            <a:ext cx="4865561" cy="733534"/>
          </a:xfrm>
          <a:prstGeom prst="rect">
            <a:avLst/>
          </a:prstGeom>
          <a:noFill/>
        </p:spPr>
        <p:txBody>
          <a:bodyPr wrap="square">
            <a:spAutoFit/>
          </a:bodyPr>
          <a:lstStyle/>
          <a:p>
            <a:pPr algn="l">
              <a:spcAft>
                <a:spcPts val="200"/>
              </a:spcAft>
              <a:defRPr sz="1200" b="1">
                <a:solidFill>
                  <a:srgbClr val="12402D"/>
                </a:solidFill>
                <a:latin typeface="Calibri"/>
              </a:defRPr>
            </a:pPr>
            <a:r>
              <a:rPr sz="1600" dirty="0">
                <a:latin typeface="Avenir Next" panose="020B0503020202020204" pitchFamily="34" charset="0"/>
              </a:rPr>
              <a:t>Lifecycle Assessment (LCA)</a:t>
            </a:r>
          </a:p>
          <a:p>
            <a:pPr>
              <a:defRPr sz="1050">
                <a:solidFill>
                  <a:srgbClr val="282828"/>
                </a:solidFill>
              </a:defRPr>
            </a:pPr>
            <a:r>
              <a:rPr sz="1200" dirty="0">
                <a:latin typeface="Avenir Next" panose="020B0503020202020204" pitchFamily="34" charset="0"/>
              </a:rPr>
              <a:t>Requiring full cradle-to-grave analysis for all eco-product claims (EU, UK Green Claims Code).</a:t>
            </a:r>
          </a:p>
        </p:txBody>
      </p:sp>
      <p:sp>
        <p:nvSpPr>
          <p:cNvPr id="18" name="Rounded Rectangle 17"/>
          <p:cNvSpPr/>
          <p:nvPr/>
        </p:nvSpPr>
        <p:spPr>
          <a:xfrm>
            <a:off x="717224" y="3185456"/>
            <a:ext cx="5226376" cy="789688"/>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latin typeface="Avenir Next" panose="020B0503020202020204" pitchFamily="34" charset="0"/>
            </a:endParaRPr>
          </a:p>
        </p:txBody>
      </p:sp>
      <p:sp>
        <p:nvSpPr>
          <p:cNvPr id="19" name="Rounded Rectangle 18"/>
          <p:cNvSpPr/>
          <p:nvPr/>
        </p:nvSpPr>
        <p:spPr>
          <a:xfrm>
            <a:off x="500033" y="3126735"/>
            <a:ext cx="348425" cy="292179"/>
          </a:xfrm>
          <a:prstGeom prst="roundRect">
            <a:avLst/>
          </a:prstGeom>
          <a:solidFill>
            <a:srgbClr val="C48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200">
                <a:latin typeface="Avenir Next" panose="020B0503020202020204" pitchFamily="34" charset="0"/>
              </a:rPr>
              <a:t>5</a:t>
            </a:r>
          </a:p>
        </p:txBody>
      </p:sp>
      <p:sp>
        <p:nvSpPr>
          <p:cNvPr id="20" name="TextBox 19"/>
          <p:cNvSpPr txBox="1"/>
          <p:nvPr/>
        </p:nvSpPr>
        <p:spPr>
          <a:xfrm>
            <a:off x="890016" y="3185984"/>
            <a:ext cx="4925568" cy="733534"/>
          </a:xfrm>
          <a:prstGeom prst="rect">
            <a:avLst/>
          </a:prstGeom>
          <a:noFill/>
        </p:spPr>
        <p:txBody>
          <a:bodyPr wrap="square">
            <a:spAutoFit/>
          </a:bodyPr>
          <a:lstStyle/>
          <a:p>
            <a:pPr algn="l">
              <a:spcAft>
                <a:spcPts val="200"/>
              </a:spcAft>
              <a:defRPr sz="1200" b="1">
                <a:solidFill>
                  <a:srgbClr val="12402D"/>
                </a:solidFill>
                <a:latin typeface="Calibri"/>
              </a:defRPr>
            </a:pPr>
            <a:r>
              <a:rPr sz="1600" dirty="0">
                <a:latin typeface="Avenir Next" panose="020B0503020202020204" pitchFamily="34" charset="0"/>
              </a:rPr>
              <a:t>Mandatory Scope 3 Emissions</a:t>
            </a:r>
          </a:p>
          <a:p>
            <a:pPr>
              <a:defRPr sz="1050">
                <a:solidFill>
                  <a:srgbClr val="282828"/>
                </a:solidFill>
              </a:defRPr>
            </a:pPr>
            <a:r>
              <a:rPr sz="1200" dirty="0">
                <a:latin typeface="Avenir Next" panose="020B0503020202020204" pitchFamily="34" charset="0"/>
              </a:rPr>
              <a:t>Full supply-chain emissions must be disclosed; cannot hide polluting suppliers (EU, Australia).</a:t>
            </a:r>
          </a:p>
        </p:txBody>
      </p:sp>
      <p:sp>
        <p:nvSpPr>
          <p:cNvPr id="21" name="Rounded Rectangle 20"/>
          <p:cNvSpPr/>
          <p:nvPr/>
        </p:nvSpPr>
        <p:spPr>
          <a:xfrm>
            <a:off x="6203624" y="3185456"/>
            <a:ext cx="5226376" cy="804285"/>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latin typeface="Avenir Next" panose="020B0503020202020204" pitchFamily="34" charset="0"/>
            </a:endParaRPr>
          </a:p>
        </p:txBody>
      </p:sp>
      <p:sp>
        <p:nvSpPr>
          <p:cNvPr id="22" name="Rounded Rectangle 21"/>
          <p:cNvSpPr/>
          <p:nvPr/>
        </p:nvSpPr>
        <p:spPr>
          <a:xfrm>
            <a:off x="5986433" y="3126735"/>
            <a:ext cx="348425" cy="292179"/>
          </a:xfrm>
          <a:prstGeom prst="roundRect">
            <a:avLst/>
          </a:prstGeom>
          <a:solidFill>
            <a:srgbClr val="C48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200">
                <a:latin typeface="Avenir Next" panose="020B0503020202020204" pitchFamily="34" charset="0"/>
              </a:rPr>
              <a:t>6</a:t>
            </a:r>
          </a:p>
        </p:txBody>
      </p:sp>
      <p:sp>
        <p:nvSpPr>
          <p:cNvPr id="23" name="TextBox 22"/>
          <p:cNvSpPr txBox="1"/>
          <p:nvPr/>
        </p:nvSpPr>
        <p:spPr>
          <a:xfrm>
            <a:off x="6436423" y="3185984"/>
            <a:ext cx="4865561" cy="733534"/>
          </a:xfrm>
          <a:prstGeom prst="rect">
            <a:avLst/>
          </a:prstGeom>
          <a:noFill/>
        </p:spPr>
        <p:txBody>
          <a:bodyPr wrap="square">
            <a:spAutoFit/>
          </a:bodyPr>
          <a:lstStyle/>
          <a:p>
            <a:pPr algn="l">
              <a:spcAft>
                <a:spcPts val="200"/>
              </a:spcAft>
              <a:defRPr sz="1200" b="1">
                <a:solidFill>
                  <a:srgbClr val="12402D"/>
                </a:solidFill>
                <a:latin typeface="Calibri"/>
              </a:defRPr>
            </a:pPr>
            <a:r>
              <a:rPr sz="1600" dirty="0">
                <a:latin typeface="Avenir Next" panose="020B0503020202020204" pitchFamily="34" charset="0"/>
              </a:rPr>
              <a:t>Reversed Burden of Proof</a:t>
            </a:r>
          </a:p>
          <a:p>
            <a:pPr>
              <a:defRPr sz="1050">
                <a:solidFill>
                  <a:srgbClr val="282828"/>
                </a:solidFill>
              </a:defRPr>
            </a:pPr>
            <a:r>
              <a:rPr sz="1200" dirty="0">
                <a:latin typeface="Avenir Next" panose="020B0503020202020204" pitchFamily="34" charset="0"/>
              </a:rPr>
              <a:t>The company must prove its claim is true; consumers do not have to disprove it (Canada, EU).</a:t>
            </a:r>
          </a:p>
        </p:txBody>
      </p:sp>
      <p:sp>
        <p:nvSpPr>
          <p:cNvPr id="24" name="Rounded Rectangle 23"/>
          <p:cNvSpPr/>
          <p:nvPr/>
        </p:nvSpPr>
        <p:spPr>
          <a:xfrm>
            <a:off x="717224" y="4208684"/>
            <a:ext cx="5226376" cy="755158"/>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latin typeface="Avenir Next" panose="020B0503020202020204" pitchFamily="34" charset="0"/>
            </a:endParaRPr>
          </a:p>
        </p:txBody>
      </p:sp>
      <p:sp>
        <p:nvSpPr>
          <p:cNvPr id="25" name="Rounded Rectangle 24"/>
          <p:cNvSpPr/>
          <p:nvPr/>
        </p:nvSpPr>
        <p:spPr>
          <a:xfrm>
            <a:off x="500033" y="4137084"/>
            <a:ext cx="348425" cy="292179"/>
          </a:xfrm>
          <a:prstGeom prst="roundRect">
            <a:avLst/>
          </a:prstGeom>
          <a:solidFill>
            <a:srgbClr val="C48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a:latin typeface="Avenir Next" panose="020B0503020202020204" pitchFamily="34" charset="0"/>
              </a:rPr>
              <a:t>7</a:t>
            </a:r>
          </a:p>
        </p:txBody>
      </p:sp>
      <p:sp>
        <p:nvSpPr>
          <p:cNvPr id="26" name="TextBox 25"/>
          <p:cNvSpPr txBox="1"/>
          <p:nvPr/>
        </p:nvSpPr>
        <p:spPr>
          <a:xfrm>
            <a:off x="890016" y="4183454"/>
            <a:ext cx="4925568" cy="733534"/>
          </a:xfrm>
          <a:prstGeom prst="rect">
            <a:avLst/>
          </a:prstGeom>
          <a:noFill/>
        </p:spPr>
        <p:txBody>
          <a:bodyPr wrap="square">
            <a:spAutoFit/>
          </a:bodyPr>
          <a:lstStyle/>
          <a:p>
            <a:pPr algn="l">
              <a:spcAft>
                <a:spcPts val="200"/>
              </a:spcAft>
              <a:defRPr sz="1200" b="1">
                <a:solidFill>
                  <a:srgbClr val="12402D"/>
                </a:solidFill>
                <a:latin typeface="Calibri"/>
              </a:defRPr>
            </a:pPr>
            <a:r>
              <a:rPr sz="1600" dirty="0">
                <a:latin typeface="Avenir Next" panose="020B0503020202020204" pitchFamily="34" charset="0"/>
              </a:rPr>
              <a:t>Specific Rules for Carbon Claims</a:t>
            </a:r>
          </a:p>
          <a:p>
            <a:pPr>
              <a:defRPr sz="1050">
                <a:solidFill>
                  <a:srgbClr val="282828"/>
                </a:solidFill>
              </a:defRPr>
            </a:pPr>
            <a:r>
              <a:rPr sz="1200" dirty="0">
                <a:latin typeface="Avenir Next" panose="020B0503020202020204" pitchFamily="34" charset="0"/>
              </a:rPr>
              <a:t>Strict standards for 'carbon neutral' claims and retiring verified carbon credits (US FTC, EU).</a:t>
            </a:r>
          </a:p>
        </p:txBody>
      </p:sp>
      <p:sp>
        <p:nvSpPr>
          <p:cNvPr id="27" name="Rounded Rectangle 26"/>
          <p:cNvSpPr/>
          <p:nvPr/>
        </p:nvSpPr>
        <p:spPr>
          <a:xfrm>
            <a:off x="6203624" y="4208684"/>
            <a:ext cx="5226376" cy="79996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latin typeface="Avenir Next" panose="020B0503020202020204" pitchFamily="34" charset="0"/>
            </a:endParaRPr>
          </a:p>
        </p:txBody>
      </p:sp>
      <p:sp>
        <p:nvSpPr>
          <p:cNvPr id="28" name="Rounded Rectangle 27"/>
          <p:cNvSpPr/>
          <p:nvPr/>
        </p:nvSpPr>
        <p:spPr>
          <a:xfrm>
            <a:off x="5986433" y="4137084"/>
            <a:ext cx="348425" cy="292179"/>
          </a:xfrm>
          <a:prstGeom prst="roundRect">
            <a:avLst/>
          </a:prstGeom>
          <a:solidFill>
            <a:srgbClr val="C48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200">
                <a:latin typeface="Avenir Next" panose="020B0503020202020204" pitchFamily="34" charset="0"/>
              </a:rPr>
              <a:t>8</a:t>
            </a:r>
          </a:p>
        </p:txBody>
      </p:sp>
      <p:sp>
        <p:nvSpPr>
          <p:cNvPr id="29" name="TextBox 28"/>
          <p:cNvSpPr txBox="1"/>
          <p:nvPr/>
        </p:nvSpPr>
        <p:spPr>
          <a:xfrm>
            <a:off x="6436423" y="4234970"/>
            <a:ext cx="4865561" cy="733534"/>
          </a:xfrm>
          <a:prstGeom prst="rect">
            <a:avLst/>
          </a:prstGeom>
          <a:noFill/>
        </p:spPr>
        <p:txBody>
          <a:bodyPr wrap="square">
            <a:spAutoFit/>
          </a:bodyPr>
          <a:lstStyle/>
          <a:p>
            <a:pPr algn="l">
              <a:spcAft>
                <a:spcPts val="200"/>
              </a:spcAft>
              <a:defRPr sz="1200" b="1">
                <a:solidFill>
                  <a:srgbClr val="12402D"/>
                </a:solidFill>
                <a:latin typeface="Calibri"/>
              </a:defRPr>
            </a:pPr>
            <a:r>
              <a:rPr sz="1600" dirty="0">
                <a:latin typeface="Avenir Next" panose="020B0503020202020204" pitchFamily="34" charset="0"/>
              </a:rPr>
              <a:t>Ban on Vague Buzzwords</a:t>
            </a:r>
          </a:p>
          <a:p>
            <a:pPr>
              <a:defRPr sz="1050">
                <a:solidFill>
                  <a:srgbClr val="282828"/>
                </a:solidFill>
              </a:defRPr>
            </a:pPr>
            <a:r>
              <a:rPr sz="1200" dirty="0">
                <a:latin typeface="Avenir Next" panose="020B0503020202020204" pitchFamily="34" charset="0"/>
              </a:rPr>
              <a:t>Outlawing broad terms like 'eco-friendly' or 'green' without clear, measurable proof (EU ECGT, UK CMA).</a:t>
            </a:r>
          </a:p>
        </p:txBody>
      </p:sp>
      <p:sp>
        <p:nvSpPr>
          <p:cNvPr id="30" name="Rounded Rectangle 29"/>
          <p:cNvSpPr/>
          <p:nvPr/>
        </p:nvSpPr>
        <p:spPr>
          <a:xfrm>
            <a:off x="717224" y="5270013"/>
            <a:ext cx="5226376" cy="782912"/>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latin typeface="Avenir Next" panose="020B0503020202020204" pitchFamily="34" charset="0"/>
            </a:endParaRPr>
          </a:p>
        </p:txBody>
      </p:sp>
      <p:sp>
        <p:nvSpPr>
          <p:cNvPr id="31" name="Rounded Rectangle 30"/>
          <p:cNvSpPr/>
          <p:nvPr/>
        </p:nvSpPr>
        <p:spPr>
          <a:xfrm>
            <a:off x="500033" y="5211291"/>
            <a:ext cx="348425" cy="292179"/>
          </a:xfrm>
          <a:prstGeom prst="round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200">
                <a:latin typeface="Avenir Next" panose="020B0503020202020204" pitchFamily="34" charset="0"/>
              </a:rPr>
              <a:t>9</a:t>
            </a:r>
          </a:p>
        </p:txBody>
      </p:sp>
      <p:sp>
        <p:nvSpPr>
          <p:cNvPr id="32" name="TextBox 31"/>
          <p:cNvSpPr txBox="1"/>
          <p:nvPr/>
        </p:nvSpPr>
        <p:spPr>
          <a:xfrm>
            <a:off x="890016" y="5279684"/>
            <a:ext cx="4925568" cy="733534"/>
          </a:xfrm>
          <a:prstGeom prst="rect">
            <a:avLst/>
          </a:prstGeom>
          <a:noFill/>
        </p:spPr>
        <p:txBody>
          <a:bodyPr wrap="square">
            <a:spAutoFit/>
          </a:bodyPr>
          <a:lstStyle/>
          <a:p>
            <a:pPr algn="l">
              <a:spcAft>
                <a:spcPts val="200"/>
              </a:spcAft>
              <a:defRPr sz="1200" b="1">
                <a:solidFill>
                  <a:srgbClr val="12402D"/>
                </a:solidFill>
                <a:latin typeface="Calibri"/>
              </a:defRPr>
            </a:pPr>
            <a:r>
              <a:rPr sz="1600" dirty="0">
                <a:latin typeface="Avenir Next" panose="020B0503020202020204" pitchFamily="34" charset="0"/>
              </a:rPr>
              <a:t>Turnover-Linked Penalties</a:t>
            </a:r>
          </a:p>
          <a:p>
            <a:pPr>
              <a:defRPr sz="1050">
                <a:solidFill>
                  <a:srgbClr val="282828"/>
                </a:solidFill>
              </a:defRPr>
            </a:pPr>
            <a:r>
              <a:rPr sz="1200" dirty="0">
                <a:latin typeface="Avenir Next" panose="020B0503020202020204" pitchFamily="34" charset="0"/>
              </a:rPr>
              <a:t>Setting fines at 4% to 10% of total revenue so penalties cannot be dismissed as a minor cost (EU, UK).</a:t>
            </a:r>
          </a:p>
        </p:txBody>
      </p:sp>
      <p:sp>
        <p:nvSpPr>
          <p:cNvPr id="33" name="Rounded Rectangle 32"/>
          <p:cNvSpPr/>
          <p:nvPr/>
        </p:nvSpPr>
        <p:spPr>
          <a:xfrm>
            <a:off x="6203624" y="5185533"/>
            <a:ext cx="5226376" cy="919659"/>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latin typeface="Avenir Next" panose="020B0503020202020204" pitchFamily="34" charset="0"/>
            </a:endParaRPr>
          </a:p>
        </p:txBody>
      </p:sp>
      <p:sp>
        <p:nvSpPr>
          <p:cNvPr id="34" name="Rounded Rectangle 33"/>
          <p:cNvSpPr/>
          <p:nvPr/>
        </p:nvSpPr>
        <p:spPr>
          <a:xfrm>
            <a:off x="5986433" y="5121138"/>
            <a:ext cx="449990" cy="292179"/>
          </a:xfrm>
          <a:prstGeom prst="round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200" dirty="0">
                <a:latin typeface="Avenir Next" panose="020B0503020202020204" pitchFamily="34" charset="0"/>
              </a:rPr>
              <a:t>10</a:t>
            </a:r>
          </a:p>
        </p:txBody>
      </p:sp>
      <p:sp>
        <p:nvSpPr>
          <p:cNvPr id="35" name="TextBox 34"/>
          <p:cNvSpPr txBox="1"/>
          <p:nvPr/>
        </p:nvSpPr>
        <p:spPr>
          <a:xfrm>
            <a:off x="6436423" y="5270540"/>
            <a:ext cx="4865561" cy="733534"/>
          </a:xfrm>
          <a:prstGeom prst="rect">
            <a:avLst/>
          </a:prstGeom>
          <a:noFill/>
        </p:spPr>
        <p:txBody>
          <a:bodyPr wrap="square">
            <a:spAutoFit/>
          </a:bodyPr>
          <a:lstStyle/>
          <a:p>
            <a:pPr algn="l">
              <a:spcAft>
                <a:spcPts val="200"/>
              </a:spcAft>
              <a:defRPr sz="1200" b="1">
                <a:solidFill>
                  <a:srgbClr val="12402D"/>
                </a:solidFill>
                <a:latin typeface="Calibri"/>
              </a:defRPr>
            </a:pPr>
            <a:r>
              <a:rPr sz="1600" dirty="0">
                <a:latin typeface="Avenir Next" panose="020B0503020202020204" pitchFamily="34" charset="0"/>
              </a:rPr>
              <a:t>Connected Multi-Agency System</a:t>
            </a:r>
          </a:p>
          <a:p>
            <a:pPr>
              <a:defRPr sz="1050">
                <a:solidFill>
                  <a:srgbClr val="282828"/>
                </a:solidFill>
              </a:defRPr>
            </a:pPr>
            <a:r>
              <a:rPr sz="1200" dirty="0">
                <a:latin typeface="Avenir Next" panose="020B0503020202020204" pitchFamily="34" charset="0"/>
              </a:rPr>
              <a:t>Automatic case-sharing and joint investigations between consumer, financial, and company regulators.</a:t>
            </a:r>
          </a:p>
        </p:txBody>
      </p:sp>
      <p:sp>
        <p:nvSpPr>
          <p:cNvPr id="40" name="Rectangle 39">
            <a:extLst>
              <a:ext uri="{FF2B5EF4-FFF2-40B4-BE49-F238E27FC236}">
                <a16:creationId xmlns:a16="http://schemas.microsoft.com/office/drawing/2014/main" id="{9B9EF730-E284-2563-2D14-B3A471F88163}"/>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A5CE48DE-9B9C-AA29-E91A-BF63EFFB3466}"/>
              </a:ext>
            </a:extLst>
          </p:cNvPr>
          <p:cNvSpPr txBox="1"/>
          <p:nvPr/>
        </p:nvSpPr>
        <p:spPr>
          <a:xfrm>
            <a:off x="500033" y="377272"/>
            <a:ext cx="9886849"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lang="en-US" sz="2800" dirty="0">
                <a:ea typeface="+mn-lt"/>
                <a:cs typeface="+mn-lt"/>
              </a:rPr>
              <a:t>International Best Practices – A Comparative Benchmark </a:t>
            </a:r>
            <a:endParaRPr lang="en-US" sz="2800" dirty="0"/>
          </a:p>
        </p:txBody>
      </p:sp>
      <p:sp>
        <p:nvSpPr>
          <p:cNvPr id="3" name="Rounded Rectangle 2">
            <a:extLst>
              <a:ext uri="{FF2B5EF4-FFF2-40B4-BE49-F238E27FC236}">
                <a16:creationId xmlns:a16="http://schemas.microsoft.com/office/drawing/2014/main" id="{AC9E51D9-564A-E5A2-1816-58DF8180164B}"/>
              </a:ext>
            </a:extLst>
          </p:cNvPr>
          <p:cNvSpPr/>
          <p:nvPr/>
        </p:nvSpPr>
        <p:spPr>
          <a:xfrm>
            <a:off x="596000" y="6219629"/>
            <a:ext cx="10835640" cy="564232"/>
          </a:xfrm>
          <a:prstGeom prst="roundRect">
            <a:avLst>
              <a:gd name="adj" fmla="val 14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400">
              <a:latin typeface="Avenir Next" panose="020B0503020202020204" pitchFamily="34" charset="0"/>
            </a:endParaRPr>
          </a:p>
        </p:txBody>
      </p:sp>
      <p:sp>
        <p:nvSpPr>
          <p:cNvPr id="4" name="TextBox 3">
            <a:extLst>
              <a:ext uri="{FF2B5EF4-FFF2-40B4-BE49-F238E27FC236}">
                <a16:creationId xmlns:a16="http://schemas.microsoft.com/office/drawing/2014/main" id="{D2EEE067-9F53-D74B-D618-5A50C0CCCA75}"/>
              </a:ext>
            </a:extLst>
          </p:cNvPr>
          <p:cNvSpPr txBox="1"/>
          <p:nvPr/>
        </p:nvSpPr>
        <p:spPr>
          <a:xfrm>
            <a:off x="726000" y="6263218"/>
            <a:ext cx="10575640" cy="477054"/>
          </a:xfrm>
          <a:prstGeom prst="rect">
            <a:avLst/>
          </a:prstGeom>
          <a:noFill/>
        </p:spPr>
        <p:txBody>
          <a:bodyPr wrap="square" lIns="45720" tIns="22860" rIns="45720" bIns="22860" anchor="ctr">
            <a:spAutoFit/>
          </a:bodyPr>
          <a:lstStyle/>
          <a:p>
            <a:pPr algn="just">
              <a:defRPr sz="1100">
                <a:solidFill>
                  <a:srgbClr val="282828"/>
                </a:solidFill>
              </a:defRPr>
            </a:pPr>
            <a:r>
              <a:rPr lang="en-IN" sz="1400" b="1" dirty="0">
                <a:solidFill>
                  <a:srgbClr val="173F35"/>
                </a:solidFill>
              </a:rPr>
              <a:t>Answers Research Question 5: What comparative regulatory models and enforcement techniques have emerged in other jurisdictions to control greenwashing, and what design lessons do they offer?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40869" y="289240"/>
            <a:ext cx="11400000"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lang="en-US" sz="2800" b="1" dirty="0">
                <a:solidFill>
                  <a:srgbClr val="173F35"/>
                </a:solidFill>
                <a:latin typeface="Avenir Next Demi Bold"/>
              </a:rPr>
              <a:t>Other Gaps in Indian Regulatory Ecosystem</a:t>
            </a:r>
            <a:endParaRPr sz="2800" dirty="0"/>
          </a:p>
        </p:txBody>
      </p:sp>
      <p:sp>
        <p:nvSpPr>
          <p:cNvPr id="37" name="Rounded Rectangle 3">
            <a:extLst>
              <a:ext uri="{FF2B5EF4-FFF2-40B4-BE49-F238E27FC236}">
                <a16:creationId xmlns:a16="http://schemas.microsoft.com/office/drawing/2014/main" id="{F86CDA7E-F0A4-7B79-A166-55010829BEB0}"/>
              </a:ext>
            </a:extLst>
          </p:cNvPr>
          <p:cNvSpPr/>
          <p:nvPr/>
        </p:nvSpPr>
        <p:spPr>
          <a:xfrm>
            <a:off x="821999" y="1063289"/>
            <a:ext cx="5116716" cy="1648531"/>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39" name="Rounded Rectangle 4">
            <a:extLst>
              <a:ext uri="{FF2B5EF4-FFF2-40B4-BE49-F238E27FC236}">
                <a16:creationId xmlns:a16="http://schemas.microsoft.com/office/drawing/2014/main" id="{F813656E-E48A-6752-245E-8F12A23E2737}"/>
              </a:ext>
            </a:extLst>
          </p:cNvPr>
          <p:cNvSpPr/>
          <p:nvPr/>
        </p:nvSpPr>
        <p:spPr>
          <a:xfrm>
            <a:off x="176403" y="1023034"/>
            <a:ext cx="737195" cy="461903"/>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sz="1100" dirty="0">
                <a:solidFill>
                  <a:schemeClr val="tx1"/>
                </a:solidFill>
                <a:latin typeface="Avenir Next" panose="020B0503020202020204" pitchFamily="34" charset="0"/>
              </a:rPr>
              <a:t>Gap 1</a:t>
            </a:r>
          </a:p>
        </p:txBody>
      </p:sp>
      <p:sp>
        <p:nvSpPr>
          <p:cNvPr id="41" name="TextBox 40">
            <a:extLst>
              <a:ext uri="{FF2B5EF4-FFF2-40B4-BE49-F238E27FC236}">
                <a16:creationId xmlns:a16="http://schemas.microsoft.com/office/drawing/2014/main" id="{26B4721B-B3A7-881E-57B7-ED843E0D8783}"/>
              </a:ext>
            </a:extLst>
          </p:cNvPr>
          <p:cNvSpPr txBox="1"/>
          <p:nvPr/>
        </p:nvSpPr>
        <p:spPr>
          <a:xfrm>
            <a:off x="932893" y="1172276"/>
            <a:ext cx="5044439" cy="1477328"/>
          </a:xfrm>
          <a:prstGeom prst="rect">
            <a:avLst/>
          </a:prstGeom>
          <a:noFill/>
        </p:spPr>
        <p:txBody>
          <a:bodyPr wrap="square">
            <a:spAutoFit/>
          </a:bodyPr>
          <a:lstStyle/>
          <a:p>
            <a:pPr algn="l">
              <a:spcAft>
                <a:spcPts val="600"/>
              </a:spcAft>
              <a:defRPr sz="1400" b="1">
                <a:solidFill>
                  <a:srgbClr val="12402D"/>
                </a:solidFill>
                <a:latin typeface="Calibri"/>
              </a:defRPr>
            </a:pPr>
            <a:r>
              <a:rPr sz="1600" dirty="0">
                <a:latin typeface="Avenir Next" panose="020B0503020202020204" pitchFamily="34" charset="0"/>
              </a:rPr>
              <a:t>Definitional Fragmentation</a:t>
            </a:r>
          </a:p>
          <a:p>
            <a:pPr>
              <a:spcAft>
                <a:spcPts val="600"/>
              </a:spcAft>
              <a:defRPr sz="1150">
                <a:solidFill>
                  <a:srgbClr val="2D2D2D"/>
                </a:solidFill>
              </a:defRPr>
            </a:pPr>
            <a:r>
              <a:rPr sz="1600" dirty="0">
                <a:latin typeface="Avenir Next" panose="020B0503020202020204" pitchFamily="34" charset="0"/>
              </a:rPr>
              <a:t>• CCPA, SEBI, and ASCI define greenwashing differently based on separate mandates.</a:t>
            </a:r>
          </a:p>
          <a:p>
            <a:pPr>
              <a:spcAft>
                <a:spcPts val="600"/>
              </a:spcAft>
              <a:defRPr sz="1150">
                <a:solidFill>
                  <a:srgbClr val="2D2D2D"/>
                </a:solidFill>
              </a:defRPr>
            </a:pPr>
            <a:r>
              <a:rPr sz="1600" dirty="0">
                <a:latin typeface="Avenir Next" panose="020B0503020202020204" pitchFamily="34" charset="0"/>
              </a:rPr>
              <a:t>• Key technical terms ('carbon neutral', 'net zero') remain legally undefined in India.</a:t>
            </a:r>
          </a:p>
        </p:txBody>
      </p:sp>
      <p:sp>
        <p:nvSpPr>
          <p:cNvPr id="43" name="Rounded Rectangle 6">
            <a:extLst>
              <a:ext uri="{FF2B5EF4-FFF2-40B4-BE49-F238E27FC236}">
                <a16:creationId xmlns:a16="http://schemas.microsoft.com/office/drawing/2014/main" id="{31F74835-6A59-B51C-3E82-E2C7E439ECBB}"/>
              </a:ext>
            </a:extLst>
          </p:cNvPr>
          <p:cNvSpPr/>
          <p:nvPr/>
        </p:nvSpPr>
        <p:spPr>
          <a:xfrm>
            <a:off x="625317" y="3200811"/>
            <a:ext cx="5116716" cy="2458000"/>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45" name="Rounded Rectangle 7">
            <a:extLst>
              <a:ext uri="{FF2B5EF4-FFF2-40B4-BE49-F238E27FC236}">
                <a16:creationId xmlns:a16="http://schemas.microsoft.com/office/drawing/2014/main" id="{32E40E84-6032-A682-A8D9-8B1561127F99}"/>
              </a:ext>
            </a:extLst>
          </p:cNvPr>
          <p:cNvSpPr/>
          <p:nvPr/>
        </p:nvSpPr>
        <p:spPr>
          <a:xfrm>
            <a:off x="176403" y="3111569"/>
            <a:ext cx="711962" cy="461903"/>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sz="1100" dirty="0">
                <a:solidFill>
                  <a:schemeClr val="tx1"/>
                </a:solidFill>
                <a:latin typeface="Avenir Next" panose="020B0503020202020204" pitchFamily="34" charset="0"/>
              </a:rPr>
              <a:t>Gap 2</a:t>
            </a:r>
          </a:p>
        </p:txBody>
      </p:sp>
      <p:sp>
        <p:nvSpPr>
          <p:cNvPr id="47" name="TextBox 46">
            <a:extLst>
              <a:ext uri="{FF2B5EF4-FFF2-40B4-BE49-F238E27FC236}">
                <a16:creationId xmlns:a16="http://schemas.microsoft.com/office/drawing/2014/main" id="{03A43F78-A477-AC42-D5E9-73952486FF36}"/>
              </a:ext>
            </a:extLst>
          </p:cNvPr>
          <p:cNvSpPr txBox="1"/>
          <p:nvPr/>
        </p:nvSpPr>
        <p:spPr>
          <a:xfrm>
            <a:off x="917251" y="3260811"/>
            <a:ext cx="4690875" cy="2292935"/>
          </a:xfrm>
          <a:prstGeom prst="rect">
            <a:avLst/>
          </a:prstGeom>
          <a:noFill/>
        </p:spPr>
        <p:txBody>
          <a:bodyPr wrap="square">
            <a:spAutoFit/>
          </a:bodyPr>
          <a:lstStyle/>
          <a:p>
            <a:pPr algn="l">
              <a:spcAft>
                <a:spcPts val="600"/>
              </a:spcAft>
              <a:defRPr sz="1400" b="1">
                <a:solidFill>
                  <a:srgbClr val="12402D"/>
                </a:solidFill>
                <a:latin typeface="Calibri"/>
              </a:defRPr>
            </a:pPr>
            <a:r>
              <a:rPr sz="1600" dirty="0">
                <a:latin typeface="Avenir Next" panose="020B0503020202020204" pitchFamily="34" charset="0"/>
              </a:rPr>
              <a:t>Regulatory Proliferation </a:t>
            </a:r>
            <a:r>
              <a:rPr lang="en-IN" sz="1600" dirty="0">
                <a:latin typeface="Avenir Next" panose="020B0503020202020204" pitchFamily="34" charset="0"/>
              </a:rPr>
              <a:t>&amp; Ambiguity</a:t>
            </a:r>
            <a:endParaRPr sz="1600" dirty="0">
              <a:latin typeface="Avenir Next" panose="020B0503020202020204" pitchFamily="34" charset="0"/>
            </a:endParaRPr>
          </a:p>
          <a:p>
            <a:pPr>
              <a:spcAft>
                <a:spcPts val="600"/>
              </a:spcAft>
              <a:defRPr sz="1150">
                <a:solidFill>
                  <a:srgbClr val="2D2D2D"/>
                </a:solidFill>
              </a:defRPr>
            </a:pPr>
            <a:r>
              <a:rPr sz="1600" dirty="0">
                <a:latin typeface="Avenir Next" panose="020B0503020202020204" pitchFamily="34" charset="0"/>
              </a:rPr>
              <a:t>• A single green claim touches CCPA, SEBI, MCA, FSSAI, and </a:t>
            </a:r>
            <a:r>
              <a:rPr sz="1600" dirty="0" err="1">
                <a:latin typeface="Avenir Next" panose="020B0503020202020204" pitchFamily="34" charset="0"/>
              </a:rPr>
              <a:t>MoEFCC</a:t>
            </a:r>
            <a:r>
              <a:rPr sz="1600" dirty="0">
                <a:latin typeface="Avenir Next" panose="020B0503020202020204" pitchFamily="34" charset="0"/>
              </a:rPr>
              <a:t> simultaneously.</a:t>
            </a:r>
          </a:p>
          <a:p>
            <a:pPr>
              <a:spcAft>
                <a:spcPts val="600"/>
              </a:spcAft>
              <a:defRPr sz="1150">
                <a:solidFill>
                  <a:srgbClr val="2D2D2D"/>
                </a:solidFill>
              </a:defRPr>
            </a:pPr>
            <a:r>
              <a:rPr sz="1600" dirty="0">
                <a:latin typeface="Avenir Next" panose="020B0503020202020204" pitchFamily="34" charset="0"/>
              </a:rPr>
              <a:t>• Green Taxonomy Paradox: May 2025 Taxonomy added a parallel voluntary framework without harmonizing existing rules.</a:t>
            </a:r>
          </a:p>
          <a:p>
            <a:pPr>
              <a:defRPr sz="1150">
                <a:solidFill>
                  <a:srgbClr val="2D2D2D"/>
                </a:solidFill>
              </a:defRPr>
            </a:pPr>
            <a:r>
              <a:rPr sz="1600" dirty="0">
                <a:latin typeface="Avenir Next" panose="020B0503020202020204" pitchFamily="34" charset="0"/>
              </a:rPr>
              <a:t>• No lead regulator, no mandatory data-sharing, and no joint investigative capacity.</a:t>
            </a:r>
          </a:p>
        </p:txBody>
      </p:sp>
      <p:sp>
        <p:nvSpPr>
          <p:cNvPr id="61" name="Rounded Rectangle 15">
            <a:extLst>
              <a:ext uri="{FF2B5EF4-FFF2-40B4-BE49-F238E27FC236}">
                <a16:creationId xmlns:a16="http://schemas.microsoft.com/office/drawing/2014/main" id="{808FF99C-D07F-5110-36C6-B657D1432D84}"/>
              </a:ext>
            </a:extLst>
          </p:cNvPr>
          <p:cNvSpPr/>
          <p:nvPr/>
        </p:nvSpPr>
        <p:spPr>
          <a:xfrm>
            <a:off x="6792883" y="2098155"/>
            <a:ext cx="5116716" cy="1951332"/>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63" name="Rounded Rectangle 16">
            <a:extLst>
              <a:ext uri="{FF2B5EF4-FFF2-40B4-BE49-F238E27FC236}">
                <a16:creationId xmlns:a16="http://schemas.microsoft.com/office/drawing/2014/main" id="{B21D5763-2C0D-7352-B501-5843DEDD9F5E}"/>
              </a:ext>
            </a:extLst>
          </p:cNvPr>
          <p:cNvSpPr/>
          <p:nvPr/>
        </p:nvSpPr>
        <p:spPr>
          <a:xfrm>
            <a:off x="6105286" y="2058671"/>
            <a:ext cx="737195" cy="523220"/>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sz="1200" dirty="0">
                <a:solidFill>
                  <a:schemeClr val="tx1"/>
                </a:solidFill>
                <a:latin typeface="Avenir Next" panose="020B0503020202020204" pitchFamily="34" charset="0"/>
              </a:rPr>
              <a:t>Gap </a:t>
            </a:r>
            <a:r>
              <a:rPr lang="en-US" sz="1200" dirty="0">
                <a:solidFill>
                  <a:schemeClr val="tx1"/>
                </a:solidFill>
                <a:latin typeface="Avenir Next" panose="020B0503020202020204" pitchFamily="34" charset="0"/>
              </a:rPr>
              <a:t>3</a:t>
            </a:r>
            <a:endParaRPr sz="1200" dirty="0">
              <a:solidFill>
                <a:schemeClr val="tx1"/>
              </a:solidFill>
              <a:latin typeface="Avenir Next" panose="020B0503020202020204" pitchFamily="34" charset="0"/>
            </a:endParaRPr>
          </a:p>
        </p:txBody>
      </p:sp>
      <p:sp>
        <p:nvSpPr>
          <p:cNvPr id="65" name="TextBox 64">
            <a:extLst>
              <a:ext uri="{FF2B5EF4-FFF2-40B4-BE49-F238E27FC236}">
                <a16:creationId xmlns:a16="http://schemas.microsoft.com/office/drawing/2014/main" id="{89820C0F-6DBD-53D7-B497-75BEB030986F}"/>
              </a:ext>
            </a:extLst>
          </p:cNvPr>
          <p:cNvSpPr txBox="1"/>
          <p:nvPr/>
        </p:nvSpPr>
        <p:spPr>
          <a:xfrm>
            <a:off x="6842481" y="2256535"/>
            <a:ext cx="5069243" cy="1620957"/>
          </a:xfrm>
          <a:prstGeom prst="rect">
            <a:avLst/>
          </a:prstGeom>
          <a:noFill/>
        </p:spPr>
        <p:txBody>
          <a:bodyPr wrap="square" lIns="91440" tIns="45720" rIns="91440" bIns="45720" anchor="t">
            <a:spAutoFit/>
          </a:bodyPr>
          <a:lstStyle/>
          <a:p>
            <a:pPr>
              <a:spcAft>
                <a:spcPts val="400"/>
              </a:spcAft>
              <a:defRPr sz="1350" b="1">
                <a:solidFill>
                  <a:srgbClr val="12402D"/>
                </a:solidFill>
                <a:latin typeface="Calibri"/>
              </a:defRPr>
            </a:pPr>
            <a:r>
              <a:rPr lang="en-US" sz="1600" dirty="0">
                <a:latin typeface="Avenir Next" panose="020B0503020202020204" pitchFamily="34" charset="0"/>
              </a:rPr>
              <a:t>Scientific </a:t>
            </a:r>
            <a:r>
              <a:rPr sz="1600" dirty="0">
                <a:latin typeface="Avenir Next" panose="020B0503020202020204" pitchFamily="34" charset="0"/>
              </a:rPr>
              <a:t>&amp; Technical </a:t>
            </a:r>
            <a:r>
              <a:rPr lang="en-US" sz="1600" dirty="0">
                <a:latin typeface="Avenir Next" panose="020B0503020202020204" pitchFamily="34" charset="0"/>
              </a:rPr>
              <a:t>Verification </a:t>
            </a:r>
            <a:r>
              <a:rPr sz="1600" dirty="0">
                <a:latin typeface="Avenir Next" panose="020B0503020202020204" pitchFamily="34" charset="0"/>
              </a:rPr>
              <a:t>Gaps</a:t>
            </a:r>
            <a:endParaRPr lang="en-US" sz="1600" dirty="0">
              <a:latin typeface="Avenir Next" panose="020B0503020202020204" pitchFamily="34" charset="0"/>
            </a:endParaRPr>
          </a:p>
          <a:p>
            <a:pPr>
              <a:defRPr sz="1100">
                <a:solidFill>
                  <a:srgbClr val="2D2D2D"/>
                </a:solidFill>
              </a:defRPr>
            </a:pPr>
            <a:r>
              <a:rPr sz="1600" dirty="0">
                <a:latin typeface="Avenir Next" panose="020B0503020202020204" pitchFamily="34" charset="0"/>
              </a:rPr>
              <a:t>• Regulators lack specialized in-house expertise in carbon accounting and lifecycle audits.</a:t>
            </a:r>
            <a:endParaRPr lang="en-US" sz="1600" dirty="0">
              <a:latin typeface="Avenir Next" panose="020B0503020202020204" pitchFamily="34" charset="0"/>
            </a:endParaRPr>
          </a:p>
          <a:p>
            <a:pPr>
              <a:defRPr sz="1100">
                <a:solidFill>
                  <a:srgbClr val="2D2D2D"/>
                </a:solidFill>
              </a:defRPr>
            </a:pPr>
            <a:r>
              <a:rPr lang="en-IN" sz="1600" dirty="0">
                <a:latin typeface="Avenir Next" panose="020B0503020202020204" pitchFamily="34" charset="0"/>
              </a:rPr>
              <a:t>• India still lacks joint enforcement teams, shared technical experts or a unified enforcement database for greenwashing matters.</a:t>
            </a:r>
          </a:p>
        </p:txBody>
      </p:sp>
      <p:sp>
        <p:nvSpPr>
          <p:cNvPr id="2" name="Rounded Rectangle 1">
            <a:extLst>
              <a:ext uri="{FF2B5EF4-FFF2-40B4-BE49-F238E27FC236}">
                <a16:creationId xmlns:a16="http://schemas.microsoft.com/office/drawing/2014/main" id="{A3A4E187-3E83-487C-5FC5-F03E9B637FA2}"/>
              </a:ext>
            </a:extLst>
          </p:cNvPr>
          <p:cNvSpPr/>
          <p:nvPr/>
        </p:nvSpPr>
        <p:spPr>
          <a:xfrm>
            <a:off x="608357" y="6120776"/>
            <a:ext cx="10835640" cy="564232"/>
          </a:xfrm>
          <a:prstGeom prst="roundRect">
            <a:avLst>
              <a:gd name="adj" fmla="val 14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400">
              <a:latin typeface="Avenir Next" panose="020B0503020202020204" pitchFamily="34" charset="0"/>
            </a:endParaRPr>
          </a:p>
        </p:txBody>
      </p:sp>
      <p:sp>
        <p:nvSpPr>
          <p:cNvPr id="5" name="TextBox 4">
            <a:extLst>
              <a:ext uri="{FF2B5EF4-FFF2-40B4-BE49-F238E27FC236}">
                <a16:creationId xmlns:a16="http://schemas.microsoft.com/office/drawing/2014/main" id="{2F9F7C7F-7F5C-2E52-3FC6-EE9A6154ED19}"/>
              </a:ext>
            </a:extLst>
          </p:cNvPr>
          <p:cNvSpPr txBox="1"/>
          <p:nvPr/>
        </p:nvSpPr>
        <p:spPr>
          <a:xfrm>
            <a:off x="738357" y="6164365"/>
            <a:ext cx="10575640" cy="477054"/>
          </a:xfrm>
          <a:prstGeom prst="rect">
            <a:avLst/>
          </a:prstGeom>
          <a:noFill/>
        </p:spPr>
        <p:txBody>
          <a:bodyPr wrap="square" lIns="45720" tIns="22860" rIns="45720" bIns="22860" anchor="ctr">
            <a:spAutoFit/>
          </a:bodyPr>
          <a:lstStyle/>
          <a:p>
            <a:pPr algn="just">
              <a:defRPr sz="1100">
                <a:solidFill>
                  <a:srgbClr val="282828"/>
                </a:solidFill>
              </a:defRPr>
            </a:pPr>
            <a:r>
              <a:rPr lang="en-IN" sz="1400" b="1" dirty="0">
                <a:solidFill>
                  <a:srgbClr val="173F35"/>
                </a:solidFill>
              </a:rPr>
              <a:t>Answers Research Question 6: How do fragmentation, overlap, weak coordination, and limited enforcement in India's regulatory ecosystem, impede accountability for greenwashing?</a:t>
            </a:r>
          </a:p>
        </p:txBody>
      </p:sp>
    </p:spTree>
    <p:extLst>
      <p:ext uri="{BB962C8B-B14F-4D97-AF65-F5344CB8AC3E}">
        <p14:creationId xmlns:p14="http://schemas.microsoft.com/office/powerpoint/2010/main" val="3477384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39" y="479298"/>
            <a:ext cx="8968847" cy="584775"/>
          </a:xfrm>
          <a:prstGeom prst="rect">
            <a:avLst/>
          </a:prstGeom>
          <a:noFill/>
        </p:spPr>
        <p:txBody>
          <a:bodyPr wrap="square">
            <a:spAutoFit/>
          </a:bodyPr>
          <a:lstStyle/>
          <a:p>
            <a:pPr>
              <a:defRPr sz="2200" b="1">
                <a:solidFill>
                  <a:srgbClr val="173F35"/>
                </a:solidFill>
                <a:latin typeface="Avenir Next Demi Bold"/>
              </a:defRPr>
            </a:pPr>
            <a:r>
              <a:rPr lang="en-US" sz="3200" dirty="0"/>
              <a:t>General Suggestions For Regulatory Reform</a:t>
            </a:r>
            <a:endParaRPr sz="3200" dirty="0"/>
          </a:p>
        </p:txBody>
      </p:sp>
      <p:sp>
        <p:nvSpPr>
          <p:cNvPr id="6" name="Rounded Rectangle 5"/>
          <p:cNvSpPr/>
          <p:nvPr/>
        </p:nvSpPr>
        <p:spPr>
          <a:xfrm>
            <a:off x="670473" y="1700443"/>
            <a:ext cx="1911096" cy="3233507"/>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7" name="Rectangle 6"/>
          <p:cNvSpPr/>
          <p:nvPr/>
        </p:nvSpPr>
        <p:spPr>
          <a:xfrm>
            <a:off x="670473" y="1700443"/>
            <a:ext cx="1911096" cy="97615"/>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8" name="TextBox 7"/>
          <p:cNvSpPr txBox="1"/>
          <p:nvPr/>
        </p:nvSpPr>
        <p:spPr>
          <a:xfrm>
            <a:off x="816777" y="1809600"/>
            <a:ext cx="1764792" cy="584775"/>
          </a:xfrm>
          <a:prstGeom prst="rect">
            <a:avLst/>
          </a:prstGeom>
          <a:noFill/>
        </p:spPr>
        <p:txBody>
          <a:bodyPr wrap="square" anchor="t">
            <a:spAutoFit/>
          </a:bodyPr>
          <a:lstStyle/>
          <a:p>
            <a:pPr algn="l">
              <a:defRPr sz="1500" b="1">
                <a:solidFill>
                  <a:srgbClr val="12402D"/>
                </a:solidFill>
                <a:latin typeface="Avenir Next"/>
              </a:defRPr>
            </a:pPr>
            <a:r>
              <a:t>1. Institutional Integration</a:t>
            </a:r>
          </a:p>
        </p:txBody>
      </p:sp>
      <p:sp>
        <p:nvSpPr>
          <p:cNvPr id="9" name="TextBox 8"/>
          <p:cNvSpPr txBox="1"/>
          <p:nvPr/>
        </p:nvSpPr>
        <p:spPr>
          <a:xfrm>
            <a:off x="816777" y="2442950"/>
            <a:ext cx="1764792" cy="1338828"/>
          </a:xfrm>
          <a:prstGeom prst="rect">
            <a:avLst/>
          </a:prstGeom>
          <a:noFill/>
        </p:spPr>
        <p:txBody>
          <a:bodyPr wrap="square" anchor="t">
            <a:spAutoFit/>
          </a:bodyPr>
          <a:lstStyle/>
          <a:p>
            <a:pPr marL="152400" indent="-152400" algn="l">
              <a:buFont typeface="Avenir Next"/>
              <a:buChar char="•"/>
              <a:defRPr sz="1350">
                <a:solidFill>
                  <a:srgbClr val="2D2D2D"/>
                </a:solidFill>
                <a:latin typeface="Avenir Next"/>
                <a:ea typeface="Avenir Next"/>
                <a:cs typeface="Avenir Next"/>
              </a:defRPr>
            </a:pPr>
            <a:r>
              <a:rPr lang="en-GB" sz="1350" dirty="0">
                <a:solidFill>
                  <a:srgbClr val="2D2D2D"/>
                </a:solidFill>
                <a:latin typeface="Avenir Next"/>
                <a:ea typeface="Avenir Next"/>
                <a:cs typeface="Avenir Next"/>
              </a:rPr>
              <a:t>Permanent inter-regulatory council linking MCA, SEBI, CCPA, MoEFCC, CPCB, BIS and FSSAI</a:t>
            </a:r>
          </a:p>
        </p:txBody>
      </p:sp>
      <p:sp>
        <p:nvSpPr>
          <p:cNvPr id="10" name="Rounded Rectangle 9"/>
          <p:cNvSpPr/>
          <p:nvPr/>
        </p:nvSpPr>
        <p:spPr>
          <a:xfrm>
            <a:off x="2810169" y="1700443"/>
            <a:ext cx="1911096" cy="3233507"/>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1" name="Rectangle 10"/>
          <p:cNvSpPr/>
          <p:nvPr/>
        </p:nvSpPr>
        <p:spPr>
          <a:xfrm>
            <a:off x="2810169" y="1700443"/>
            <a:ext cx="1911096" cy="97615"/>
          </a:xfrm>
          <a:prstGeom prst="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2" name="TextBox 11"/>
          <p:cNvSpPr txBox="1"/>
          <p:nvPr/>
        </p:nvSpPr>
        <p:spPr>
          <a:xfrm>
            <a:off x="2956473" y="1809600"/>
            <a:ext cx="1764792" cy="830997"/>
          </a:xfrm>
          <a:prstGeom prst="rect">
            <a:avLst/>
          </a:prstGeom>
          <a:noFill/>
        </p:spPr>
        <p:txBody>
          <a:bodyPr wrap="square" anchor="t">
            <a:spAutoFit/>
          </a:bodyPr>
          <a:lstStyle/>
          <a:p>
            <a:pPr algn="l">
              <a:defRPr sz="1500" b="1">
                <a:solidFill>
                  <a:srgbClr val="12402D"/>
                </a:solidFill>
                <a:latin typeface="Avenir Next"/>
              </a:defRPr>
            </a:pPr>
            <a:r>
              <a:t>2. Lead Regulator Model</a:t>
            </a:r>
          </a:p>
        </p:txBody>
      </p:sp>
      <p:sp>
        <p:nvSpPr>
          <p:cNvPr id="13" name="TextBox 12"/>
          <p:cNvSpPr txBox="1"/>
          <p:nvPr/>
        </p:nvSpPr>
        <p:spPr>
          <a:xfrm>
            <a:off x="2956473" y="2433044"/>
            <a:ext cx="1764792" cy="1962076"/>
          </a:xfrm>
          <a:prstGeom prst="rect">
            <a:avLst/>
          </a:prstGeom>
          <a:noFill/>
        </p:spPr>
        <p:txBody>
          <a:bodyPr wrap="square" anchor="t">
            <a:spAutoFit/>
          </a:bodyPr>
          <a:lstStyle/>
          <a:p>
            <a:pPr marL="152400" indent="-152400" algn="l">
              <a:buFont typeface="Avenir Next"/>
              <a:buChar char="•"/>
              <a:defRPr sz="1350">
                <a:solidFill>
                  <a:srgbClr val="2D2D2D"/>
                </a:solidFill>
                <a:latin typeface="Avenir Next"/>
                <a:ea typeface="Avenir Next"/>
                <a:cs typeface="Avenir Next"/>
              </a:defRPr>
            </a:pPr>
            <a:r>
              <a:rPr lang="en-GB" sz="1350" dirty="0">
                <a:solidFill>
                  <a:srgbClr val="2D2D2D"/>
                </a:solidFill>
                <a:latin typeface="Avenir Next"/>
                <a:ea typeface="Avenir Next"/>
                <a:cs typeface="Avenir Next"/>
              </a:rPr>
              <a:t>Designate a coordinating agency</a:t>
            </a:r>
          </a:p>
          <a:p>
            <a:pPr algn="l">
              <a:defRPr sz="1350">
                <a:solidFill>
                  <a:srgbClr val="2D2D2D"/>
                </a:solidFill>
                <a:latin typeface="Avenir Next"/>
                <a:ea typeface="Avenir Next"/>
                <a:cs typeface="Avenir Next"/>
              </a:defRPr>
            </a:pPr>
            <a:endParaRPr lang="en-GB" sz="1350" dirty="0">
              <a:solidFill>
                <a:srgbClr val="2D2D2D"/>
              </a:solidFill>
              <a:latin typeface="Avenir Next"/>
              <a:ea typeface="Avenir Next"/>
              <a:cs typeface="Avenir Next"/>
            </a:endParaRPr>
          </a:p>
          <a:p>
            <a:pPr marL="152400" indent="-152400">
              <a:buFont typeface="Avenir Next"/>
              <a:buChar char="•"/>
              <a:defRPr sz="1350">
                <a:solidFill>
                  <a:srgbClr val="2D2D2D"/>
                </a:solidFill>
                <a:latin typeface="Avenir Next"/>
                <a:ea typeface="Avenir Next"/>
                <a:cs typeface="Avenir Next"/>
              </a:defRPr>
            </a:pPr>
            <a:r>
              <a:rPr lang="en-IN" sz="1350" dirty="0">
                <a:solidFill>
                  <a:srgbClr val="2D2D2D"/>
                </a:solidFill>
                <a:latin typeface="Avenir Next"/>
              </a:rPr>
              <a:t>Replaces multiple conflicting inspections with one coordinated approach.</a:t>
            </a:r>
            <a:endParaRPr lang="en-GB" sz="1350" dirty="0">
              <a:solidFill>
                <a:srgbClr val="2D2D2D"/>
              </a:solidFill>
              <a:latin typeface="Avenir Next"/>
              <a:ea typeface="Avenir Next"/>
              <a:cs typeface="Avenir Next"/>
            </a:endParaRPr>
          </a:p>
        </p:txBody>
      </p:sp>
      <p:sp>
        <p:nvSpPr>
          <p:cNvPr id="14" name="Rounded Rectangle 13"/>
          <p:cNvSpPr/>
          <p:nvPr/>
        </p:nvSpPr>
        <p:spPr>
          <a:xfrm>
            <a:off x="4949865" y="1700443"/>
            <a:ext cx="1911096" cy="3233507"/>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5" name="Rectangle 14"/>
          <p:cNvSpPr/>
          <p:nvPr/>
        </p:nvSpPr>
        <p:spPr>
          <a:xfrm>
            <a:off x="4949865" y="1700443"/>
            <a:ext cx="1911096" cy="97615"/>
          </a:xfrm>
          <a:prstGeom prst="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6" name="TextBox 15"/>
          <p:cNvSpPr txBox="1"/>
          <p:nvPr/>
        </p:nvSpPr>
        <p:spPr>
          <a:xfrm>
            <a:off x="5096169" y="1809600"/>
            <a:ext cx="1764792" cy="584775"/>
          </a:xfrm>
          <a:prstGeom prst="rect">
            <a:avLst/>
          </a:prstGeom>
          <a:noFill/>
        </p:spPr>
        <p:txBody>
          <a:bodyPr wrap="square" anchor="t">
            <a:spAutoFit/>
          </a:bodyPr>
          <a:lstStyle/>
          <a:p>
            <a:pPr algn="l">
              <a:defRPr sz="1500" b="1">
                <a:solidFill>
                  <a:srgbClr val="12402D"/>
                </a:solidFill>
                <a:latin typeface="Avenir Next"/>
              </a:defRPr>
            </a:pPr>
            <a:r>
              <a:t>3. Standardised Verification</a:t>
            </a:r>
          </a:p>
        </p:txBody>
      </p:sp>
      <p:sp>
        <p:nvSpPr>
          <p:cNvPr id="17" name="TextBox 16"/>
          <p:cNvSpPr txBox="1"/>
          <p:nvPr/>
        </p:nvSpPr>
        <p:spPr>
          <a:xfrm>
            <a:off x="5096169" y="2442950"/>
            <a:ext cx="1764792" cy="1754326"/>
          </a:xfrm>
          <a:prstGeom prst="rect">
            <a:avLst/>
          </a:prstGeom>
          <a:noFill/>
        </p:spPr>
        <p:txBody>
          <a:bodyPr wrap="square" anchor="t">
            <a:spAutoFit/>
          </a:bodyPr>
          <a:lstStyle/>
          <a:p>
            <a:pPr marL="152400" indent="-152400" algn="l">
              <a:buFont typeface="Avenir Next"/>
              <a:buChar char="•"/>
              <a:defRPr sz="1350">
                <a:solidFill>
                  <a:srgbClr val="2D2D2D"/>
                </a:solidFill>
                <a:latin typeface="Avenir Next"/>
                <a:ea typeface="Avenir Next"/>
                <a:cs typeface="Avenir Next"/>
              </a:defRPr>
            </a:pPr>
            <a:r>
              <a:rPr lang="en-GB" sz="1350" dirty="0">
                <a:solidFill>
                  <a:srgbClr val="2D2D2D"/>
                </a:solidFill>
                <a:latin typeface="Avenir Next"/>
                <a:ea typeface="Avenir Next"/>
                <a:cs typeface="Avenir Next"/>
              </a:rPr>
              <a:t>Ex-ante claim substantiation</a:t>
            </a:r>
          </a:p>
          <a:p>
            <a:pPr algn="l">
              <a:defRPr sz="1350">
                <a:solidFill>
                  <a:srgbClr val="2D2D2D"/>
                </a:solidFill>
                <a:latin typeface="Avenir Next"/>
                <a:ea typeface="Avenir Next"/>
                <a:cs typeface="Avenir Next"/>
              </a:defRPr>
            </a:pPr>
            <a:endParaRPr lang="en-GB" sz="1350" dirty="0">
              <a:solidFill>
                <a:srgbClr val="2D2D2D"/>
              </a:solidFill>
              <a:latin typeface="Avenir Next"/>
              <a:ea typeface="Avenir Next"/>
              <a:cs typeface="Avenir Next"/>
            </a:endParaRPr>
          </a:p>
          <a:p>
            <a:pPr marL="152400" indent="-152400" algn="l">
              <a:buFont typeface="Avenir Next"/>
              <a:buChar char="•"/>
              <a:defRPr sz="1350">
                <a:solidFill>
                  <a:srgbClr val="2D2D2D"/>
                </a:solidFill>
                <a:latin typeface="Avenir Next"/>
                <a:ea typeface="Avenir Next"/>
                <a:cs typeface="Avenir Next"/>
              </a:defRPr>
            </a:pPr>
            <a:r>
              <a:rPr lang="en-GB" sz="1350" dirty="0">
                <a:solidFill>
                  <a:srgbClr val="2D2D2D"/>
                </a:solidFill>
                <a:latin typeface="Avenir Next"/>
                <a:ea typeface="Avenir Next"/>
                <a:cs typeface="Avenir Next"/>
              </a:rPr>
              <a:t>Accredited third party verifiers for each type of environmental claim verification</a:t>
            </a:r>
          </a:p>
        </p:txBody>
      </p:sp>
      <p:sp>
        <p:nvSpPr>
          <p:cNvPr id="18" name="Rounded Rectangle 17"/>
          <p:cNvSpPr/>
          <p:nvPr/>
        </p:nvSpPr>
        <p:spPr>
          <a:xfrm>
            <a:off x="7089561" y="1700443"/>
            <a:ext cx="1911096" cy="3233507"/>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9" name="Rectangle 18"/>
          <p:cNvSpPr/>
          <p:nvPr/>
        </p:nvSpPr>
        <p:spPr>
          <a:xfrm>
            <a:off x="7089561" y="1700443"/>
            <a:ext cx="1911096" cy="97615"/>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20" name="TextBox 19"/>
          <p:cNvSpPr txBox="1"/>
          <p:nvPr/>
        </p:nvSpPr>
        <p:spPr>
          <a:xfrm>
            <a:off x="7235865" y="1809600"/>
            <a:ext cx="1764792" cy="584775"/>
          </a:xfrm>
          <a:prstGeom prst="rect">
            <a:avLst/>
          </a:prstGeom>
          <a:noFill/>
        </p:spPr>
        <p:txBody>
          <a:bodyPr wrap="square" anchor="t">
            <a:spAutoFit/>
          </a:bodyPr>
          <a:lstStyle/>
          <a:p>
            <a:pPr algn="l">
              <a:defRPr sz="1500" b="1">
                <a:solidFill>
                  <a:srgbClr val="12402D"/>
                </a:solidFill>
                <a:latin typeface="Avenir Next"/>
              </a:defRPr>
            </a:pPr>
            <a:r>
              <a:t>4. Proactive Surveillance</a:t>
            </a:r>
          </a:p>
        </p:txBody>
      </p:sp>
      <p:sp>
        <p:nvSpPr>
          <p:cNvPr id="21" name="TextBox 20"/>
          <p:cNvSpPr txBox="1"/>
          <p:nvPr/>
        </p:nvSpPr>
        <p:spPr>
          <a:xfrm>
            <a:off x="7235865" y="2442950"/>
            <a:ext cx="1764792" cy="1754326"/>
          </a:xfrm>
          <a:prstGeom prst="rect">
            <a:avLst/>
          </a:prstGeom>
          <a:noFill/>
        </p:spPr>
        <p:txBody>
          <a:bodyPr wrap="square" anchor="t">
            <a:spAutoFit/>
          </a:bodyPr>
          <a:lstStyle/>
          <a:p>
            <a:pPr marL="152400" indent="-152400" algn="l">
              <a:buFont typeface="Avenir Next"/>
              <a:buChar char="•"/>
              <a:defRPr sz="1350">
                <a:solidFill>
                  <a:srgbClr val="2D2D2D"/>
                </a:solidFill>
                <a:latin typeface="Avenir Next"/>
                <a:ea typeface="Avenir Next"/>
                <a:cs typeface="Avenir Next"/>
              </a:defRPr>
            </a:pPr>
            <a:r>
              <a:rPr lang="en-GB" sz="1350" dirty="0">
                <a:solidFill>
                  <a:srgbClr val="2D2D2D"/>
                </a:solidFill>
                <a:latin typeface="Avenir Next"/>
                <a:ea typeface="Avenir Next"/>
                <a:cs typeface="Avenir Next"/>
              </a:rPr>
              <a:t>Routine market sweeps</a:t>
            </a:r>
          </a:p>
          <a:p>
            <a:pPr algn="l">
              <a:defRPr sz="1350">
                <a:solidFill>
                  <a:srgbClr val="2D2D2D"/>
                </a:solidFill>
                <a:latin typeface="Avenir Next"/>
                <a:ea typeface="Avenir Next"/>
                <a:cs typeface="Avenir Next"/>
              </a:defRPr>
            </a:pPr>
            <a:endParaRPr lang="en-GB" sz="1350" dirty="0">
              <a:solidFill>
                <a:srgbClr val="2D2D2D"/>
              </a:solidFill>
              <a:latin typeface="Avenir Next"/>
              <a:ea typeface="Avenir Next"/>
              <a:cs typeface="Avenir Next"/>
            </a:endParaRPr>
          </a:p>
          <a:p>
            <a:pPr marL="152400" indent="-152400" algn="l">
              <a:buFont typeface="Avenir Next"/>
              <a:buChar char="•"/>
              <a:defRPr sz="1350">
                <a:solidFill>
                  <a:srgbClr val="2D2D2D"/>
                </a:solidFill>
                <a:latin typeface="Avenir Next"/>
                <a:ea typeface="Avenir Next"/>
                <a:cs typeface="Avenir Next"/>
              </a:defRPr>
            </a:pPr>
            <a:r>
              <a:rPr lang="en-GB" sz="1350" dirty="0">
                <a:solidFill>
                  <a:srgbClr val="2D2D2D"/>
                </a:solidFill>
                <a:latin typeface="Avenir Next"/>
                <a:ea typeface="Avenir Next"/>
                <a:cs typeface="Avenir Next"/>
              </a:rPr>
              <a:t>Cross-check environmental claims against CPCB/SPCB pollution records</a:t>
            </a:r>
          </a:p>
        </p:txBody>
      </p:sp>
      <p:sp>
        <p:nvSpPr>
          <p:cNvPr id="22" name="Rounded Rectangle 21"/>
          <p:cNvSpPr/>
          <p:nvPr/>
        </p:nvSpPr>
        <p:spPr>
          <a:xfrm>
            <a:off x="9229257" y="1700443"/>
            <a:ext cx="1911096" cy="3233507"/>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23" name="Rectangle 22"/>
          <p:cNvSpPr/>
          <p:nvPr/>
        </p:nvSpPr>
        <p:spPr>
          <a:xfrm>
            <a:off x="9229257" y="1700443"/>
            <a:ext cx="1911096" cy="97615"/>
          </a:xfrm>
          <a:prstGeom prst="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24" name="TextBox 23"/>
          <p:cNvSpPr txBox="1"/>
          <p:nvPr/>
        </p:nvSpPr>
        <p:spPr>
          <a:xfrm>
            <a:off x="9375561" y="1809600"/>
            <a:ext cx="1764792" cy="584775"/>
          </a:xfrm>
          <a:prstGeom prst="rect">
            <a:avLst/>
          </a:prstGeom>
          <a:noFill/>
        </p:spPr>
        <p:txBody>
          <a:bodyPr wrap="square" anchor="t">
            <a:spAutoFit/>
          </a:bodyPr>
          <a:lstStyle/>
          <a:p>
            <a:pPr algn="l">
              <a:defRPr sz="1500" b="1">
                <a:solidFill>
                  <a:srgbClr val="12402D"/>
                </a:solidFill>
                <a:latin typeface="Avenir Next"/>
              </a:defRPr>
            </a:pPr>
            <a:r>
              <a:t>5. Enforcement Capacity</a:t>
            </a:r>
          </a:p>
        </p:txBody>
      </p:sp>
      <p:sp>
        <p:nvSpPr>
          <p:cNvPr id="25" name="TextBox 24"/>
          <p:cNvSpPr txBox="1"/>
          <p:nvPr/>
        </p:nvSpPr>
        <p:spPr>
          <a:xfrm>
            <a:off x="9375561" y="2442950"/>
            <a:ext cx="1764792" cy="2377574"/>
          </a:xfrm>
          <a:prstGeom prst="rect">
            <a:avLst/>
          </a:prstGeom>
          <a:noFill/>
        </p:spPr>
        <p:txBody>
          <a:bodyPr wrap="square" anchor="t">
            <a:spAutoFit/>
          </a:bodyPr>
          <a:lstStyle/>
          <a:p>
            <a:pPr marL="152400" indent="-152400" algn="l">
              <a:buFont typeface="Avenir Next"/>
              <a:buChar char="•"/>
              <a:defRPr sz="1350">
                <a:solidFill>
                  <a:srgbClr val="2D2D2D"/>
                </a:solidFill>
                <a:latin typeface="Avenir Next"/>
                <a:ea typeface="Avenir Next"/>
                <a:cs typeface="Avenir Next"/>
              </a:defRPr>
            </a:pPr>
            <a:r>
              <a:rPr lang="en-GB" sz="1350" dirty="0">
                <a:solidFill>
                  <a:srgbClr val="2D2D2D"/>
                </a:solidFill>
                <a:latin typeface="Avenir Next"/>
                <a:ea typeface="Avenir Next"/>
                <a:cs typeface="Avenir Next"/>
              </a:rPr>
              <a:t>In-house ESG surveillance capacity for relevant regulators like SEBI.</a:t>
            </a:r>
          </a:p>
          <a:p>
            <a:pPr algn="l">
              <a:defRPr sz="1350">
                <a:solidFill>
                  <a:srgbClr val="2D2D2D"/>
                </a:solidFill>
                <a:latin typeface="Avenir Next"/>
                <a:ea typeface="Avenir Next"/>
                <a:cs typeface="Avenir Next"/>
              </a:defRPr>
            </a:pPr>
            <a:endParaRPr lang="en-GB" sz="1350" dirty="0">
              <a:solidFill>
                <a:srgbClr val="2D2D2D"/>
              </a:solidFill>
              <a:latin typeface="Avenir Next"/>
              <a:ea typeface="Avenir Next"/>
              <a:cs typeface="Avenir Next"/>
            </a:endParaRPr>
          </a:p>
          <a:p>
            <a:pPr marL="152400" indent="-152400" algn="l">
              <a:buFont typeface="Avenir Next"/>
              <a:buChar char="•"/>
              <a:defRPr sz="1350">
                <a:solidFill>
                  <a:srgbClr val="2D2D2D"/>
                </a:solidFill>
                <a:latin typeface="Avenir Next"/>
                <a:ea typeface="Avenir Next"/>
                <a:cs typeface="Avenir Next"/>
              </a:defRPr>
            </a:pPr>
            <a:r>
              <a:rPr lang="en-GB" sz="1350" dirty="0">
                <a:solidFill>
                  <a:srgbClr val="2D2D2D"/>
                </a:solidFill>
                <a:latin typeface="Avenir Next"/>
                <a:ea typeface="Avenir Next"/>
                <a:cs typeface="Avenir Next"/>
              </a:rPr>
              <a:t>Shared carbon-accounting and GHG-assurance expert panels.</a:t>
            </a:r>
          </a:p>
        </p:txBody>
      </p:sp>
      <p:sp>
        <p:nvSpPr>
          <p:cNvPr id="28" name="TextBox 27"/>
          <p:cNvSpPr txBox="1"/>
          <p:nvPr/>
        </p:nvSpPr>
        <p:spPr>
          <a:xfrm>
            <a:off x="734355" y="6572273"/>
            <a:ext cx="1596912" cy="246221"/>
          </a:xfrm>
          <a:prstGeom prst="rect">
            <a:avLst/>
          </a:prstGeom>
          <a:noFill/>
        </p:spPr>
        <p:txBody>
          <a:bodyPr wrap="none">
            <a:spAutoFit/>
          </a:bodyPr>
          <a:lstStyle/>
          <a:p>
            <a:pPr>
              <a:defRPr sz="850">
                <a:solidFill>
                  <a:srgbClr val="6B6F6A"/>
                </a:solidFill>
                <a:latin typeface="Avenir Next"/>
              </a:defRPr>
            </a:pPr>
            <a:r>
              <a:rPr sz="1000" dirty="0"/>
              <a:t>Source base: Chapter 6</a:t>
            </a:r>
            <a:r>
              <a:rPr lang="en-US" sz="1000" dirty="0"/>
              <a:t>.</a:t>
            </a:r>
            <a:endParaRPr sz="1000" dirty="0"/>
          </a:p>
        </p:txBody>
      </p:sp>
      <p:sp>
        <p:nvSpPr>
          <p:cNvPr id="2" name="Rounded Rectangle 1">
            <a:extLst>
              <a:ext uri="{FF2B5EF4-FFF2-40B4-BE49-F238E27FC236}">
                <a16:creationId xmlns:a16="http://schemas.microsoft.com/office/drawing/2014/main" id="{FBD67D51-3F39-14D2-2C48-0863C65689EA}"/>
              </a:ext>
            </a:extLst>
          </p:cNvPr>
          <p:cNvSpPr/>
          <p:nvPr/>
        </p:nvSpPr>
        <p:spPr>
          <a:xfrm>
            <a:off x="620714" y="5680103"/>
            <a:ext cx="10835640" cy="584775"/>
          </a:xfrm>
          <a:prstGeom prst="roundRect">
            <a:avLst>
              <a:gd name="adj" fmla="val 14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400">
              <a:latin typeface="Avenir Next" panose="020B0503020202020204" pitchFamily="34" charset="0"/>
            </a:endParaRPr>
          </a:p>
        </p:txBody>
      </p:sp>
      <p:sp>
        <p:nvSpPr>
          <p:cNvPr id="26" name="TextBox 25">
            <a:extLst>
              <a:ext uri="{FF2B5EF4-FFF2-40B4-BE49-F238E27FC236}">
                <a16:creationId xmlns:a16="http://schemas.microsoft.com/office/drawing/2014/main" id="{8089D9FA-8EE8-EC8F-BD84-3F5E80F48418}"/>
              </a:ext>
            </a:extLst>
          </p:cNvPr>
          <p:cNvSpPr txBox="1"/>
          <p:nvPr/>
        </p:nvSpPr>
        <p:spPr>
          <a:xfrm>
            <a:off x="750714" y="5744235"/>
            <a:ext cx="10575640" cy="477054"/>
          </a:xfrm>
          <a:prstGeom prst="rect">
            <a:avLst/>
          </a:prstGeom>
          <a:noFill/>
        </p:spPr>
        <p:txBody>
          <a:bodyPr wrap="square" lIns="45720" tIns="22860" rIns="45720" bIns="22860" anchor="ctr">
            <a:spAutoFit/>
          </a:bodyPr>
          <a:lstStyle/>
          <a:p>
            <a:pPr algn="just">
              <a:defRPr sz="1100">
                <a:solidFill>
                  <a:srgbClr val="282828"/>
                </a:solidFill>
              </a:defRPr>
            </a:pPr>
            <a:r>
              <a:rPr lang="en-IN" sz="1400" b="1" dirty="0">
                <a:solidFill>
                  <a:srgbClr val="173F35"/>
                </a:solidFill>
              </a:rPr>
              <a:t>Answers Research Question 7: What legal and policy recommendations can create an integrated liability framework that holds corporations accountable for misleading environmental claims?</a:t>
            </a:r>
            <a:endParaRPr lang="en-US" sz="1400" b="1" dirty="0">
              <a:solidFill>
                <a:srgbClr val="173F35"/>
              </a:solidFill>
            </a:endParaRPr>
          </a:p>
        </p:txBody>
      </p:sp>
    </p:spTree>
    <p:extLst>
      <p:ext uri="{BB962C8B-B14F-4D97-AF65-F5344CB8AC3E}">
        <p14:creationId xmlns:p14="http://schemas.microsoft.com/office/powerpoint/2010/main" val="511364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39" y="384048"/>
            <a:ext cx="9380971" cy="584775"/>
          </a:xfrm>
          <a:prstGeom prst="rect">
            <a:avLst/>
          </a:prstGeom>
          <a:noFill/>
        </p:spPr>
        <p:txBody>
          <a:bodyPr wrap="square">
            <a:spAutoFit/>
          </a:bodyPr>
          <a:lstStyle/>
          <a:p>
            <a:pPr>
              <a:defRPr sz="2200" b="1">
                <a:solidFill>
                  <a:srgbClr val="173F35"/>
                </a:solidFill>
                <a:latin typeface="Avenir Next Demi Bold"/>
              </a:defRPr>
            </a:pPr>
            <a:r>
              <a:rPr lang="en-US" sz="3200" dirty="0"/>
              <a:t>Specific </a:t>
            </a:r>
            <a:r>
              <a:rPr sz="3200" dirty="0"/>
              <a:t>Recommendations</a:t>
            </a:r>
            <a:r>
              <a:rPr lang="en-US" sz="3200" dirty="0"/>
              <a:t> for</a:t>
            </a:r>
            <a:r>
              <a:rPr sz="3200" dirty="0"/>
              <a:t> Legal Refor</a:t>
            </a:r>
            <a:r>
              <a:rPr lang="en-US" sz="3200" dirty="0"/>
              <a:t>m</a:t>
            </a:r>
            <a:endParaRPr sz="3200" dirty="0"/>
          </a:p>
        </p:txBody>
      </p:sp>
      <p:sp>
        <p:nvSpPr>
          <p:cNvPr id="6" name="Rounded Rectangle 5"/>
          <p:cNvSpPr/>
          <p:nvPr/>
        </p:nvSpPr>
        <p:spPr>
          <a:xfrm>
            <a:off x="652690" y="1474623"/>
            <a:ext cx="3300984" cy="4023360"/>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venir Next" panose="020B0503020202020204" pitchFamily="34" charset="0"/>
            </a:endParaRPr>
          </a:p>
        </p:txBody>
      </p:sp>
      <p:sp>
        <p:nvSpPr>
          <p:cNvPr id="7" name="Rectangle 6"/>
          <p:cNvSpPr/>
          <p:nvPr/>
        </p:nvSpPr>
        <p:spPr>
          <a:xfrm>
            <a:off x="652690" y="1474623"/>
            <a:ext cx="3255264" cy="73152"/>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venir Next" panose="020B0503020202020204" pitchFamily="34" charset="0"/>
            </a:endParaRPr>
          </a:p>
        </p:txBody>
      </p:sp>
      <p:sp>
        <p:nvSpPr>
          <p:cNvPr id="8" name="TextBox 7"/>
          <p:cNvSpPr txBox="1"/>
          <p:nvPr/>
        </p:nvSpPr>
        <p:spPr>
          <a:xfrm>
            <a:off x="798994" y="1659789"/>
            <a:ext cx="3255264" cy="338554"/>
          </a:xfrm>
          <a:prstGeom prst="rect">
            <a:avLst/>
          </a:prstGeom>
          <a:noFill/>
        </p:spPr>
        <p:txBody>
          <a:bodyPr wrap="square" anchor="t">
            <a:spAutoFit/>
          </a:bodyPr>
          <a:lstStyle/>
          <a:p>
            <a:pPr algn="l">
              <a:defRPr sz="1600" b="1">
                <a:solidFill>
                  <a:srgbClr val="173F35"/>
                </a:solidFill>
                <a:latin typeface="Avenir Next Demi Bold"/>
              </a:defRPr>
            </a:pPr>
            <a:r>
              <a:rPr sz="1600" dirty="0">
                <a:latin typeface="Avenir Next" panose="020B0503020202020204" pitchFamily="34" charset="0"/>
              </a:rPr>
              <a:t>Companies Act / MCA</a:t>
            </a:r>
          </a:p>
        </p:txBody>
      </p:sp>
      <p:sp>
        <p:nvSpPr>
          <p:cNvPr id="9" name="TextBox 8"/>
          <p:cNvSpPr txBox="1"/>
          <p:nvPr/>
        </p:nvSpPr>
        <p:spPr>
          <a:xfrm>
            <a:off x="762418" y="2061088"/>
            <a:ext cx="3255264" cy="3421706"/>
          </a:xfrm>
          <a:prstGeom prst="rect">
            <a:avLst/>
          </a:prstGeom>
          <a:noFill/>
        </p:spPr>
        <p:txBody>
          <a:bodyPr wrap="square" anchor="t">
            <a:spAutoFit/>
          </a:bodyPr>
          <a:lstStyle/>
          <a:p>
            <a:pPr>
              <a:lnSpc>
                <a:spcPct val="105000"/>
              </a:lnSpc>
              <a:spcAft>
                <a:spcPts val="600"/>
              </a:spcAft>
            </a:pPr>
            <a:r>
              <a:rPr sz="1100" b="1" dirty="0">
                <a:latin typeface="Avenir Next"/>
              </a:rPr>
              <a:t>• Direct Statutory Standing: </a:t>
            </a:r>
            <a:r>
              <a:rPr sz="1100" b="0" dirty="0">
                <a:latin typeface="Avenir Next"/>
              </a:rPr>
              <a:t>Insert</a:t>
            </a:r>
            <a:r>
              <a:rPr lang="en-US" sz="1100" b="0" dirty="0">
                <a:latin typeface="Avenir Next"/>
              </a:rPr>
              <a:t> new</a:t>
            </a:r>
            <a:r>
              <a:rPr sz="1100" b="0" dirty="0">
                <a:latin typeface="Avenir Next"/>
              </a:rPr>
              <a:t> Sec 166(8) empowering affected persons, creditors, and consumer NGOs before NCLT without Sec 244 shareholding caps.</a:t>
            </a:r>
          </a:p>
          <a:p>
            <a:pPr>
              <a:lnSpc>
                <a:spcPct val="105000"/>
              </a:lnSpc>
              <a:spcAft>
                <a:spcPts val="600"/>
              </a:spcAft>
            </a:pPr>
            <a:r>
              <a:rPr sz="1100" b="1" dirty="0">
                <a:latin typeface="Avenir Next"/>
              </a:rPr>
              <a:t>• Mandatory ESG Committee: </a:t>
            </a:r>
            <a:r>
              <a:rPr sz="1100" b="0" dirty="0">
                <a:latin typeface="Avenir Next"/>
              </a:rPr>
              <a:t>Insert </a:t>
            </a:r>
            <a:r>
              <a:rPr lang="en-US" sz="1100" b="0" dirty="0">
                <a:latin typeface="Avenir Next"/>
              </a:rPr>
              <a:t>new </a:t>
            </a:r>
            <a:r>
              <a:rPr sz="1100" b="0" dirty="0">
                <a:latin typeface="Avenir Next"/>
              </a:rPr>
              <a:t>Sec 135A requiring Board ESG Committee for ex-ante claim pre-approval.</a:t>
            </a:r>
          </a:p>
          <a:p>
            <a:pPr>
              <a:lnSpc>
                <a:spcPct val="105000"/>
              </a:lnSpc>
              <a:spcAft>
                <a:spcPts val="600"/>
              </a:spcAft>
            </a:pPr>
            <a:r>
              <a:rPr sz="1100" b="1" dirty="0">
                <a:latin typeface="Avenir Next"/>
              </a:rPr>
              <a:t>• Whistleblower Protection: </a:t>
            </a:r>
            <a:r>
              <a:rPr sz="1100" b="0" dirty="0">
                <a:latin typeface="Avenir Next"/>
              </a:rPr>
              <a:t>Amend Sec 177(9) vigil mechanism to explicitly cover environmental misrepresentations under Sec 166(2).</a:t>
            </a:r>
            <a:endParaRPr lang="en-US" sz="1100" b="0" dirty="0">
              <a:latin typeface="Avenir Next"/>
            </a:endParaRPr>
          </a:p>
          <a:p>
            <a:pPr>
              <a:lnSpc>
                <a:spcPct val="105000"/>
              </a:lnSpc>
              <a:spcAft>
                <a:spcPts val="600"/>
              </a:spcAft>
            </a:pPr>
            <a:r>
              <a:rPr lang="en-IN" sz="1100" b="1" dirty="0">
                <a:latin typeface="Avenir Next"/>
              </a:rPr>
              <a:t>• Turnover Penalties &amp; Disqualification: </a:t>
            </a:r>
            <a:r>
              <a:rPr lang="en-IN" sz="1100" dirty="0">
                <a:latin typeface="Avenir Next"/>
              </a:rPr>
              <a:t>Amend Sec 166(7) to penalise misleading claims up to 1% turnover (min ₹5 Cr) + up to 3-year Director Disqualification under Sec 164(2)(b).</a:t>
            </a:r>
          </a:p>
          <a:p>
            <a:pPr>
              <a:lnSpc>
                <a:spcPct val="105000"/>
              </a:lnSpc>
              <a:spcAft>
                <a:spcPts val="600"/>
              </a:spcAft>
            </a:pPr>
            <a:endParaRPr sz="1100" b="0" dirty="0">
              <a:latin typeface="Avenir Next"/>
            </a:endParaRPr>
          </a:p>
        </p:txBody>
      </p:sp>
      <p:sp>
        <p:nvSpPr>
          <p:cNvPr id="10" name="Rounded Rectangle 9"/>
          <p:cNvSpPr/>
          <p:nvPr/>
        </p:nvSpPr>
        <p:spPr>
          <a:xfrm>
            <a:off x="4246282" y="1474623"/>
            <a:ext cx="3300984" cy="4023360"/>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venir Next" panose="020B0503020202020204" pitchFamily="34" charset="0"/>
            </a:endParaRPr>
          </a:p>
        </p:txBody>
      </p:sp>
      <p:sp>
        <p:nvSpPr>
          <p:cNvPr id="11" name="Rectangle 10"/>
          <p:cNvSpPr/>
          <p:nvPr/>
        </p:nvSpPr>
        <p:spPr>
          <a:xfrm>
            <a:off x="4246282" y="1474623"/>
            <a:ext cx="3255264" cy="73152"/>
          </a:xfrm>
          <a:prstGeom prst="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venir Next" panose="020B0503020202020204" pitchFamily="34" charset="0"/>
            </a:endParaRPr>
          </a:p>
        </p:txBody>
      </p:sp>
      <p:sp>
        <p:nvSpPr>
          <p:cNvPr id="12" name="TextBox 11"/>
          <p:cNvSpPr txBox="1"/>
          <p:nvPr/>
        </p:nvSpPr>
        <p:spPr>
          <a:xfrm>
            <a:off x="4392586" y="1659789"/>
            <a:ext cx="3255264" cy="338554"/>
          </a:xfrm>
          <a:prstGeom prst="rect">
            <a:avLst/>
          </a:prstGeom>
          <a:noFill/>
        </p:spPr>
        <p:txBody>
          <a:bodyPr wrap="square" anchor="t">
            <a:spAutoFit/>
          </a:bodyPr>
          <a:lstStyle/>
          <a:p>
            <a:pPr algn="l">
              <a:defRPr sz="1600" b="1">
                <a:solidFill>
                  <a:srgbClr val="173F35"/>
                </a:solidFill>
                <a:latin typeface="Avenir Next Demi Bold"/>
              </a:defRPr>
            </a:pPr>
            <a:r>
              <a:rPr sz="1600">
                <a:latin typeface="Avenir Next" panose="020B0503020202020204" pitchFamily="34" charset="0"/>
              </a:rPr>
              <a:t>SEBI / Securities law</a:t>
            </a:r>
          </a:p>
        </p:txBody>
      </p:sp>
      <p:sp>
        <p:nvSpPr>
          <p:cNvPr id="13" name="TextBox 12"/>
          <p:cNvSpPr txBox="1"/>
          <p:nvPr/>
        </p:nvSpPr>
        <p:spPr>
          <a:xfrm>
            <a:off x="4389385" y="2035028"/>
            <a:ext cx="3255264" cy="2633798"/>
          </a:xfrm>
          <a:prstGeom prst="rect">
            <a:avLst/>
          </a:prstGeom>
          <a:noFill/>
        </p:spPr>
        <p:txBody>
          <a:bodyPr wrap="square" anchor="t">
            <a:spAutoFit/>
          </a:bodyPr>
          <a:lstStyle/>
          <a:p>
            <a:pPr algn="l">
              <a:lnSpc>
                <a:spcPct val="105000"/>
              </a:lnSpc>
              <a:spcAft>
                <a:spcPts val="600"/>
              </a:spcAft>
              <a:defRPr sz="1150" b="0">
                <a:solidFill>
                  <a:srgbClr val="2D2D2D"/>
                </a:solidFill>
                <a:latin typeface="Avenir Next"/>
              </a:defRPr>
            </a:pPr>
            <a:r>
              <a:rPr sz="1100" b="1" dirty="0">
                <a:latin typeface="Avenir Next"/>
              </a:rPr>
              <a:t>• Repeal Backsliding / Restore </a:t>
            </a:r>
            <a:r>
              <a:rPr sz="1100" b="1" dirty="0" err="1">
                <a:latin typeface="Avenir Next"/>
              </a:rPr>
              <a:t>Rigour</a:t>
            </a:r>
            <a:r>
              <a:rPr sz="1100" b="1" dirty="0">
                <a:latin typeface="Avenir Next"/>
              </a:rPr>
              <a:t>: </a:t>
            </a:r>
            <a:r>
              <a:rPr sz="1100" b="0" dirty="0">
                <a:latin typeface="Avenir Next"/>
              </a:rPr>
              <a:t>Amend BRSR to mandate Reasonable Assurance &amp; full Scope 3 Value Chain </a:t>
            </a:r>
            <a:r>
              <a:rPr lang="en-US" sz="1100" dirty="0">
                <a:latin typeface="Avenir Next"/>
              </a:rPr>
              <a:t>Disclosures</a:t>
            </a:r>
            <a:r>
              <a:rPr sz="1100" b="0" dirty="0">
                <a:latin typeface="Avenir Next"/>
              </a:rPr>
              <a:t>.</a:t>
            </a:r>
          </a:p>
          <a:p>
            <a:pPr>
              <a:lnSpc>
                <a:spcPct val="105000"/>
              </a:lnSpc>
              <a:spcAft>
                <a:spcPts val="600"/>
              </a:spcAft>
            </a:pPr>
            <a:r>
              <a:rPr sz="1100" b="1" dirty="0">
                <a:latin typeface="Avenir Next"/>
              </a:rPr>
              <a:t>• PFUTP Fraud &amp; Referral Bridge: </a:t>
            </a:r>
            <a:r>
              <a:rPr sz="1100" b="0" dirty="0">
                <a:latin typeface="Avenir Next"/>
              </a:rPr>
              <a:t>Classify material ESG misstatements as fraud under PFUTP</a:t>
            </a:r>
            <a:r>
              <a:rPr lang="en-US" sz="1100" b="0" dirty="0">
                <a:latin typeface="Avenir Next"/>
              </a:rPr>
              <a:t> Regulations</a:t>
            </a:r>
            <a:r>
              <a:rPr sz="1100" b="0" dirty="0">
                <a:latin typeface="Avenir Next"/>
              </a:rPr>
              <a:t> + mandatory referral to MCA.</a:t>
            </a:r>
          </a:p>
          <a:p>
            <a:pPr>
              <a:lnSpc>
                <a:spcPct val="105000"/>
              </a:lnSpc>
              <a:spcAft>
                <a:spcPts val="600"/>
              </a:spcAft>
            </a:pPr>
            <a:r>
              <a:rPr sz="1100" b="1" dirty="0">
                <a:latin typeface="Avenir Next"/>
              </a:rPr>
              <a:t>• Double Materiality: </a:t>
            </a:r>
            <a:r>
              <a:rPr sz="1100" b="0" dirty="0">
                <a:latin typeface="Avenir Next"/>
              </a:rPr>
              <a:t>Mandate Impact Materiality alongside Financial Materialit</a:t>
            </a:r>
            <a:r>
              <a:rPr lang="en-US" sz="1100" b="0" dirty="0">
                <a:latin typeface="Avenir Next"/>
              </a:rPr>
              <a:t>y</a:t>
            </a:r>
            <a:r>
              <a:rPr sz="1100" b="0" dirty="0">
                <a:latin typeface="Avenir Next"/>
              </a:rPr>
              <a:t>.</a:t>
            </a:r>
          </a:p>
          <a:p>
            <a:pPr>
              <a:lnSpc>
                <a:spcPct val="105000"/>
              </a:lnSpc>
              <a:spcAft>
                <a:spcPts val="600"/>
              </a:spcAft>
            </a:pPr>
            <a:r>
              <a:rPr sz="1100" b="1" dirty="0">
                <a:latin typeface="Avenir Next"/>
              </a:rPr>
              <a:t>• ESG Rating Providers (ERPs): </a:t>
            </a:r>
            <a:r>
              <a:rPr sz="1100" b="0" dirty="0">
                <a:latin typeface="Avenir Next"/>
              </a:rPr>
              <a:t>Introduce minimum competence </a:t>
            </a:r>
            <a:r>
              <a:rPr lang="en-US" sz="1100" b="0" dirty="0">
                <a:latin typeface="Avenir Next"/>
              </a:rPr>
              <a:t>and certifications </a:t>
            </a:r>
            <a:r>
              <a:rPr sz="1100" b="0" dirty="0">
                <a:latin typeface="Avenir Next"/>
              </a:rPr>
              <a:t>for ESG analysts.</a:t>
            </a:r>
          </a:p>
        </p:txBody>
      </p:sp>
      <p:sp>
        <p:nvSpPr>
          <p:cNvPr id="14" name="Rounded Rectangle 13"/>
          <p:cNvSpPr/>
          <p:nvPr/>
        </p:nvSpPr>
        <p:spPr>
          <a:xfrm>
            <a:off x="7839874" y="1474623"/>
            <a:ext cx="3300984" cy="4023360"/>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venir Next" panose="020B0503020202020204" pitchFamily="34" charset="0"/>
            </a:endParaRPr>
          </a:p>
        </p:txBody>
      </p:sp>
      <p:sp>
        <p:nvSpPr>
          <p:cNvPr id="15" name="Rectangle 14"/>
          <p:cNvSpPr/>
          <p:nvPr/>
        </p:nvSpPr>
        <p:spPr>
          <a:xfrm>
            <a:off x="7839874" y="1474623"/>
            <a:ext cx="3255264" cy="73152"/>
          </a:xfrm>
          <a:prstGeom prst="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Avenir Next" panose="020B0503020202020204" pitchFamily="34" charset="0"/>
            </a:endParaRPr>
          </a:p>
        </p:txBody>
      </p:sp>
      <p:sp>
        <p:nvSpPr>
          <p:cNvPr id="16" name="TextBox 15"/>
          <p:cNvSpPr txBox="1"/>
          <p:nvPr/>
        </p:nvSpPr>
        <p:spPr>
          <a:xfrm>
            <a:off x="7986178" y="1659789"/>
            <a:ext cx="3255264" cy="338554"/>
          </a:xfrm>
          <a:prstGeom prst="rect">
            <a:avLst/>
          </a:prstGeom>
          <a:noFill/>
        </p:spPr>
        <p:txBody>
          <a:bodyPr wrap="square" anchor="t">
            <a:spAutoFit/>
          </a:bodyPr>
          <a:lstStyle/>
          <a:p>
            <a:pPr algn="l">
              <a:defRPr sz="1600" b="1">
                <a:solidFill>
                  <a:srgbClr val="173F35"/>
                </a:solidFill>
                <a:latin typeface="Avenir Next Demi Bold"/>
              </a:defRPr>
            </a:pPr>
            <a:r>
              <a:rPr sz="1600">
                <a:latin typeface="Avenir Next" panose="020B0503020202020204" pitchFamily="34" charset="0"/>
              </a:rPr>
              <a:t>CCPA / Consumer law</a:t>
            </a:r>
          </a:p>
        </p:txBody>
      </p:sp>
      <p:sp>
        <p:nvSpPr>
          <p:cNvPr id="17" name="TextBox 16"/>
          <p:cNvSpPr txBox="1"/>
          <p:nvPr/>
        </p:nvSpPr>
        <p:spPr>
          <a:xfrm>
            <a:off x="7937257" y="2008967"/>
            <a:ext cx="3255264" cy="2456057"/>
          </a:xfrm>
          <a:prstGeom prst="rect">
            <a:avLst/>
          </a:prstGeom>
          <a:noFill/>
        </p:spPr>
        <p:txBody>
          <a:bodyPr wrap="square" anchor="t">
            <a:spAutoFit/>
          </a:bodyPr>
          <a:lstStyle/>
          <a:p>
            <a:pPr algn="l">
              <a:lnSpc>
                <a:spcPct val="105000"/>
              </a:lnSpc>
              <a:spcAft>
                <a:spcPts val="600"/>
              </a:spcAft>
              <a:defRPr sz="1150" b="0">
                <a:solidFill>
                  <a:srgbClr val="2D2D2D"/>
                </a:solidFill>
                <a:latin typeface="Avenir Next"/>
              </a:defRPr>
            </a:pPr>
            <a:r>
              <a:rPr sz="1100" b="1" dirty="0">
                <a:latin typeface="Avenir Next"/>
              </a:rPr>
              <a:t>• Binding Sec 101 Rules: </a:t>
            </a:r>
            <a:r>
              <a:rPr sz="1100" b="0" dirty="0">
                <a:latin typeface="Avenir Next"/>
              </a:rPr>
              <a:t>Elevate 2024 Guidelines into formal delegated legislation.</a:t>
            </a:r>
          </a:p>
          <a:p>
            <a:pPr>
              <a:lnSpc>
                <a:spcPct val="105000"/>
              </a:lnSpc>
              <a:spcAft>
                <a:spcPts val="600"/>
              </a:spcAft>
            </a:pPr>
            <a:r>
              <a:rPr sz="1100" b="1" dirty="0">
                <a:latin typeface="Avenir Next"/>
              </a:rPr>
              <a:t>• Turnover Fines &amp; Corrective Ads: </a:t>
            </a:r>
            <a:r>
              <a:rPr sz="1100" b="0" dirty="0">
                <a:latin typeface="Avenir Next"/>
              </a:rPr>
              <a:t>Amend Sec 21 to impose 1% to 4% turnover penalties + Mandatory Corrective Advertising of equal prominence and duration.</a:t>
            </a:r>
          </a:p>
          <a:p>
            <a:pPr>
              <a:lnSpc>
                <a:spcPct val="105000"/>
              </a:lnSpc>
              <a:spcAft>
                <a:spcPts val="600"/>
              </a:spcAft>
            </a:pPr>
            <a:r>
              <a:rPr sz="1100" b="1" dirty="0">
                <a:latin typeface="Avenir Next"/>
              </a:rPr>
              <a:t>• Narrow Puffery (Guideline 3(h)): </a:t>
            </a:r>
            <a:r>
              <a:rPr lang="en-US" sz="1100" b="0" dirty="0">
                <a:latin typeface="Avenir Next"/>
              </a:rPr>
              <a:t>Cl</a:t>
            </a:r>
            <a:r>
              <a:rPr sz="1100" b="0" dirty="0">
                <a:latin typeface="Avenir Next"/>
              </a:rPr>
              <a:t>aims</a:t>
            </a:r>
            <a:r>
              <a:rPr lang="en-US" sz="1100" dirty="0">
                <a:latin typeface="Avenir Next"/>
              </a:rPr>
              <a:t> should </a:t>
            </a:r>
            <a:r>
              <a:rPr sz="1100" b="0" dirty="0">
                <a:latin typeface="Avenir Next"/>
              </a:rPr>
              <a:t>require published transition plans and budgets.</a:t>
            </a:r>
          </a:p>
          <a:p>
            <a:pPr>
              <a:lnSpc>
                <a:spcPct val="105000"/>
              </a:lnSpc>
              <a:spcAft>
                <a:spcPts val="600"/>
              </a:spcAft>
            </a:pPr>
            <a:r>
              <a:rPr sz="1100" b="1" dirty="0">
                <a:latin typeface="Avenir Next"/>
              </a:rPr>
              <a:t>• Claim-Specific Schedules: </a:t>
            </a:r>
            <a:r>
              <a:rPr sz="1100" b="0" dirty="0">
                <a:latin typeface="Avenir Next"/>
              </a:rPr>
              <a:t>Prescribe statutory testing benchmarks </a:t>
            </a:r>
            <a:r>
              <a:rPr lang="en-US" sz="1100" dirty="0">
                <a:latin typeface="Avenir Next"/>
              </a:rPr>
              <a:t>specific to the type of environmental claim</a:t>
            </a:r>
            <a:r>
              <a:rPr sz="1100" b="0" dirty="0">
                <a:latin typeface="Avenir Next"/>
              </a:rPr>
              <a:t>.</a:t>
            </a:r>
          </a:p>
        </p:txBody>
      </p:sp>
      <p:sp>
        <p:nvSpPr>
          <p:cNvPr id="18" name="TextBox 17"/>
          <p:cNvSpPr txBox="1"/>
          <p:nvPr/>
        </p:nvSpPr>
        <p:spPr>
          <a:xfrm>
            <a:off x="730574" y="6635463"/>
            <a:ext cx="1733167" cy="261610"/>
          </a:xfrm>
          <a:prstGeom prst="rect">
            <a:avLst/>
          </a:prstGeom>
          <a:noFill/>
        </p:spPr>
        <p:txBody>
          <a:bodyPr wrap="none" lIns="91440" tIns="45720" rIns="91440" bIns="45720" anchor="t">
            <a:spAutoFit/>
          </a:bodyPr>
          <a:lstStyle/>
          <a:p>
            <a:pPr>
              <a:defRPr sz="850">
                <a:solidFill>
                  <a:srgbClr val="6B6F6A"/>
                </a:solidFill>
                <a:latin typeface="Avenir Next"/>
              </a:defRPr>
            </a:pPr>
            <a:r>
              <a:rPr sz="1100" dirty="0">
                <a:latin typeface="Avenir Next" panose="020B0503020202020204" pitchFamily="34" charset="0"/>
              </a:rPr>
              <a:t>Source base: Chapter 6</a:t>
            </a:r>
            <a:r>
              <a:rPr lang="en-US" sz="1100" dirty="0">
                <a:latin typeface="Avenir Next" panose="020B0503020202020204" pitchFamily="34" charset="0"/>
              </a:rPr>
              <a:t>.</a:t>
            </a:r>
            <a:endParaRPr sz="1100" dirty="0">
              <a:latin typeface="Avenir Next" panose="020B0503020202020204" pitchFamily="34" charset="0"/>
            </a:endParaRPr>
          </a:p>
        </p:txBody>
      </p:sp>
      <p:sp>
        <p:nvSpPr>
          <p:cNvPr id="2" name="Rounded Rectangle 1">
            <a:extLst>
              <a:ext uri="{FF2B5EF4-FFF2-40B4-BE49-F238E27FC236}">
                <a16:creationId xmlns:a16="http://schemas.microsoft.com/office/drawing/2014/main" id="{E944D5AA-E07A-684A-99A2-363958AA91F5}"/>
              </a:ext>
            </a:extLst>
          </p:cNvPr>
          <p:cNvSpPr/>
          <p:nvPr/>
        </p:nvSpPr>
        <p:spPr>
          <a:xfrm>
            <a:off x="608357" y="6064911"/>
            <a:ext cx="10835640" cy="409041"/>
          </a:xfrm>
          <a:prstGeom prst="roundRect">
            <a:avLst>
              <a:gd name="adj" fmla="val 14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400">
              <a:latin typeface="Avenir Next" panose="020B0503020202020204" pitchFamily="34" charset="0"/>
            </a:endParaRPr>
          </a:p>
        </p:txBody>
      </p:sp>
      <p:sp>
        <p:nvSpPr>
          <p:cNvPr id="5" name="TextBox 4">
            <a:extLst>
              <a:ext uri="{FF2B5EF4-FFF2-40B4-BE49-F238E27FC236}">
                <a16:creationId xmlns:a16="http://schemas.microsoft.com/office/drawing/2014/main" id="{89502B22-55AB-9C8B-6A2C-AF2AF36D9F98}"/>
              </a:ext>
            </a:extLst>
          </p:cNvPr>
          <p:cNvSpPr txBox="1"/>
          <p:nvPr/>
        </p:nvSpPr>
        <p:spPr>
          <a:xfrm>
            <a:off x="738357" y="6136164"/>
            <a:ext cx="10575640" cy="261610"/>
          </a:xfrm>
          <a:prstGeom prst="rect">
            <a:avLst/>
          </a:prstGeom>
          <a:noFill/>
        </p:spPr>
        <p:txBody>
          <a:bodyPr wrap="square" lIns="45720" tIns="22860" rIns="45720" bIns="22860" anchor="ctr">
            <a:spAutoFit/>
          </a:bodyPr>
          <a:lstStyle/>
          <a:p>
            <a:pPr algn="just">
              <a:defRPr sz="1100">
                <a:solidFill>
                  <a:srgbClr val="282828"/>
                </a:solidFill>
              </a:defRPr>
            </a:pPr>
            <a:r>
              <a:rPr lang="en-IN" sz="1400" b="1" dirty="0">
                <a:solidFill>
                  <a:srgbClr val="173F35"/>
                </a:solidFill>
              </a:rPr>
              <a:t>Answers Research Question 7 (Contd.)</a:t>
            </a:r>
            <a:endParaRPr lang="en-US" sz="1400" b="1" dirty="0">
              <a:solidFill>
                <a:srgbClr val="173F35"/>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200000"/>
            <a:ext cx="10607040" cy="1200329"/>
          </a:xfrm>
          <a:prstGeom prst="rect">
            <a:avLst/>
          </a:prstGeom>
          <a:noFill/>
        </p:spPr>
        <p:txBody>
          <a:bodyPr wrap="square" lIns="91440" tIns="45720" rIns="91440" bIns="45720" anchor="t">
            <a:spAutoFit/>
          </a:bodyPr>
          <a:lstStyle/>
          <a:p>
            <a:pPr algn="ctr">
              <a:defRPr sz="3000" b="1">
                <a:solidFill>
                  <a:srgbClr val="173F35"/>
                </a:solidFill>
                <a:latin typeface="Georgia"/>
              </a:defRPr>
            </a:pPr>
            <a:r>
              <a:rPr sz="7200" dirty="0"/>
              <a:t>Thank You</a:t>
            </a:r>
            <a:endParaRPr lang="en-US" sz="7200" dirty="0"/>
          </a:p>
        </p:txBody>
      </p:sp>
      <p:sp>
        <p:nvSpPr>
          <p:cNvPr id="19" name="TextBox 18"/>
          <p:cNvSpPr txBox="1"/>
          <p:nvPr/>
        </p:nvSpPr>
        <p:spPr>
          <a:xfrm>
            <a:off x="10972800" y="6364224"/>
            <a:ext cx="548640" cy="228600"/>
          </a:xfrm>
          <a:prstGeom prst="rect">
            <a:avLst/>
          </a:prstGeom>
          <a:noFill/>
        </p:spPr>
        <p:txBody>
          <a:bodyPr wrap="none">
            <a:spAutoFit/>
          </a:bodyPr>
          <a:lstStyle/>
          <a:p>
            <a:pPr algn="r">
              <a:defRPr sz="900">
                <a:solidFill>
                  <a:srgbClr val="6B6F6A"/>
                </a:solidFill>
                <a:latin typeface="Avenir Next"/>
              </a:defRPr>
            </a:pPr>
            <a:endParaRPr/>
          </a:p>
        </p:txBody>
      </p:sp>
      <p:sp>
        <p:nvSpPr>
          <p:cNvPr id="20" name="Rounded Rectangle 18">
            <a:extLst>
              <a:ext uri="{FF2B5EF4-FFF2-40B4-BE49-F238E27FC236}">
                <a16:creationId xmlns:a16="http://schemas.microsoft.com/office/drawing/2014/main" id="{E5FEC69F-BC87-C4FC-EB3C-912B120196EF}"/>
              </a:ext>
            </a:extLst>
          </p:cNvPr>
          <p:cNvSpPr/>
          <p:nvPr/>
        </p:nvSpPr>
        <p:spPr>
          <a:xfrm>
            <a:off x="3573332" y="3242048"/>
            <a:ext cx="5212080" cy="2014458"/>
          </a:xfrm>
          <a:prstGeom prst="roundRect">
            <a:avLst/>
          </a:prstGeom>
          <a:solidFill>
            <a:srgbClr val="E8F5F2"/>
          </a:solidFill>
          <a:ln w="15240">
            <a:solidFill>
              <a:srgbClr val="C48A1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TextBox 20">
            <a:extLst>
              <a:ext uri="{FF2B5EF4-FFF2-40B4-BE49-F238E27FC236}">
                <a16:creationId xmlns:a16="http://schemas.microsoft.com/office/drawing/2014/main" id="{E6A07CEB-C350-7E55-A481-F92D3DF2BF71}"/>
              </a:ext>
            </a:extLst>
          </p:cNvPr>
          <p:cNvSpPr txBox="1"/>
          <p:nvPr/>
        </p:nvSpPr>
        <p:spPr>
          <a:xfrm>
            <a:off x="3801932" y="3534881"/>
            <a:ext cx="4846320" cy="1436291"/>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1000"/>
              </a:spcAft>
              <a:defRPr sz="1700" b="1">
                <a:solidFill>
                  <a:srgbClr val="12402D"/>
                </a:solidFill>
                <a:latin typeface="Calibri"/>
              </a:defRPr>
            </a:pPr>
            <a:r>
              <a:rPr dirty="0"/>
              <a:t>Concluding Imperative</a:t>
            </a:r>
          </a:p>
          <a:p>
            <a:pPr>
              <a:defRPr sz="1300">
                <a:solidFill>
                  <a:srgbClr val="2D2D2D"/>
                </a:solidFill>
              </a:defRPr>
            </a:pPr>
            <a:r>
              <a:rPr dirty="0"/>
              <a:t>Without truth in corporate environmental claims, clean investment cannot reach real climate solutions, and consumers cannot make genuine sustainable choices. Stopping greenwashing is essential not just for fair financial markets, but for the health of our planet.</a:t>
            </a:r>
          </a:p>
        </p:txBody>
      </p:sp>
    </p:spTree>
    <p:extLst>
      <p:ext uri="{BB962C8B-B14F-4D97-AF65-F5344CB8AC3E}">
        <p14:creationId xmlns:p14="http://schemas.microsoft.com/office/powerpoint/2010/main" val="3542015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 dockstate="right" visibility="0" width="35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81D4ABBE-D2DB-C940-8FAD-2C4185867D05}">
  <we:reference id="wa200010215" version="2.0.0.0" store="en-GB" storeType="OMEX"/>
  <we:alternateReferences>
    <we:reference id="wa200010215" version="2.0.0.0" store="wa200010215" storeType="OMEX"/>
  </we:alternateReferences>
  <we:properties>
    <we:property name="bps.codex_control.document_id" value="&quot;c6e61e05-e222-464d-8d2e-e0195923e89b&quot;"/>
  </we:properties>
  <we:bindings/>
  <we:snapshot xmlns:r="http://schemas.openxmlformats.org/officeDocument/2006/relationships"/>
</we:webextension>
</file>

<file path=ppt/webextensions/webextension2.xml><?xml version="1.0" encoding="utf-8"?>
<we:webextension xmlns:we="http://schemas.microsoft.com/office/webextensions/webextension/2010/11" id="{23334883-7E29-3443-96B6-7930DF62723D}">
  <we:reference id="wa200011214" version="1.0.0.1" store="en-GB" storeType="OMEX"/>
  <we:alternateReferences>
    <we:reference id="wa200011214" version="1.0.0.1" store="wa200011214" storeType="OMEX"/>
  </we:alternateReferences>
  <we:properties>
    <we:property name="_flush" value="1787248853329"/>
    <we:property name="_postImportCommit" value="1787248853329"/>
    <we:property name="grokConversationBinding" value="{&quot;responseId&quot;:&quot;47752631-de79-967a-a584-cc161d29c90d&quot;,&quot;title&quot;:&quot;Semantic Improvement of 5 Suggestions&quot;,&quot;transport&quot;:&quot;responses&quot;}"/>
  </we:properties>
  <we:bindings/>
  <we:snapshot xmlns:r="http://schemas.openxmlformats.org/officeDocument/2006/relationships"/>
</we:webextension>
</file>

<file path=ppt/webextensions/webextension3.xml><?xml version="1.0" encoding="utf-8"?>
<we:webextension xmlns:we="http://schemas.microsoft.com/office/webextensions/webextension/2010/11" id="{79075918-3C8C-894A-A74B-6CA191A70CA8}">
  <we:reference id="wa200010001" version="1.0.0.1" store="en-GB" storeType="OMEX"/>
  <we:alternateReferences>
    <we:reference id="WA200010001" version="1.0.0.1" store="" storeType="OMEX"/>
  </we:alternateReferences>
  <we:properties>
    <we:property name="claude.fileId" value="&quot;65a53d8a-3821-4041-8af4-faeace13586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2803</TotalTime>
  <Words>3719</Words>
  <Application>Microsoft Macintosh PowerPoint</Application>
  <PresentationFormat>Widescreen</PresentationFormat>
  <Paragraphs>390</Paragraphs>
  <Slides>21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Avenir Next</vt:lpstr>
      <vt:lpstr>Avenir Next Demi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Saumya Singh</cp:lastModifiedBy>
  <cp:revision>1717</cp:revision>
  <dcterms:created xsi:type="dcterms:W3CDTF">2013-01-27T09:14:16Z</dcterms:created>
  <dcterms:modified xsi:type="dcterms:W3CDTF">2026-08-21T06:02:38Z</dcterms:modified>
  <cp:category/>
</cp:coreProperties>
</file>