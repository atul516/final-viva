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300" r:id="rId6"/>
    <p:sldId id="301" r:id="rId7"/>
    <p:sldId id="302"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8796"/>
    <p:restoredTop sz="94629"/>
  </p:normalViewPr>
  <p:slideViewPr>
    <p:cSldViewPr snapToGrid="0" snapToObjects="1">
      <p:cViewPr varScale="1">
        <p:scale>
          <a:sx n="62" d="100"/>
          <a:sy n="62" d="100"/>
        </p:scale>
        <p:origin x="200" y="1072"/>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5</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15553"/>
          </a:xfrm>
          <a:prstGeom prst="rect">
            <a:avLst/>
          </a:prstGeom>
          <a:noFill/>
        </p:spPr>
        <p:txBody>
          <a:bodyPr wrap="square" tIns="91440" bIns="91440">
            <a:spAutoFit/>
          </a:bodyPr>
          <a:lstStyle/>
          <a:p>
            <a:pPr>
              <a:defRPr sz="2200" b="1">
                <a:solidFill>
                  <a:srgbClr val="173F35"/>
                </a:solidFill>
                <a:latin typeface="Georgia"/>
              </a:defRPr>
            </a:pPr>
            <a:r>
              <a:rPr lang="en-IN" sz="14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b="1" i="1">
                <a:solidFill>
                  <a:srgbClr val="12402D"/>
                </a:solidFill>
              </a:defRPr>
            </a:pPr>
            <a:r>
              <a:rPr sz="140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200" dirty="0">
                <a:latin typeface="Avenir Next" panose="020B0503020202020204" pitchFamily="34" charset="0"/>
              </a:rPr>
              <a:t>1. Definition &amp; Core Trick</a:t>
            </a:r>
          </a:p>
          <a:p>
            <a:pPr>
              <a:spcAft>
                <a:spcPts val="800"/>
              </a:spcAft>
            </a:pPr>
            <a:r>
              <a:rPr sz="1200" b="1" dirty="0">
                <a:solidFill>
                  <a:srgbClr val="22704E"/>
                </a:solidFill>
                <a:latin typeface="Avenir Next" panose="020B0503020202020204" pitchFamily="34" charset="0"/>
              </a:rPr>
              <a:t>• CCPA 2024 </a:t>
            </a:r>
            <a:r>
              <a:rPr lang="en-US" sz="1200" b="1" dirty="0">
                <a:solidFill>
                  <a:srgbClr val="22704E"/>
                </a:solidFill>
                <a:latin typeface="Avenir Next" panose="020B0503020202020204" pitchFamily="34" charset="0"/>
              </a:rPr>
              <a:t>Definition</a:t>
            </a:r>
            <a:r>
              <a:rPr sz="1200" b="1" dirty="0">
                <a:solidFill>
                  <a:srgbClr val="22704E"/>
                </a:solidFill>
                <a:latin typeface="Avenir Next" panose="020B0503020202020204" pitchFamily="34" charset="0"/>
              </a:rPr>
              <a:t>: </a:t>
            </a:r>
            <a:r>
              <a:rPr lang="en-IN" sz="1200" dirty="0">
                <a:solidFill>
                  <a:srgbClr val="2D2D2D"/>
                </a:solidFill>
                <a:latin typeface="Avenir Next" panose="020B0503020202020204" pitchFamily="34" charset="0"/>
              </a:rPr>
              <a:t>India’s CCPA Guidelines define greenwashing as "any deceptive or misleading practice" involving: (</a:t>
            </a:r>
            <a:r>
              <a:rPr lang="en-IN" sz="1200" dirty="0" err="1">
                <a:solidFill>
                  <a:srgbClr val="2D2D2D"/>
                </a:solidFill>
                <a:latin typeface="Avenir Next" panose="020B0503020202020204" pitchFamily="34" charset="0"/>
              </a:rPr>
              <a:t>i</a:t>
            </a:r>
            <a:r>
              <a:rPr lang="en-IN" sz="1200" dirty="0">
                <a:solidFill>
                  <a:srgbClr val="2D2D2D"/>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Aft>
                <a:spcPts val="800"/>
              </a:spcAft>
            </a:pPr>
            <a:r>
              <a:rPr sz="1200" b="1" dirty="0">
                <a:solidFill>
                  <a:srgbClr val="22704E"/>
                </a:solidFill>
                <a:latin typeface="Avenir Next" panose="020B0503020202020204" pitchFamily="34" charset="0"/>
              </a:rPr>
              <a:t>• Global Scope (ESMA): </a:t>
            </a:r>
            <a:r>
              <a:rPr lang="en-IN" sz="1200" dirty="0">
                <a:solidFill>
                  <a:srgbClr val="2D2D2D"/>
                </a:solidFill>
                <a:latin typeface="Avenir Next" panose="020B0503020202020204" pitchFamily="34" charset="0"/>
              </a:rPr>
              <a:t>ESMA &amp; Greenpeace view it as sustainability communications that fail to fairly reflect the true environmental profile of an entity, product, or financial service.</a:t>
            </a:r>
          </a:p>
          <a:p>
            <a:pPr>
              <a:spcAft>
                <a:spcPts val="400"/>
              </a:spcAft>
            </a:pPr>
            <a:r>
              <a:rPr lang="en-IN" sz="1200" b="1" dirty="0">
                <a:solidFill>
                  <a:srgbClr val="22704E"/>
                </a:solidFill>
                <a:latin typeface="Avenir Next" panose="020B0503020202020204" pitchFamily="34" charset="0"/>
              </a:rPr>
              <a:t>• Core Mechanism: </a:t>
            </a:r>
            <a:r>
              <a:rPr lang="en-IN" sz="1200" dirty="0">
                <a:solidFill>
                  <a:srgbClr val="2D2D2D"/>
                </a:solidFill>
                <a:latin typeface="Avenir Next" panose="020B0503020202020204" pitchFamily="34" charset="0"/>
              </a:rPr>
              <a:t>Organizational Decoupling — public green commitments operating detached from day-to-day operations.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400" dirty="0">
                <a:latin typeface="Avenir Next" panose="020B0503020202020204" pitchFamily="34" charset="0"/>
              </a:rPr>
              <a:t>2. How It Has Grown</a:t>
            </a:r>
          </a:p>
          <a:p>
            <a:pPr>
              <a:spcAft>
                <a:spcPts val="800"/>
              </a:spcAft>
            </a:pPr>
            <a:r>
              <a:rPr sz="1400" b="1" dirty="0">
                <a:solidFill>
                  <a:srgbClr val="22704E"/>
                </a:solidFill>
                <a:latin typeface="Avenir Next" panose="020B0503020202020204" pitchFamily="34" charset="0"/>
              </a:rPr>
              <a:t>• Product Level (1986–): </a:t>
            </a:r>
            <a:r>
              <a:rPr lang="en-IN" sz="1400" dirty="0" err="1">
                <a:solidFill>
                  <a:srgbClr val="2D2D2D"/>
                </a:solidFill>
                <a:latin typeface="Avenir Next" panose="020B0503020202020204" pitchFamily="34" charset="0"/>
              </a:rPr>
              <a:t>TerraChoice</a:t>
            </a:r>
            <a:r>
              <a:rPr lang="en-IN" sz="1400" dirty="0">
                <a:solidFill>
                  <a:srgbClr val="2D2D2D"/>
                </a:solidFill>
                <a:latin typeface="Avenir Next" panose="020B0503020202020204" pitchFamily="34" charset="0"/>
              </a:rPr>
              <a:t> "7 Sins": vagueness, hidden trade-offs, false seals, irrelevance, lesser of two evils, plus nature imagery &amp; </a:t>
            </a:r>
            <a:r>
              <a:rPr lang="en-IN" sz="1400" dirty="0" err="1">
                <a:solidFill>
                  <a:srgbClr val="2D2D2D"/>
                </a:solidFill>
                <a:latin typeface="Avenir Next" panose="020B0503020202020204" pitchFamily="34" charset="0"/>
              </a:rPr>
              <a:t>color</a:t>
            </a:r>
            <a:r>
              <a:rPr lang="en-IN" sz="1400" dirty="0">
                <a:solidFill>
                  <a:srgbClr val="2D2D2D"/>
                </a:solidFill>
                <a:latin typeface="Avenir Next" panose="020B0503020202020204" pitchFamily="34" charset="0"/>
              </a:rPr>
              <a:t> trickery.</a:t>
            </a:r>
          </a:p>
          <a:p>
            <a:pPr>
              <a:spcAft>
                <a:spcPts val="800"/>
              </a:spcAft>
            </a:pPr>
            <a:r>
              <a:rPr sz="1400" b="1" dirty="0">
                <a:solidFill>
                  <a:srgbClr val="22704E"/>
                </a:solidFill>
                <a:latin typeface="Avenir Next" panose="020B0503020202020204" pitchFamily="34" charset="0"/>
              </a:rPr>
              <a:t>• Corporate Level (1990s–): </a:t>
            </a:r>
            <a:r>
              <a:rPr sz="1400" dirty="0">
                <a:solidFill>
                  <a:srgbClr val="2D2D2D"/>
                </a:solidFill>
                <a:latin typeface="Avenir Next" panose="020B0503020202020204" pitchFamily="34" charset="0"/>
              </a:rPr>
              <a:t>Brand image makeover and halo </a:t>
            </a:r>
            <a:r>
              <a:rPr lang="en-US" sz="1400" dirty="0">
                <a:solidFill>
                  <a:srgbClr val="2D2D2D"/>
                </a:solidFill>
                <a:latin typeface="Avenir Next" panose="020B0503020202020204" pitchFamily="34" charset="0"/>
              </a:rPr>
              <a:t>marketing</a:t>
            </a:r>
            <a:r>
              <a:rPr sz="1400" dirty="0">
                <a:solidFill>
                  <a:srgbClr val="2D2D2D"/>
                </a:solidFill>
                <a:latin typeface="Avenir Next" panose="020B0503020202020204" pitchFamily="34" charset="0"/>
              </a:rPr>
              <a:t> to deflect attention from polluting core business.</a:t>
            </a:r>
          </a:p>
          <a:p>
            <a:pPr>
              <a:spcAft>
                <a:spcPts val="400"/>
              </a:spcAft>
            </a:pPr>
            <a:r>
              <a:rPr sz="1400" b="1" dirty="0">
                <a:solidFill>
                  <a:srgbClr val="22704E"/>
                </a:solidFill>
                <a:latin typeface="Avenir Next" panose="020B0503020202020204" pitchFamily="34" charset="0"/>
              </a:rPr>
              <a:t>• ESG &amp; Financial (Today): </a:t>
            </a:r>
            <a:r>
              <a:rPr lang="en-IN" sz="1400" dirty="0" err="1">
                <a:solidFill>
                  <a:srgbClr val="2D2D2D"/>
                </a:solidFill>
                <a:latin typeface="Avenir Next" panose="020B0503020202020204" pitchFamily="34" charset="0"/>
              </a:rPr>
              <a:t>Crosswashing</a:t>
            </a:r>
            <a:r>
              <a:rPr lang="en-IN" sz="1400" dirty="0">
                <a:solidFill>
                  <a:srgbClr val="2D2D2D"/>
                </a:solidFill>
                <a:latin typeface="Avenir Next" panose="020B0503020202020204" pitchFamily="34" charset="0"/>
              </a:rPr>
              <a:t> (selective ESG PR), Reporting Manipulation (omitting Scope 3 value-chain emissions), &amp; </a:t>
            </a:r>
            <a:r>
              <a:rPr lang="en-IN" sz="1400" dirty="0" err="1">
                <a:solidFill>
                  <a:srgbClr val="2D2D2D"/>
                </a:solidFill>
                <a:latin typeface="Avenir Next" panose="020B0503020202020204" pitchFamily="34" charset="0"/>
              </a:rPr>
              <a:t>Futurewashing</a:t>
            </a:r>
            <a:r>
              <a:rPr lang="en-IN" sz="1400" dirty="0">
                <a:solidFill>
                  <a:srgbClr val="2D2D2D"/>
                </a:solidFill>
                <a:latin typeface="Avenir Next" panose="020B0503020202020204" pitchFamily="34" charset="0"/>
              </a:rPr>
              <a:t> (unverified net-zero pledges lacking interim milestones).</a:t>
            </a:r>
            <a:endParaRPr sz="1400" dirty="0">
              <a:solidFill>
                <a:srgbClr val="2D2D2D"/>
              </a:solidFill>
              <a:latin typeface="Avenir Next" panose="020B0503020202020204" pitchFamily="34" charset="0"/>
            </a:endParaRP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400" dirty="0">
                <a:latin typeface="Avenir Next" panose="020B0503020202020204" pitchFamily="34" charset="0"/>
              </a:rPr>
              <a:t>3. Multi-Layered Harm</a:t>
            </a:r>
          </a:p>
          <a:p>
            <a:pPr>
              <a:spcAft>
                <a:spcPts val="800"/>
              </a:spcAft>
            </a:pPr>
            <a:r>
              <a:rPr sz="1400" b="1" dirty="0">
                <a:solidFill>
                  <a:srgbClr val="22704E"/>
                </a:solidFill>
                <a:latin typeface="Avenir Next" panose="020B0503020202020204" pitchFamily="34" charset="0"/>
              </a:rPr>
              <a:t>• </a:t>
            </a:r>
            <a:r>
              <a:rPr lang="en-US" sz="1400" b="1" dirty="0">
                <a:solidFill>
                  <a:srgbClr val="22704E"/>
                </a:solidFill>
                <a:latin typeface="Avenir Next" panose="020B0503020202020204" pitchFamily="34" charset="0"/>
              </a:rPr>
              <a:t>Climate and Environmental</a:t>
            </a:r>
            <a:r>
              <a:rPr sz="1400" b="1" dirty="0">
                <a:solidFill>
                  <a:srgbClr val="22704E"/>
                </a:solidFill>
                <a:latin typeface="Avenir Next" panose="020B0503020202020204" pitchFamily="34" charset="0"/>
              </a:rPr>
              <a:t>: </a:t>
            </a:r>
            <a:r>
              <a:rPr sz="1400" dirty="0">
                <a:solidFill>
                  <a:srgbClr val="2D2D2D"/>
                </a:solidFill>
                <a:latin typeface="Avenir Next" panose="020B0503020202020204" pitchFamily="34" charset="0"/>
              </a:rPr>
              <a:t>Delays real </a:t>
            </a:r>
            <a:r>
              <a:rPr sz="1400" dirty="0" err="1">
                <a:solidFill>
                  <a:srgbClr val="2D2D2D"/>
                </a:solidFill>
                <a:latin typeface="Avenir Next" panose="020B0503020202020204" pitchFamily="34" charset="0"/>
              </a:rPr>
              <a:t>decarbonisation</a:t>
            </a:r>
            <a:r>
              <a:rPr sz="1400" dirty="0">
                <a:solidFill>
                  <a:srgbClr val="2D2D2D"/>
                </a:solidFill>
                <a:latin typeface="Avenir Next" panose="020B0503020202020204" pitchFamily="34" charset="0"/>
              </a:rPr>
              <a:t> and keeps high-emission business alive under transition slogans.</a:t>
            </a:r>
            <a:r>
              <a:rPr lang="en-US" sz="1400" dirty="0">
                <a:solidFill>
                  <a:srgbClr val="2D2D2D"/>
                </a:solidFill>
                <a:latin typeface="Avenir Next" panose="020B0503020202020204" pitchFamily="34" charset="0"/>
              </a:rPr>
              <a:t> Creates false comfort.</a:t>
            </a:r>
            <a:endParaRPr sz="1400" dirty="0">
              <a:solidFill>
                <a:srgbClr val="2D2D2D"/>
              </a:solidFill>
              <a:latin typeface="Avenir Next" panose="020B0503020202020204" pitchFamily="34" charset="0"/>
            </a:endParaRPr>
          </a:p>
          <a:p>
            <a:pPr>
              <a:spcAft>
                <a:spcPts val="800"/>
              </a:spcAft>
            </a:pPr>
            <a:r>
              <a:rPr sz="1400" b="1" dirty="0">
                <a:solidFill>
                  <a:srgbClr val="22704E"/>
                </a:solidFill>
                <a:latin typeface="Avenir Next" panose="020B0503020202020204" pitchFamily="34" charset="0"/>
              </a:rPr>
              <a:t>• Financial: </a:t>
            </a:r>
            <a:r>
              <a:rPr sz="1400" dirty="0">
                <a:solidFill>
                  <a:srgbClr val="2D2D2D"/>
                </a:solidFill>
                <a:latin typeface="Avenir Next" panose="020B0503020202020204" pitchFamily="34" charset="0"/>
              </a:rPr>
              <a:t>Misdirects green capital ($55.9B ESG debt in India); dishonest claims </a:t>
            </a:r>
            <a:r>
              <a:rPr lang="en-US" sz="1400" dirty="0">
                <a:solidFill>
                  <a:srgbClr val="2D2D2D"/>
                </a:solidFill>
                <a:latin typeface="Avenir Next" panose="020B0503020202020204" pitchFamily="34" charset="0"/>
              </a:rPr>
              <a:t>drive</a:t>
            </a:r>
            <a:r>
              <a:rPr sz="1400" dirty="0">
                <a:solidFill>
                  <a:srgbClr val="2D2D2D"/>
                </a:solidFill>
                <a:latin typeface="Avenir Next" panose="020B0503020202020204" pitchFamily="34" charset="0"/>
              </a:rPr>
              <a:t> out genuine green businesses.</a:t>
            </a:r>
          </a:p>
          <a:p>
            <a:pPr>
              <a:spcAft>
                <a:spcPts val="400"/>
              </a:spcAft>
            </a:pPr>
            <a:r>
              <a:rPr sz="1400" b="1" dirty="0">
                <a:solidFill>
                  <a:srgbClr val="22704E"/>
                </a:solidFill>
                <a:latin typeface="Avenir Next" panose="020B0503020202020204" pitchFamily="34" charset="0"/>
              </a:rPr>
              <a:t>• Market Trust:</a:t>
            </a:r>
            <a:r>
              <a:rPr lang="en-US" sz="1400" b="1" dirty="0">
                <a:solidFill>
                  <a:srgbClr val="22704E"/>
                </a:solidFill>
                <a:latin typeface="Avenir Next" panose="020B0503020202020204" pitchFamily="34" charset="0"/>
              </a:rPr>
              <a:t> </a:t>
            </a:r>
            <a:r>
              <a:rPr lang="en-IN" sz="1400" dirty="0">
                <a:solidFill>
                  <a:srgbClr val="2D2D2D"/>
                </a:solidFill>
                <a:latin typeface="Avenir Next" panose="020B0503020202020204" pitchFamily="34" charset="0"/>
              </a:rPr>
              <a:t>Erodes investor/consumer trust. Small fixed fines make greenwashing a cheap business gamble.</a:t>
            </a:r>
            <a:endParaRPr sz="1400" dirty="0">
              <a:solidFill>
                <a:srgbClr val="2D2D2D"/>
              </a:solidFill>
              <a:latin typeface="Avenir Next" panose="020B0503020202020204" pitchFamily="34" charset="0"/>
            </a:endParaRP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Research Question 1: What is greenwashing, how has it evolved, and what are its consequences?</a:t>
            </a:r>
          </a:p>
          <a:p>
            <a:pPr>
              <a:defRPr sz="1150" i="1">
                <a:solidFill>
                  <a:srgbClr val="4A4A4A"/>
                </a:solidFill>
                <a:latin typeface="Calibri"/>
              </a:defRPr>
            </a:pPr>
            <a:r>
              <a:rPr lang="en-IN" dirty="0">
                <a:latin typeface="Avenir Next" panose="020B0503020202020204" pitchFamily="34" charset="0"/>
              </a:rPr>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Why Greenwashing Is a Corporate Accountability Failure</a:t>
            </a:r>
            <a:r>
              <a:rPr lang="en-US" sz="3000" b="1" dirty="0">
                <a:solidFill>
                  <a:srgbClr val="173F35"/>
                </a:solidFill>
                <a:latin typeface="Avenir Next" panose="020B0503020202020204" pitchFamily="34" charset="0"/>
              </a:rPr>
              <a:t> ?</a:t>
            </a:r>
            <a:endParaRPr sz="3000" b="1" dirty="0">
              <a:solidFill>
                <a:srgbClr val="173F35"/>
              </a:solidFill>
              <a:latin typeface="Avenir Next" panose="020B0503020202020204" pitchFamily="34" charset="0"/>
            </a:endParaRPr>
          </a:p>
        </p:txBody>
      </p:sp>
      <p:sp>
        <p:nvSpPr>
          <p:cNvPr id="5" name="Rounded Rectangle 4"/>
          <p:cNvSpPr/>
          <p:nvPr/>
        </p:nvSpPr>
        <p:spPr>
          <a:xfrm>
            <a:off x="500000" y="1049409"/>
            <a:ext cx="5411403" cy="1801368"/>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549142"/>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1. What </a:t>
            </a:r>
            <a:r>
              <a:rPr lang="en-US" sz="1600" dirty="0">
                <a:latin typeface="Avenir Next" panose="020B0503020202020204" pitchFamily="34" charset="0"/>
              </a:rPr>
              <a:t>actually a </a:t>
            </a:r>
            <a:r>
              <a:rPr sz="1600" dirty="0">
                <a:latin typeface="Avenir Next" panose="020B0503020202020204" pitchFamily="34" charset="0"/>
              </a:rPr>
              <a:t>Company</a:t>
            </a:r>
            <a:r>
              <a:rPr lang="en-US" sz="1600" dirty="0">
                <a:latin typeface="Avenir Next" panose="020B0503020202020204" pitchFamily="34" charset="0"/>
              </a:rPr>
              <a:t> is</a:t>
            </a:r>
            <a:r>
              <a:rPr sz="1600" dirty="0">
                <a:latin typeface="Avenir Next" panose="020B0503020202020204" pitchFamily="34" charset="0"/>
              </a:rPr>
              <a:t>?</a:t>
            </a:r>
          </a:p>
          <a:p>
            <a:pPr>
              <a:spcAft>
                <a:spcPts val="400"/>
              </a:spcAft>
              <a:defRPr sz="1150">
                <a:solidFill>
                  <a:srgbClr val="2D2D2D"/>
                </a:solidFill>
              </a:defRPr>
            </a:pPr>
            <a:r>
              <a:rPr lang="en-IN" sz="1400" dirty="0">
                <a:latin typeface="Avenir Next" panose="020B0503020202020204" pitchFamily="34" charset="0"/>
              </a:rPr>
              <a:t>•  The thesis tests five classic theories of corporate personality.</a:t>
            </a:r>
          </a:p>
          <a:p>
            <a:pPr>
              <a:spcAft>
                <a:spcPts val="400"/>
              </a:spcAft>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The theories support the view that a</a:t>
            </a:r>
            <a:r>
              <a:rPr sz="1400" dirty="0">
                <a:latin typeface="Avenir Next" panose="020B0503020202020204" pitchFamily="34" charset="0"/>
              </a:rPr>
              <a:t> company is a real social actor: its public green promises create real legal expectations.</a:t>
            </a:r>
          </a:p>
          <a:p>
            <a:pPr>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Specifically, </a:t>
            </a:r>
            <a:r>
              <a:rPr sz="1400" dirty="0">
                <a:latin typeface="Avenir Next" panose="020B0503020202020204" pitchFamily="34" charset="0"/>
              </a:rPr>
              <a:t>Indian law </a:t>
            </a:r>
            <a:r>
              <a:rPr lang="en-US" sz="1400" dirty="0">
                <a:latin typeface="Avenir Next" panose="020B0503020202020204" pitchFamily="34" charset="0"/>
              </a:rPr>
              <a:t>closely </a:t>
            </a:r>
            <a:r>
              <a:rPr sz="1400" dirty="0">
                <a:latin typeface="Avenir Next" panose="020B0503020202020204" pitchFamily="34" charset="0"/>
              </a:rPr>
              <a:t>follows stakeholder </a:t>
            </a:r>
            <a:r>
              <a:rPr lang="en-US" sz="1400" dirty="0">
                <a:latin typeface="Avenir Next" panose="020B0503020202020204" pitchFamily="34" charset="0"/>
              </a:rPr>
              <a:t>position</a:t>
            </a:r>
            <a:r>
              <a:rPr sz="1400" dirty="0">
                <a:latin typeface="Avenir Next" panose="020B0503020202020204" pitchFamily="34" charset="0"/>
              </a:rPr>
              <a:t>: Section 166(2) makes environmental care an inherent duty.</a:t>
            </a:r>
          </a:p>
        </p:txBody>
      </p:sp>
      <p:sp>
        <p:nvSpPr>
          <p:cNvPr id="7" name="Rounded Rectangle 6"/>
          <p:cNvSpPr/>
          <p:nvPr/>
        </p:nvSpPr>
        <p:spPr>
          <a:xfrm>
            <a:off x="6196000" y="1049407"/>
            <a:ext cx="5411403" cy="2415711"/>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224676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2. Hohfeld</a:t>
            </a:r>
            <a:r>
              <a:rPr lang="en-US" sz="1600" dirty="0">
                <a:latin typeface="Avenir Next" panose="020B0503020202020204" pitchFamily="34" charset="0"/>
              </a:rPr>
              <a:t>ian Analysis</a:t>
            </a:r>
            <a:r>
              <a:rPr sz="1600" dirty="0">
                <a:latin typeface="Avenir Next" panose="020B0503020202020204" pitchFamily="34" charset="0"/>
              </a:rPr>
              <a:t>: Clarifying Legal Relations</a:t>
            </a:r>
          </a:p>
          <a:p>
            <a:pPr>
              <a:spcAft>
                <a:spcPts val="400"/>
              </a:spcAft>
              <a:defRPr sz="1150">
                <a:solidFill>
                  <a:srgbClr val="2D2D2D"/>
                </a:solidFill>
              </a:defRPr>
            </a:pPr>
            <a:r>
              <a:rPr sz="1400" dirty="0">
                <a:latin typeface="Avenir Next" panose="020B0503020202020204" pitchFamily="34" charset="0"/>
              </a:rPr>
              <a:t>• </a:t>
            </a:r>
            <a:r>
              <a:rPr lang="en-IN" sz="1400" dirty="0">
                <a:latin typeface="Avenir Next" panose="020B0503020202020204" pitchFamily="34" charset="0"/>
              </a:rPr>
              <a:t>Duty breached — the duty not to mislead, owed to the State and to investors.</a:t>
            </a:r>
          </a:p>
          <a:p>
            <a:pPr>
              <a:spcAft>
                <a:spcPts val="400"/>
              </a:spcAft>
              <a:defRPr sz="1150">
                <a:solidFill>
                  <a:srgbClr val="2D2D2D"/>
                </a:solidFill>
              </a:defRPr>
            </a:pPr>
            <a:r>
              <a:rPr lang="en-IN" sz="1400" dirty="0">
                <a:latin typeface="Avenir Next" panose="020B0503020202020204" pitchFamily="34" charset="0"/>
              </a:rPr>
              <a:t>•  Privilege misused — managers may choose how to communicate, but that freedom stops at deception.</a:t>
            </a:r>
          </a:p>
          <a:p>
            <a:pPr>
              <a:spcAft>
                <a:spcPts val="400"/>
              </a:spcAft>
              <a:defRPr sz="1150">
                <a:solidFill>
                  <a:srgbClr val="2D2D2D"/>
                </a:solidFill>
              </a:defRPr>
            </a:pPr>
            <a:r>
              <a:rPr lang="en-IN" sz="1400" dirty="0">
                <a:latin typeface="Avenir Next" panose="020B0503020202020204" pitchFamily="34" charset="0"/>
              </a:rPr>
              <a:t>•  Power held — companies control the ESG information that everyone else acts on.</a:t>
            </a:r>
          </a:p>
          <a:p>
            <a:pPr>
              <a:spcAft>
                <a:spcPts val="400"/>
              </a:spcAft>
              <a:defRPr sz="1150">
                <a:solidFill>
                  <a:srgbClr val="2D2D2D"/>
                </a:solidFill>
              </a:defRPr>
            </a:pPr>
            <a:r>
              <a:rPr lang="en-IN" sz="1400" dirty="0">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098082"/>
            <a:ext cx="5411403" cy="2246768"/>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22843"/>
            <a:ext cx="5155405" cy="2462213"/>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3. </a:t>
            </a:r>
            <a:r>
              <a:rPr lang="en-US" sz="1600" dirty="0">
                <a:latin typeface="Avenir Next" panose="020B0503020202020204" pitchFamily="34" charset="0"/>
              </a:rPr>
              <a:t>To whom the duty is owed</a:t>
            </a:r>
            <a:r>
              <a:rPr sz="1600" dirty="0">
                <a:latin typeface="Avenir Next" panose="020B0503020202020204" pitchFamily="34" charset="0"/>
              </a:rPr>
              <a:t>?</a:t>
            </a:r>
            <a:endParaRPr lang="en-IN" sz="1600" dirty="0">
              <a:latin typeface="Avenir Next" panose="020B0503020202020204" pitchFamily="34" charset="0"/>
            </a:endParaRPr>
          </a:p>
          <a:p>
            <a:pPr>
              <a:spcAft>
                <a:spcPts val="300"/>
              </a:spcAft>
            </a:pPr>
            <a:r>
              <a:rPr lang="en-IN" sz="1400" dirty="0">
                <a:latin typeface="Avenir Next" panose="020B0503020202020204" pitchFamily="34" charset="0"/>
              </a:rPr>
              <a:t>•  </a:t>
            </a:r>
            <a:r>
              <a:rPr lang="en-IN" sz="1400" dirty="0">
                <a:solidFill>
                  <a:srgbClr val="3A3A4A"/>
                </a:solidFill>
                <a:latin typeface="Avenir Next" panose="020B0503020202020204" pitchFamily="34" charset="0"/>
              </a:rPr>
              <a:t>A duty only bites if somebody can enforce it.</a:t>
            </a:r>
          </a:p>
          <a:p>
            <a:pPr>
              <a:spcAft>
                <a:spcPts val="300"/>
              </a:spcAft>
            </a:pPr>
            <a:r>
              <a:rPr lang="en-IN" sz="1400" dirty="0">
                <a:solidFill>
                  <a:srgbClr val="3A3A4A"/>
                </a:solidFill>
                <a:latin typeface="Avenir Next" panose="020B0503020202020204" pitchFamily="34" charset="0"/>
              </a:rPr>
              <a:t>•  Duties owed to the State are strongest — the CCPA and SEBI can act to enforce them.</a:t>
            </a:r>
          </a:p>
          <a:p>
            <a:pPr>
              <a:spcAft>
                <a:spcPts val="300"/>
              </a:spcAft>
            </a:pPr>
            <a:r>
              <a:rPr lang="en-IN" sz="1400" dirty="0">
                <a:solidFill>
                  <a:srgbClr val="3A3A4A"/>
                </a:solidFill>
                <a:latin typeface="Avenir Next" panose="020B0503020202020204" pitchFamily="34" charset="0"/>
              </a:rPr>
              <a:t>•  Investor-facing duties are also enforceable, but only through narrow disclosure channels.</a:t>
            </a:r>
          </a:p>
          <a:p>
            <a:pPr>
              <a:spcAft>
                <a:spcPts val="300"/>
              </a:spcAft>
            </a:pPr>
            <a:r>
              <a:rPr lang="en-IN" sz="1400" dirty="0">
                <a:solidFill>
                  <a:srgbClr val="3A3A4A"/>
                </a:solidFill>
                <a:latin typeface="Avenir Next" panose="020B0503020202020204" pitchFamily="34" charset="0"/>
              </a:rPr>
              <a:t>•  Section 166(2)'s environmental duty has no clear claimant, so it reads merely as an aspiration rather than law. That is the gap this thesis targets.</a:t>
            </a:r>
          </a:p>
          <a:p>
            <a:pPr>
              <a:spcAft>
                <a:spcPts val="400"/>
              </a:spcAft>
              <a:defRPr sz="1150">
                <a:solidFill>
                  <a:srgbClr val="2D2D2D"/>
                </a:solidFill>
              </a:defRPr>
            </a:pPr>
            <a:endParaRPr lang="en-IN" sz="1400" dirty="0">
              <a:latin typeface="Avenir Next" panose="020B0503020202020204" pitchFamily="34" charset="0"/>
            </a:endParaRPr>
          </a:p>
        </p:txBody>
      </p:sp>
      <p:sp>
        <p:nvSpPr>
          <p:cNvPr id="11" name="Rounded Rectangle 10"/>
          <p:cNvSpPr/>
          <p:nvPr/>
        </p:nvSpPr>
        <p:spPr>
          <a:xfrm>
            <a:off x="6196000" y="3700001"/>
            <a:ext cx="5411403" cy="1463669"/>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795193"/>
            <a:ext cx="5155405" cy="1282402"/>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4. Why the Duty Fails in Practice</a:t>
            </a:r>
          </a:p>
          <a:p>
            <a:pPr>
              <a:spcAft>
                <a:spcPts val="400"/>
              </a:spcAft>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Information Asymmetry</a:t>
            </a:r>
            <a:r>
              <a:rPr sz="1400" dirty="0">
                <a:latin typeface="Avenir Next" panose="020B0503020202020204" pitchFamily="34" charset="0"/>
              </a:rPr>
              <a:t>: Insiders know true pollution; outsiders only see polished PR.</a:t>
            </a:r>
          </a:p>
          <a:p>
            <a:pPr>
              <a:spcAft>
                <a:spcPts val="400"/>
              </a:spcAft>
              <a:defRPr sz="1150">
                <a:solidFill>
                  <a:srgbClr val="2D2D2D"/>
                </a:solidFill>
              </a:defRPr>
            </a:pPr>
            <a:r>
              <a:rPr sz="1400" dirty="0">
                <a:latin typeface="Avenir Next" panose="020B0503020202020204" pitchFamily="34" charset="0"/>
              </a:rPr>
              <a:t>• Verifying claims requires technical expertise </a:t>
            </a:r>
            <a:r>
              <a:rPr lang="en-US" sz="1400" dirty="0">
                <a:latin typeface="Avenir Next" panose="020B0503020202020204" pitchFamily="34" charset="0"/>
              </a:rPr>
              <a:t>that </a:t>
            </a:r>
            <a:r>
              <a:rPr sz="1400" dirty="0">
                <a:latin typeface="Avenir Next" panose="020B0503020202020204" pitchFamily="34" charset="0"/>
              </a:rPr>
              <a:t>ordinary citizens lack.</a:t>
            </a:r>
          </a:p>
        </p:txBody>
      </p:sp>
      <p:sp>
        <p:nvSpPr>
          <p:cNvPr id="13" name="Rounded Rectangle 12"/>
          <p:cNvSpPr/>
          <p:nvPr/>
        </p:nvSpPr>
        <p:spPr>
          <a:xfrm>
            <a:off x="500000" y="5559916"/>
            <a:ext cx="11192000" cy="928083"/>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5583807"/>
            <a:ext cx="10912000" cy="877163"/>
          </a:xfrm>
          <a:prstGeom prst="rect">
            <a:avLst/>
          </a:prstGeom>
          <a:noFill/>
        </p:spPr>
        <p:txBody>
          <a:bodyPr wrap="square" lIns="45720" tIns="22860" rIns="45720" bIns="22860" anchor="ctr">
            <a:spAutoFit/>
          </a:bodyPr>
          <a:lstStyle/>
          <a:p>
            <a:pPr algn="ctr">
              <a:defRPr sz="1100">
                <a:solidFill>
                  <a:srgbClr val="282828"/>
                </a:solidFill>
              </a:defRPr>
            </a:pPr>
            <a:r>
              <a:rPr lang="en-IN" sz="1300" b="1" dirty="0">
                <a:solidFill>
                  <a:srgbClr val="3C4A1F"/>
                </a:solidFill>
                <a:latin typeface="Avenir Next" panose="020B0503020202020204" pitchFamily="34" charset="0"/>
              </a:rPr>
              <a:t>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ctr">
              <a:defRPr sz="1100">
                <a:solidFill>
                  <a:srgbClr val="282828"/>
                </a:solidFill>
              </a:defRPr>
            </a:pPr>
            <a:r>
              <a:rPr sz="1300" dirty="0">
                <a:latin typeface="Avenir Next" panose="020B0503020202020204" pitchFamily="34" charset="0"/>
              </a:rPr>
              <a:t>Answer: Breaking corporate responsibility into precise legal relations shows greenwashing is not an innocent PR slip. It is a broken duty, an abuse of communication freedom, and an exploitation of information power</a:t>
            </a:r>
            <a:r>
              <a:rPr lang="en-US" sz="1300" dirty="0">
                <a:latin typeface="Avenir Next" panose="020B0503020202020204" pitchFamily="34" charset="0"/>
              </a:rPr>
              <a:t>, </a:t>
            </a:r>
            <a:r>
              <a:rPr sz="1300" dirty="0">
                <a:latin typeface="Avenir Next" panose="020B0503020202020204" pitchFamily="34" charset="0"/>
              </a:rPr>
              <a:t>which </a:t>
            </a:r>
            <a:r>
              <a:rPr lang="en-US" sz="1300" dirty="0">
                <a:latin typeface="Avenir Next" panose="020B0503020202020204" pitchFamily="34" charset="0"/>
              </a:rPr>
              <a:t>must be addressed by corporate </a:t>
            </a:r>
            <a:r>
              <a:rPr sz="1300" dirty="0">
                <a:latin typeface="Avenir Next" panose="020B0503020202020204" pitchFamily="34" charset="0"/>
              </a:rPr>
              <a:t>law.</a:t>
            </a: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699245" y="518558"/>
            <a:ext cx="11868966" cy="461665"/>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400" dirty="0">
                <a:latin typeface="Avenir Next" panose="020B0503020202020204" pitchFamily="34" charset="0"/>
              </a:rPr>
              <a:t>India's Legal Ecosystem</a:t>
            </a:r>
            <a:r>
              <a:rPr lang="en-US" sz="2400" dirty="0">
                <a:latin typeface="Avenir Next" panose="020B0503020202020204" pitchFamily="34" charset="0"/>
              </a:rPr>
              <a:t> For Tackling Misleading Environmental Claims</a:t>
            </a:r>
            <a:endParaRPr lang="en-IN" sz="2400" dirty="0">
              <a:latin typeface="Avenir Next" panose="020B0503020202020204" pitchFamily="34" charset="0"/>
            </a:endParaRPr>
          </a:p>
        </p:txBody>
      </p:sp>
      <p:sp>
        <p:nvSpPr>
          <p:cNvPr id="6" name="Rounded Rectangle 5"/>
          <p:cNvSpPr/>
          <p:nvPr/>
        </p:nvSpPr>
        <p:spPr>
          <a:xfrm>
            <a:off x="980082" y="1091429"/>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7" name="TextBox 6"/>
          <p:cNvSpPr txBox="1"/>
          <p:nvPr/>
        </p:nvSpPr>
        <p:spPr>
          <a:xfrm>
            <a:off x="980083" y="1120753"/>
            <a:ext cx="9829800" cy="738664"/>
          </a:xfrm>
          <a:prstGeom prst="rect">
            <a:avLst/>
          </a:prstGeom>
          <a:noFill/>
        </p:spPr>
        <p:txBody>
          <a:bodyPr wrap="square" anchor="t">
            <a:spAutoFit/>
          </a:bodyPr>
          <a:lstStyle/>
          <a:p>
            <a:pPr algn="ctr">
              <a:defRPr sz="1150" b="1">
                <a:solidFill>
                  <a:srgbClr val="12402D"/>
                </a:solidFill>
                <a:latin typeface="Avenir Next"/>
              </a:defRPr>
            </a:pPr>
            <a:r>
              <a:rPr sz="1400" dirty="0">
                <a:latin typeface="Avenir Next" panose="020B0503020202020204" pitchFamily="34" charset="0"/>
              </a:rPr>
              <a:t>Constitutional Bedrock: </a:t>
            </a:r>
            <a:endParaRPr lang="en-US" sz="1400" dirty="0">
              <a:latin typeface="Avenir Next" panose="020B0503020202020204" pitchFamily="34" charset="0"/>
            </a:endParaRPr>
          </a:p>
          <a:p>
            <a:pPr algn="ctr">
              <a:defRPr sz="1150" b="1">
                <a:solidFill>
                  <a:srgbClr val="12402D"/>
                </a:solidFill>
                <a:latin typeface="Avenir Next"/>
              </a:defRPr>
            </a:pPr>
            <a:r>
              <a:rPr sz="1400" dirty="0">
                <a:latin typeface="Avenir Next" panose="020B0503020202020204" pitchFamily="34" charset="0"/>
              </a:rPr>
              <a:t>Articles 21, 48A, 51A(g), and the landmark M.K. Ranjitsinh ruling establish a strong duty to take environmental claims seriously.</a:t>
            </a: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9160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r>
              <a:rPr lang="en-US" sz="2800" dirty="0"/>
              <a:t> ?</a:t>
            </a:r>
            <a:endParaRPr sz="2800" dirty="0"/>
          </a:p>
        </p:txBody>
      </p:sp>
      <p:sp>
        <p:nvSpPr>
          <p:cNvPr id="6" name="Rounded Rectangle 5"/>
          <p:cNvSpPr/>
          <p:nvPr/>
        </p:nvSpPr>
        <p:spPr>
          <a:xfrm>
            <a:off x="786384" y="1004068"/>
            <a:ext cx="10607040" cy="4764721"/>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111962" y="1254045"/>
            <a:ext cx="10073490" cy="4349909"/>
          </a:xfrm>
          <a:prstGeom prst="rect">
            <a:avLst/>
          </a:prstGeom>
          <a:noFill/>
        </p:spPr>
        <p:txBody>
          <a:bodyPr wrap="square" lIns="91440" tIns="45720" rIns="91440" bIns="45720" anchor="t">
            <a:spAutoFit/>
          </a:bodyPr>
          <a:lstStyle/>
          <a:p>
            <a:pPr algn="just">
              <a:spcAft>
                <a:spcPts val="400"/>
              </a:spcAft>
              <a:defRPr sz="1400" b="1">
                <a:solidFill>
                  <a:srgbClr val="12402D"/>
                </a:solidFill>
                <a:latin typeface="Avenir Next"/>
              </a:defRPr>
            </a:pPr>
            <a:r>
              <a:rPr sz="1600" dirty="0">
                <a:latin typeface="Avenir Next" panose="020B0503020202020204" pitchFamily="34" charset="0"/>
              </a:rPr>
              <a:t>1. Substantive &amp; Doctrinal Hurdles</a:t>
            </a:r>
          </a:p>
          <a:p>
            <a:pPr>
              <a:spcAft>
                <a:spcPts val="300"/>
              </a:spcAft>
              <a:defRPr sz="1150">
                <a:solidFill>
                  <a:srgbClr val="2D2D2D"/>
                </a:solidFill>
              </a:defRPr>
            </a:pPr>
            <a:r>
              <a:rPr sz="1600" dirty="0">
                <a:latin typeface="Avenir Next" panose="020B0503020202020204" pitchFamily="34" charset="0"/>
              </a:rPr>
              <a:t>• Vague Statutory Terms: </a:t>
            </a:r>
            <a:r>
              <a:rPr lang="en-US" sz="1600" dirty="0">
                <a:latin typeface="Avenir Next" panose="020B0503020202020204" pitchFamily="34" charset="0"/>
                <a:ea typeface="+mn-lt"/>
                <a:cs typeface="+mn-lt"/>
              </a:rPr>
              <a:t>The terms "community," "environment," and "best interests of stakeholders" are broad and undefined. </a:t>
            </a:r>
          </a:p>
          <a:p>
            <a:pPr>
              <a:spcAft>
                <a:spcPts val="300"/>
              </a:spcAft>
              <a:defRPr sz="1150">
                <a:solidFill>
                  <a:srgbClr val="2D2D2D"/>
                </a:solidFill>
              </a:defRPr>
            </a:pPr>
            <a:r>
              <a:rPr lang="en-US" sz="1600" dirty="0">
                <a:latin typeface="Avenir Next" panose="020B0503020202020204" pitchFamily="34" charset="0"/>
              </a:rPr>
              <a:t>• Business Judgment Rule: Courts hesitate to question commercial decisions under fiduciary duties.</a:t>
            </a:r>
          </a:p>
          <a:p>
            <a:pPr>
              <a:spcAft>
                <a:spcPts val="1000"/>
              </a:spcAft>
              <a:defRPr sz="1150">
                <a:solidFill>
                  <a:srgbClr val="2D2D2D"/>
                </a:solidFill>
              </a:defRPr>
            </a:pPr>
            <a:r>
              <a:rPr sz="1600" dirty="0">
                <a:latin typeface="Avenir Next" panose="020B0503020202020204" pitchFamily="34" charset="0"/>
              </a:rPr>
              <a:t>• Precedent Gap: No established case law connects environmental misstatements directly to a director's breach of duty.</a:t>
            </a:r>
          </a:p>
          <a:p>
            <a:pPr>
              <a:spcAft>
                <a:spcPts val="400"/>
              </a:spcAft>
              <a:defRPr sz="1400" b="1">
                <a:solidFill>
                  <a:srgbClr val="12402D"/>
                </a:solidFill>
              </a:defRPr>
            </a:pPr>
            <a:r>
              <a:rPr sz="1600" dirty="0">
                <a:latin typeface="Avenir Next" panose="020B0503020202020204" pitchFamily="34" charset="0"/>
              </a:rPr>
              <a:t>2. Procedural &amp; Standing Barriers</a:t>
            </a:r>
          </a:p>
          <a:p>
            <a:pPr>
              <a:spcAft>
                <a:spcPts val="300"/>
              </a:spcAft>
              <a:defRPr sz="1150">
                <a:solidFill>
                  <a:srgbClr val="2D2D2D"/>
                </a:solidFill>
              </a:defRPr>
            </a:pPr>
            <a:r>
              <a:rPr sz="1600" dirty="0">
                <a:latin typeface="Avenir Next" panose="020B0503020202020204" pitchFamily="34" charset="0"/>
              </a:rPr>
              <a:t>• Narrow Standing: Mismanagement petitions (Sections 241–244) are open only to shareholders; external stakeholders are excluded.</a:t>
            </a:r>
          </a:p>
          <a:p>
            <a:pPr>
              <a:spcAft>
                <a:spcPts val="1000"/>
              </a:spcAft>
              <a:defRPr sz="1150">
                <a:solidFill>
                  <a:srgbClr val="2D2D2D"/>
                </a:solidFill>
              </a:defRPr>
            </a:pPr>
            <a:r>
              <a:rPr sz="1600" dirty="0">
                <a:latin typeface="Avenir Next" panose="020B0503020202020204" pitchFamily="34" charset="0"/>
              </a:rPr>
              <a:t>• Missing Referral Bridge: CCPA or SEBI greenwashing findings do not automatically trigger MCA action under Section 166(2).</a:t>
            </a:r>
          </a:p>
          <a:p>
            <a:pPr>
              <a:spcAft>
                <a:spcPts val="400"/>
              </a:spcAft>
              <a:defRPr sz="1400" b="1">
                <a:solidFill>
                  <a:srgbClr val="A8552F"/>
                </a:solidFill>
              </a:defRPr>
            </a:pPr>
            <a:r>
              <a:rPr sz="1600" b="1" dirty="0">
                <a:solidFill>
                  <a:srgbClr val="12402D"/>
                </a:solidFill>
                <a:latin typeface="Avenir Next" panose="020B0503020202020204" pitchFamily="34" charset="0"/>
              </a:rPr>
              <a:t>3. Remedial &amp; Economic Deficits</a:t>
            </a:r>
          </a:p>
          <a:p>
            <a:pPr>
              <a:spcAft>
                <a:spcPts val="300"/>
              </a:spcAft>
              <a:defRPr sz="1150">
                <a:solidFill>
                  <a:srgbClr val="2D2D2D"/>
                </a:solidFill>
              </a:defRPr>
            </a:pPr>
            <a:r>
              <a:rPr sz="1600" dirty="0">
                <a:latin typeface="Avenir Next" panose="020B0503020202020204" pitchFamily="34" charset="0"/>
              </a:rPr>
              <a:t>• Ineffective Fines: Section 166(7) caps penalties at ₹1–5 Lakhs</a:t>
            </a:r>
            <a:r>
              <a:rPr lang="en-US" sz="1600" dirty="0">
                <a:latin typeface="Avenir Next" panose="020B0503020202020204" pitchFamily="34" charset="0"/>
              </a:rPr>
              <a:t>, </a:t>
            </a:r>
            <a:r>
              <a:rPr sz="1600" dirty="0">
                <a:latin typeface="Avenir Next" panose="020B0503020202020204" pitchFamily="34" charset="0"/>
              </a:rPr>
              <a:t>far too small to deter board-level greenwashing.</a:t>
            </a:r>
          </a:p>
          <a:p>
            <a:pPr>
              <a:defRPr sz="1150">
                <a:solidFill>
                  <a:srgbClr val="2D2D2D"/>
                </a:solidFill>
              </a:defRPr>
            </a:pPr>
            <a:r>
              <a:rPr sz="1600" dirty="0">
                <a:latin typeface="Avenir Next" panose="020B0503020202020204" pitchFamily="34" charset="0"/>
              </a:rPr>
              <a:t>• Short-Term Bias: Directors prioritize </a:t>
            </a:r>
            <a:r>
              <a:rPr lang="en-US" sz="1600" dirty="0">
                <a:latin typeface="Avenir Next" panose="020B0503020202020204" pitchFamily="34" charset="0"/>
              </a:rPr>
              <a:t>short term</a:t>
            </a:r>
            <a:r>
              <a:rPr sz="1600" dirty="0">
                <a:latin typeface="Avenir Next" panose="020B0503020202020204" pitchFamily="34" charset="0"/>
              </a:rPr>
              <a:t> commercial profit over </a:t>
            </a:r>
            <a:r>
              <a:rPr lang="en-US" sz="1600" dirty="0">
                <a:latin typeface="Avenir Next" panose="020B0503020202020204" pitchFamily="34" charset="0"/>
              </a:rPr>
              <a:t>un-penalized </a:t>
            </a:r>
            <a:r>
              <a:rPr sz="1600" dirty="0">
                <a:latin typeface="Avenir Next" panose="020B0503020202020204" pitchFamily="34" charset="0"/>
              </a:rPr>
              <a:t>environmental duties.</a:t>
            </a:r>
          </a:p>
        </p:txBody>
      </p:sp>
      <p:sp>
        <p:nvSpPr>
          <p:cNvPr id="17" name="TextBox 16"/>
          <p:cNvSpPr txBox="1"/>
          <p:nvPr/>
        </p:nvSpPr>
        <p:spPr>
          <a:xfrm>
            <a:off x="786384" y="6547401"/>
            <a:ext cx="2153154"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latin typeface="Avenir Next" panose="020B0503020202020204" pitchFamily="34" charset="0"/>
              </a:rPr>
              <a:t>Source base: Chapter </a:t>
            </a:r>
            <a:r>
              <a:rPr lang="en-US" sz="1400" dirty="0">
                <a:latin typeface="Avenir Next" panose="020B0503020202020204" pitchFamily="34" charset="0"/>
              </a:rPr>
              <a:t>3.</a:t>
            </a:r>
            <a:endParaRPr sz="14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898882"/>
            <a:ext cx="10753086" cy="538609"/>
          </a:xfrm>
          <a:prstGeom prst="rect">
            <a:avLst/>
          </a:prstGeom>
          <a:noFill/>
        </p:spPr>
        <p:txBody>
          <a:bodyPr wrap="square" lIns="45720" tIns="22860" rIns="45720" bIns="22860" anchor="t">
            <a:spAutoFit/>
          </a:bodyPr>
          <a:lstStyle/>
          <a:p>
            <a:pPr>
              <a:defRPr sz="1100" b="1">
                <a:solidFill>
                  <a:srgbClr val="12402D"/>
                </a:solidFill>
              </a:defRPr>
            </a:pPr>
            <a:r>
              <a:rPr sz="1600" dirty="0">
                <a:latin typeface="Avenir Next" panose="020B0503020202020204" pitchFamily="34" charset="0"/>
              </a:rPr>
              <a:t>Answer to RQ4: The duties already exist in Section 166(2) and SEBI rules. What is missing is the trigger: open legal standing, meaningful penalties, and an automatic bridge between regulators.</a:t>
            </a:r>
            <a:endParaRPr lang="en-US" sz="1200" dirty="0">
              <a:latin typeface="Avenir Next" panose="020B0503020202020204" pitchFamily="34" charset="0"/>
              <a:ea typeface="+mn-lt"/>
              <a:cs typeface="+mn-l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6" name="Rounded Rectangle 5"/>
          <p:cNvSpPr/>
          <p:nvPr/>
        </p:nvSpPr>
        <p:spPr>
          <a:xfrm>
            <a:off x="799190" y="1218634"/>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297217"/>
            <a:ext cx="10186416" cy="276999"/>
          </a:xfrm>
          <a:prstGeom prst="rect">
            <a:avLst/>
          </a:prstGeom>
          <a:noFill/>
        </p:spPr>
        <p:txBody>
          <a:bodyPr wrap="square" anchor="t">
            <a:spAutoFit/>
          </a:bodyPr>
          <a:lstStyle/>
          <a:p>
            <a:pPr algn="ctr">
              <a:defRPr sz="1150" b="1">
                <a:solidFill>
                  <a:srgbClr val="12402D"/>
                </a:solidFill>
                <a:latin typeface="Avenir Next Demi Bold"/>
              </a:defRPr>
            </a:pPr>
            <a:r>
              <a:rPr lang="en-IN" dirty="0">
                <a:latin typeface="Avenir Next" panose="020B0503020202020204" pitchFamily="34" charset="0"/>
              </a:rPr>
              <a:t>SEBI's BRSR has improved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2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200">
                <a:latin typeface="Avenir Next" panose="020B0503020202020204" pitchFamily="34" charset="0"/>
              </a:rPr>
              <a:t>Backsliding</a:t>
            </a:r>
            <a:endParaRPr lang="en-US" sz="12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731827"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200">
                <a:latin typeface="Avenir Next" panose="020B0503020202020204" pitchFamily="34" charset="0"/>
              </a:rPr>
              <a:t>Enforcement reality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5" name="Rounded Rectangle 24"/>
          <p:cNvSpPr/>
          <p:nvPr/>
        </p:nvSpPr>
        <p:spPr>
          <a:xfrm>
            <a:off x="799190" y="6095425"/>
            <a:ext cx="10587831" cy="49722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800">
              <a:latin typeface="Avenir Next" panose="020B0503020202020204" pitchFamily="34" charset="0"/>
            </a:endParaRPr>
          </a:p>
        </p:txBody>
      </p:sp>
      <p:sp>
        <p:nvSpPr>
          <p:cNvPr id="26" name="TextBox 25"/>
          <p:cNvSpPr txBox="1"/>
          <p:nvPr/>
        </p:nvSpPr>
        <p:spPr>
          <a:xfrm>
            <a:off x="929190" y="6107918"/>
            <a:ext cx="10327831" cy="477054"/>
          </a:xfrm>
          <a:prstGeom prst="rect">
            <a:avLst/>
          </a:prstGeom>
          <a:noFill/>
        </p:spPr>
        <p:txBody>
          <a:bodyPr wrap="square" lIns="45720" tIns="22860" rIns="45720" bIns="22860" anchor="ctr">
            <a:spAutoFit/>
          </a:bodyPr>
          <a:lstStyle/>
          <a:p>
            <a:pPr algn="ctr">
              <a:defRPr sz="1050">
                <a:solidFill>
                  <a:srgbClr val="282828"/>
                </a:solidFill>
              </a:defRPr>
            </a:pPr>
            <a:r>
              <a:rPr sz="1400" dirty="0">
                <a:latin typeface="Avenir Next" panose="020B0503020202020204" pitchFamily="34" charset="0"/>
              </a:rPr>
              <a:t>Answer to RQ4: Mandatory disclosure rules exist, but recent rollbacks have softened assurance and deferred supply-chain reporting, allowing greenwashing to persist.</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380000"/>
            <a:ext cx="5189589" cy="1400000"/>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t>The Corporate Governance Solution</a:t>
            </a:r>
          </a:p>
          <a:p>
            <a:pPr>
              <a:spcAft>
                <a:spcPts val="400"/>
              </a:spcAft>
              <a:defRPr sz="1150">
                <a:solidFill>
                  <a:srgbClr val="2D2D2D"/>
                </a:solidFill>
              </a:defRPr>
            </a:pPr>
            <a:r>
              <a:t>• Moves enforcement upstream—requiring verified data before any claim leaves the boardroom.</a:t>
            </a:r>
          </a:p>
          <a:p>
            <a:pPr>
              <a:defRPr sz="1150">
                <a:solidFill>
                  <a:srgbClr val="2D2D2D"/>
                </a:solidFill>
              </a:defRPr>
            </a:pPr>
            <a:r>
              <a:t>• Uses Section 166(2) and audit committees to hold leadership personally responsible for truth in sustainability.</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320000"/>
            <a:ext cx="4846320" cy="3250000"/>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t>Limitations of Consumer Law (CPA 2019 / CCPA)</a:t>
            </a:r>
            <a:endParaRPr lang="en-US" dirty="0">
              <a:latin typeface="Avenir Next" panose="020B0503020202020204" pitchFamily="34" charset="0"/>
            </a:endParaRPr>
          </a:p>
          <a:p>
            <a:pPr>
              <a:spcBef>
                <a:spcPts val="200"/>
              </a:spcBef>
              <a:spcAft>
                <a:spcPts val="300"/>
              </a:spcAft>
            </a:pPr>
            <a:r>
              <a:rPr sz="1050" b="1">
                <a:solidFill>
                  <a:srgbClr val="22704E"/>
                </a:solidFill>
              </a:rPr>
              <a:t>1. Reactive by Nature: </a:t>
            </a:r>
            <a:r>
              <a:rPr sz="1050">
                <a:solidFill>
                  <a:srgbClr val="2D2D2D"/>
                </a:solidFill>
              </a:rPr>
              <a:t>Intervenes only after deceptive claims enter the market.</a:t>
            </a:r>
          </a:p>
          <a:p>
            <a:pPr>
              <a:spcBef>
                <a:spcPts val="200"/>
              </a:spcBef>
              <a:spcAft>
                <a:spcPts val="300"/>
              </a:spcAft>
            </a:pPr>
            <a:r>
              <a:rPr sz="1050" b="1">
                <a:solidFill>
                  <a:srgbClr val="22704E"/>
                </a:solidFill>
              </a:rPr>
              <a:t>2. Individual Harm Focus: </a:t>
            </a:r>
            <a:r>
              <a:rPr sz="1050">
                <a:solidFill>
                  <a:srgbClr val="2D2D2D"/>
                </a:solidFill>
              </a:rPr>
              <a:t>Treats greenwashing as single consumer disputes, not systemic governance failure.</a:t>
            </a:r>
          </a:p>
          <a:p>
            <a:pPr>
              <a:spcBef>
                <a:spcPts val="200"/>
              </a:spcBef>
              <a:spcAft>
                <a:spcPts val="300"/>
              </a:spcAft>
            </a:pPr>
            <a:r>
              <a:rPr sz="1050" b="1">
                <a:solidFill>
                  <a:srgbClr val="22704E"/>
                </a:solidFill>
              </a:rPr>
              <a:t>3. Information Asymmetry: </a:t>
            </a:r>
            <a:r>
              <a:rPr sz="1050">
                <a:solidFill>
                  <a:srgbClr val="2D2D2D"/>
                </a:solidFill>
              </a:rPr>
              <a:t>Burden of proof falls on ordinary consumers who lack technical data.</a:t>
            </a:r>
          </a:p>
          <a:p>
            <a:pPr>
              <a:spcBef>
                <a:spcPts val="200"/>
              </a:spcBef>
              <a:spcAft>
                <a:spcPts val="300"/>
              </a:spcAft>
            </a:pPr>
            <a:r>
              <a:rPr sz="1050" b="1">
                <a:solidFill>
                  <a:srgbClr val="22704E"/>
                </a:solidFill>
              </a:rPr>
              <a:t>4. No Boardroom Mandates: </a:t>
            </a:r>
            <a:r>
              <a:rPr sz="1050">
                <a:solidFill>
                  <a:srgbClr val="2D2D2D"/>
                </a:solidFill>
              </a:rPr>
              <a:t>Regulates ad copy, not internal corporate systems or decision-making.</a:t>
            </a:r>
          </a:p>
          <a:p>
            <a:pPr>
              <a:spcBef>
                <a:spcPts val="200"/>
              </a:spcBef>
              <a:spcAft>
                <a:spcPts val="300"/>
              </a:spcAft>
            </a:pPr>
            <a:r>
              <a:rPr sz="1050" b="1">
                <a:solidFill>
                  <a:srgbClr val="22704E"/>
                </a:solidFill>
              </a:rPr>
              <a:t>5. The Puffery Loophole: </a:t>
            </a:r>
            <a:r>
              <a:rPr sz="1050">
                <a:solidFill>
                  <a:srgbClr val="2D2D2D"/>
                </a:solidFill>
              </a:rPr>
              <a:t>Carve-out for exaggerations creates loopholes for vague green buzzwords.</a:t>
            </a:r>
          </a:p>
          <a:p>
            <a:pPr>
              <a:spcBef>
                <a:spcPts val="200"/>
              </a:spcBef>
              <a:spcAft>
                <a:spcPts val="300"/>
              </a:spcAft>
            </a:pPr>
            <a:r>
              <a:rPr sz="1050" b="1">
                <a:solidFill>
                  <a:srgbClr val="22704E"/>
                </a:solidFill>
              </a:rPr>
              <a:t>6. Entity-Only Fines: </a:t>
            </a:r>
            <a:r>
              <a:rPr sz="1050">
                <a:solidFill>
                  <a:srgbClr val="2D2D2D"/>
                </a:solidFill>
              </a:rPr>
              <a:t>Fines the company budget rather than holding directors accountable.</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0000"/>
            <a:ext cx="5171536" cy="1500000"/>
          </a:xfrm>
          <a:prstGeom prst="rect">
            <a:avLst/>
          </a:prstGeom>
          <a:noFill/>
        </p:spPr>
        <p:txBody>
          <a:bodyPr wrap="square" lIns="45720" tIns="22860" rIns="45720" bIns="22860" anchor="ctr">
            <a:spAutoFit/>
          </a:bodyPr>
          <a:lstStyle/>
          <a:p>
            <a:pPr>
              <a:spcAft>
                <a:spcPts val="300"/>
              </a:spcAft>
              <a:defRPr sz="1100" b="1">
                <a:solidFill>
                  <a:srgbClr val="12402D"/>
                </a:solidFill>
              </a:defRPr>
            </a:pPr>
            <a:r>
              <a:t>Research Question 2: Why can't consumer law solve greenwashing alone?</a:t>
            </a:r>
          </a:p>
          <a:p>
            <a:pPr>
              <a:defRPr sz="1050">
                <a:solidFill>
                  <a:srgbClr val="282828"/>
                </a:solidFill>
              </a:defRPr>
            </a:pPr>
            <a:r>
              <a:t>Answer: Consumer law only polices the end-product ad; corporate governance polices the internal systems, board oversight, and verified data that produced the claim.</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150">
                <a:solidFill>
                  <a:srgbClr val="2D2D2D"/>
                </a:solidFill>
                <a:latin typeface="Avenir Next"/>
              </a:defRPr>
            </a:pPr>
            <a:r>
              <a:t>• Section 166(2) explicitly places environmental protection inside directors' duties.</a:t>
            </a:r>
            <a:endParaRPr lang="en-US" sz="1400" dirty="0">
              <a:latin typeface="Avenir Next" panose="020B0503020202020204" pitchFamily="34" charset="0"/>
            </a:endParaRPr>
          </a:p>
          <a:p>
            <a:pPr>
              <a:spcAft>
                <a:spcPts val="600"/>
              </a:spcAft>
              <a:defRPr sz="1150">
                <a:solidFill>
                  <a:srgbClr val="2D2D2D"/>
                </a:solidFill>
              </a:defRPr>
            </a:pPr>
            <a:r>
              <a:t>• Supreme Court rulings (Tata-Mistry, Ranjitsinh) affirm environmental duties and climate rights.</a:t>
            </a:r>
          </a:p>
          <a:p>
            <a:pPr>
              <a:spcAft>
                <a:spcPts val="600"/>
              </a:spcAft>
              <a:defRPr sz="1150">
                <a:solidFill>
                  <a:srgbClr val="2D2D2D"/>
                </a:solidFill>
              </a:defRPr>
            </a:pPr>
            <a:r>
              <a:t>• SEBI's BRSR and BRSR Core formalize detailed sustainability disclosures.</a:t>
            </a:r>
          </a:p>
          <a:p>
            <a:pPr>
              <a:defRPr sz="1150">
                <a:solidFill>
                  <a:srgbClr val="2D2D2D"/>
                </a:solidFill>
              </a:defRPr>
            </a:pPr>
            <a:r>
              <a:t>• CPA 2019 and CCPA 2024 Guidelines prohibit deceptive green advertising.</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150">
                <a:solidFill>
                  <a:srgbClr val="2D2D2D"/>
                </a:solidFill>
                <a:latin typeface="Avenir Next"/>
              </a:defRPr>
            </a:pPr>
            <a:r>
              <a:t>• Zero reported director liability cases under Section 166(2) for green claims.</a:t>
            </a:r>
            <a:endParaRPr lang="en-US" sz="1400">
              <a:latin typeface="Avenir Next" panose="020B0503020202020204" pitchFamily="34" charset="0"/>
            </a:endParaRPr>
          </a:p>
          <a:p>
            <a:pPr>
              <a:spcAft>
                <a:spcPts val="600"/>
              </a:spcAft>
              <a:defRPr sz="1150">
                <a:solidFill>
                  <a:srgbClr val="2D2D2D"/>
                </a:solidFill>
              </a:defRPr>
            </a:pPr>
            <a:r>
              <a:t>• Narrow legal standing prevents affected public and civil society from filing claims.</a:t>
            </a:r>
          </a:p>
          <a:p>
            <a:pPr>
              <a:spcAft>
                <a:spcPts val="600"/>
              </a:spcAft>
              <a:defRPr sz="1150">
                <a:solidFill>
                  <a:srgbClr val="2D2D2D"/>
                </a:solidFill>
              </a:defRPr>
            </a:pPr>
            <a:r>
              <a:t>• Penalties of ₹1–5 Lakhs under § 166(7) are treated as minor operational costs.</a:t>
            </a:r>
          </a:p>
          <a:p>
            <a:pPr>
              <a:defRPr sz="1150">
                <a:solidFill>
                  <a:srgbClr val="2D2D2D"/>
                </a:solidFill>
              </a:defRPr>
            </a:pPr>
            <a: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000" b="0">
                <a:solidFill>
                  <a:srgbClr val="2A2A2A"/>
                </a:solidFill>
                <a:latin typeface="Avenir Next"/>
              </a:defRPr>
            </a:pPr>
            <a: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000" b="0">
                <a:solidFill>
                  <a:srgbClr val="2A2A2A"/>
                </a:solidFill>
                <a:latin typeface="Avenir Next"/>
              </a:defRPr>
            </a:pPr>
            <a:r>
              <a:t>US FTC and SEC brought 90+ greenwashing enforcement actions (2021–23).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000" b="0">
                <a:solidFill>
                  <a:srgbClr val="2A2A2A"/>
                </a:solidFill>
                <a:latin typeface="Avenir Next"/>
              </a:defRPr>
            </a:pPr>
            <a:r>
              <a:t>Coordinated sweeps; France issued 141 warnings and 114 injunctions.</a:t>
            </a:r>
            <a:endParaRPr lang="en-US"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000" b="1">
                <a:solidFill>
                  <a:srgbClr val="2A2A2A"/>
                </a:solidFill>
                <a:latin typeface="Avenir Next"/>
              </a:defRPr>
            </a:pPr>
            <a:r>
              <a:t>Comprehensive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t>• Proof Before Publishing: Mandatory verification prior to claims (ex ante).</a:t>
            </a:r>
            <a:endParaRPr lang="en-US" sz="1400" dirty="0">
              <a:latin typeface="Avenir Next" panose="020B0503020202020204" pitchFamily="34" charset="0"/>
            </a:endParaRPr>
          </a:p>
          <a:p>
            <a:pPr>
              <a:spcAft>
                <a:spcPts val="500"/>
              </a:spcAft>
              <a:defRPr sz="1150">
                <a:solidFill>
                  <a:srgbClr val="2D2D2D"/>
                </a:solidFill>
              </a:defRPr>
            </a:pPr>
            <a:r>
              <a:t>• Independent Audits: Mandatory third-party assurance that escalates over time.</a:t>
            </a:r>
          </a:p>
          <a:p>
            <a:pPr>
              <a:spcAft>
                <a:spcPts val="500"/>
              </a:spcAft>
              <a:defRPr sz="1150">
                <a:solidFill>
                  <a:srgbClr val="2D2D2D"/>
                </a:solidFill>
              </a:defRPr>
            </a:pPr>
            <a:r>
              <a:t>• Clear Accountability: Direct liability routes for decision-makers.</a:t>
            </a:r>
          </a:p>
          <a:p>
            <a:pPr>
              <a:spcAft>
                <a:spcPts val="500"/>
              </a:spcAft>
              <a:defRPr sz="1150">
                <a:solidFill>
                  <a:srgbClr val="2D2D2D"/>
                </a:solidFill>
              </a:defRPr>
            </a:pPr>
            <a:r>
              <a:t>• Turnover-Linked Penalties: Fines scaled to company revenue to deter misconduct.</a:t>
            </a:r>
          </a:p>
          <a:p>
            <a:pPr>
              <a:defRPr sz="1150">
                <a:solidFill>
                  <a:srgbClr val="2D2D2D"/>
                </a:solidFill>
              </a:defRPr>
            </a:pPr>
            <a:r>
              <a:t>• Lifecycle Coverage: Rules apply from product labels to financial filings.</a:t>
            </a: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t>Indian Regulatory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t>• Reactive Policing: Authorities only step in after an ad has already run.</a:t>
            </a:r>
            <a:endParaRPr lang="en-US" sz="1400" dirty="0">
              <a:latin typeface="Avenir Next" panose="020B0503020202020204" pitchFamily="34" charset="0"/>
            </a:endParaRPr>
          </a:p>
          <a:p>
            <a:pPr>
              <a:spcAft>
                <a:spcPts val="500"/>
              </a:spcAft>
              <a:defRPr sz="1150">
                <a:solidFill>
                  <a:srgbClr val="2D2D2D"/>
                </a:solidFill>
              </a:defRPr>
            </a:pPr>
            <a:r>
              <a:t>• Diluted Auditing: Mandatory audits postponed and replaced with soft checks.</a:t>
            </a:r>
          </a:p>
          <a:p>
            <a:pPr>
              <a:spcAft>
                <a:spcPts val="500"/>
              </a:spcAft>
              <a:defRPr sz="1150">
                <a:solidFill>
                  <a:srgbClr val="2D2D2D"/>
                </a:solidFill>
              </a:defRPr>
            </a:pPr>
            <a:r>
              <a:t>• No Pre-Approval: No mandatory third-party verification before claims are made.</a:t>
            </a:r>
          </a:p>
          <a:p>
            <a:pPr>
              <a:spcAft>
                <a:spcPts val="500"/>
              </a:spcAft>
              <a:defRPr sz="1150">
                <a:solidFill>
                  <a:srgbClr val="2D2D2D"/>
                </a:solidFill>
              </a:defRPr>
            </a:pPr>
            <a:r>
              <a:t>• Regulatory Rollbacks: Repeated delays and narrowed reporting scopes.</a:t>
            </a:r>
          </a:p>
          <a:p>
            <a:pPr>
              <a:defRPr sz="1150">
                <a:solidFill>
                  <a:srgbClr val="2D2D2D"/>
                </a:solidFill>
              </a:defRPr>
            </a:pPr>
            <a:r>
              <a:t>• Fixed Low Penalties: Nominal fines that do not deter large corporations.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900000"/>
            <a:ext cx="5291452" cy="24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00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960000"/>
            <a:ext cx="5044439" cy="2350000"/>
          </a:xfrm>
          <a:prstGeom prst="rect">
            <a:avLst/>
          </a:prstGeom>
          <a:noFill/>
        </p:spPr>
        <p:txBody>
          <a:bodyPr wrap="square">
            <a:spAutoFit/>
          </a:bodyPr>
          <a:lstStyle/>
          <a:p>
            <a:pPr algn="l">
              <a:spcAft>
                <a:spcPts val="600"/>
              </a:spcAft>
              <a:defRPr sz="1400" b="1">
                <a:solidFill>
                  <a:srgbClr val="12402D"/>
                </a:solidFill>
                <a:latin typeface="Calibri"/>
              </a:defRPr>
            </a:pPr>
            <a:r>
              <a:t>Definitional Fragmentation</a:t>
            </a:r>
          </a:p>
          <a:p>
            <a:pPr>
              <a:spcAft>
                <a:spcPts val="600"/>
              </a:spcAft>
              <a:defRPr sz="1150">
                <a:solidFill>
                  <a:srgbClr val="2D2D2D"/>
                </a:solidFill>
              </a:defRPr>
            </a:pPr>
            <a:r>
              <a:t>• CCPA, SEBI, and ASCI define greenwashing differently based on separate mandates.</a:t>
            </a:r>
          </a:p>
          <a:p>
            <a:pPr>
              <a:spcAft>
                <a:spcPts val="600"/>
              </a:spcAft>
              <a:defRPr sz="1150">
                <a:solidFill>
                  <a:srgbClr val="2D2D2D"/>
                </a:solidFill>
              </a:defRPr>
            </a:pPr>
            <a:r>
              <a:t>• Key technical terms ('carbon neutral', 'net zero') remain legally undefined in India.</a:t>
            </a:r>
          </a:p>
          <a:p>
            <a:pPr>
              <a:defRPr sz="1150">
                <a:solidFill>
                  <a:srgbClr val="2D2D2D"/>
                </a:solidFill>
              </a:defRPr>
            </a:pPr>
            <a: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500000"/>
            <a:ext cx="5175557" cy="2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800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60000"/>
            <a:ext cx="5033807" cy="2650000"/>
          </a:xfrm>
          <a:prstGeom prst="rect">
            <a:avLst/>
          </a:prstGeom>
          <a:noFill/>
        </p:spPr>
        <p:txBody>
          <a:bodyPr wrap="square">
            <a:spAutoFit/>
          </a:bodyPr>
          <a:lstStyle/>
          <a:p>
            <a:pPr algn="l">
              <a:spcAft>
                <a:spcPts val="600"/>
              </a:spcAft>
              <a:defRPr sz="1400" b="1">
                <a:solidFill>
                  <a:srgbClr val="12402D"/>
                </a:solidFill>
                <a:latin typeface="Calibri"/>
              </a:defRPr>
            </a:pPr>
            <a:r>
              <a:t>Regulatory Proliferation &amp; Ambiguity</a:t>
            </a:r>
            <a:endParaRPr dirty="0">
              <a:latin typeface="Avenir Next" panose="020B0503020202020204" pitchFamily="34" charset="0"/>
            </a:endParaRPr>
          </a:p>
          <a:p>
            <a:pPr>
              <a:spcAft>
                <a:spcPts val="600"/>
              </a:spcAft>
              <a:defRPr sz="1150">
                <a:solidFill>
                  <a:srgbClr val="2D2D2D"/>
                </a:solidFill>
              </a:defRPr>
            </a:pPr>
            <a:r>
              <a:t>• A single green claim touches CCPA, SEBI, MCA, FSSAI, and MoEFCC simultaneously.</a:t>
            </a:r>
          </a:p>
          <a:p>
            <a:pPr>
              <a:spcAft>
                <a:spcPts val="600"/>
              </a:spcAft>
              <a:defRPr sz="1150">
                <a:solidFill>
                  <a:srgbClr val="2D2D2D"/>
                </a:solidFill>
              </a:defRPr>
            </a:pPr>
            <a:r>
              <a:t>• Green Taxonomy Paradox: May 2025 Taxonomy added a parallel voluntary framework without harmonizing existing rules.</a:t>
            </a:r>
          </a:p>
          <a:p>
            <a:pPr>
              <a:defRPr sz="1150">
                <a:solidFill>
                  <a:srgbClr val="2D2D2D"/>
                </a:solidFill>
              </a:defRPr>
            </a:pPr>
            <a: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00000"/>
            <a:ext cx="5212080"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580000"/>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0000"/>
            <a:ext cx="5067118" cy="1650000"/>
          </a:xfrm>
          <a:prstGeom prst="rect">
            <a:avLst/>
          </a:prstGeom>
          <a:noFill/>
        </p:spPr>
        <p:txBody>
          <a:bodyPr wrap="square">
            <a:spAutoFit/>
          </a:bodyPr>
          <a:lstStyle/>
          <a:p>
            <a:pPr algn="l">
              <a:spcAft>
                <a:spcPts val="400"/>
              </a:spcAft>
              <a:defRPr sz="1350" b="1">
                <a:solidFill>
                  <a:srgbClr val="A8552F"/>
                </a:solidFill>
                <a:latin typeface="Calibri"/>
              </a:defRPr>
            </a:pPr>
            <a:r>
              <a:t>Penalty Arbitrage (Greenwashing as a Strategy)</a:t>
            </a:r>
            <a:endParaRPr lang="en-IN" dirty="0">
              <a:latin typeface="Avenir Next" panose="020B0503020202020204" pitchFamily="34" charset="0"/>
            </a:endParaRPr>
          </a:p>
          <a:p>
            <a:pPr>
              <a:spcAft>
                <a:spcPts val="400"/>
              </a:spcAft>
              <a:defRPr sz="1100">
                <a:solidFill>
                  <a:srgbClr val="2D2D2D"/>
                </a:solidFill>
              </a:defRPr>
            </a:pPr>
            <a:r>
              <a:t>• Fixed low caps: CCPA ₹50L, Section 166(7) ₹5L, FSSAI ₹10L—far below global benchmarks (EU/UK 10% turnover).</a:t>
            </a:r>
          </a:p>
          <a:p>
            <a:pPr>
              <a:defRPr sz="1100">
                <a:solidFill>
                  <a:srgbClr val="2D2D2D"/>
                </a:solidFill>
              </a:defRPr>
            </a:pPr>
            <a: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00000"/>
            <a:ext cx="5196834"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0000"/>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960000"/>
            <a:ext cx="5145784" cy="1600000"/>
          </a:xfrm>
          <a:prstGeom prst="rect">
            <a:avLst/>
          </a:prstGeom>
          <a:noFill/>
        </p:spPr>
        <p:txBody>
          <a:bodyPr wrap="square">
            <a:spAutoFit/>
          </a:bodyPr>
          <a:lstStyle/>
          <a:p>
            <a:pPr algn="l">
              <a:spcAft>
                <a:spcPts val="400"/>
              </a:spcAft>
              <a:defRPr sz="1350" b="1">
                <a:solidFill>
                  <a:srgbClr val="12402D"/>
                </a:solidFill>
                <a:latin typeface="Calibri"/>
              </a:defRPr>
            </a:pPr>
            <a:r>
              <a:t>Regulatory Backsliding</a:t>
            </a:r>
          </a:p>
          <a:p>
            <a:pPr>
              <a:spcAft>
                <a:spcPts val="400"/>
              </a:spcAft>
              <a:defRPr sz="1100">
                <a:solidFill>
                  <a:srgbClr val="2D2D2D"/>
                </a:solidFill>
              </a:defRPr>
            </a:pPr>
            <a:r>
              <a:t>• SEBI diluted mandatory audits to optional 'assessment' and deferred supply-chain reporting.</a:t>
            </a:r>
          </a:p>
          <a:p>
            <a:pPr>
              <a:defRPr sz="1100">
                <a:solidFill>
                  <a:srgbClr val="2D2D2D"/>
                </a:solidFill>
              </a:defRPr>
            </a:pPr>
            <a: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0000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780000"/>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760000"/>
            <a:ext cx="5069243" cy="1600000"/>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t>• Purely complaint-driven; consumer cases take 2–5 years to resolve.</a:t>
            </a:r>
          </a:p>
          <a:p>
            <a:pPr>
              <a:defRPr sz="1100">
                <a:solidFill>
                  <a:srgbClr val="2D2D2D"/>
                </a:solidFill>
              </a:defRPr>
            </a:pPr>
            <a:r>
              <a:t>• Regulators lack specialized in-house expertise in carbon accounting and lifecycle audits.</a:t>
            </a: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r>
                        <a:rPr sz="1200" b="1">
                          <a:solidFill>
                            <a:srgbClr val="FFFFFF"/>
                          </a:solidFill>
                        </a:rPr>
                        <a:t>Design Element</a:t>
                      </a:r>
                    </a:p>
                  </a:txBody>
                  <a:tcPr>
                    <a:solidFill>
                      <a:srgbClr val="173F35"/>
                    </a:solidFill>
                  </a:tcPr>
                </a:tc>
                <a:tc>
                  <a:txBody>
                    <a:bodyPr/>
                    <a:lstStyle/>
                    <a:p>
                      <a:r>
                        <a:rPr sz="1200" b="1">
                          <a:solidFill>
                            <a:srgbClr val="FFFFFF"/>
                          </a:solidFill>
                        </a:rPr>
                        <a:t>European Union</a:t>
                      </a:r>
                    </a:p>
                  </a:txBody>
                  <a:tcPr>
                    <a:solidFill>
                      <a:srgbClr val="173F35"/>
                    </a:solidFill>
                  </a:tcPr>
                </a:tc>
                <a:tc>
                  <a:txBody>
                    <a:bodyPr/>
                    <a:lstStyle/>
                    <a:p>
                      <a:r>
                        <a:rPr sz="1200" b="1">
                          <a:solidFill>
                            <a:srgbClr val="FFFFFF"/>
                          </a:solidFill>
                        </a:rPr>
                        <a:t>United Kingdom</a:t>
                      </a:r>
                    </a:p>
                  </a:txBody>
                  <a:tcPr>
                    <a:solidFill>
                      <a:srgbClr val="173F35"/>
                    </a:solidFill>
                  </a:tcPr>
                </a:tc>
                <a:tc>
                  <a:txBody>
                    <a:bodyPr/>
                    <a:lstStyle/>
                    <a:p>
                      <a:r>
                        <a:rPr sz="1200" b="1">
                          <a:solidFill>
                            <a:srgbClr val="FFFFFF"/>
                          </a:solidFill>
                        </a:rPr>
                        <a:t>Australia</a:t>
                      </a:r>
                    </a:p>
                  </a:txBody>
                  <a:tcPr>
                    <a:solidFill>
                      <a:srgbClr val="173F35"/>
                    </a:solidFill>
                  </a:tcPr>
                </a:tc>
                <a:tc>
                  <a:txBody>
                    <a:bodyPr/>
                    <a:lstStyle/>
                    <a:p>
                      <a:r>
                        <a:rPr sz="1200" b="1">
                          <a:solidFill>
                            <a:srgbClr val="FFFFFF"/>
                          </a:solidFill>
                        </a:rPr>
                        <a:t>India</a:t>
                      </a:r>
                    </a:p>
                  </a:txBody>
                  <a:tcPr>
                    <a:solidFill>
                      <a:srgbClr val="173F35"/>
                    </a:solidFill>
                  </a:tcPr>
                </a:tc>
                <a:extLst>
                  <a:ext uri="{0D108BD9-81ED-4DB2-BD59-A6C34878D82A}">
                    <a16:rowId xmlns:a16="http://schemas.microsoft.com/office/drawing/2014/main" val="10000"/>
                  </a:ext>
                </a:extLst>
              </a:tr>
              <a:tr h="601980">
                <a:tc>
                  <a:txBody>
                    <a:bodyPr/>
                    <a:lstStyle/>
                    <a:p>
                      <a:r>
                        <a:rPr sz="1100" b="1"/>
                        <a:t>Board Accountability</a:t>
                      </a:r>
                    </a:p>
                  </a:txBody>
                  <a:tcPr>
                    <a:solidFill>
                      <a:srgbClr val="FFFDF8"/>
                    </a:solidFill>
                  </a:tcPr>
                </a:tc>
                <a:tc>
                  <a:txBody>
                    <a:bodyPr/>
                    <a:lstStyle/>
                    <a:p>
                      <a:r>
                        <a:rPr sz="1100" b="0"/>
                        <a:t>Strong &amp; direct</a:t>
                      </a:r>
                    </a:p>
                  </a:txBody>
                  <a:tcPr>
                    <a:solidFill>
                      <a:srgbClr val="FFFDF8"/>
                    </a:solidFill>
                  </a:tcPr>
                </a:tc>
                <a:tc>
                  <a:txBody>
                    <a:bodyPr/>
                    <a:lstStyle/>
                    <a:p>
                      <a:r>
                        <a:rPr sz="1100" b="0"/>
                        <a:t>Strong &amp; direct</a:t>
                      </a:r>
                    </a:p>
                  </a:txBody>
                  <a:tcPr>
                    <a:solidFill>
                      <a:srgbClr val="FFFDF8"/>
                    </a:solidFill>
                  </a:tcPr>
                </a:tc>
                <a:tc>
                  <a:txBody>
                    <a:bodyPr/>
                    <a:lstStyle/>
                    <a:p>
                      <a:r>
                        <a:rPr sz="1100" b="0"/>
                        <a:t>Growing &amp; active</a:t>
                      </a:r>
                    </a:p>
                  </a:txBody>
                  <a:tcPr>
                    <a:solidFill>
                      <a:srgbClr val="FFFDF8"/>
                    </a:solidFill>
                  </a:tcPr>
                </a:tc>
                <a:tc>
                  <a:txBody>
                    <a:bodyPr/>
                    <a:lstStyle/>
                    <a:p>
                      <a:r>
                        <a:rPr sz="1100" b="1">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r>
                        <a:rPr sz="1100" b="1"/>
                        <a:t>Connected Regulators</a:t>
                      </a:r>
                    </a:p>
                  </a:txBody>
                  <a:tcPr>
                    <a:solidFill>
                      <a:srgbClr val="E8EFE6"/>
                    </a:solidFill>
                  </a:tcPr>
                </a:tc>
                <a:tc>
                  <a:txBody>
                    <a:bodyPr/>
                    <a:lstStyle/>
                    <a:p>
                      <a:r>
                        <a:rPr sz="1100" b="0"/>
                        <a:t>Integrated reporting &amp; claim rules</a:t>
                      </a:r>
                    </a:p>
                  </a:txBody>
                  <a:tcPr>
                    <a:solidFill>
                      <a:srgbClr val="E8EFE6"/>
                    </a:solidFill>
                  </a:tcPr>
                </a:tc>
                <a:tc>
                  <a:txBody>
                    <a:bodyPr/>
                    <a:lstStyle/>
                    <a:p>
                      <a:r>
                        <a:rPr sz="1100" b="0"/>
                        <a:t>FCA + CMA + Company Law</a:t>
                      </a:r>
                    </a:p>
                  </a:txBody>
                  <a:tcPr>
                    <a:solidFill>
                      <a:srgbClr val="E8EFE6"/>
                    </a:solidFill>
                  </a:tcPr>
                </a:tc>
                <a:tc>
                  <a:txBody>
                    <a:bodyPr/>
                    <a:lstStyle/>
                    <a:p>
                      <a:r>
                        <a:rPr sz="1100" b="0"/>
                        <a:t>Active inter-agency teamwork</a:t>
                      </a:r>
                    </a:p>
                  </a:txBody>
                  <a:tcPr>
                    <a:solidFill>
                      <a:srgbClr val="E8EFE6"/>
                    </a:solidFill>
                  </a:tcPr>
                </a:tc>
                <a:tc>
                  <a:txBody>
                    <a:bodyPr/>
                    <a:lstStyle/>
                    <a:p>
                      <a:r>
                        <a:rPr sz="1100" b="1">
                          <a:solidFill>
                            <a:srgbClr val="A8552F"/>
                          </a:solidFill>
                        </a:rPr>
                        <a:t>MCA, SEBI &amp; CCPA in silos</a:t>
                      </a:r>
                    </a:p>
                  </a:txBody>
                  <a:tcPr>
                    <a:solidFill>
                      <a:srgbClr val="E8EFE6"/>
                    </a:solidFill>
                  </a:tcPr>
                </a:tc>
                <a:extLst>
                  <a:ext uri="{0D108BD9-81ED-4DB2-BD59-A6C34878D82A}">
                    <a16:rowId xmlns:a16="http://schemas.microsoft.com/office/drawing/2014/main" val="10002"/>
                  </a:ext>
                </a:extLst>
              </a:tr>
              <a:tr h="601980">
                <a:tc>
                  <a:txBody>
                    <a:bodyPr/>
                    <a:lstStyle/>
                    <a:p>
                      <a:r>
                        <a:rPr sz="1100" b="1"/>
                        <a:t>Third-Party Audits</a:t>
                      </a:r>
                    </a:p>
                  </a:txBody>
                  <a:tcPr>
                    <a:solidFill>
                      <a:srgbClr val="FFFDF8"/>
                    </a:solidFill>
                  </a:tcPr>
                </a:tc>
                <a:tc>
                  <a:txBody>
                    <a:bodyPr/>
                    <a:lstStyle/>
                    <a:p>
                      <a:r>
                        <a:rPr sz="1100" b="0"/>
                        <a:t>Phased move to strict audits</a:t>
                      </a:r>
                    </a:p>
                  </a:txBody>
                  <a:tcPr>
                    <a:solidFill>
                      <a:srgbClr val="FFFDF8"/>
                    </a:solidFill>
                  </a:tcPr>
                </a:tc>
                <a:tc>
                  <a:txBody>
                    <a:bodyPr/>
                    <a:lstStyle/>
                    <a:p>
                      <a:r>
                        <a:rPr sz="1100" b="0"/>
                        <a:t>Expanding requirements</a:t>
                      </a:r>
                    </a:p>
                  </a:txBody>
                  <a:tcPr>
                    <a:solidFill>
                      <a:srgbClr val="FFFDF8"/>
                    </a:solidFill>
                  </a:tcPr>
                </a:tc>
                <a:tc>
                  <a:txBody>
                    <a:bodyPr/>
                    <a:lstStyle/>
                    <a:p>
                      <a:r>
                        <a:rPr sz="1100" b="0"/>
                        <a:t>Moving to mandatory audits</a:t>
                      </a:r>
                    </a:p>
                  </a:txBody>
                  <a:tcPr>
                    <a:solidFill>
                      <a:srgbClr val="FFFDF8"/>
                    </a:solidFill>
                  </a:tcPr>
                </a:tc>
                <a:tc>
                  <a:txBody>
                    <a:bodyPr/>
                    <a:lstStyle/>
                    <a:p>
                      <a:r>
                        <a:rPr sz="1100" b="1">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100" b="1"/>
                        <a:t>Future Claims &amp; Offsets</a:t>
                      </a:r>
                    </a:p>
                  </a:txBody>
                  <a:tcPr>
                    <a:solidFill>
                      <a:srgbClr val="E8EFE6"/>
                    </a:solidFill>
                  </a:tcPr>
                </a:tc>
                <a:tc>
                  <a:txBody>
                    <a:bodyPr/>
                    <a:lstStyle/>
                    <a:p>
                      <a:r>
                        <a:rPr sz="1100" b="0"/>
                        <a:t>Strict limits on offset claims</a:t>
                      </a:r>
                    </a:p>
                  </a:txBody>
                  <a:tcPr>
                    <a:solidFill>
                      <a:srgbClr val="E8EFE6"/>
                    </a:solidFill>
                  </a:tcPr>
                </a:tc>
                <a:tc>
                  <a:txBody>
                    <a:bodyPr/>
                    <a:lstStyle/>
                    <a:p>
                      <a:r>
                        <a:rPr sz="1100" b="0"/>
                        <a:t>Subject to regulatory checks</a:t>
                      </a:r>
                    </a:p>
                  </a:txBody>
                  <a:tcPr>
                    <a:solidFill>
                      <a:srgbClr val="E8EFE6"/>
                    </a:solidFill>
                  </a:tcPr>
                </a:tc>
                <a:tc>
                  <a:txBody>
                    <a:bodyPr/>
                    <a:lstStyle/>
                    <a:p>
                      <a:r>
                        <a:rPr sz="1100" b="0"/>
                        <a:t>Actively policed under law</a:t>
                      </a:r>
                    </a:p>
                  </a:txBody>
                  <a:tcPr>
                    <a:solidFill>
                      <a:srgbClr val="E8EFE6"/>
                    </a:solidFill>
                  </a:tcPr>
                </a:tc>
                <a:tc>
                  <a:txBody>
                    <a:bodyPr/>
                    <a:lstStyle/>
                    <a:p>
                      <a:r>
                        <a:rPr sz="1100" b="1">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r>
                        <a:rPr sz="1100" b="1"/>
                        <a:t>Deterrent Fines</a:t>
                      </a:r>
                    </a:p>
                  </a:txBody>
                  <a:tcPr>
                    <a:solidFill>
                      <a:srgbClr val="FFFDF8"/>
                    </a:solidFill>
                  </a:tcPr>
                </a:tc>
                <a:tc>
                  <a:txBody>
                    <a:bodyPr/>
                    <a:lstStyle/>
                    <a:p>
                      <a:r>
                        <a:rPr sz="1100" b="0"/>
                        <a:t>Linked to company turnover</a:t>
                      </a:r>
                    </a:p>
                  </a:txBody>
                  <a:tcPr>
                    <a:solidFill>
                      <a:srgbClr val="FFFDF8"/>
                    </a:solidFill>
                  </a:tcPr>
                </a:tc>
                <a:tc>
                  <a:txBody>
                    <a:bodyPr/>
                    <a:lstStyle/>
                    <a:p>
                      <a:r>
                        <a:rPr sz="1100" b="0"/>
                        <a:t>Up to 10% global turnover</a:t>
                      </a:r>
                    </a:p>
                  </a:txBody>
                  <a:tcPr>
                    <a:solidFill>
                      <a:srgbClr val="FFFDF8"/>
                    </a:solidFill>
                  </a:tcPr>
                </a:tc>
                <a:tc>
                  <a:txBody>
                    <a:bodyPr/>
                    <a:lstStyle/>
                    <a:p>
                      <a:r>
                        <a:rPr sz="1100" b="0"/>
                        <a:t>High civil penalty exposure</a:t>
                      </a:r>
                    </a:p>
                  </a:txBody>
                  <a:tcPr>
                    <a:solidFill>
                      <a:srgbClr val="FFFDF8"/>
                    </a:solidFill>
                  </a:tcPr>
                </a:tc>
                <a:tc>
                  <a:txBody>
                    <a:bodyPr/>
                    <a:lstStyle/>
                    <a:p>
                      <a:r>
                        <a:rPr sz="1100" b="1">
                          <a:solidFill>
                            <a:srgbClr val="A8552F"/>
                          </a:solidFill>
                        </a:rPr>
                        <a:t>Low fixed caps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defRPr sz="1100">
                <a:solidFill>
                  <a:srgbClr val="282828"/>
                </a:solidFill>
              </a:defRPr>
            </a:pPr>
            <a:r>
              <a:t>Answer to RQ5: Effective systems demand proof before publication, require independent audits, connect their regulators with automatic referrals, and link fines to turnover so honesty is always the smart business choice.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200" b="1">
                <a:solidFill>
                  <a:srgbClr val="12402D"/>
                </a:solidFill>
                <a:latin typeface="Calibri"/>
              </a:defRPr>
            </a:pPr>
            <a:r>
              <a:t>1. Pre-Approval for Claims</a:t>
            </a:r>
          </a:p>
          <a:p>
            <a:pPr>
              <a:defRPr sz="1050">
                <a:solidFill>
                  <a:srgbClr val="282828"/>
                </a:solidFill>
              </a:defRPr>
            </a:pPr>
            <a:r>
              <a:t>Independent certification required before publishing any green claim (EU GCD, Colombia).</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200" b="1">
                <a:solidFill>
                  <a:srgbClr val="12402D"/>
                </a:solidFill>
                <a:latin typeface="Calibri"/>
              </a:defRPr>
            </a:pPr>
            <a:r>
              <a:t>2. Mandatory Third-Party Auditing</a:t>
            </a:r>
          </a:p>
          <a:p>
            <a:pPr>
              <a:defRPr sz="1050">
                <a:solidFill>
                  <a:srgbClr val="282828"/>
                </a:solidFill>
              </a:defRPr>
            </a:pPr>
            <a:r>
              <a:t>Phased move from basic reviews to full financial-grade audits (EU CSRD, Australia).</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200" b="1">
                <a:solidFill>
                  <a:srgbClr val="12402D"/>
                </a:solidFill>
                <a:latin typeface="Calibri"/>
              </a:defRPr>
            </a:pPr>
            <a:r>
              <a:t>3. Double Materiality</a:t>
            </a:r>
          </a:p>
          <a:p>
            <a:pPr>
              <a:defRPr sz="1050">
                <a:solidFill>
                  <a:srgbClr val="282828"/>
                </a:solidFill>
              </a:defRPr>
            </a:pPr>
            <a:r>
              <a:t>Disclosing financial risks to the firm AND the firm's real impact on the planet (EU ESRS).</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200" b="1">
                <a:solidFill>
                  <a:srgbClr val="12402D"/>
                </a:solidFill>
                <a:latin typeface="Calibri"/>
              </a:defRPr>
            </a:pPr>
            <a:r>
              <a:t>4. Lifecycle Assessment (LCA)</a:t>
            </a:r>
          </a:p>
          <a:p>
            <a:pPr>
              <a:defRPr sz="1050">
                <a:solidFill>
                  <a:srgbClr val="282828"/>
                </a:solidFill>
              </a:defRPr>
            </a:pPr>
            <a:r>
              <a:t>Requiring full cradle-to-grave analysis for all eco-product claims (EU,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200" b="1">
                <a:solidFill>
                  <a:srgbClr val="12402D"/>
                </a:solidFill>
                <a:latin typeface="Calibri"/>
              </a:defRPr>
            </a:pPr>
            <a:r>
              <a:t>5. Mandatory Scope 3 Emissions</a:t>
            </a:r>
          </a:p>
          <a:p>
            <a:pPr>
              <a:defRPr sz="1050">
                <a:solidFill>
                  <a:srgbClr val="282828"/>
                </a:solidFill>
              </a:defRPr>
            </a:pPr>
            <a:r>
              <a:t>Full supply-chain emissions must be disclosed; cannot hide polluting suppliers (EU, Australia).</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200" b="1">
                <a:solidFill>
                  <a:srgbClr val="12402D"/>
                </a:solidFill>
                <a:latin typeface="Calibri"/>
              </a:defRPr>
            </a:pPr>
            <a:r>
              <a:t>6. Reversed Burden of Proof</a:t>
            </a:r>
          </a:p>
          <a:p>
            <a:pPr>
              <a:defRPr sz="1050">
                <a:solidFill>
                  <a:srgbClr val="282828"/>
                </a:solidFill>
              </a:defRPr>
            </a:pPr>
            <a:r>
              <a:t>The company must prove its claim is true; consumers do not have to disprove it (Canada, EU).</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200" b="1">
                <a:solidFill>
                  <a:srgbClr val="12402D"/>
                </a:solidFill>
                <a:latin typeface="Calibri"/>
              </a:defRPr>
            </a:pPr>
            <a:r>
              <a:t>7. Specific Rules for Carbon Claims</a:t>
            </a:r>
          </a:p>
          <a:p>
            <a:pPr>
              <a:defRPr sz="1050">
                <a:solidFill>
                  <a:srgbClr val="282828"/>
                </a:solidFill>
              </a:defRPr>
            </a:pPr>
            <a:r>
              <a:t>Strict standards for 'carbon neutral' claims and retiring verified carbon credits (US FTC, EU).</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200" b="1">
                <a:solidFill>
                  <a:srgbClr val="12402D"/>
                </a:solidFill>
                <a:latin typeface="Calibri"/>
              </a:defRPr>
            </a:pPr>
            <a:r>
              <a:t>8. Ban on Vague Buzzwords</a:t>
            </a:r>
          </a:p>
          <a:p>
            <a:pPr>
              <a:defRPr sz="1050">
                <a:solidFill>
                  <a:srgbClr val="282828"/>
                </a:solidFill>
              </a:defRPr>
            </a:pPr>
            <a:r>
              <a:t>Outlawing broad terms like 'eco-friendly' or 'green' without clear, measurable proof (EU ECGT, UK CMA).</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200" b="1">
                <a:solidFill>
                  <a:srgbClr val="12402D"/>
                </a:solidFill>
                <a:latin typeface="Calibri"/>
              </a:defRPr>
            </a:pPr>
            <a:r>
              <a:t>9. Turnover-Linked Penalties</a:t>
            </a:r>
          </a:p>
          <a:p>
            <a:pPr>
              <a:defRPr sz="1050">
                <a:solidFill>
                  <a:srgbClr val="282828"/>
                </a:solidFill>
              </a:defRPr>
            </a:pPr>
            <a:r>
              <a:t>Setting fines at 4% to 10% of total revenue so penalties cannot be dismissed as a minor cost (EU, UK).</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200" b="1">
                <a:solidFill>
                  <a:srgbClr val="12402D"/>
                </a:solidFill>
                <a:latin typeface="Calibri"/>
              </a:defRPr>
            </a:pPr>
            <a:r>
              <a:t>10. Connected Multi-Agency System</a:t>
            </a:r>
          </a:p>
          <a:p>
            <a:pPr>
              <a:defRPr sz="1050">
                <a:solidFill>
                  <a:srgbClr val="282828"/>
                </a:solidFill>
              </a:defRPr>
            </a:pPr>
            <a: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1332986989"/>
              </p:ext>
            </p:extLst>
          </p:nvPr>
        </p:nvGraphicFramePr>
        <p:xfrm>
          <a:off x="377059" y="943552"/>
          <a:ext cx="11407110" cy="5582453"/>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Related </a:t>
                      </a:r>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050" b="1"/>
                        <a:t>1</a:t>
                      </a:r>
                    </a:p>
                  </a:txBody>
                  <a:tcPr marL="36576" marR="36576" anchor="ctr">
                    <a:solidFill>
                      <a:srgbClr val="FFF6EA"/>
                    </a:solidFill>
                  </a:tcPr>
                </a:tc>
                <a:tc>
                  <a:txBody>
                    <a:bodyPr/>
                    <a:lstStyle/>
                    <a:p>
                      <a:r>
                        <a:rPr sz="1000"/>
                        <a:t>What is greenwashing, how has it evolved and what are its consequences?</a:t>
                      </a:r>
                    </a:p>
                  </a:txBody>
                  <a:tcPr marL="73152" marR="73152" marT="36576" marB="36576" anchor="ctr">
                    <a:solidFill>
                      <a:srgbClr val="FFF6EA"/>
                    </a:solidFill>
                  </a:tcPr>
                </a:tc>
                <a:tc>
                  <a:txBody>
                    <a:bodyPr/>
                    <a:lstStyle/>
                    <a:p>
                      <a:r>
                        <a:rPr sz="1050" b="1"/>
                        <a:t>Chapter 2</a:t>
                      </a:r>
                    </a:p>
                  </a:txBody>
                  <a:tcPr marL="73152" marR="73152" marT="36576" marB="36576" anchor="ctr">
                    <a:solidFill>
                      <a:srgbClr val="FFF6EA"/>
                    </a:solidFill>
                  </a:tcPr>
                </a:tc>
                <a:tc>
                  <a:txBody>
                    <a:bodyPr/>
                    <a:lstStyle/>
                    <a:p>
                      <a:r>
                        <a:rPr sz="1000"/>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050" b="1"/>
                        <a:t>2</a:t>
                      </a:r>
                    </a:p>
                  </a:txBody>
                  <a:tcPr marL="36576" marR="36576" anchor="ctr">
                    <a:solidFill>
                      <a:srgbClr val="E8EFE6"/>
                    </a:solidFill>
                  </a:tcPr>
                </a:tc>
                <a:tc>
                  <a:txBody>
                    <a:bodyPr/>
                    <a:lstStyle/>
                    <a:p>
                      <a:r>
                        <a:rPr sz="1000"/>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050" b="1"/>
                        <a:t>Chapter 2, Chapter 5</a:t>
                      </a:r>
                    </a:p>
                  </a:txBody>
                  <a:tcPr marL="73152" marR="73152" marT="36576" marB="36576" anchor="ctr">
                    <a:solidFill>
                      <a:srgbClr val="E8EFE6"/>
                    </a:solidFill>
                  </a:tcPr>
                </a:tc>
                <a:tc>
                  <a:txBody>
                    <a:bodyPr/>
                    <a:lstStyle/>
                    <a:p>
                      <a:r>
                        <a:rPr sz="1000"/>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050" b="1"/>
                        <a:t>3</a:t>
                      </a:r>
                    </a:p>
                  </a:txBody>
                  <a:tcPr marL="36576" marR="36576" anchor="ctr">
                    <a:solidFill>
                      <a:srgbClr val="FFF6EA"/>
                    </a:solidFill>
                  </a:tcPr>
                </a:tc>
                <a:tc>
                  <a:txBody>
                    <a:bodyPr/>
                    <a:lstStyle/>
                    <a:p>
                      <a:r>
                        <a:rPr sz="1000"/>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050" b="1"/>
                        <a:t>Chapter 3</a:t>
                      </a:r>
                    </a:p>
                  </a:txBody>
                  <a:tcPr marL="73152" marR="73152" marT="36576" marB="36576" anchor="ctr">
                    <a:solidFill>
                      <a:srgbClr val="FFF6EA"/>
                    </a:solidFill>
                  </a:tcPr>
                </a:tc>
                <a:tc>
                  <a:txBody>
                    <a:bodyPr/>
                    <a:lstStyle/>
                    <a:p>
                      <a:r>
                        <a:rPr sz="1000"/>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050" b="1"/>
                        <a:t>4</a:t>
                      </a:r>
                    </a:p>
                  </a:txBody>
                  <a:tcPr marL="36576" marR="36576" anchor="ctr">
                    <a:solidFill>
                      <a:srgbClr val="E8EFE6"/>
                    </a:solidFill>
                  </a:tcPr>
                </a:tc>
                <a:tc>
                  <a:txBody>
                    <a:bodyPr/>
                    <a:lstStyle/>
                    <a:p>
                      <a:r>
                        <a:rPr sz="1000"/>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050" b="1"/>
                        <a:t>Chapter 3, Chapter 5</a:t>
                      </a:r>
                    </a:p>
                  </a:txBody>
                  <a:tcPr marL="73152" marR="73152" marT="36576" marB="36576" anchor="ctr">
                    <a:solidFill>
                      <a:srgbClr val="E8EFE6"/>
                    </a:solidFill>
                  </a:tcPr>
                </a:tc>
                <a:tc>
                  <a:txBody>
                    <a:bodyPr/>
                    <a:lstStyle/>
                    <a:p>
                      <a:r>
                        <a:rPr sz="1000"/>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050" b="1"/>
                        <a:t>5</a:t>
                      </a:r>
                    </a:p>
                  </a:txBody>
                  <a:tcPr marL="36576" marR="36576" anchor="ctr">
                    <a:solidFill>
                      <a:srgbClr val="FFF6EA"/>
                    </a:solidFill>
                  </a:tcPr>
                </a:tc>
                <a:tc>
                  <a:txBody>
                    <a:bodyPr/>
                    <a:lstStyle/>
                    <a:p>
                      <a:r>
                        <a:rPr sz="1000"/>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050" b="1"/>
                        <a:t>Chapter 4</a:t>
                      </a:r>
                    </a:p>
                  </a:txBody>
                  <a:tcPr marL="73152" marR="73152" marT="36576" marB="36576" anchor="ctr">
                    <a:solidFill>
                      <a:srgbClr val="FFF6EA"/>
                    </a:solidFill>
                  </a:tcPr>
                </a:tc>
                <a:tc>
                  <a:txBody>
                    <a:bodyPr/>
                    <a:lstStyle/>
                    <a:p>
                      <a:r>
                        <a:rPr sz="1000"/>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050" b="1"/>
                        <a:t>6</a:t>
                      </a:r>
                    </a:p>
                  </a:txBody>
                  <a:tcPr marL="36576" marR="36576" anchor="ctr">
                    <a:solidFill>
                      <a:srgbClr val="E8EFE6"/>
                    </a:solidFill>
                  </a:tcPr>
                </a:tc>
                <a:tc>
                  <a:txBody>
                    <a:bodyPr/>
                    <a:lstStyle/>
                    <a:p>
                      <a:r>
                        <a:rPr sz="1000"/>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050" b="1"/>
                        <a:t>Chapter 5</a:t>
                      </a:r>
                    </a:p>
                  </a:txBody>
                  <a:tcPr marL="73152" marR="73152" marT="36576" marB="36576" anchor="ctr">
                    <a:solidFill>
                      <a:srgbClr val="E8EFE6"/>
                    </a:solidFill>
                  </a:tcPr>
                </a:tc>
                <a:tc>
                  <a:txBody>
                    <a:bodyPr/>
                    <a:lstStyle/>
                    <a:p>
                      <a:r>
                        <a:rPr sz="1000"/>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050" b="1"/>
                        <a:t>7</a:t>
                      </a:r>
                    </a:p>
                  </a:txBody>
                  <a:tcPr marL="36576" marR="36576" anchor="ctr">
                    <a:solidFill>
                      <a:srgbClr val="FFF6EA"/>
                    </a:solidFill>
                  </a:tcPr>
                </a:tc>
                <a:tc>
                  <a:txBody>
                    <a:bodyPr/>
                    <a:lstStyle/>
                    <a:p>
                      <a:r>
                        <a:rPr sz="1000"/>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050" b="1"/>
                        <a:t>Chapter 6</a:t>
                      </a:r>
                    </a:p>
                  </a:txBody>
                  <a:tcPr marL="73152" marR="73152" marT="36576" marB="36576" anchor="ctr">
                    <a:solidFill>
                      <a:srgbClr val="FFF6EA"/>
                    </a:solidFill>
                  </a:tcPr>
                </a:tc>
                <a:tc>
                  <a:txBody>
                    <a:bodyPr/>
                    <a:lstStyle/>
                    <a:p>
                      <a:r>
                        <a:rPr sz="1000"/>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0000"/>
            <a:ext cx="3683771" cy="4650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350000"/>
            <a:ext cx="3154654" cy="1050000"/>
          </a:xfrm>
          <a:prstGeom prst="rect">
            <a:avLst/>
          </a:prstGeom>
          <a:noFill/>
        </p:spPr>
        <p:txBody>
          <a:bodyPr wrap="square" lIns="0" tIns="0" rIns="0" bIns="0">
            <a:spAutoFit/>
          </a:bodyPr>
          <a:lstStyle/>
          <a:p>
            <a:pPr>
              <a:spcAft>
                <a:spcPts val="200"/>
              </a:spcAft>
              <a:defRPr sz="1100" b="1">
                <a:solidFill>
                  <a:srgbClr val="12402D"/>
                </a:solidFill>
              </a:defRPr>
            </a:pPr>
            <a:r>
              <a:t>H₁: "Greenwashing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450000"/>
            <a:ext cx="3154654" cy="3250000"/>
          </a:xfrm>
          <a:prstGeom prst="rect">
            <a:avLst/>
          </a:prstGeom>
          <a:noFill/>
        </p:spPr>
        <p:txBody>
          <a:bodyPr wrap="square" lIns="0" tIns="0" rIns="0" bIns="0">
            <a:spAutoFit/>
          </a:bodyPr>
          <a:lstStyle/>
          <a:p>
            <a:pPr>
              <a:lnSpc>
                <a:spcPct val="105000"/>
              </a:lnSpc>
              <a:spcAft>
                <a:spcPts val="500"/>
              </a:spcAft>
            </a:pPr>
            <a:endParaRPr/>
          </a:p>
          <a:p>
            <a:pPr>
              <a:spcBef>
                <a:spcPts val="300"/>
              </a:spcBef>
              <a:spcAft>
                <a:spcPts val="400"/>
              </a:spcAft>
            </a:pPr>
            <a:r>
              <a:rPr sz="1100" b="1">
                <a:solidFill>
                  <a:srgbClr val="22704E"/>
                </a:solidFill>
              </a:rPr>
              <a:t>1. Scope: </a:t>
            </a:r>
            <a:r>
              <a:rPr sz="1100">
                <a:solidFill>
                  <a:srgbClr val="2D2D2D"/>
                </a:solidFill>
              </a:rPr>
              <a:t>Applies to BRSR reports, net-zero roadmaps, and corporate transition pledges.</a:t>
            </a:r>
          </a:p>
          <a:p>
            <a:pPr>
              <a:spcBef>
                <a:spcPts val="300"/>
              </a:spcBef>
              <a:spcAft>
                <a:spcPts val="400"/>
              </a:spcAft>
            </a:pPr>
            <a:r>
              <a:rPr sz="1100" b="1">
                <a:solidFill>
                  <a:srgbClr val="22704E"/>
                </a:solidFill>
              </a:rPr>
              <a:t>2. Duty Allocation: </a:t>
            </a:r>
            <a:r>
              <a:rPr sz="1100">
                <a:solidFill>
                  <a:srgbClr val="2D2D2D"/>
                </a:solidFill>
              </a:rPr>
              <a:t>Consumer rules police ads; corporate governance is the proper anchor for boardroom oversight.</a:t>
            </a:r>
          </a:p>
          <a:p>
            <a:pPr>
              <a:spcBef>
                <a:spcPts val="300"/>
              </a:spcBef>
              <a:spcAft>
                <a:spcPts val="400"/>
              </a:spcAft>
            </a:pPr>
            <a:r>
              <a:rPr sz="1100" b="1">
                <a:solidFill>
                  <a:srgbClr val="22704E"/>
                </a:solidFill>
              </a:rPr>
              <a:t>3. Pathway: </a:t>
            </a:r>
            <a:r>
              <a:rPr sz="1100">
                <a:solidFill>
                  <a:srgbClr val="2D2D2D"/>
                </a:solidFill>
              </a:rPr>
              <a:t>Upstream internal controls and board oversight are essential.</a:t>
            </a:r>
          </a:p>
          <a:p>
            <a:pPr>
              <a:spcBef>
                <a:spcPts val="300"/>
              </a:spcBef>
              <a:spcAft>
                <a:spcPts val="400"/>
              </a:spcAft>
            </a:pPr>
            <a:r>
              <a:rPr sz="1100" b="1">
                <a:solidFill>
                  <a:srgbClr val="22704E"/>
                </a:solidFill>
              </a:rPr>
              <a:t>4. Conclusion: </a:t>
            </a:r>
            <a:r>
              <a:rPr sz="1100">
                <a:solidFill>
                  <a:srgbClr val="2D2D2D"/>
                </a:solidFill>
              </a:rPr>
              <a:t>VALIDATED — Root cause is weak corporate governance.</a:t>
            </a:r>
          </a:p>
        </p:txBody>
      </p:sp>
      <p:sp>
        <p:nvSpPr>
          <p:cNvPr id="9" name="Rounded Rectangle 8"/>
          <p:cNvSpPr/>
          <p:nvPr/>
        </p:nvSpPr>
        <p:spPr>
          <a:xfrm>
            <a:off x="4356643" y="1150000"/>
            <a:ext cx="3683771" cy="4650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350000"/>
            <a:ext cx="3154654" cy="1050000"/>
          </a:xfrm>
          <a:prstGeom prst="rect">
            <a:avLst/>
          </a:prstGeom>
          <a:noFill/>
        </p:spPr>
        <p:txBody>
          <a:bodyPr wrap="square" lIns="0" tIns="0" rIns="0" bIns="0">
            <a:spAutoFit/>
          </a:bodyPr>
          <a:lstStyle/>
          <a:p>
            <a:pPr>
              <a:spcAft>
                <a:spcPts val="200"/>
              </a:spcAft>
              <a:defRPr sz="1050" b="1">
                <a:solidFill>
                  <a:srgbClr val="12402D"/>
                </a:solidFill>
              </a:defRPr>
            </a:pPr>
            <a: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450000"/>
            <a:ext cx="3263122" cy="3250000"/>
          </a:xfrm>
          <a:prstGeom prst="rect">
            <a:avLst/>
          </a:prstGeom>
          <a:noFill/>
        </p:spPr>
        <p:txBody>
          <a:bodyPr wrap="square" lIns="0" tIns="0" rIns="0" bIns="0">
            <a:spAutoFit/>
          </a:bodyPr>
          <a:lstStyle/>
          <a:p>
            <a:pPr>
              <a:lnSpc>
                <a:spcPct val="105000"/>
              </a:lnSpc>
              <a:spcAft>
                <a:spcPts val="500"/>
              </a:spcAft>
            </a:pPr>
            <a:endParaRPr/>
          </a:p>
          <a:p>
            <a:pPr>
              <a:spcBef>
                <a:spcPts val="300"/>
              </a:spcBef>
              <a:spcAft>
                <a:spcPts val="400"/>
              </a:spcAft>
            </a:pPr>
            <a:r>
              <a:rPr sz="1100" b="1">
                <a:solidFill>
                  <a:srgbClr val="22704E"/>
                </a:solidFill>
              </a:rPr>
              <a:t>1. Scope: </a:t>
            </a:r>
            <a:r>
              <a:rPr sz="1100">
                <a:solidFill>
                  <a:srgbClr val="2D2D2D"/>
                </a:solidFill>
              </a:rPr>
              <a:t>Evaluates deterrence across Company Law, Securities Law, and Consumer Protection.</a:t>
            </a:r>
          </a:p>
          <a:p>
            <a:pPr>
              <a:spcBef>
                <a:spcPts val="300"/>
              </a:spcBef>
              <a:spcAft>
                <a:spcPts val="400"/>
              </a:spcAft>
            </a:pPr>
            <a:r>
              <a:rPr sz="1100" b="1">
                <a:solidFill>
                  <a:srgbClr val="22704E"/>
                </a:solidFill>
              </a:rPr>
              <a:t>2. Duty Allocation: </a:t>
            </a:r>
            <a:r>
              <a:rPr sz="1100">
                <a:solidFill>
                  <a:srgbClr val="2D2D2D"/>
                </a:solidFill>
              </a:rPr>
              <a:t>Section 166(2) lacks direct standing; consumer fines (₹5L cap) lack deterrence.</a:t>
            </a:r>
          </a:p>
          <a:p>
            <a:pPr>
              <a:spcBef>
                <a:spcPts val="300"/>
              </a:spcBef>
              <a:spcAft>
                <a:spcPts val="400"/>
              </a:spcAft>
            </a:pPr>
            <a:r>
              <a:rPr sz="1100" b="1">
                <a:solidFill>
                  <a:srgbClr val="22704E"/>
                </a:solidFill>
              </a:rPr>
              <a:t>3. Pathway: </a:t>
            </a:r>
            <a:r>
              <a:rPr sz="1100">
                <a:solidFill>
                  <a:srgbClr val="2D2D2D"/>
                </a:solidFill>
              </a:rPr>
              <a:t>Weak verification and high proof burdens shield corporate violators.</a:t>
            </a:r>
          </a:p>
          <a:p>
            <a:pPr>
              <a:spcBef>
                <a:spcPts val="300"/>
              </a:spcBef>
              <a:spcAft>
                <a:spcPts val="400"/>
              </a:spcAft>
            </a:pPr>
            <a:r>
              <a:rPr sz="1100" b="1">
                <a:solidFill>
                  <a:srgbClr val="22704E"/>
                </a:solidFill>
              </a:rPr>
              <a:t>4. Conclusion: </a:t>
            </a:r>
            <a:r>
              <a:rPr sz="1100">
                <a:solidFill>
                  <a:srgbClr val="2D2D2D"/>
                </a:solidFill>
              </a:rPr>
              <a:t>VALIDATED — Framework lacks deterrent liability.</a:t>
            </a:r>
          </a:p>
        </p:txBody>
      </p:sp>
      <p:sp>
        <p:nvSpPr>
          <p:cNvPr id="13" name="Rounded Rectangle 12"/>
          <p:cNvSpPr/>
          <p:nvPr/>
        </p:nvSpPr>
        <p:spPr>
          <a:xfrm>
            <a:off x="8281316" y="1150000"/>
            <a:ext cx="3683771" cy="4650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350000"/>
            <a:ext cx="3154654" cy="1050000"/>
          </a:xfrm>
          <a:prstGeom prst="rect">
            <a:avLst/>
          </a:prstGeom>
          <a:noFill/>
        </p:spPr>
        <p:txBody>
          <a:bodyPr wrap="square" lIns="0" tIns="0" rIns="0" bIns="0">
            <a:spAutoFit/>
          </a:bodyPr>
          <a:lstStyle/>
          <a:p>
            <a:pPr>
              <a:defRPr sz="1100" b="1">
                <a:solidFill>
                  <a:srgbClr val="12402D"/>
                </a:solidFill>
              </a:defRPr>
            </a:pPr>
            <a:r>
              <a:t>H₃: "In addressing the issue of greenwashing, the present legal mechanism involving different regulatory bodies is inchoate and incomplete."</a:t>
            </a:r>
          </a:p>
        </p:txBody>
      </p:sp>
      <p:sp>
        <p:nvSpPr>
          <p:cNvPr id="16" name="TextBox 15"/>
          <p:cNvSpPr txBox="1"/>
          <p:nvPr/>
        </p:nvSpPr>
        <p:spPr>
          <a:xfrm>
            <a:off x="8534535" y="2450000"/>
            <a:ext cx="3257032" cy="3250000"/>
          </a:xfrm>
          <a:prstGeom prst="rect">
            <a:avLst/>
          </a:prstGeom>
          <a:noFill/>
        </p:spPr>
        <p:txBody>
          <a:bodyPr wrap="square" lIns="0" tIns="0" rIns="0" bIns="0">
            <a:spAutoFit/>
          </a:bodyPr>
          <a:lstStyle/>
          <a:p>
            <a:pPr>
              <a:lnSpc>
                <a:spcPct val="105000"/>
              </a:lnSpc>
              <a:spcAft>
                <a:spcPts val="500"/>
              </a:spcAft>
            </a:pPr>
            <a:endParaRPr/>
          </a:p>
          <a:p>
            <a:pPr>
              <a:spcBef>
                <a:spcPts val="300"/>
              </a:spcBef>
              <a:spcAft>
                <a:spcPts val="400"/>
              </a:spcAft>
            </a:pPr>
            <a:r>
              <a:rPr sz="1100" b="1">
                <a:solidFill>
                  <a:srgbClr val="22704E"/>
                </a:solidFill>
              </a:rPr>
              <a:t>1. Scope: </a:t>
            </a:r>
            <a:r>
              <a:rPr sz="1100">
                <a:solidFill>
                  <a:srgbClr val="2D2D2D"/>
                </a:solidFill>
              </a:rPr>
              <a:t>Greenwashing spans products, corporate reports, and green bonds.</a:t>
            </a:r>
          </a:p>
          <a:p>
            <a:pPr>
              <a:spcBef>
                <a:spcPts val="300"/>
              </a:spcBef>
              <a:spcAft>
                <a:spcPts val="400"/>
              </a:spcAft>
            </a:pPr>
            <a:r>
              <a:rPr sz="1100" b="1">
                <a:solidFill>
                  <a:srgbClr val="22704E"/>
                </a:solidFill>
              </a:rPr>
              <a:t>2. Duty Allocation: </a:t>
            </a:r>
            <a:r>
              <a:rPr sz="1100">
                <a:solidFill>
                  <a:srgbClr val="2D2D2D"/>
                </a:solidFill>
              </a:rPr>
              <a:t>Disconnected regulators create gaps and conflicting standards across venues.</a:t>
            </a:r>
          </a:p>
          <a:p>
            <a:pPr>
              <a:spcBef>
                <a:spcPts val="300"/>
              </a:spcBef>
              <a:spcAft>
                <a:spcPts val="400"/>
              </a:spcAft>
            </a:pPr>
            <a:r>
              <a:rPr sz="1100" b="1">
                <a:solidFill>
                  <a:srgbClr val="22704E"/>
                </a:solidFill>
              </a:rPr>
              <a:t>3. Pathway: </a:t>
            </a:r>
            <a:r>
              <a:rPr sz="1100">
                <a:solidFill>
                  <a:srgbClr val="2D2D2D"/>
                </a:solidFill>
              </a:rPr>
              <a:t>No lead agency, no mandatory case referrals, and no shared data.</a:t>
            </a:r>
          </a:p>
          <a:p>
            <a:pPr>
              <a:spcBef>
                <a:spcPts val="300"/>
              </a:spcBef>
              <a:spcAft>
                <a:spcPts val="400"/>
              </a:spcAft>
            </a:pPr>
            <a:r>
              <a:rPr sz="1100" b="1">
                <a:solidFill>
                  <a:srgbClr val="22704E"/>
                </a:solidFill>
              </a:rPr>
              <a:t>4. Conclusion: </a:t>
            </a:r>
            <a:r>
              <a:rPr sz="1100">
                <a:solidFill>
                  <a:srgbClr val="2D2D2D"/>
                </a:solidFill>
              </a:rPr>
              <a:t>VALIDATED — Ecosystem is fragmented and incomplete.</a:t>
            </a:r>
          </a:p>
        </p:txBody>
      </p:sp>
      <p:sp>
        <p:nvSpPr>
          <p:cNvPr id="17" name="Rounded Rectangle 16"/>
          <p:cNvSpPr/>
          <p:nvPr/>
        </p:nvSpPr>
        <p:spPr>
          <a:xfrm>
            <a:off x="731519" y="5948019"/>
            <a:ext cx="10911841" cy="71471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8319" y="6188762"/>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00000"/>
            <a:ext cx="1764792" cy="450000"/>
          </a:xfrm>
          <a:prstGeom prst="rect">
            <a:avLst/>
          </a:prstGeom>
          <a:noFill/>
        </p:spPr>
        <p:txBody>
          <a:bodyPr wrap="square" anchor="t">
            <a:spAutoFit/>
          </a:bodyPr>
          <a:lstStyle/>
          <a:p>
            <a:pPr algn="l">
              <a:defRPr sz="1250" b="1">
                <a:solidFill>
                  <a:srgbClr val="12402D"/>
                </a:solidFill>
                <a:latin typeface="Avenir Next Demi Bold"/>
              </a:defRPr>
            </a:pPr>
            <a:r>
              <a:t>1. Institutional Integration</a:t>
            </a:r>
          </a:p>
        </p:txBody>
      </p:sp>
      <p:sp>
        <p:nvSpPr>
          <p:cNvPr id="9" name="TextBox 8"/>
          <p:cNvSpPr txBox="1"/>
          <p:nvPr/>
        </p:nvSpPr>
        <p:spPr>
          <a:xfrm>
            <a:off x="816777" y="1700000"/>
            <a:ext cx="1764792" cy="2200000"/>
          </a:xfrm>
          <a:prstGeom prst="rect">
            <a:avLst/>
          </a:prstGeom>
          <a:noFill/>
        </p:spPr>
        <p:txBody>
          <a:bodyPr wrap="square" anchor="t">
            <a:spAutoFit/>
          </a:bodyPr>
          <a:lstStyle/>
          <a:p>
            <a:pPr algn="l">
              <a:defRPr sz="1150" b="0">
                <a:solidFill>
                  <a:srgbClr val="2D2D2D"/>
                </a:solidFill>
                <a:latin typeface="Avenir Next"/>
              </a:defRPr>
            </a:pPr>
            <a:r>
              <a:t>Establish a standing inter-regulatory council linking MCA, SEBI, CCPA, MoEFCC, CPCB, and BIS.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00000"/>
            <a:ext cx="1764792" cy="450000"/>
          </a:xfrm>
          <a:prstGeom prst="rect">
            <a:avLst/>
          </a:prstGeom>
          <a:noFill/>
        </p:spPr>
        <p:txBody>
          <a:bodyPr wrap="square" anchor="t">
            <a:spAutoFit/>
          </a:bodyPr>
          <a:lstStyle/>
          <a:p>
            <a:pPr algn="l">
              <a:defRPr sz="1250" b="1">
                <a:solidFill>
                  <a:srgbClr val="12402D"/>
                </a:solidFill>
                <a:latin typeface="Avenir Next Demi Bold"/>
              </a:defRPr>
            </a:pPr>
            <a:r>
              <a:t>2. Lead Regulator Model</a:t>
            </a:r>
          </a:p>
        </p:txBody>
      </p:sp>
      <p:sp>
        <p:nvSpPr>
          <p:cNvPr id="13" name="TextBox 12"/>
          <p:cNvSpPr txBox="1"/>
          <p:nvPr/>
        </p:nvSpPr>
        <p:spPr>
          <a:xfrm>
            <a:off x="2956473" y="1700000"/>
            <a:ext cx="1764792" cy="2200000"/>
          </a:xfrm>
          <a:prstGeom prst="rect">
            <a:avLst/>
          </a:prstGeom>
          <a:noFill/>
        </p:spPr>
        <p:txBody>
          <a:bodyPr wrap="square" anchor="t">
            <a:spAutoFit/>
          </a:bodyPr>
          <a:lstStyle/>
          <a:p>
            <a:pPr algn="l">
              <a:defRPr sz="1150" b="0">
                <a:solidFill>
                  <a:srgbClr val="2D2D2D"/>
                </a:solidFill>
                <a:latin typeface="Avenir Next"/>
              </a:defRPr>
            </a:pPr>
            <a:r>
              <a:t>Designate a coordinating agency with mandatory cross-referral and shared evidence protocols.</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00000"/>
            <a:ext cx="1764792" cy="450000"/>
          </a:xfrm>
          <a:prstGeom prst="rect">
            <a:avLst/>
          </a:prstGeom>
          <a:noFill/>
        </p:spPr>
        <p:txBody>
          <a:bodyPr wrap="square" anchor="t">
            <a:spAutoFit/>
          </a:bodyPr>
          <a:lstStyle/>
          <a:p>
            <a:pPr algn="l">
              <a:defRPr sz="1250" b="1">
                <a:solidFill>
                  <a:srgbClr val="12402D"/>
                </a:solidFill>
                <a:latin typeface="Avenir Next Demi Bold"/>
              </a:defRPr>
            </a:pPr>
            <a:r>
              <a:t>3. Standardised Verification</a:t>
            </a:r>
          </a:p>
        </p:txBody>
      </p:sp>
      <p:sp>
        <p:nvSpPr>
          <p:cNvPr id="17" name="TextBox 16"/>
          <p:cNvSpPr txBox="1"/>
          <p:nvPr/>
        </p:nvSpPr>
        <p:spPr>
          <a:xfrm>
            <a:off x="5096169" y="1700000"/>
            <a:ext cx="1764792" cy="2200000"/>
          </a:xfrm>
          <a:prstGeom prst="rect">
            <a:avLst/>
          </a:prstGeom>
          <a:noFill/>
        </p:spPr>
        <p:txBody>
          <a:bodyPr wrap="square" anchor="t">
            <a:spAutoFit/>
          </a:bodyPr>
          <a:lstStyle/>
          <a:p>
            <a:pPr algn="l">
              <a:defRPr sz="1150" b="0">
                <a:solidFill>
                  <a:srgbClr val="2D2D2D"/>
                </a:solidFill>
                <a:latin typeface="Avenir Next"/>
              </a:defRPr>
            </a:pPr>
            <a:r>
              <a:t>Mandate lifecycle verification (LCA), product-category benchmarks, and accredited verifiers.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00000"/>
            <a:ext cx="1764792" cy="450000"/>
          </a:xfrm>
          <a:prstGeom prst="rect">
            <a:avLst/>
          </a:prstGeom>
          <a:noFill/>
        </p:spPr>
        <p:txBody>
          <a:bodyPr wrap="square" anchor="t">
            <a:spAutoFit/>
          </a:bodyPr>
          <a:lstStyle/>
          <a:p>
            <a:pPr algn="l">
              <a:defRPr sz="1250" b="1">
                <a:solidFill>
                  <a:srgbClr val="12402D"/>
                </a:solidFill>
                <a:latin typeface="Avenir Next Demi Bold"/>
              </a:defRPr>
            </a:pPr>
            <a:r>
              <a:t>4. Proactive Surveillance</a:t>
            </a:r>
          </a:p>
        </p:txBody>
      </p:sp>
      <p:sp>
        <p:nvSpPr>
          <p:cNvPr id="21" name="TextBox 20"/>
          <p:cNvSpPr txBox="1"/>
          <p:nvPr/>
        </p:nvSpPr>
        <p:spPr>
          <a:xfrm>
            <a:off x="7235865" y="1700000"/>
            <a:ext cx="1764792" cy="2200000"/>
          </a:xfrm>
          <a:prstGeom prst="rect">
            <a:avLst/>
          </a:prstGeom>
          <a:noFill/>
        </p:spPr>
        <p:txBody>
          <a:bodyPr wrap="square" anchor="t">
            <a:spAutoFit/>
          </a:bodyPr>
          <a:lstStyle/>
          <a:p>
            <a:pPr algn="l">
              <a:defRPr sz="1150" b="0">
                <a:solidFill>
                  <a:srgbClr val="2D2D2D"/>
                </a:solidFill>
                <a:latin typeface="Avenir Next"/>
              </a:defRPr>
            </a:pPr>
            <a:r>
              <a:t>Run regular market sweeps in high-risk sectors; cross-check ESG claims against pollution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00000"/>
            <a:ext cx="1764792" cy="450000"/>
          </a:xfrm>
          <a:prstGeom prst="rect">
            <a:avLst/>
          </a:prstGeom>
          <a:noFill/>
        </p:spPr>
        <p:txBody>
          <a:bodyPr wrap="square" anchor="t">
            <a:spAutoFit/>
          </a:bodyPr>
          <a:lstStyle/>
          <a:p>
            <a:pPr algn="l">
              <a:defRPr sz="1250" b="1">
                <a:solidFill>
                  <a:srgbClr val="12402D"/>
                </a:solidFill>
                <a:latin typeface="Avenir Next Demi Bold"/>
              </a:defRPr>
            </a:pPr>
            <a:r>
              <a:t>5. Enforcement Capacity</a:t>
            </a:r>
          </a:p>
        </p:txBody>
      </p:sp>
      <p:sp>
        <p:nvSpPr>
          <p:cNvPr id="25" name="TextBox 24"/>
          <p:cNvSpPr txBox="1"/>
          <p:nvPr/>
        </p:nvSpPr>
        <p:spPr>
          <a:xfrm>
            <a:off x="9375561" y="1700000"/>
            <a:ext cx="1764792" cy="2200000"/>
          </a:xfrm>
          <a:prstGeom prst="rect">
            <a:avLst/>
          </a:prstGeom>
          <a:noFill/>
        </p:spPr>
        <p:txBody>
          <a:bodyPr wrap="square" anchor="t">
            <a:spAutoFit/>
          </a:bodyPr>
          <a:lstStyle/>
          <a:p>
            <a:pPr algn="l">
              <a:defRPr sz="1150" b="0">
                <a:solidFill>
                  <a:srgbClr val="2D2D2D"/>
                </a:solidFill>
                <a:latin typeface="Avenir Next"/>
              </a:defRPr>
            </a:pPr>
            <a:r>
              <a:t>Build shared in-house expertise in carbon accounting, GHG scopes,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200" b="1">
                <a:solidFill>
                  <a:srgbClr val="12402D"/>
                </a:solidFill>
                <a:latin typeface="Georgia"/>
              </a:defRPr>
            </a:pPr>
            <a:r>
              <a:t>Core Principle: Effective anti-greenwashing law begins before publication, not after a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spcAft>
                <a:spcPts val="800"/>
              </a:spcAft>
              <a:defRPr sz="1150" b="0">
                <a:solidFill>
                  <a:srgbClr val="2D2D2D"/>
                </a:solidFill>
                <a:latin typeface="Avenir Next"/>
              </a:defRPr>
            </a:pPr>
            <a:r>
              <a:t>• Turnover-Linked Penalties: Amend Section 166(7) so fines scale with company revenue rather than fixed ₹1–5L caps.</a:t>
            </a:r>
          </a:p>
          <a:p>
            <a:pPr>
              <a:spcAft>
                <a:spcPts val="800"/>
              </a:spcAft>
              <a:defRPr sz="1150">
                <a:solidFill>
                  <a:srgbClr val="2D2D2D"/>
                </a:solidFill>
              </a:defRPr>
            </a:pPr>
            <a:r>
              <a:t>• Expanded Standing: Give affected stakeholders and civil society standing to enforce Section 166(2) duties.</a:t>
            </a:r>
          </a:p>
          <a:p>
            <a:pPr>
              <a:defRPr sz="1150">
                <a:solidFill>
                  <a:srgbClr val="2D2D2D"/>
                </a:solidFill>
              </a:defRPr>
            </a:pPr>
            <a:r>
              <a:t>• Boardroom Oversight: Require dedicated Board ESG Committees and environmental whistleblower protections.</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spcAft>
                <a:spcPts val="800"/>
              </a:spcAft>
              <a:defRPr sz="1150" b="0">
                <a:solidFill>
                  <a:srgbClr val="2D2D2D"/>
                </a:solidFill>
                <a:latin typeface="Avenir Next"/>
              </a:defRPr>
            </a:pPr>
            <a:r>
              <a:t>• Mandatory Reasonable Audits: Return to the time-bound path for full financial-grade ESG audits.</a:t>
            </a:r>
          </a:p>
          <a:p>
            <a:pPr>
              <a:spcAft>
                <a:spcPts val="800"/>
              </a:spcAft>
              <a:defRPr sz="1150">
                <a:solidFill>
                  <a:srgbClr val="2D2D2D"/>
                </a:solidFill>
              </a:defRPr>
            </a:pPr>
            <a:r>
              <a:t>• Full Scope 3 Value Chain: Restore comprehensive supply-chain emissions reporting without loopholes.</a:t>
            </a:r>
          </a:p>
          <a:p>
            <a:pPr>
              <a:defRPr sz="1150">
                <a:solidFill>
                  <a:srgbClr val="2D2D2D"/>
                </a:solidFill>
              </a:defRPr>
            </a:pPr>
            <a:r>
              <a:t>• Fraud Classification: Explicitly classify material ESG misstatements as fraudulent under PFUTP regulations.</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spcAft>
                <a:spcPts val="800"/>
              </a:spcAft>
              <a:defRPr sz="1150" b="0">
                <a:solidFill>
                  <a:srgbClr val="2D2D2D"/>
                </a:solidFill>
                <a:latin typeface="Avenir Next"/>
              </a:defRPr>
            </a:pPr>
            <a:r>
              <a:t>• Binding Regulations: Elevate the 2024 Guidelines into formal binding rules under the Consumer Protection Act.</a:t>
            </a:r>
          </a:p>
          <a:p>
            <a:pPr>
              <a:spcAft>
                <a:spcPts val="800"/>
              </a:spcAft>
              <a:defRPr sz="1150">
                <a:solidFill>
                  <a:srgbClr val="2D2D2D"/>
                </a:solidFill>
              </a:defRPr>
            </a:pPr>
            <a:r>
              <a:t>• Corrective Advertising: Require public correction notices and turnover-based fines for major deceptive claims.</a:t>
            </a:r>
          </a:p>
          <a:p>
            <a:pPr>
              <a:defRPr sz="1150">
                <a:solidFill>
                  <a:srgbClr val="2D2D2D"/>
                </a:solidFill>
              </a:defRPr>
            </a:pPr>
            <a:r>
              <a:t>• Narrow Puffery Exception: Disallow vague green buzzwords ('eco-friendly', 'sustainable') as mere puffery.</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defRPr sz="1100">
                <a:solidFill>
                  <a:srgbClr val="282828"/>
                </a:solidFill>
              </a:defRPr>
            </a:pPr>
            <a:r>
              <a:t>Answer to RQ7: Three statutes working together in sequence—substantiate before publishing, audit independently, refer cases automatically between agencies, and link penalties to turnover so leadership carries the real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1651</TotalTime>
  <Words>5005</Words>
  <Application>Microsoft Macintosh PowerPoint</Application>
  <PresentationFormat>Widescreen</PresentationFormat>
  <Paragraphs>463</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1211</cp:revision>
  <dcterms:created xsi:type="dcterms:W3CDTF">2013-01-27T09:14:16Z</dcterms:created>
  <dcterms:modified xsi:type="dcterms:W3CDTF">2026-08-14T11:58:06Z</dcterms:modified>
  <cp:category/>
</cp:coreProperties>
</file>