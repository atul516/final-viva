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328" r:id="rId20"/>
    <p:sldId id="266" r:id="rId21"/>
    <p:sldId id="292"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287"/>
    <p:restoredTop sz="94629"/>
  </p:normalViewPr>
  <p:slideViewPr>
    <p:cSldViewPr snapToGrid="0" snapToObjects="1">
      <p:cViewPr varScale="1">
        <p:scale>
          <a:sx n="103" d="100"/>
          <a:sy n="103" d="100"/>
        </p:scale>
        <p:origin x="320"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523393"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of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387626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913899" y="1405912"/>
            <a:ext cx="6089793"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r>
              <a:rPr lang="en-US" sz="1600" dirty="0">
                <a:solidFill>
                  <a:srgbClr val="2D2D2D"/>
                </a:solidFill>
                <a:latin typeface="Avenir Next" panose="020B0503020202020204" pitchFamily="34" charset="0"/>
              </a:rPr>
              <a:t> Rather than proactive systemic regulation.</a:t>
            </a:r>
            <a:endParaRPr lang="en-IN"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2. No Upstream Boardroom Mandates: </a:t>
            </a:r>
            <a:r>
              <a:rPr lang="en-IN" sz="1600" dirty="0">
                <a:solidFill>
                  <a:srgbClr val="2D2D2D"/>
                </a:solidFill>
                <a:latin typeface="Avenir Next" panose="020B0503020202020204" pitchFamily="34" charset="0"/>
              </a:rPr>
              <a:t>Regulates ad copy, does not guide internal corporate systems or decision-making.</a:t>
            </a:r>
            <a:endParaRPr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3</a:t>
            </a:r>
            <a:r>
              <a:rPr sz="1600" b="1" dirty="0">
                <a:solidFill>
                  <a:srgbClr val="22704E"/>
                </a:solidFill>
                <a:latin typeface="Avenir Next" panose="020B0503020202020204" pitchFamily="34" charset="0"/>
              </a:rPr>
              <a:t>. Individual Harm Focus: </a:t>
            </a:r>
            <a:r>
              <a:rPr sz="1600" dirty="0">
                <a:solidFill>
                  <a:srgbClr val="2D2D2D"/>
                </a:solidFill>
                <a:latin typeface="Avenir Next" panose="020B0503020202020204" pitchFamily="34" charset="0"/>
              </a:rPr>
              <a:t>Treats greenwashing </a:t>
            </a:r>
            <a:r>
              <a:rPr lang="en-US" sz="1600" dirty="0">
                <a:solidFill>
                  <a:srgbClr val="2D2D2D"/>
                </a:solidFill>
                <a:latin typeface="Avenir Next" panose="020B0503020202020204" pitchFamily="34" charset="0"/>
              </a:rPr>
              <a:t>merely </a:t>
            </a:r>
            <a:r>
              <a:rPr sz="1600" dirty="0">
                <a:solidFill>
                  <a:srgbClr val="2D2D2D"/>
                </a:solidFill>
                <a:latin typeface="Avenir Next" panose="020B0503020202020204" pitchFamily="34" charset="0"/>
              </a:rPr>
              <a:t>consumer </a:t>
            </a:r>
            <a:r>
              <a:rPr lang="en-US" sz="1600" dirty="0">
                <a:solidFill>
                  <a:srgbClr val="2D2D2D"/>
                </a:solidFill>
                <a:latin typeface="Avenir Next" panose="020B0503020202020204" pitchFamily="34" charset="0"/>
              </a:rPr>
              <a:t>harm</a:t>
            </a:r>
            <a:r>
              <a:rPr sz="1600" dirty="0">
                <a:solidFill>
                  <a:srgbClr val="2D2D2D"/>
                </a:solidFill>
                <a:latin typeface="Avenir Next" panose="020B0503020202020204" pitchFamily="34" charset="0"/>
              </a:rPr>
              <a:t>, not systemic governance failure.</a:t>
            </a:r>
            <a:endParaRPr lang="en-US"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4. </a:t>
            </a:r>
            <a:r>
              <a:rPr sz="1600" b="1" dirty="0">
                <a:solidFill>
                  <a:srgbClr val="22704E"/>
                </a:solidFill>
                <a:latin typeface="Avenir Next" panose="020B0503020202020204" pitchFamily="34" charset="0"/>
              </a:rPr>
              <a:t>Puffery Loophole: </a:t>
            </a:r>
            <a:r>
              <a:rPr lang="en-US" sz="1600" dirty="0">
                <a:solidFill>
                  <a:srgbClr val="2D2D2D"/>
                </a:solidFill>
                <a:latin typeface="Avenir Next" panose="020B0503020202020204" pitchFamily="34" charset="0"/>
              </a:rPr>
              <a:t>Scope for </a:t>
            </a:r>
            <a:r>
              <a:rPr sz="1600" dirty="0">
                <a:solidFill>
                  <a:srgbClr val="2D2D2D"/>
                </a:solidFill>
                <a:latin typeface="Avenir Next" panose="020B0503020202020204" pitchFamily="34" charset="0"/>
              </a:rPr>
              <a:t>exaggerations </a:t>
            </a:r>
            <a:r>
              <a:rPr lang="en-US" sz="1600" dirty="0">
                <a:solidFill>
                  <a:srgbClr val="2D2D2D"/>
                </a:solidFill>
                <a:latin typeface="Avenir Next" panose="020B0503020202020204" pitchFamily="34" charset="0"/>
              </a:rPr>
              <a:t>creates </a:t>
            </a:r>
            <a:r>
              <a:rPr sz="1600" dirty="0">
                <a:solidFill>
                  <a:srgbClr val="2D2D2D"/>
                </a:solidFill>
                <a:latin typeface="Avenir Next" panose="020B0503020202020204" pitchFamily="34" charset="0"/>
              </a:rPr>
              <a:t>loopholes for vague green buzzwords.</a:t>
            </a:r>
          </a:p>
          <a:p>
            <a:pPr>
              <a:spcBef>
                <a:spcPts val="200"/>
              </a:spcBef>
              <a:spcAft>
                <a:spcPts val="300"/>
              </a:spcAft>
            </a:pPr>
            <a:r>
              <a:rPr lang="en-US" sz="1600" b="1" dirty="0">
                <a:solidFill>
                  <a:srgbClr val="22704E"/>
                </a:solidFill>
                <a:latin typeface="Avenir Next" panose="020B0503020202020204" pitchFamily="34" charset="0"/>
              </a:rPr>
              <a:t>5</a:t>
            </a:r>
            <a:r>
              <a:rPr sz="1600" b="1" dirty="0">
                <a:solidFill>
                  <a:srgbClr val="22704E"/>
                </a:solidFill>
                <a:latin typeface="Avenir Next" panose="020B0503020202020204" pitchFamily="34" charset="0"/>
              </a:rPr>
              <a:t>. </a:t>
            </a:r>
            <a:r>
              <a:rPr lang="en-US" sz="1600" b="1" dirty="0">
                <a:solidFill>
                  <a:srgbClr val="22704E"/>
                </a:solidFill>
                <a:latin typeface="Avenir Next" panose="020B0503020202020204" pitchFamily="34" charset="0"/>
              </a:rPr>
              <a:t>Fixed cap penalties</a:t>
            </a:r>
            <a:r>
              <a:rPr sz="1600" b="1" dirty="0">
                <a:solidFill>
                  <a:srgbClr val="22704E"/>
                </a:solidFill>
                <a:latin typeface="Avenir Next" panose="020B0503020202020204" pitchFamily="34" charset="0"/>
              </a:rPr>
              <a:t>: </a:t>
            </a:r>
            <a:r>
              <a:rPr lang="en-IN" sz="1600" dirty="0">
                <a:solidFill>
                  <a:srgbClr val="2D2D2D"/>
                </a:solidFill>
                <a:latin typeface="Avenir Next" panose="020B0503020202020204" pitchFamily="34" charset="0"/>
              </a:rPr>
              <a:t>Not turnover linked</a:t>
            </a:r>
            <a:r>
              <a:rPr sz="1600" dirty="0">
                <a:solidFill>
                  <a:srgbClr val="2D2D2D"/>
                </a:solidFill>
                <a:latin typeface="Avenir Next" panose="020B0503020202020204" pitchFamily="34" charset="0"/>
              </a:rPr>
              <a:t>.</a:t>
            </a:r>
            <a:r>
              <a:rPr lang="en-US" sz="1600" dirty="0">
                <a:solidFill>
                  <a:srgbClr val="2D2D2D"/>
                </a:solidFill>
                <a:latin typeface="Avenir Next" panose="020B0503020202020204" pitchFamily="34" charset="0"/>
              </a:rPr>
              <a:t> Limited deterrence for big companies.</a:t>
            </a:r>
            <a:endParaRPr lang="en-US" sz="1600" dirty="0">
              <a:latin typeface="Avenir Next" panose="020B0503020202020204" pitchFamily="34" charset="0"/>
              <a:ea typeface="Calibri"/>
              <a:cs typeface="Calibri"/>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584521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500" b="1">
                <a:solidFill>
                  <a:srgbClr val="12402D"/>
                </a:solidFill>
                <a:latin typeface="Avenir Next"/>
              </a:defRPr>
            </a:pPr>
            <a:r>
              <a:t>1. Institutional Integration</a:t>
            </a:r>
          </a:p>
        </p:txBody>
      </p:sp>
      <p:sp>
        <p:nvSpPr>
          <p:cNvPr id="9" name="TextBox 8"/>
          <p:cNvSpPr txBox="1"/>
          <p:nvPr/>
        </p:nvSpPr>
        <p:spPr>
          <a:xfrm>
            <a:off x="816777" y="2442950"/>
            <a:ext cx="1764792" cy="1338828"/>
          </a:xfrm>
          <a:prstGeom prst="rect">
            <a:avLst/>
          </a:prstGeom>
          <a:noFill/>
        </p:spPr>
        <p:txBody>
          <a:bodyPr wrap="square" anchor="t">
            <a:spAutoFit/>
          </a:bodyPr>
          <a:lstStyle/>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Permanent inter-regulatory council linking MCA, SEBI, CCPA, MoEFCC, CPCB, BIS and FSSAI</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500" b="1">
                <a:solidFill>
                  <a:srgbClr val="12402D"/>
                </a:solidFill>
                <a:latin typeface="Avenir Next"/>
              </a:defRPr>
            </a:pPr>
            <a:r>
              <a:t>2. Lead Regulator Model</a:t>
            </a:r>
          </a:p>
        </p:txBody>
      </p:sp>
      <p:sp>
        <p:nvSpPr>
          <p:cNvPr id="13" name="TextBox 12"/>
          <p:cNvSpPr txBox="1"/>
          <p:nvPr/>
        </p:nvSpPr>
        <p:spPr>
          <a:xfrm>
            <a:off x="2956473" y="2433044"/>
            <a:ext cx="1764792" cy="1962076"/>
          </a:xfrm>
          <a:prstGeom prst="rect">
            <a:avLst/>
          </a:prstGeom>
          <a:noFill/>
        </p:spPr>
        <p:txBody>
          <a:bodyPr wrap="square" anchor="t">
            <a:spAutoFit/>
          </a:bodyPr>
          <a:lstStyle/>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Designate a coordinating agency</a:t>
            </a:r>
          </a:p>
          <a:p>
            <a:pPr algn="l">
              <a:defRPr sz="1350">
                <a:solidFill>
                  <a:srgbClr val="2D2D2D"/>
                </a:solidFill>
                <a:latin typeface="Avenir Next"/>
                <a:ea typeface="Avenir Next"/>
                <a:cs typeface="Avenir Next"/>
              </a:defRPr>
            </a:pPr>
            <a:endParaRPr lang="en-GB" sz="1350" dirty="0">
              <a:solidFill>
                <a:srgbClr val="2D2D2D"/>
              </a:solidFill>
              <a:latin typeface="Avenir Next"/>
              <a:ea typeface="Avenir Next"/>
              <a:cs typeface="Avenir Next"/>
            </a:endParaRPr>
          </a:p>
          <a:p>
            <a:pPr marL="152400" indent="-152400">
              <a:buFont typeface="Avenir Next"/>
              <a:buChar char="•"/>
              <a:defRPr sz="1350">
                <a:solidFill>
                  <a:srgbClr val="2D2D2D"/>
                </a:solidFill>
                <a:latin typeface="Avenir Next"/>
                <a:ea typeface="Avenir Next"/>
                <a:cs typeface="Avenir Next"/>
              </a:defRPr>
            </a:pPr>
            <a:r>
              <a:rPr lang="en-IN" sz="1350" dirty="0">
                <a:solidFill>
                  <a:srgbClr val="2D2D2D"/>
                </a:solidFill>
                <a:latin typeface="Avenir Next"/>
              </a:rPr>
              <a:t>Replaces multiple conflicting inspections with one coordinated approach.</a:t>
            </a:r>
            <a:endParaRPr lang="en-GB" sz="1350" dirty="0">
              <a:solidFill>
                <a:srgbClr val="2D2D2D"/>
              </a:solidFill>
              <a:latin typeface="Avenir Next"/>
              <a:ea typeface="Avenir Next"/>
              <a:cs typeface="Avenir Next"/>
            </a:endParaRP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500" b="1">
                <a:solidFill>
                  <a:srgbClr val="12402D"/>
                </a:solidFill>
                <a:latin typeface="Avenir Next"/>
              </a:defRPr>
            </a:pPr>
            <a:r>
              <a:t>3. Standardised Verification</a:t>
            </a:r>
          </a:p>
        </p:txBody>
      </p:sp>
      <p:sp>
        <p:nvSpPr>
          <p:cNvPr id="17" name="TextBox 16"/>
          <p:cNvSpPr txBox="1"/>
          <p:nvPr/>
        </p:nvSpPr>
        <p:spPr>
          <a:xfrm>
            <a:off x="5096169" y="2442950"/>
            <a:ext cx="1764792" cy="1754326"/>
          </a:xfrm>
          <a:prstGeom prst="rect">
            <a:avLst/>
          </a:prstGeom>
          <a:noFill/>
        </p:spPr>
        <p:txBody>
          <a:bodyPr wrap="square" anchor="t">
            <a:spAutoFit/>
          </a:bodyPr>
          <a:lstStyle/>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Ex-ante claim substantiation</a:t>
            </a:r>
          </a:p>
          <a:p>
            <a:pPr algn="l">
              <a:defRPr sz="1350">
                <a:solidFill>
                  <a:srgbClr val="2D2D2D"/>
                </a:solidFill>
                <a:latin typeface="Avenir Next"/>
                <a:ea typeface="Avenir Next"/>
                <a:cs typeface="Avenir Next"/>
              </a:defRPr>
            </a:pPr>
            <a:endParaRPr lang="en-GB" sz="1350" dirty="0">
              <a:solidFill>
                <a:srgbClr val="2D2D2D"/>
              </a:solidFill>
              <a:latin typeface="Avenir Next"/>
              <a:ea typeface="Avenir Next"/>
              <a:cs typeface="Avenir Next"/>
            </a:endParaRPr>
          </a:p>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Accredited third party verifiers for each type of environmental claim verification</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500" b="1">
                <a:solidFill>
                  <a:srgbClr val="12402D"/>
                </a:solidFill>
                <a:latin typeface="Avenir Next"/>
              </a:defRPr>
            </a:pPr>
            <a:r>
              <a:t>4. Proactive Surveillance</a:t>
            </a:r>
          </a:p>
        </p:txBody>
      </p:sp>
      <p:sp>
        <p:nvSpPr>
          <p:cNvPr id="21" name="TextBox 20"/>
          <p:cNvSpPr txBox="1"/>
          <p:nvPr/>
        </p:nvSpPr>
        <p:spPr>
          <a:xfrm>
            <a:off x="7235865" y="2442950"/>
            <a:ext cx="1764792" cy="1754326"/>
          </a:xfrm>
          <a:prstGeom prst="rect">
            <a:avLst/>
          </a:prstGeom>
          <a:noFill/>
        </p:spPr>
        <p:txBody>
          <a:bodyPr wrap="square" anchor="t">
            <a:spAutoFit/>
          </a:bodyPr>
          <a:lstStyle/>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Routine market sweeps</a:t>
            </a:r>
          </a:p>
          <a:p>
            <a:pPr algn="l">
              <a:defRPr sz="1350">
                <a:solidFill>
                  <a:srgbClr val="2D2D2D"/>
                </a:solidFill>
                <a:latin typeface="Avenir Next"/>
                <a:ea typeface="Avenir Next"/>
                <a:cs typeface="Avenir Next"/>
              </a:defRPr>
            </a:pPr>
            <a:endParaRPr lang="en-GB" sz="1350" dirty="0">
              <a:solidFill>
                <a:srgbClr val="2D2D2D"/>
              </a:solidFill>
              <a:latin typeface="Avenir Next"/>
              <a:ea typeface="Avenir Next"/>
              <a:cs typeface="Avenir Next"/>
            </a:endParaRPr>
          </a:p>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Cross-check environmental claims against CPCB/SPCB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500" b="1">
                <a:solidFill>
                  <a:srgbClr val="12402D"/>
                </a:solidFill>
                <a:latin typeface="Avenir Next"/>
              </a:defRPr>
            </a:pPr>
            <a:r>
              <a:t>5. Enforcement Capacity</a:t>
            </a:r>
          </a:p>
        </p:txBody>
      </p:sp>
      <p:sp>
        <p:nvSpPr>
          <p:cNvPr id="25" name="TextBox 24"/>
          <p:cNvSpPr txBox="1"/>
          <p:nvPr/>
        </p:nvSpPr>
        <p:spPr>
          <a:xfrm>
            <a:off x="9375561" y="2442950"/>
            <a:ext cx="1764792" cy="2377574"/>
          </a:xfrm>
          <a:prstGeom prst="rect">
            <a:avLst/>
          </a:prstGeom>
          <a:noFill/>
        </p:spPr>
        <p:txBody>
          <a:bodyPr wrap="square" anchor="t">
            <a:spAutoFit/>
          </a:bodyPr>
          <a:lstStyle/>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In-house ESG surveillance capacity for relevant regulators like SEBI.</a:t>
            </a:r>
          </a:p>
          <a:p>
            <a:pPr algn="l">
              <a:defRPr sz="1350">
                <a:solidFill>
                  <a:srgbClr val="2D2D2D"/>
                </a:solidFill>
                <a:latin typeface="Avenir Next"/>
                <a:ea typeface="Avenir Next"/>
                <a:cs typeface="Avenir Next"/>
              </a:defRPr>
            </a:pPr>
            <a:endParaRPr lang="en-GB" sz="1350" dirty="0">
              <a:solidFill>
                <a:srgbClr val="2D2D2D"/>
              </a:solidFill>
              <a:latin typeface="Avenir Next"/>
              <a:ea typeface="Avenir Next"/>
              <a:cs typeface="Avenir Next"/>
            </a:endParaRPr>
          </a:p>
          <a:p>
            <a:pPr marL="152400" indent="-152400" algn="l">
              <a:buFont typeface="Avenir Next"/>
              <a:buChar char="•"/>
              <a:defRPr sz="1350">
                <a:solidFill>
                  <a:srgbClr val="2D2D2D"/>
                </a:solidFill>
                <a:latin typeface="Avenir Next"/>
                <a:ea typeface="Avenir Next"/>
                <a:cs typeface="Avenir Next"/>
              </a:defRPr>
            </a:pPr>
            <a:r>
              <a:rPr lang="en-GB" sz="1350" dirty="0">
                <a:solidFill>
                  <a:srgbClr val="2D2D2D"/>
                </a:solidFill>
                <a:latin typeface="Avenir Next"/>
                <a:ea typeface="Avenir Next"/>
                <a:cs typeface="Avenir Next"/>
              </a:rPr>
              <a:t>Shared carbon-accounting and GHG-assurance expert panels.</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5113648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061088"/>
            <a:ext cx="3255264" cy="3421706"/>
          </a:xfrm>
          <a:prstGeom prst="rect">
            <a:avLst/>
          </a:prstGeom>
          <a:noFill/>
        </p:spPr>
        <p:txBody>
          <a:bodyPr wrap="square" anchor="t">
            <a:spAutoFit/>
          </a:bodyPr>
          <a:lstStyle/>
          <a:p>
            <a:pPr>
              <a:lnSpc>
                <a:spcPct val="105000"/>
              </a:lnSpc>
              <a:spcAft>
                <a:spcPts val="600"/>
              </a:spcAft>
            </a:pPr>
            <a:r>
              <a:rPr sz="1100" b="1" dirty="0">
                <a:latin typeface="Avenir Next"/>
              </a:rPr>
              <a:t>• Direct Statutory Standing: </a:t>
            </a:r>
            <a:r>
              <a:rPr sz="1100" b="0" dirty="0">
                <a:latin typeface="Avenir Next"/>
              </a:rPr>
              <a:t>Insert</a:t>
            </a:r>
            <a:r>
              <a:rPr lang="en-US" sz="1100" b="0" dirty="0">
                <a:latin typeface="Avenir Next"/>
              </a:rPr>
              <a:t> new</a:t>
            </a:r>
            <a:r>
              <a:rPr sz="1100" b="0" dirty="0">
                <a:latin typeface="Avenir Next"/>
              </a:rPr>
              <a:t> Sec 166(8) empowering affected persons, creditors, and consumer NGOs before NCLT without Sec 244 shareholding caps.</a:t>
            </a:r>
          </a:p>
          <a:p>
            <a:pPr>
              <a:lnSpc>
                <a:spcPct val="105000"/>
              </a:lnSpc>
              <a:spcAft>
                <a:spcPts val="600"/>
              </a:spcAft>
            </a:pPr>
            <a:r>
              <a:rPr sz="1100" b="1" dirty="0">
                <a:latin typeface="Avenir Next"/>
              </a:rPr>
              <a:t>• Mandatory ESG Committee: </a:t>
            </a:r>
            <a:r>
              <a:rPr sz="1100" b="0" dirty="0">
                <a:latin typeface="Avenir Next"/>
              </a:rPr>
              <a:t>Insert </a:t>
            </a:r>
            <a:r>
              <a:rPr lang="en-US" sz="1100" b="0" dirty="0">
                <a:latin typeface="Avenir Next"/>
              </a:rPr>
              <a:t>new </a:t>
            </a:r>
            <a:r>
              <a:rPr sz="1100" b="0" dirty="0">
                <a:latin typeface="Avenir Next"/>
              </a:rPr>
              <a:t>Sec 135A requiring Board ESG Committee for ex-ante claim pre-approval.</a:t>
            </a:r>
          </a:p>
          <a:p>
            <a:pPr>
              <a:lnSpc>
                <a:spcPct val="105000"/>
              </a:lnSpc>
              <a:spcAft>
                <a:spcPts val="600"/>
              </a:spcAft>
            </a:pPr>
            <a:r>
              <a:rPr sz="1100" b="1" dirty="0">
                <a:latin typeface="Avenir Next"/>
              </a:rPr>
              <a:t>• Whistleblower Protection: </a:t>
            </a:r>
            <a:r>
              <a:rPr sz="1100" b="0" dirty="0">
                <a:latin typeface="Avenir Next"/>
              </a:rPr>
              <a:t>Amend Sec 177(9) vigil mechanism to explicitly cover environmental misrepresentations under Sec 166(2).</a:t>
            </a:r>
            <a:endParaRPr lang="en-US" sz="1100" b="0" dirty="0">
              <a:latin typeface="Avenir Next"/>
            </a:endParaRPr>
          </a:p>
          <a:p>
            <a:pPr>
              <a:lnSpc>
                <a:spcPct val="105000"/>
              </a:lnSpc>
              <a:spcAft>
                <a:spcPts val="600"/>
              </a:spcAft>
            </a:pPr>
            <a:r>
              <a:rPr lang="en-IN" sz="1100" b="1" dirty="0">
                <a:latin typeface="Avenir Next"/>
              </a:rPr>
              <a:t>• Turnover Penalties &amp; Disqualification: </a:t>
            </a:r>
            <a:r>
              <a:rPr lang="en-IN" sz="1100" dirty="0">
                <a:latin typeface="Avenir Next"/>
              </a:rPr>
              <a:t>Amend Sec 166(7) to penalise misleading claims up to 1% turnover (min ₹5 Cr) + up to 3-year Director Disqualification under Sec 164(2)(b).</a:t>
            </a:r>
          </a:p>
          <a:p>
            <a:pPr>
              <a:lnSpc>
                <a:spcPct val="105000"/>
              </a:lnSpc>
              <a:spcAft>
                <a:spcPts val="600"/>
              </a:spcAft>
            </a:pPr>
            <a:endParaRPr sz="1100" b="0" dirty="0">
              <a:latin typeface="Avenir Next"/>
            </a:endParaRP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035028"/>
            <a:ext cx="3255264" cy="2633798"/>
          </a:xfrm>
          <a:prstGeom prst="rect">
            <a:avLst/>
          </a:prstGeom>
          <a:noFill/>
        </p:spPr>
        <p:txBody>
          <a:bodyPr wrap="square" anchor="t">
            <a:spAutoFit/>
          </a:bodyPr>
          <a:lstStyle/>
          <a:p>
            <a:pPr algn="l">
              <a:lnSpc>
                <a:spcPct val="105000"/>
              </a:lnSpc>
              <a:spcAft>
                <a:spcPts val="600"/>
              </a:spcAft>
              <a:defRPr sz="1150" b="0">
                <a:solidFill>
                  <a:srgbClr val="2D2D2D"/>
                </a:solidFill>
                <a:latin typeface="Avenir Next"/>
              </a:defRPr>
            </a:pPr>
            <a:r>
              <a:rPr sz="1100" b="1" dirty="0">
                <a:latin typeface="Avenir Next"/>
              </a:rPr>
              <a:t>• Repeal Backsliding / Restore </a:t>
            </a:r>
            <a:r>
              <a:rPr sz="1100" b="1" dirty="0" err="1">
                <a:latin typeface="Avenir Next"/>
              </a:rPr>
              <a:t>Rigour</a:t>
            </a:r>
            <a:r>
              <a:rPr sz="1100" b="1" dirty="0">
                <a:latin typeface="Avenir Next"/>
              </a:rPr>
              <a:t>: </a:t>
            </a:r>
            <a:r>
              <a:rPr sz="1100" b="0" dirty="0">
                <a:latin typeface="Avenir Next"/>
              </a:rPr>
              <a:t>Amend BRSR to mandate Reasonable Assurance &amp; full Scope 3 Value Chain </a:t>
            </a:r>
            <a:r>
              <a:rPr lang="en-US" sz="1100" dirty="0">
                <a:latin typeface="Avenir Next"/>
              </a:rPr>
              <a:t>Disclosures</a:t>
            </a:r>
            <a:r>
              <a:rPr sz="1100" b="0" dirty="0">
                <a:latin typeface="Avenir Next"/>
              </a:rPr>
              <a:t>.</a:t>
            </a:r>
          </a:p>
          <a:p>
            <a:pPr>
              <a:lnSpc>
                <a:spcPct val="105000"/>
              </a:lnSpc>
              <a:spcAft>
                <a:spcPts val="600"/>
              </a:spcAft>
            </a:pPr>
            <a:r>
              <a:rPr sz="1100" b="1" dirty="0">
                <a:latin typeface="Avenir Next"/>
              </a:rPr>
              <a:t>• PFUTP Fraud &amp; Referral Bridge: </a:t>
            </a:r>
            <a:r>
              <a:rPr sz="1100" b="0" dirty="0">
                <a:latin typeface="Avenir Next"/>
              </a:rPr>
              <a:t>Classify material ESG misstatements as fraud under PFUTP</a:t>
            </a:r>
            <a:r>
              <a:rPr lang="en-US" sz="1100" b="0" dirty="0">
                <a:latin typeface="Avenir Next"/>
              </a:rPr>
              <a:t> Regulations</a:t>
            </a:r>
            <a:r>
              <a:rPr sz="1100" b="0" dirty="0">
                <a:latin typeface="Avenir Next"/>
              </a:rPr>
              <a:t> + mandatory referral to MCA.</a:t>
            </a:r>
          </a:p>
          <a:p>
            <a:pPr>
              <a:lnSpc>
                <a:spcPct val="105000"/>
              </a:lnSpc>
              <a:spcAft>
                <a:spcPts val="600"/>
              </a:spcAft>
            </a:pPr>
            <a:r>
              <a:rPr sz="1100" b="1" dirty="0">
                <a:latin typeface="Avenir Next"/>
              </a:rPr>
              <a:t>• Double Materiality: </a:t>
            </a:r>
            <a:r>
              <a:rPr sz="1100" b="0" dirty="0">
                <a:latin typeface="Avenir Next"/>
              </a:rPr>
              <a:t>Mandate Impact Materiality alongside Financial Materialit</a:t>
            </a:r>
            <a:r>
              <a:rPr lang="en-US" sz="1100" b="0" dirty="0">
                <a:latin typeface="Avenir Next"/>
              </a:rPr>
              <a:t>y</a:t>
            </a:r>
            <a:r>
              <a:rPr sz="1100" b="0" dirty="0">
                <a:latin typeface="Avenir Next"/>
              </a:rPr>
              <a:t>.</a:t>
            </a:r>
          </a:p>
          <a:p>
            <a:pPr>
              <a:lnSpc>
                <a:spcPct val="105000"/>
              </a:lnSpc>
              <a:spcAft>
                <a:spcPts val="600"/>
              </a:spcAft>
            </a:pPr>
            <a:r>
              <a:rPr sz="1100" b="1" dirty="0">
                <a:latin typeface="Avenir Next"/>
              </a:rPr>
              <a:t>• ESG Rating Providers (ERPs): </a:t>
            </a:r>
            <a:r>
              <a:rPr sz="1100" b="0" dirty="0">
                <a:latin typeface="Avenir Next"/>
              </a:rPr>
              <a:t>Introduce minimum competence </a:t>
            </a:r>
            <a:r>
              <a:rPr lang="en-US" sz="1100" b="0" dirty="0">
                <a:latin typeface="Avenir Next"/>
              </a:rPr>
              <a:t>and certifications </a:t>
            </a:r>
            <a:r>
              <a:rPr sz="1100" b="0" dirty="0">
                <a:latin typeface="Avenir Next"/>
              </a:rPr>
              <a:t>for ESG analysts.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008967"/>
            <a:ext cx="3255264" cy="2456057"/>
          </a:xfrm>
          <a:prstGeom prst="rect">
            <a:avLst/>
          </a:prstGeom>
          <a:noFill/>
        </p:spPr>
        <p:txBody>
          <a:bodyPr wrap="square" anchor="t">
            <a:spAutoFit/>
          </a:bodyPr>
          <a:lstStyle/>
          <a:p>
            <a:pPr algn="l">
              <a:lnSpc>
                <a:spcPct val="105000"/>
              </a:lnSpc>
              <a:spcAft>
                <a:spcPts val="600"/>
              </a:spcAft>
              <a:defRPr sz="1150" b="0">
                <a:solidFill>
                  <a:srgbClr val="2D2D2D"/>
                </a:solidFill>
                <a:latin typeface="Avenir Next"/>
              </a:defRPr>
            </a:pPr>
            <a:r>
              <a:rPr sz="1100" b="1" dirty="0">
                <a:latin typeface="Avenir Next"/>
              </a:rPr>
              <a:t>• Binding Sec 101 Rules: </a:t>
            </a:r>
            <a:r>
              <a:rPr sz="1100" b="0" dirty="0">
                <a:latin typeface="Avenir Next"/>
              </a:rPr>
              <a:t>Elevate 2024 Guidelines into formal delegated legislation.</a:t>
            </a:r>
          </a:p>
          <a:p>
            <a:pPr>
              <a:lnSpc>
                <a:spcPct val="105000"/>
              </a:lnSpc>
              <a:spcAft>
                <a:spcPts val="600"/>
              </a:spcAft>
            </a:pPr>
            <a:r>
              <a:rPr sz="1100" b="1" dirty="0">
                <a:latin typeface="Avenir Next"/>
              </a:rPr>
              <a:t>• Turnover Fines &amp; Corrective Ads: </a:t>
            </a:r>
            <a:r>
              <a:rPr sz="1100" b="0" dirty="0">
                <a:latin typeface="Avenir Next"/>
              </a:rPr>
              <a:t>Amend Sec 21 to impose 1% to 4% turnover penalties + Mandatory Corrective Advertising of equal prominence and duration.</a:t>
            </a:r>
          </a:p>
          <a:p>
            <a:pPr>
              <a:lnSpc>
                <a:spcPct val="105000"/>
              </a:lnSpc>
              <a:spcAft>
                <a:spcPts val="600"/>
              </a:spcAft>
            </a:pPr>
            <a:r>
              <a:rPr sz="1100" b="1" dirty="0">
                <a:latin typeface="Avenir Next"/>
              </a:rPr>
              <a:t>• Narrow Puffery (Guideline 3(h)): </a:t>
            </a:r>
            <a:r>
              <a:rPr lang="en-US" sz="1100" b="0" dirty="0">
                <a:latin typeface="Avenir Next"/>
              </a:rPr>
              <a:t>Cl</a:t>
            </a:r>
            <a:r>
              <a:rPr sz="1100" b="0" dirty="0">
                <a:latin typeface="Avenir Next"/>
              </a:rPr>
              <a:t>aims</a:t>
            </a:r>
            <a:r>
              <a:rPr lang="en-US" sz="1100" dirty="0">
                <a:latin typeface="Avenir Next"/>
              </a:rPr>
              <a:t> should </a:t>
            </a:r>
            <a:r>
              <a:rPr sz="1100" b="0" dirty="0">
                <a:latin typeface="Avenir Next"/>
              </a:rPr>
              <a:t>require published transition plans and budgets.</a:t>
            </a:r>
          </a:p>
          <a:p>
            <a:pPr>
              <a:lnSpc>
                <a:spcPct val="105000"/>
              </a:lnSpc>
              <a:spcAft>
                <a:spcPts val="600"/>
              </a:spcAft>
            </a:pPr>
            <a:r>
              <a:rPr sz="1100" b="1" dirty="0">
                <a:latin typeface="Avenir Next"/>
              </a:rPr>
              <a:t>• Claim-Specific Schedules: </a:t>
            </a:r>
            <a:r>
              <a:rPr sz="1100" b="0" dirty="0">
                <a:latin typeface="Avenir Next"/>
              </a:rPr>
              <a:t>Prescribe statutory testing benchmarks </a:t>
            </a:r>
            <a:r>
              <a:rPr lang="en-US" sz="1100" dirty="0">
                <a:latin typeface="Avenir Next"/>
              </a:rPr>
              <a:t>specific to the type of environmental claim</a:t>
            </a:r>
            <a:r>
              <a:rPr sz="1100" b="0" dirty="0">
                <a:latin typeface="Avenir Next"/>
              </a:rPr>
              <a:t>.</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rPr dirty="0"/>
              <a:t>Concluding Imperative</a:t>
            </a:r>
          </a:p>
          <a:p>
            <a:pPr>
              <a:defRPr sz="1300">
                <a:solidFill>
                  <a:srgbClr val="2D2D2D"/>
                </a:solidFill>
              </a:defRPr>
            </a:pPr>
            <a:r>
              <a:rPr dirty="0"/>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7248853329"/>
    <we:property name="_postImportCommit" value="1787248853329"/>
    <we:property name="grokConversationBinding" value="{&quot;responseId&quot;:&quot;47752631-de79-967a-a584-cc161d29c90d&quot;,&quot;title&quot;:&quot;Semantic Improvement of 5 Suggestions&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2693</TotalTime>
  <Words>3683</Words>
  <Application>Microsoft Macintosh PowerPoint</Application>
  <PresentationFormat>Widescreen</PresentationFormat>
  <Paragraphs>391</Paragraphs>
  <Slides>21</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1693</cp:revision>
  <dcterms:created xsi:type="dcterms:W3CDTF">2013-01-27T09:14:16Z</dcterms:created>
  <dcterms:modified xsi:type="dcterms:W3CDTF">2026-08-20T18:45:50Z</dcterms:modified>
  <cp:category/>
</cp:coreProperties>
</file>