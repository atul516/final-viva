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79" r:id="rId2"/>
    <p:sldId id="281" r:id="rId3"/>
    <p:sldId id="283" r:id="rId4"/>
    <p:sldId id="260" r:id="rId5"/>
    <p:sldId id="261" r:id="rId6"/>
    <p:sldId id="265" r:id="rId7"/>
    <p:sldId id="280" r:id="rId8"/>
    <p:sldId id="295" r:id="rId9"/>
    <p:sldId id="284" r:id="rId10"/>
    <p:sldId id="293" r:id="rId11"/>
    <p:sldId id="294" r:id="rId12"/>
    <p:sldId id="290" r:id="rId13"/>
    <p:sldId id="287" r:id="rId14"/>
    <p:sldId id="288" r:id="rId15"/>
    <p:sldId id="289" r:id="rId16"/>
    <p:sldId id="262" r:id="rId17"/>
    <p:sldId id="272" r:id="rId18"/>
    <p:sldId id="296" r:id="rId19"/>
    <p:sldId id="291" r:id="rId20"/>
    <p:sldId id="266" r:id="rId21"/>
    <p:sldId id="292"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608"/>
    <p:restoredTop sz="94629"/>
  </p:normalViewPr>
  <p:slideViewPr>
    <p:cSldViewPr snapToGrid="0" snapToObjects="1">
      <p:cViewPr varScale="1">
        <p:scale>
          <a:sx n="103" d="100"/>
          <a:sy n="103" d="100"/>
        </p:scale>
        <p:origin x="25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816976" y="2462044"/>
            <a:ext cx="7609490"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800" b="1" i="0" strike="noStrike" cap="none" normalizeH="0" baseline="0" dirty="0">
                <a:ln>
                  <a:noFill/>
                </a:ln>
                <a:solidFill>
                  <a:schemeClr val="tx1"/>
                </a:solidFill>
                <a:effectLst/>
                <a:latin typeface="Aptos" panose="020B0004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rial" panose="020B0604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15341" y="450739"/>
            <a:ext cx="1212762" cy="11176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88628"/>
            <a:ext cx="6060558" cy="35086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Submitte</a:t>
            </a:r>
            <a:r>
              <a:rPr lang="en-US" altLang="en-US" sz="1400" b="1" dirty="0">
                <a:latin typeface="+mj-lt"/>
                <a:ea typeface="Aptos" panose="020B0004020202020204" pitchFamily="34" charset="0"/>
                <a:cs typeface="Times New Roman" panose="02020603050405020304" pitchFamily="18" charset="0"/>
              </a:rPr>
              <a:t>d To</a:t>
            </a:r>
            <a:endPar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Chanakya National Law University</a:t>
            </a:r>
            <a:endParaRPr kumimoji="0" lang="en-US" altLang="en-US" sz="1400" b="1" i="0" u="none" strike="noStrike" cap="none" normalizeH="0" baseline="0" dirty="0">
              <a:ln>
                <a:noFill/>
              </a:ln>
              <a:solidFill>
                <a:schemeClr val="tx1"/>
              </a:solidFill>
              <a:effectLst/>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sz="14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Nyaya Nagar, Patna 800001</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lang="en-US" altLang="en-US" sz="1200" b="1" dirty="0">
              <a:latin typeface="+mj-lt"/>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DR. P. P. RAO</a:t>
            </a:r>
          </a:p>
          <a:p>
            <a:pPr lvl="0" algn="ctr" defTabSz="914400"/>
            <a:r>
              <a:rPr lang="en-GB" altLang="en-US" sz="1200" b="1" dirty="0">
                <a:latin typeface="+mj-lt"/>
                <a:ea typeface="Aptos" panose="020B0004020202020204" pitchFamily="34" charset="0"/>
                <a:cs typeface="Times New Roman" panose="02020603050405020304" pitchFamily="18" charset="0"/>
              </a:rPr>
              <a:t>ASSOCIATE PROFESSOR</a:t>
            </a: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endParaRPr lang="en-GB" altLang="en-US" sz="1200" b="1" dirty="0">
              <a:latin typeface="+mj-lt"/>
              <a:ea typeface="Aptos" panose="020B0004020202020204" pitchFamily="34" charset="0"/>
              <a:cs typeface="Times New Roman" panose="02020603050405020304" pitchFamily="18" charset="0"/>
            </a:endParaRPr>
          </a:p>
          <a:p>
            <a:pPr lvl="0" algn="ctr" defTabSz="914400"/>
            <a:r>
              <a:rPr lang="en-GB" altLang="en-US" sz="1200" b="1" dirty="0">
                <a:latin typeface="+mj-lt"/>
                <a:cs typeface="Times New Roman" panose="02020603050405020304" pitchFamily="18" charset="0"/>
              </a:rPr>
              <a:t>Submitted by</a:t>
            </a: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Saumya Singh</a:t>
            </a:r>
          </a:p>
          <a:p>
            <a:pPr lvl="0" algn="ctr" defTabSz="914400"/>
            <a:r>
              <a:rPr lang="en-GB" altLang="en-US" sz="1200" b="1" dirty="0">
                <a:latin typeface="+mj-lt"/>
                <a:ea typeface="Aptos" panose="020B0004020202020204" pitchFamily="34" charset="0"/>
                <a:cs typeface="Times New Roman" panose="02020603050405020304" pitchFamily="18" charset="0"/>
              </a:rPr>
              <a:t>Roll No- PL-2121</a:t>
            </a:r>
          </a:p>
          <a:p>
            <a:pPr algn="ctr" defTabSz="914400"/>
            <a:r>
              <a:rPr lang="en-GB" altLang="en-US" sz="1200" b="1" dirty="0">
                <a:latin typeface="+mj-lt"/>
                <a:ea typeface="Aptos" panose="020B0004020202020204" pitchFamily="34" charset="0"/>
                <a:cs typeface="Times New Roman" panose="02020603050405020304" pitchFamily="18" charset="0"/>
              </a:rPr>
              <a:t>Ph.D. (Batch- 2021)</a:t>
            </a:r>
            <a:endParaRPr lang="en-GB" altLang="en-US" sz="1200" b="1" dirty="0">
              <a:latin typeface="+mj-lt"/>
            </a:endParaRPr>
          </a:p>
          <a:p>
            <a:pPr lvl="0" algn="ctr" defTabSz="914400"/>
            <a:endPar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endParaRPr>
          </a:p>
          <a:p>
            <a:pPr lvl="0" algn="ctr" defTabSz="914400"/>
            <a:r>
              <a:rPr kumimoji="0" lang="en-GB" altLang="en-US" sz="1200" b="1" i="0" u="none" strike="noStrike" cap="none" normalizeH="0" baseline="0" dirty="0">
                <a:ln>
                  <a:noFill/>
                </a:ln>
                <a:solidFill>
                  <a:schemeClr val="tx1"/>
                </a:solidFill>
                <a:effectLst/>
                <a:latin typeface="+mj-lt"/>
                <a:ea typeface="Aptos" panose="020B0004020202020204" pitchFamily="34" charset="0"/>
                <a:cs typeface="Times New Roman" panose="02020603050405020304" pitchFamily="18" charset="0"/>
              </a:rPr>
              <a:t>	</a:t>
            </a:r>
            <a:endParaRPr kumimoji="0" lang="en-GB" altLang="en-US" sz="1200" b="1" i="0" u="none" strike="noStrike" cap="none" normalizeH="0" baseline="0" dirty="0">
              <a:ln>
                <a:noFill/>
              </a:ln>
              <a:solidFill>
                <a:schemeClr val="tx1"/>
              </a:solidFill>
              <a:effectLst/>
              <a:latin typeface="+mj-lt"/>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692187" y="1704738"/>
            <a:ext cx="3859069" cy="707886"/>
          </a:xfrm>
          <a:prstGeom prst="rect">
            <a:avLst/>
          </a:prstGeom>
          <a:noFill/>
        </p:spPr>
        <p:txBody>
          <a:bodyPr wrap="none" rtlCol="0">
            <a:spAutoFit/>
          </a:bodyPr>
          <a:lstStyle/>
          <a:p>
            <a:pPr algn="ctr"/>
            <a:r>
              <a:rPr lang="en-US" sz="2400" b="1" dirty="0"/>
              <a:t>Pre-Submission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499309"/>
            <a:ext cx="106493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a:t>What is Greenwashing and why it matters? </a:t>
            </a:r>
          </a:p>
        </p:txBody>
      </p:sp>
      <p:sp>
        <p:nvSpPr>
          <p:cNvPr id="7" name="Rounded Rectangle 6"/>
          <p:cNvSpPr/>
          <p:nvPr/>
        </p:nvSpPr>
        <p:spPr>
          <a:xfrm>
            <a:off x="566928" y="1783080"/>
            <a:ext cx="5623560" cy="3584448"/>
          </a:xfrm>
          <a:prstGeom prst="roundRect">
            <a:avLst/>
          </a:prstGeom>
          <a:solidFill>
            <a:srgbClr val="FFFDF8"/>
          </a:solidFill>
          <a:ln w="12700">
            <a:solidFill>
              <a:srgbClr val="D6C9B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960" y="2029968"/>
            <a:ext cx="5120640" cy="830997"/>
          </a:xfrm>
          <a:prstGeom prst="rect">
            <a:avLst/>
          </a:prstGeom>
          <a:noFill/>
        </p:spPr>
        <p:txBody>
          <a:bodyPr wrap="square" lIns="91440" tIns="45720" rIns="91440" bIns="45720" anchor="t">
            <a:spAutoFit/>
          </a:bodyPr>
          <a:lstStyle/>
          <a:p>
            <a:pPr algn="l">
              <a:defRPr sz="2200" b="1">
                <a:solidFill>
                  <a:srgbClr val="173F35"/>
                </a:solidFill>
                <a:latin typeface="Georgia"/>
              </a:defRPr>
            </a:pPr>
            <a:r>
              <a:rPr sz="1600"/>
              <a:t>Greenwashing is any misleading, exaggerated, vague, or unsubstantiated environmental claim.</a:t>
            </a:r>
            <a:endParaRPr lang="en-US" sz="1600"/>
          </a:p>
        </p:txBody>
      </p:sp>
      <p:sp>
        <p:nvSpPr>
          <p:cNvPr id="9" name="TextBox 8"/>
          <p:cNvSpPr txBox="1"/>
          <p:nvPr/>
        </p:nvSpPr>
        <p:spPr>
          <a:xfrm>
            <a:off x="951924" y="2966421"/>
            <a:ext cx="4846320" cy="1846659"/>
          </a:xfrm>
          <a:prstGeom prst="rect">
            <a:avLst/>
          </a:prstGeom>
          <a:noFill/>
        </p:spPr>
        <p:txBody>
          <a:bodyPr wrap="square" lIns="91440" tIns="45720" rIns="91440" bIns="45720" anchor="t">
            <a:spAutoFit/>
          </a:bodyPr>
          <a:lstStyle/>
          <a:p>
            <a:pPr marL="285750" indent="-285750">
              <a:spcAft>
                <a:spcPts val="600"/>
              </a:spcAft>
              <a:buFont typeface="Arial"/>
              <a:buChar char="•"/>
              <a:defRPr sz="1300">
                <a:solidFill>
                  <a:srgbClr val="2A2A2A"/>
                </a:solidFill>
                <a:latin typeface="Avenir Next"/>
              </a:defRPr>
            </a:pPr>
            <a:r>
              <a:rPr dirty="0"/>
              <a:t>It appears across packaging, websites, advertisements, sustainability reports, BRSR filings, ESG ratings, green debt instruments, and net-zero </a:t>
            </a:r>
            <a:r>
              <a:rPr lang="en-US"/>
              <a:t>carbon emission claims</a:t>
            </a:r>
            <a:r>
              <a:rPr dirty="0"/>
              <a:t>.</a:t>
            </a:r>
            <a:endParaRPr lang="en-US" dirty="0"/>
          </a:p>
          <a:p>
            <a:pPr marL="285750" indent="-285750">
              <a:spcAft>
                <a:spcPts val="600"/>
              </a:spcAft>
              <a:buFont typeface="Arial"/>
              <a:buChar char="•"/>
              <a:defRPr sz="1300">
                <a:solidFill>
                  <a:srgbClr val="2A2A2A"/>
                </a:solidFill>
                <a:latin typeface="Avenir Next"/>
              </a:defRPr>
            </a:pPr>
            <a:r>
              <a:t>The harm is not limited to consumer deception. It also distorts capital allocation, weakens market integrity, and delays climate action.</a:t>
            </a:r>
          </a:p>
          <a:p>
            <a:pPr marL="285750" indent="-285750">
              <a:spcAft>
                <a:spcPts val="600"/>
              </a:spcAft>
              <a:buFont typeface="Arial"/>
              <a:buChar char="•"/>
              <a:defRPr sz="1300">
                <a:solidFill>
                  <a:srgbClr val="2A2A2A"/>
                </a:solidFill>
                <a:latin typeface="Avenir Next"/>
              </a:defRPr>
            </a:pPr>
            <a:r>
              <a:t>This thesis therefore treats greenwashing as a governance problem, not only a branding problem.</a:t>
            </a:r>
          </a:p>
        </p:txBody>
      </p:sp>
      <p:sp>
        <p:nvSpPr>
          <p:cNvPr id="10" name="Rounded Rectangle 9"/>
          <p:cNvSpPr/>
          <p:nvPr/>
        </p:nvSpPr>
        <p:spPr>
          <a:xfrm>
            <a:off x="6446520" y="1783080"/>
            <a:ext cx="5193792" cy="35844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40378" y="2095460"/>
            <a:ext cx="4572000" cy="353943"/>
          </a:xfrm>
          <a:prstGeom prst="rect">
            <a:avLst/>
          </a:prstGeom>
          <a:noFill/>
        </p:spPr>
        <p:txBody>
          <a:bodyPr wrap="square" lIns="91440" tIns="45720" rIns="91440" bIns="45720" anchor="t">
            <a:spAutoFit/>
          </a:bodyPr>
          <a:lstStyle/>
          <a:p>
            <a:pPr>
              <a:defRPr sz="1700" b="1">
                <a:solidFill>
                  <a:srgbClr val="173F35"/>
                </a:solidFill>
                <a:latin typeface="Avenir Next Demi Bold"/>
              </a:defRPr>
            </a:pPr>
            <a:r>
              <a:rPr>
                <a:solidFill>
                  <a:srgbClr val="173F35"/>
                </a:solidFill>
              </a:rPr>
              <a:t>Why it matters</a:t>
            </a:r>
            <a:r>
              <a:rPr lang="en-US">
                <a:solidFill>
                  <a:srgbClr val="173F35"/>
                </a:solidFill>
              </a:rPr>
              <a:t> ?</a:t>
            </a:r>
          </a:p>
        </p:txBody>
      </p:sp>
      <p:sp>
        <p:nvSpPr>
          <p:cNvPr id="12" name="TextBox 11"/>
          <p:cNvSpPr txBox="1"/>
          <p:nvPr/>
        </p:nvSpPr>
        <p:spPr>
          <a:xfrm>
            <a:off x="6492025" y="2615184"/>
            <a:ext cx="5151928" cy="2344616"/>
          </a:xfrm>
          <a:prstGeom prst="rect">
            <a:avLst/>
          </a:prstGeom>
          <a:noFill/>
        </p:spPr>
        <p:txBody>
          <a:bodyPr wrap="square" lIns="91440" tIns="45720" rIns="91440" bIns="45720" anchor="t">
            <a:spAutoFit/>
          </a:bodyPr>
          <a:lstStyle/>
          <a:p>
            <a:pPr>
              <a:lnSpc>
                <a:spcPct val="150000"/>
              </a:lnSpc>
              <a:defRPr sz="2100" b="0">
                <a:solidFill>
                  <a:srgbClr val="173F35"/>
                </a:solidFill>
                <a:latin typeface="Georgia"/>
              </a:defRPr>
            </a:pPr>
            <a:r>
              <a:rPr sz="2000" dirty="0"/>
              <a:t>When sustainability language is </a:t>
            </a:r>
            <a:r>
              <a:rPr sz="2000"/>
              <a:t>unverified</a:t>
            </a:r>
            <a:r>
              <a:rPr lang="en-US" sz="2000"/>
              <a:t>:</a:t>
            </a:r>
            <a:endParaRPr lang="en-US" sz="2000" dirty="0"/>
          </a:p>
          <a:p>
            <a:pPr marL="342900" indent="-342900">
              <a:lnSpc>
                <a:spcPct val="150000"/>
              </a:lnSpc>
              <a:buFont typeface="Arial"/>
              <a:buChar char="•"/>
              <a:defRPr sz="2100" b="0">
                <a:solidFill>
                  <a:srgbClr val="173F35"/>
                </a:solidFill>
                <a:latin typeface="Georgia"/>
              </a:defRPr>
            </a:pPr>
            <a:r>
              <a:rPr lang="en-US" sz="2000"/>
              <a:t>claims</a:t>
            </a:r>
            <a:r>
              <a:rPr sz="2000" dirty="0"/>
              <a:t> </a:t>
            </a:r>
            <a:r>
              <a:rPr lang="en-US" sz="2000" dirty="0"/>
              <a:t>lose</a:t>
            </a:r>
            <a:r>
              <a:rPr sz="2000" dirty="0"/>
              <a:t> credibility, </a:t>
            </a:r>
            <a:endParaRPr lang="en-US" sz="2000" dirty="0"/>
          </a:p>
          <a:p>
            <a:pPr marL="342900" indent="-342900">
              <a:lnSpc>
                <a:spcPct val="150000"/>
              </a:lnSpc>
              <a:buFont typeface="Arial"/>
              <a:buChar char="•"/>
              <a:defRPr sz="2100" b="0">
                <a:solidFill>
                  <a:srgbClr val="173F35"/>
                </a:solidFill>
                <a:latin typeface="Georgia"/>
              </a:defRPr>
            </a:pPr>
            <a:r>
              <a:rPr sz="2000"/>
              <a:t>investors </a:t>
            </a:r>
            <a:r>
              <a:rPr lang="en-US" sz="2000"/>
              <a:t>mis-allocate capital,</a:t>
            </a:r>
          </a:p>
          <a:p>
            <a:pPr marL="342900" indent="-342900">
              <a:lnSpc>
                <a:spcPct val="150000"/>
              </a:lnSpc>
              <a:buFont typeface="Arial"/>
              <a:buChar char="•"/>
              <a:defRPr sz="2100" b="0">
                <a:solidFill>
                  <a:srgbClr val="173F35"/>
                </a:solidFill>
                <a:latin typeface="Georgia"/>
              </a:defRPr>
            </a:pPr>
            <a:r>
              <a:rPr sz="2000"/>
              <a:t>environmental trust is converted into </a:t>
            </a:r>
            <a:r>
              <a:rPr sz="2000" dirty="0"/>
              <a:t>commercial advantage.</a:t>
            </a:r>
          </a:p>
        </p:txBody>
      </p:sp>
      <p:sp>
        <p:nvSpPr>
          <p:cNvPr id="13" name="TextBox 12"/>
          <p:cNvSpPr txBox="1"/>
          <p:nvPr/>
        </p:nvSpPr>
        <p:spPr>
          <a:xfrm>
            <a:off x="592541" y="6400800"/>
            <a:ext cx="4485523"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1 introduction; Chapter </a:t>
            </a:r>
            <a:r>
              <a:rPr lang="en-US" sz="1000" dirty="0"/>
              <a:t>2</a:t>
            </a:r>
            <a:r>
              <a:rPr sz="1000" dirty="0"/>
              <a:t>, </a:t>
            </a:r>
            <a:r>
              <a:rPr lang="en-US" sz="1000" dirty="0"/>
              <a:t>definitions and typology</a:t>
            </a:r>
            <a:r>
              <a:rPr sz="1000" dirty="0"/>
              <a:t>.</a:t>
            </a:r>
            <a:endParaRPr lang="en-US" sz="1000" dirty="0"/>
          </a:p>
        </p:txBody>
      </p:sp>
      <p:sp>
        <p:nvSpPr>
          <p:cNvPr id="16" name="Rectangle 15">
            <a:extLst>
              <a:ext uri="{FF2B5EF4-FFF2-40B4-BE49-F238E27FC236}">
                <a16:creationId xmlns:a16="http://schemas.microsoft.com/office/drawing/2014/main" id="{A5BE6044-8E3D-1D3E-FE8A-B8B8CD1BF15A}"/>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5043" y="1120000"/>
            <a:ext cx="11000000" cy="330000"/>
          </a:xfrm>
          <a:prstGeom prst="rect">
            <a:avLst/>
          </a:prstGeom>
          <a:noFill/>
        </p:spPr>
        <p:txBody>
          <a:bodyPr wrap="square" lIns="45720" tIns="22860" rIns="45720" bIns="22860" anchor="t">
            <a:spAutoFit/>
          </a:bodyPr>
          <a:lstStyle/>
          <a:p>
            <a:pPr algn="l"/>
            <a:r>
              <a:rPr sz="1100" b="0" i="0">
                <a:solidFill>
                  <a:srgbClr val="6B6F6A"/>
                </a:solidFill>
                <a:latin typeface="Avenir Next"/>
              </a:rPr>
              <a:t>Research Question 1: What exactly is greenwashing, how has it changed over time, and what harm does it cause?</a:t>
            </a:r>
          </a:p>
        </p:txBody>
      </p:sp>
      <p:sp>
        <p:nvSpPr>
          <p:cNvPr id="18" name="Rounded Rectangle 17"/>
          <p:cNvSpPr/>
          <p:nvPr/>
        </p:nvSpPr>
        <p:spPr>
          <a:xfrm>
            <a:off x="566928" y="5480000"/>
            <a:ext cx="11060000" cy="85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96928" y="5550000"/>
            <a:ext cx="10800000" cy="710000"/>
          </a:xfrm>
          <a:prstGeom prst="rect">
            <a:avLst/>
          </a:prstGeom>
          <a:noFill/>
        </p:spPr>
        <p:txBody>
          <a:bodyPr wrap="square" lIns="45720" tIns="22860" rIns="45720" bIns="22860" anchor="ctr">
            <a:spAutoFit/>
          </a:bodyPr>
          <a:lstStyle/>
          <a:p>
            <a:pPr algn="l">
              <a:spcAft>
                <a:spcPts val="400"/>
              </a:spcAft>
            </a:pPr>
            <a:r>
              <a:rPr sz="1000" b="1" i="0">
                <a:solidFill>
                  <a:srgbClr val="095E4F"/>
                </a:solidFill>
                <a:latin typeface="Calibri"/>
              </a:rPr>
              <a:t>How it has evolved:  </a:t>
            </a:r>
            <a:r>
              <a:rPr sz="1000" b="0" i="0">
                <a:solidFill>
                  <a:srgbClr val="3A3A4A"/>
                </a:solidFill>
                <a:latin typeface="Calibri"/>
              </a:rPr>
              <a:t>a 1986 hotel towel notice → 1990s green product advertising → TerraChoice names seven recurring ‘sins’ in 2007–10 → whole-company image management → today, ESG reports, green debt and long-dated net-zero promises (‘futurewashing’).</a:t>
            </a:r>
          </a:p>
          <a:p>
            <a:pPr algn="l"/>
            <a:r>
              <a:rPr sz="1000" b="1" i="0">
                <a:solidFill>
                  <a:srgbClr val="095E4F"/>
                </a:solidFill>
                <a:latin typeface="Calibri"/>
              </a:rPr>
              <a:t>Answer to RQ1:  </a:t>
            </a:r>
            <a:r>
              <a:rPr sz="1000" b="0" i="0">
                <a:solidFill>
                  <a:srgbClr val="3A3A4A"/>
                </a:solidFill>
                <a:latin typeface="Calibri"/>
              </a:rPr>
              <a:t>greenwashing has moved from the product label to the balance sheet. Its harm is no longer only a misled shopper — it is capital sent to the wrong place, weaker market integrity and delayed climate action. That is why this thesis treats it as a governance problem.</a:t>
            </a:r>
          </a:p>
        </p:txBody>
      </p:sp>
    </p:spTree>
    <p:extLst>
      <p:ext uri="{BB962C8B-B14F-4D97-AF65-F5344CB8AC3E}">
        <p14:creationId xmlns:p14="http://schemas.microsoft.com/office/powerpoint/2010/main" val="4012266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640080"/>
          </a:xfrm>
          <a:prstGeom prst="rect">
            <a:avLst/>
          </a:prstGeom>
          <a:noFill/>
        </p:spPr>
        <p:txBody>
          <a:bodyPr wrap="square">
            <a:spAutoFit/>
          </a:bodyPr>
          <a:lstStyle/>
          <a:p>
            <a:pPr>
              <a:defRPr sz="2200" b="1">
                <a:solidFill>
                  <a:srgbClr val="173F35"/>
                </a:solidFill>
                <a:latin typeface="Avenir Next Demi Bold"/>
              </a:defRPr>
            </a:pPr>
            <a:r>
              <a:t>The Scale of the Problem Is Already 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300123" cy="253916"/>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dirty="0"/>
              <a:t>ASCI</a:t>
            </a:r>
            <a:r>
              <a:rPr sz="1000"/>
              <a:t>, CRISIL, RBI, CPCB figures</a:t>
            </a:r>
            <a:r>
              <a:rPr lang="en-US" sz="1000"/>
              <a:t> and </a:t>
            </a:r>
            <a:r>
              <a:rPr lang="en-US" sz="1050"/>
              <a:t>NSE/NIFTY peer-reviewed </a:t>
            </a:r>
            <a:r>
              <a:rPr lang="en-US" sz="1050" dirty="0"/>
              <a:t>studies, </a:t>
            </a:r>
            <a:r>
              <a:rPr sz="10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566928" y="960120"/>
            <a:ext cx="3978397"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dirty="0"/>
              <a:t>Based on available data from </a:t>
            </a:r>
            <a:r>
              <a:rPr lang="en-US"/>
              <a:t>authority-based sources</a:t>
            </a:r>
            <a:endParaRPr lang="en-US" dirty="0"/>
          </a:p>
        </p:txBody>
      </p:sp>
    </p:spTree>
    <p:extLst>
      <p:ext uri="{BB962C8B-B14F-4D97-AF65-F5344CB8AC3E}">
        <p14:creationId xmlns:p14="http://schemas.microsoft.com/office/powerpoint/2010/main" val="3488489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53998"/>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sz="3000" b="1">
                <a:solidFill>
                  <a:srgbClr val="1B1B2F"/>
                </a:solidFill>
                <a:latin typeface="Calibri Light"/>
              </a:rPr>
              <a:t>Hypotheses</a:t>
            </a:r>
          </a:p>
        </p:txBody>
      </p:sp>
      <p:sp>
        <p:nvSpPr>
          <p:cNvPr id="4" name="Rounded Rectangle 3"/>
          <p:cNvSpPr/>
          <p:nvPr/>
        </p:nvSpPr>
        <p:spPr>
          <a:xfrm>
            <a:off x="751750" y="1508760"/>
            <a:ext cx="3363050" cy="3236733"/>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765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1</a:t>
            </a:r>
          </a:p>
        </p:txBody>
      </p:sp>
      <p:sp>
        <p:nvSpPr>
          <p:cNvPr id="6" name="TextBox 5"/>
          <p:cNvSpPr txBox="1"/>
          <p:nvPr/>
        </p:nvSpPr>
        <p:spPr>
          <a:xfrm>
            <a:off x="914400" y="2148840"/>
            <a:ext cx="3017520" cy="2364750"/>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t>H₁  —  Accountability Failure</a:t>
            </a:r>
          </a:p>
          <a:p>
            <a:r>
              <a:rPr lang="en-IN">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89120" y="1508759"/>
            <a:ext cx="3383280" cy="342554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6341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2</a:t>
            </a:r>
          </a:p>
        </p:txBody>
      </p:sp>
      <p:sp>
        <p:nvSpPr>
          <p:cNvPr id="9" name="TextBox 8"/>
          <p:cNvSpPr txBox="1"/>
          <p:nvPr/>
        </p:nvSpPr>
        <p:spPr>
          <a:xfrm>
            <a:off x="4572000" y="2148840"/>
            <a:ext cx="3017520"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t>H₂  —  Liability Shield</a:t>
            </a:r>
          </a:p>
          <a:p>
            <a:r>
              <a:rPr lang="en-IN">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46720" y="1508760"/>
            <a:ext cx="3383280" cy="2953510"/>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291774" y="1645920"/>
            <a:ext cx="384048" cy="384048"/>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3</a:t>
            </a:r>
          </a:p>
        </p:txBody>
      </p:sp>
      <p:sp>
        <p:nvSpPr>
          <p:cNvPr id="12" name="TextBox 11"/>
          <p:cNvSpPr txBox="1"/>
          <p:nvPr/>
        </p:nvSpPr>
        <p:spPr>
          <a:xfrm>
            <a:off x="8229600" y="2148840"/>
            <a:ext cx="3017520" cy="1810752"/>
          </a:xfrm>
          <a:prstGeom prst="rect">
            <a:avLst/>
          </a:prstGeom>
          <a:noFill/>
        </p:spPr>
        <p:txBody>
          <a:bodyPr wrap="square">
            <a:spAutoFit/>
          </a:bodyPr>
          <a:lstStyle/>
          <a:p>
            <a:pPr algn="l">
              <a:spcAft>
                <a:spcPts val="800"/>
              </a:spcAft>
              <a:defRPr sz="1500" b="1">
                <a:solidFill>
                  <a:srgbClr val="095E4F"/>
                </a:solidFill>
                <a:latin typeface="Calibri"/>
              </a:defRPr>
            </a:pPr>
            <a:r>
              <a:rPr dirty="0"/>
              <a:t>H₃  —  Regulatory Inchoateness</a:t>
            </a:r>
          </a:p>
          <a:p>
            <a:r>
              <a:rPr lang="en-IN" dirty="0"/>
              <a:t>In addressing the issue of greenwashing, the present legal mechanism involving different regulatory bodies is inchoate and incomplete.</a:t>
            </a:r>
          </a:p>
        </p:txBody>
      </p:sp>
      <p:sp>
        <p:nvSpPr>
          <p:cNvPr id="13" name="TextBox 12"/>
          <p:cNvSpPr txBox="1"/>
          <p:nvPr/>
        </p:nvSpPr>
        <p:spPr>
          <a:xfrm>
            <a:off x="731520" y="5140642"/>
            <a:ext cx="10698480" cy="523220"/>
          </a:xfrm>
          <a:prstGeom prst="rect">
            <a:avLst/>
          </a:prstGeom>
          <a:noFill/>
        </p:spPr>
        <p:txBody>
          <a:bodyPr wrap="square" lIns="91440" tIns="45720" rIns="91440" bIns="45720" anchor="t">
            <a:spAutoFit/>
          </a:bodyPr>
          <a:lstStyle/>
          <a:p>
            <a:pPr algn="l">
              <a:spcAft>
                <a:spcPts val="600"/>
              </a:spcAft>
              <a:defRPr sz="1400" b="0">
                <a:solidFill>
                  <a:srgbClr val="6B6B7B"/>
                </a:solidFill>
                <a:latin typeface="Calibri"/>
              </a:defRPr>
            </a:pPr>
            <a:r>
              <a:rPr dirty="0"/>
              <a:t>These hypotheses are mutually </a:t>
            </a:r>
            <a:r>
              <a:rPr dirty="0" err="1"/>
              <a:t>reinforcing:</a:t>
            </a:r>
            <a:r>
              <a:rPr dirty="0"/>
              <a:t> governance-level gaps (H₁) are amplified by non-deterrent sanctions (H₂) and enabled by fragmented regulators (H₃).</a:t>
            </a:r>
            <a:endParaRPr lang="en-US" dirty="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30997"/>
          </a:xfrm>
          <a:prstGeom prst="rect">
            <a:avLst/>
          </a:prstGeom>
          <a:noFill/>
        </p:spPr>
        <p:txBody>
          <a:bodyPr wrap="square" lIns="91440" tIns="45720" rIns="91440" bIns="45720" anchor="t">
            <a:spAutoFit/>
          </a:bodyPr>
          <a:lstStyle/>
          <a:p>
            <a:pPr algn="l">
              <a:spcAft>
                <a:spcPts val="600"/>
              </a:spcAft>
              <a:defRPr sz="3000" b="1">
                <a:solidFill>
                  <a:srgbClr val="1B1B2F"/>
                </a:solidFill>
                <a:latin typeface="Calibri Light"/>
              </a:defRPr>
            </a:pPr>
            <a:r>
              <a:rPr dirty="0"/>
              <a:t>Research Methodology</a:t>
            </a:r>
          </a:p>
          <a:p>
            <a:pPr>
              <a:defRPr sz="1300" b="0">
                <a:solidFill>
                  <a:srgbClr val="6B6B7B"/>
                </a:solidFill>
                <a:latin typeface="Calibri"/>
              </a:defRPr>
            </a:pPr>
            <a:r>
              <a:rPr lang="en-US" dirty="0"/>
              <a:t>Comparative and Analytical </a:t>
            </a:r>
            <a:r>
              <a:rPr dirty="0"/>
              <a:t>Legal Research</a:t>
            </a:r>
            <a:endParaRPr dirty="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600200"/>
            <a:ext cx="2926080" cy="1908215"/>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Primary &amp; Secondary Sources</a:t>
            </a:r>
          </a:p>
          <a:p>
            <a:pPr>
              <a:defRPr sz="1200" b="0">
                <a:solidFill>
                  <a:srgbClr val="3A3A4A"/>
                </a:solidFill>
                <a:latin typeface="Calibri"/>
              </a:defRPr>
            </a:pPr>
            <a:r>
              <a:rPr lang="en-IN" sz="1400" dirty="0"/>
              <a:t>Indian statutes, judicial decisions (Supreme Court, NGT, foreign courts), regulatory instruments (SEBI BRSR, CCPA Guidelines, ASCI Guidelines, etc.), parliamentary reports, research papers.</a:t>
            </a:r>
            <a:endParaRPr lang="en-IN" sz="1400" dirty="0">
              <a:ea typeface="Calibri"/>
              <a:cs typeface="Calibri"/>
            </a:endParaRPr>
          </a:p>
          <a:p>
            <a:pPr algn="l">
              <a:spcAft>
                <a:spcPts val="0"/>
              </a:spcAft>
              <a:defRPr sz="1200" b="0">
                <a:solidFill>
                  <a:srgbClr val="3A3A4A"/>
                </a:solidFill>
                <a:latin typeface="Calibri"/>
              </a:defRPr>
            </a:pPr>
            <a:endParaRPr sz="1400" dirty="0"/>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1600200"/>
            <a:ext cx="2926080" cy="169277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Jurisprudential Analysis</a:t>
            </a:r>
          </a:p>
          <a:p>
            <a:pPr>
              <a:defRPr sz="1200" b="0">
                <a:solidFill>
                  <a:srgbClr val="3A3A4A"/>
                </a:solidFill>
                <a:latin typeface="Calibri"/>
              </a:defRPr>
            </a:pPr>
            <a:r>
              <a:rPr sz="1400" dirty="0" err="1"/>
              <a:t>Hohfeldian</a:t>
            </a:r>
            <a:r>
              <a:rPr sz="1400" dirty="0"/>
              <a:t> decomposition of corporate duties into precise legal relations. </a:t>
            </a:r>
            <a:endParaRPr lang="en-US" sz="1400" dirty="0"/>
          </a:p>
          <a:p>
            <a:pPr algn="l">
              <a:spcAft>
                <a:spcPts val="0"/>
              </a:spcAft>
              <a:defRPr sz="1200" b="0">
                <a:solidFill>
                  <a:srgbClr val="3A3A4A"/>
                </a:solidFill>
                <a:latin typeface="Calibri"/>
              </a:defRPr>
            </a:pPr>
            <a:r>
              <a:rPr lang="en-US" sz="1400" dirty="0"/>
              <a:t>Principal-agent, legitimacy, stakeholder, decoupling, and institutional theory frameworks.</a:t>
            </a:r>
            <a:endParaRPr lang="en-US" dirty="0"/>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21040" y="1600200"/>
            <a:ext cx="2926080" cy="15087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Comparative Legal Analysis</a:t>
            </a:r>
          </a:p>
          <a:p>
            <a:pPr>
              <a:defRPr sz="1200" b="0">
                <a:solidFill>
                  <a:srgbClr val="3A3A4A"/>
                </a:solidFill>
                <a:latin typeface="Calibri"/>
              </a:defRPr>
            </a:pPr>
            <a:r>
              <a:rPr sz="1400" dirty="0"/>
              <a:t>Cross-jurisdictional study of EU (CSRD, Green Claims Directive), US (SEC Rules, FTC Green Guides), UK (FCA Rule, CMA),</a:t>
            </a:r>
            <a:r>
              <a:rPr lang="en-US" sz="1400" dirty="0"/>
              <a:t> </a:t>
            </a:r>
            <a:r>
              <a:rPr sz="1400" dirty="0"/>
              <a:t>Australia, and others.</a:t>
            </a:r>
          </a:p>
        </p:txBody>
      </p:sp>
      <p:sp>
        <p:nvSpPr>
          <p:cNvPr id="13" name="Rounded Rectangle 12"/>
          <p:cNvSpPr/>
          <p:nvPr/>
        </p:nvSpPr>
        <p:spPr>
          <a:xfrm>
            <a:off x="7315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3891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4805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223" y="3520440"/>
            <a:ext cx="2926080" cy="147732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500" dirty="0"/>
              <a:t>Statutory Interpretation</a:t>
            </a:r>
          </a:p>
          <a:p>
            <a:pPr>
              <a:defRPr sz="1200" b="0">
                <a:solidFill>
                  <a:srgbClr val="3A3A4A"/>
                </a:solidFill>
                <a:latin typeface="Calibri"/>
              </a:defRPr>
            </a:pPr>
            <a:r>
              <a:rPr lang="en-IN" sz="1400" dirty="0"/>
              <a:t>Textual, contextual and purposive analysis of the Companies Act 2013, Consumer Protection Act 2019, Environment Protection Act 1986 (EPA), and SEBI LODR Regulations.</a:t>
            </a:r>
            <a:endParaRPr lang="en-IN" sz="1400" dirty="0">
              <a:ea typeface="Calibri"/>
              <a:cs typeface="Calibri"/>
            </a:endParaRPr>
          </a:p>
        </p:txBody>
      </p:sp>
      <p:sp>
        <p:nvSpPr>
          <p:cNvPr id="19" name="Rounded Rectangle 18"/>
          <p:cNvSpPr/>
          <p:nvPr/>
        </p:nvSpPr>
        <p:spPr>
          <a:xfrm>
            <a:off x="8046720" y="338328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38160" y="352044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2807" y="3520440"/>
            <a:ext cx="2926080" cy="12618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Lex Lata vs. Lex Ferenda</a:t>
            </a:r>
          </a:p>
          <a:p>
            <a:pPr algn="l">
              <a:spcAft>
                <a:spcPts val="0"/>
              </a:spcAft>
              <a:defRPr sz="1200" b="0">
                <a:solidFill>
                  <a:srgbClr val="3A3A4A"/>
                </a:solidFill>
                <a:latin typeface="Calibri"/>
              </a:defRPr>
            </a:pPr>
            <a:r>
              <a:rPr sz="1400" dirty="0"/>
              <a:t>Explicit distinction between what the law currently provides (analysis) and what it should provide (normative reform proposals).</a:t>
            </a:r>
          </a:p>
        </p:txBody>
      </p:sp>
      <p:sp>
        <p:nvSpPr>
          <p:cNvPr id="22" name="TextBox 21"/>
          <p:cNvSpPr txBox="1"/>
          <p:nvPr/>
        </p:nvSpPr>
        <p:spPr>
          <a:xfrm>
            <a:off x="731520" y="5349240"/>
            <a:ext cx="10698480" cy="292388"/>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t>Nature of Study:  Qualitative, analytical, and comparative — focused on identification, analysis and synthesis of legal rules and standards.</a:t>
            </a:r>
          </a:p>
        </p:txBody>
      </p:sp>
      <p:sp>
        <p:nvSpPr>
          <p:cNvPr id="15" name="TextBox 14"/>
          <p:cNvSpPr txBox="1"/>
          <p:nvPr/>
        </p:nvSpPr>
        <p:spPr>
          <a:xfrm>
            <a:off x="8284464" y="3520440"/>
            <a:ext cx="2926080" cy="1477328"/>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dirty="0"/>
              <a:t>Critical Regulatory Assessment</a:t>
            </a:r>
          </a:p>
          <a:p>
            <a:pPr>
              <a:defRPr sz="1200" b="0">
                <a:solidFill>
                  <a:srgbClr val="3A3A4A"/>
                </a:solidFill>
                <a:latin typeface="Calibri"/>
              </a:defRPr>
            </a:pPr>
            <a:r>
              <a:rPr sz="1400" dirty="0"/>
              <a:t>Mapping </a:t>
            </a:r>
            <a:r>
              <a:rPr lang="en-US" sz="1400" dirty="0"/>
              <a:t>design issues and coordination issues </a:t>
            </a:r>
            <a:r>
              <a:rPr sz="1400" dirty="0"/>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685800"/>
          </a:xfrm>
          <a:prstGeom prst="rect">
            <a:avLst/>
          </a:prstGeom>
          <a:noFill/>
        </p:spPr>
        <p:txBody>
          <a:bodyPr wrap="square">
            <a:spAutoFit/>
          </a:bodyPr>
          <a:lstStyle/>
          <a:p>
            <a:pPr algn="l">
              <a:spcAft>
                <a:spcPts val="600"/>
              </a:spcAft>
              <a:defRPr sz="3000" b="1">
                <a:solidFill>
                  <a:srgbClr val="1B1B2F"/>
                </a:solidFill>
                <a:latin typeface="Calibri Light"/>
              </a:defRPr>
            </a:pPr>
            <a:r>
              <a:rPr dirty="0"/>
              <a:t>Research Gap</a:t>
            </a:r>
          </a:p>
        </p:txBody>
      </p:sp>
      <p:sp>
        <p:nvSpPr>
          <p:cNvPr id="4" name="TextBox 3"/>
          <p:cNvSpPr txBox="1"/>
          <p:nvPr/>
        </p:nvSpPr>
        <p:spPr>
          <a:xfrm>
            <a:off x="731520" y="1329068"/>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a:t>
            </a:r>
            <a:r>
              <a:rPr lang="en-US"/>
              <a:t>research analyses the legal architecture flaws from a comparative standpoint.</a:t>
            </a:r>
            <a:endParaRPr lang="en-US" dirty="0">
              <a:ea typeface="Calibri"/>
              <a:cs typeface="Calibri"/>
            </a:endParaRPr>
          </a:p>
        </p:txBody>
      </p:sp>
      <p:sp>
        <p:nvSpPr>
          <p:cNvPr id="5" name="Rounded Rectangle 4"/>
          <p:cNvSpPr/>
          <p:nvPr/>
        </p:nvSpPr>
        <p:spPr>
          <a:xfrm>
            <a:off x="7315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229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1</a:t>
            </a:r>
          </a:p>
        </p:txBody>
      </p:sp>
      <p:sp>
        <p:nvSpPr>
          <p:cNvPr id="7" name="TextBox 6"/>
          <p:cNvSpPr txBox="1"/>
          <p:nvPr/>
        </p:nvSpPr>
        <p:spPr>
          <a:xfrm>
            <a:off x="14630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Board-Level Accountability</a:t>
            </a:r>
          </a:p>
          <a:p>
            <a:pPr algn="l">
              <a:spcAft>
                <a:spcPts val="0"/>
              </a:spcAft>
              <a:defRPr sz="1100" b="0">
                <a:solidFill>
                  <a:srgbClr val="3A3A4A"/>
                </a:solidFill>
                <a:latin typeface="Calibri"/>
              </a:defRPr>
            </a:pPr>
            <a:r>
              <a:rPr sz="1200" dirty="0"/>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315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229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2</a:t>
            </a:r>
          </a:p>
        </p:txBody>
      </p:sp>
      <p:sp>
        <p:nvSpPr>
          <p:cNvPr id="10" name="TextBox 9"/>
          <p:cNvSpPr txBox="1"/>
          <p:nvPr/>
        </p:nvSpPr>
        <p:spPr>
          <a:xfrm>
            <a:off x="14630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Regulatory Fragmentation as Structural Cause</a:t>
            </a:r>
          </a:p>
          <a:p>
            <a:pPr algn="l">
              <a:spcAft>
                <a:spcPts val="0"/>
              </a:spcAft>
              <a:defRPr sz="1100" b="0">
                <a:solidFill>
                  <a:srgbClr val="3A3A4A"/>
                </a:solidFill>
                <a:latin typeface="Calibri"/>
              </a:defRPr>
            </a:pPr>
            <a:r>
              <a:rPr sz="1200" dirty="0"/>
              <a:t>Environmental claims policed through overlapping but siloed regimes (MCA, SEBI, CCPA/ASCI) — creating jurisdictional uncertainty and the 'accountability vacuum.'</a:t>
            </a:r>
          </a:p>
        </p:txBody>
      </p:sp>
      <p:sp>
        <p:nvSpPr>
          <p:cNvPr id="11" name="Rounded Rectangle 10"/>
          <p:cNvSpPr/>
          <p:nvPr/>
        </p:nvSpPr>
        <p:spPr>
          <a:xfrm>
            <a:off x="731520" y="4111187"/>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22960" y="4248347"/>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3</a:t>
            </a:r>
          </a:p>
        </p:txBody>
      </p:sp>
      <p:sp>
        <p:nvSpPr>
          <p:cNvPr id="13" name="TextBox 12"/>
          <p:cNvSpPr txBox="1"/>
          <p:nvPr/>
        </p:nvSpPr>
        <p:spPr>
          <a:xfrm>
            <a:off x="1463040" y="4166051"/>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Verification Gap</a:t>
            </a:r>
          </a:p>
          <a:p>
            <a:pPr algn="l">
              <a:spcAft>
                <a:spcPts val="0"/>
              </a:spcAft>
              <a:defRPr sz="1100" b="0">
                <a:solidFill>
                  <a:srgbClr val="3A3A4A"/>
                </a:solidFill>
                <a:latin typeface="Calibri"/>
              </a:defRPr>
            </a:pPr>
            <a:r>
              <a:rPr sz="1200" dirty="0"/>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17920" y="1965960"/>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09360" y="2103120"/>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4</a:t>
            </a:r>
          </a:p>
        </p:txBody>
      </p:sp>
      <p:sp>
        <p:nvSpPr>
          <p:cNvPr id="16" name="TextBox 15"/>
          <p:cNvSpPr txBox="1"/>
          <p:nvPr/>
        </p:nvSpPr>
        <p:spPr>
          <a:xfrm>
            <a:off x="6949440" y="2020824"/>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Evolving Forms of Greenwashing</a:t>
            </a:r>
          </a:p>
          <a:p>
            <a:pPr algn="l">
              <a:spcAft>
                <a:spcPts val="0"/>
              </a:spcAft>
              <a:defRPr sz="1100" b="0">
                <a:solidFill>
                  <a:srgbClr val="3A3A4A"/>
                </a:solidFill>
                <a:latin typeface="Calibri"/>
              </a:defRPr>
            </a:pPr>
            <a:r>
              <a:rPr sz="1200" dirty="0"/>
              <a:t>'</a:t>
            </a:r>
            <a:r>
              <a:rPr sz="1200" dirty="0" err="1"/>
              <a:t>Futurewashing</a:t>
            </a:r>
            <a:r>
              <a:rPr sz="1200" dirty="0"/>
              <a:t>' through extended net-zero timelines (e.g. India's 2070 target) and carbon-offset-based claims are addressed only indirectly in current frameworks.</a:t>
            </a:r>
          </a:p>
        </p:txBody>
      </p:sp>
      <p:sp>
        <p:nvSpPr>
          <p:cNvPr id="17" name="Rounded Rectangle 16"/>
          <p:cNvSpPr/>
          <p:nvPr/>
        </p:nvSpPr>
        <p:spPr>
          <a:xfrm>
            <a:off x="6217920" y="3059842"/>
            <a:ext cx="5212080" cy="9144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09360" y="3197002"/>
            <a:ext cx="548640" cy="25603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Gap 5</a:t>
            </a:r>
          </a:p>
        </p:txBody>
      </p:sp>
      <p:sp>
        <p:nvSpPr>
          <p:cNvPr id="19" name="TextBox 18"/>
          <p:cNvSpPr txBox="1"/>
          <p:nvPr/>
        </p:nvSpPr>
        <p:spPr>
          <a:xfrm>
            <a:off x="6949440" y="3114706"/>
            <a:ext cx="4343400" cy="872034"/>
          </a:xfrm>
          <a:prstGeom prst="rect">
            <a:avLst/>
          </a:prstGeom>
          <a:noFill/>
        </p:spPr>
        <p:txBody>
          <a:bodyPr wrap="square">
            <a:spAutoFit/>
          </a:bodyPr>
          <a:lstStyle/>
          <a:p>
            <a:pPr algn="l">
              <a:spcAft>
                <a:spcPts val="200"/>
              </a:spcAft>
              <a:defRPr sz="1300" b="1">
                <a:solidFill>
                  <a:srgbClr val="095E4F"/>
                </a:solidFill>
                <a:latin typeface="Calibri"/>
              </a:defRPr>
            </a:pPr>
            <a:r>
              <a:rPr dirty="0"/>
              <a:t>Enforcement Analysis</a:t>
            </a:r>
          </a:p>
          <a:p>
            <a:pPr algn="l">
              <a:spcAft>
                <a:spcPts val="0"/>
              </a:spcAft>
              <a:defRPr sz="1100" b="0">
                <a:solidFill>
                  <a:srgbClr val="3A3A4A"/>
                </a:solidFill>
                <a:latin typeface="Calibri"/>
              </a:defRPr>
            </a:pPr>
            <a:r>
              <a:rPr sz="1200" dirty="0"/>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240791"/>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286511"/>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53998"/>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000" b="1" dirty="0" err="1"/>
              <a:t>Chapterization</a:t>
            </a:r>
            <a:r>
              <a:rPr lang="en-US" sz="3000" b="1" dirty="0"/>
              <a:t> Scheme</a:t>
            </a:r>
            <a:r>
              <a:rPr lang="en-IN" sz="3000" b="1" dirty="0"/>
              <a:t> </a:t>
            </a:r>
            <a:endParaRPr dirty="0"/>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365024"/>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sz="1400" dirty="0"/>
              <a:t>THIS STUDY</a:t>
            </a:r>
            <a:r>
              <a:rPr lang="en-US" sz="1400" dirty="0"/>
              <a:t> COMPRISES OF FOLLOWING SIX CHAPTERS-</a:t>
            </a:r>
          </a:p>
          <a:p>
            <a:pPr algn="l">
              <a:spcAft>
                <a:spcPts val="400"/>
              </a:spcAft>
              <a:defRPr sz="1200" b="1">
                <a:solidFill>
                  <a:srgbClr val="095E4F"/>
                </a:solidFill>
                <a:latin typeface="Calibri"/>
              </a:defRPr>
            </a:pPr>
            <a:endParaRPr lang="en-US" sz="1600" dirty="0"/>
          </a:p>
          <a:p>
            <a:pPr marL="228600" indent="-228600" algn="l">
              <a:lnSpc>
                <a:spcPct val="150000"/>
              </a:lnSpc>
              <a:spcAft>
                <a:spcPts val="400"/>
              </a:spcAft>
              <a:buAutoNum type="arabicPeriod"/>
              <a:defRPr sz="1200" b="1">
                <a:solidFill>
                  <a:srgbClr val="095E4F"/>
                </a:solidFill>
                <a:latin typeface="Calibri"/>
              </a:defRPr>
            </a:pPr>
            <a:r>
              <a:rPr lang="en-US" sz="1600" cap="small" dirty="0"/>
              <a:t>Introduction</a:t>
            </a:r>
            <a:endParaRPr lang="en-US" sz="16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Conceptualizing Greenwashing And Corporate Governance Intervention</a:t>
            </a:r>
            <a:endParaRPr lang="en-US"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Greenwashing: Corporate Responsibility And Accountability</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Prevention Of Greenwashing: International Perspective</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dirty="0"/>
              <a:t>Indian Regulatory Ecosystem To Prevent Greenwashing</a:t>
            </a:r>
            <a:r>
              <a:rPr lang="en-IN" sz="1600" b="1" cap="small" dirty="0"/>
              <a:t> </a:t>
            </a:r>
            <a:endParaRPr lang="en-IN" sz="16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600" b="1" cap="small"/>
              <a:t>Conclusion</a:t>
            </a:r>
            <a:endParaRPr lang="en-IN" sz="16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430000"/>
          </a:xfrm>
          <a:prstGeom prst="rect">
            <a:avLst/>
          </a:prstGeom>
          <a:noFill/>
        </p:spPr>
        <p:txBody>
          <a:bodyPr wrap="square" lIns="45720" tIns="22860" rIns="45720" bIns="22860" anchor="t">
            <a:spAutoFit/>
          </a:bodyPr>
          <a:lstStyle/>
          <a:p>
            <a:pPr algn="l"/>
            <a:r>
              <a:rPr sz="2200" b="1">
                <a:solidFill>
                  <a:srgbClr val="173F35"/>
                </a:solidFill>
                <a:latin typeface="Avenir Next Demi Bold"/>
              </a:rPr>
              <a:t>Why Greenwashing Is a Corporate Accountability Failure</a:t>
            </a:r>
          </a:p>
        </p:txBody>
      </p:sp>
      <p:sp>
        <p:nvSpPr>
          <p:cNvPr id="4" name="TextBox 3"/>
          <p:cNvSpPr txBox="1"/>
          <p:nvPr/>
        </p:nvSpPr>
        <p:spPr>
          <a:xfrm>
            <a:off x="440000" y="830000"/>
            <a:ext cx="113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3:</a:t>
            </a:r>
            <a:r>
              <a:rPr lang="en-US" sz="1100" b="0" i="0" dirty="0">
                <a:solidFill>
                  <a:srgbClr val="6B6F6A"/>
                </a:solidFill>
                <a:latin typeface="Avenir Next"/>
              </a:rPr>
              <a:t> </a:t>
            </a:r>
            <a:r>
              <a:rPr lang="en-IN" sz="1100" dirty="0">
                <a:ea typeface="+mn-lt"/>
                <a:cs typeface="+mn-lt"/>
              </a:rPr>
              <a:t>What are the jurisprudential foundations of corporate responsibility that justify treating greenwashing as a failure of corporate accountability?</a:t>
            </a:r>
            <a:endParaRPr lang="en-US" sz="1100" dirty="0">
              <a:ea typeface="+mn-lt"/>
              <a:cs typeface="+mn-lt"/>
            </a:endParaRPr>
          </a:p>
          <a:p>
            <a:pPr algn="l"/>
            <a:endParaRPr sz="1100" b="0" i="0" dirty="0">
              <a:solidFill>
                <a:srgbClr val="6B6F6A"/>
              </a:solidFill>
              <a:latin typeface="Avenir Next"/>
            </a:endParaRPr>
          </a:p>
        </p:txBody>
      </p:sp>
      <p:sp>
        <p:nvSpPr>
          <p:cNvPr id="5" name="Rounded Rectangle 4"/>
          <p:cNvSpPr/>
          <p:nvPr/>
        </p:nvSpPr>
        <p:spPr>
          <a:xfrm>
            <a:off x="500000" y="136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30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1.  What kind of thing is a company?</a:t>
            </a:r>
          </a:p>
          <a:p>
            <a:pPr algn="l">
              <a:spcAft>
                <a:spcPts val="300"/>
              </a:spcAft>
            </a:pPr>
            <a:r>
              <a:rPr sz="1000" b="0" i="0">
                <a:solidFill>
                  <a:srgbClr val="3A3A4A"/>
                </a:solidFill>
                <a:latin typeface="Calibri"/>
              </a:rPr>
              <a:t>•  The thesis tests five classic theories of corporate personality.</a:t>
            </a:r>
          </a:p>
          <a:p>
            <a:pPr algn="l">
              <a:spcAft>
                <a:spcPts val="300"/>
              </a:spcAft>
            </a:pPr>
            <a:r>
              <a:rPr sz="1000" b="0" i="0">
                <a:solidFill>
                  <a:srgbClr val="3A3A4A"/>
                </a:solidFill>
                <a:latin typeface="Calibri"/>
              </a:rPr>
              <a:t>•  Fiction and Purpose theory let the State attach environmental duties to the company it creates.</a:t>
            </a:r>
          </a:p>
          <a:p>
            <a:pPr algn="l">
              <a:spcAft>
                <a:spcPts val="300"/>
              </a:spcAft>
            </a:pPr>
            <a:r>
              <a:rPr sz="1000" b="0" i="0">
                <a:solidFill>
                  <a:srgbClr val="3A3A4A"/>
                </a:solidFill>
                <a:latin typeface="Calibri"/>
              </a:rPr>
              <a:t>•  Realist theory is the strongest fit: a company is a real social actor, so its green promises create real legal relations.</a:t>
            </a:r>
          </a:p>
          <a:p>
            <a:pPr algn="l">
              <a:spcAft>
                <a:spcPts val="300"/>
              </a:spcAft>
            </a:pPr>
            <a:r>
              <a:rPr sz="1000" b="0" i="0">
                <a:solidFill>
                  <a:srgbClr val="3A3A4A"/>
                </a:solidFill>
                <a:latin typeface="Calibri"/>
              </a:rPr>
              <a:t>•  Indian law sits closest to a Realist–Stakeholder position, so Section 166(2) is a natural fit, not an odd add-on.</a:t>
            </a:r>
          </a:p>
        </p:txBody>
      </p:sp>
      <p:sp>
        <p:nvSpPr>
          <p:cNvPr id="7" name="Rounded Rectangle 6"/>
          <p:cNvSpPr/>
          <p:nvPr/>
        </p:nvSpPr>
        <p:spPr>
          <a:xfrm>
            <a:off x="6196000" y="136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326000" y="146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2.  Hohfeld: turning a vague duty into precise legal relations</a:t>
            </a:r>
          </a:p>
          <a:p>
            <a:pPr algn="l">
              <a:spcAft>
                <a:spcPts val="300"/>
              </a:spcAft>
            </a:pPr>
            <a:r>
              <a:rPr sz="1000" b="0" i="0">
                <a:solidFill>
                  <a:srgbClr val="3A3A4A"/>
                </a:solidFill>
                <a:latin typeface="Calibri"/>
              </a:rPr>
              <a:t>•  Duty breached — the duty not to mislead, owed to the State and to investors.</a:t>
            </a:r>
          </a:p>
          <a:p>
            <a:pPr algn="l">
              <a:spcAft>
                <a:spcPts val="300"/>
              </a:spcAft>
            </a:pPr>
            <a:r>
              <a:rPr sz="1000" b="0" i="0">
                <a:solidFill>
                  <a:srgbClr val="3A3A4A"/>
                </a:solidFill>
                <a:latin typeface="Calibri"/>
              </a:rPr>
              <a:t>•  Privilege misused — managers may choose how to communicate, but that freedom stops at deception.</a:t>
            </a:r>
          </a:p>
          <a:p>
            <a:pPr algn="l">
              <a:spcAft>
                <a:spcPts val="300"/>
              </a:spcAft>
            </a:pPr>
            <a:r>
              <a:rPr sz="1000" b="0" i="0">
                <a:solidFill>
                  <a:srgbClr val="3A3A4A"/>
                </a:solidFill>
                <a:latin typeface="Calibri"/>
              </a:rPr>
              <a:t>•  Power held — companies control the ESG information that everyone else acts on.</a:t>
            </a:r>
          </a:p>
          <a:p>
            <a:pPr algn="l">
              <a:spcAft>
                <a:spcPts val="300"/>
              </a:spcAft>
            </a:pPr>
            <a:r>
              <a:rPr sz="1000" b="0" i="0">
                <a:solidFill>
                  <a:srgbClr val="3A3A4A"/>
                </a:solidFill>
                <a:latin typeface="Calibri"/>
              </a:rPr>
              <a:t>•  Immunity retained — limited liability insulates those who gain from a green reputation.</a:t>
            </a:r>
          </a:p>
        </p:txBody>
      </p:sp>
      <p:sp>
        <p:nvSpPr>
          <p:cNvPr id="9" name="Rounded Rectangle 8"/>
          <p:cNvSpPr/>
          <p:nvPr/>
        </p:nvSpPr>
        <p:spPr>
          <a:xfrm>
            <a:off x="500000" y="3400000"/>
            <a:ext cx="5496000" cy="196000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0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3.  Who holds the matching right?</a:t>
            </a:r>
          </a:p>
          <a:p>
            <a:pPr algn="l">
              <a:spcAft>
                <a:spcPts val="300"/>
              </a:spcAft>
            </a:pPr>
            <a:r>
              <a:rPr sz="1000" b="0" i="0">
                <a:solidFill>
                  <a:srgbClr val="3A3A4A"/>
                </a:solidFill>
                <a:latin typeface="Calibri"/>
              </a:rPr>
              <a:t>•  A duty only bites if somebody can enforce it.</a:t>
            </a:r>
          </a:p>
          <a:p>
            <a:pPr algn="l">
              <a:spcAft>
                <a:spcPts val="300"/>
              </a:spcAft>
            </a:pPr>
            <a:r>
              <a:rPr sz="1000" b="0" i="0">
                <a:solidFill>
                  <a:srgbClr val="3A3A4A"/>
                </a:solidFill>
                <a:latin typeface="Calibri"/>
              </a:rPr>
              <a:t>•  Duties owed to the State are strongest — the CCPA and SEBI can act on their own motion.</a:t>
            </a:r>
          </a:p>
          <a:p>
            <a:pPr algn="l">
              <a:spcAft>
                <a:spcPts val="300"/>
              </a:spcAft>
            </a:pPr>
            <a:r>
              <a:rPr sz="1000" b="0" i="0">
                <a:solidFill>
                  <a:srgbClr val="3A3A4A"/>
                </a:solidFill>
                <a:latin typeface="Calibri"/>
              </a:rPr>
              <a:t>•  Investor-facing duties are enforceable, but only through narrow disclosure channels.</a:t>
            </a:r>
          </a:p>
          <a:p>
            <a:pPr algn="l">
              <a:spcAft>
                <a:spcPts val="300"/>
              </a:spcAft>
            </a:pPr>
            <a:r>
              <a:rPr sz="1000" b="0" i="0">
                <a:solidFill>
                  <a:srgbClr val="3A3A4A"/>
                </a:solidFill>
                <a:latin typeface="Calibri"/>
              </a:rPr>
              <a:t>•  Section 166(2)'s environmental duty has no clear claimant, so it reads as aspiration rather than law. That is the gap this thesis targets.</a:t>
            </a:r>
          </a:p>
        </p:txBody>
      </p:sp>
      <p:sp>
        <p:nvSpPr>
          <p:cNvPr id="11" name="Rounded Rectangle 10"/>
          <p:cNvSpPr/>
          <p:nvPr/>
        </p:nvSpPr>
        <p:spPr>
          <a:xfrm>
            <a:off x="6196000" y="3400000"/>
            <a:ext cx="5496000" cy="19600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26000" y="3505000"/>
            <a:ext cx="5236000" cy="1750000"/>
          </a:xfrm>
          <a:prstGeom prst="rect">
            <a:avLst/>
          </a:prstGeom>
          <a:noFill/>
        </p:spPr>
        <p:txBody>
          <a:bodyPr wrap="square" lIns="45720" tIns="22860" rIns="45720" bIns="22860" anchor="t">
            <a:spAutoFit/>
          </a:bodyPr>
          <a:lstStyle/>
          <a:p>
            <a:pPr algn="l">
              <a:spcAft>
                <a:spcPts val="400"/>
              </a:spcAft>
            </a:pPr>
            <a:r>
              <a:rPr sz="1200" b="1" i="0">
                <a:solidFill>
                  <a:srgbClr val="095E4F"/>
                </a:solidFill>
                <a:latin typeface="Calibri"/>
              </a:rPr>
              <a:t>4.  Why the duty still fails in practice</a:t>
            </a:r>
          </a:p>
          <a:p>
            <a:pPr algn="l">
              <a:spcAft>
                <a:spcPts val="300"/>
              </a:spcAft>
            </a:pPr>
            <a:r>
              <a:rPr sz="1000" b="0" i="0">
                <a:solidFill>
                  <a:srgbClr val="3A3A4A"/>
                </a:solidFill>
                <a:latin typeface="Calibri"/>
              </a:rPr>
              <a:t>•  Principal–agent theory: insiders know the real environmental performance, outsiders rely on what insiders choose to disclose.</a:t>
            </a:r>
          </a:p>
          <a:p>
            <a:pPr algn="l">
              <a:spcAft>
                <a:spcPts val="300"/>
              </a:spcAft>
            </a:pPr>
            <a:r>
              <a:rPr sz="1000" b="0" i="0">
                <a:solidFill>
                  <a:srgbClr val="3A3A4A"/>
                </a:solidFill>
                <a:latin typeface="Calibri"/>
              </a:rPr>
              <a:t>•  Checking a green claim needs carbon and lifecycle expertise that most stakeholders simply do not have.</a:t>
            </a:r>
          </a:p>
          <a:p>
            <a:pPr algn="l">
              <a:spcAft>
                <a:spcPts val="300"/>
              </a:spcAft>
            </a:pPr>
            <a:r>
              <a:rPr sz="1000" b="0" i="0">
                <a:solidFill>
                  <a:srgbClr val="3A3A4A"/>
                </a:solidFill>
                <a:latin typeface="Calibri"/>
              </a:rPr>
              <a:t>•  Sustainability reporting is easy to dress up, so it is a weak signal of alignment.</a:t>
            </a:r>
          </a:p>
          <a:p>
            <a:pPr algn="l">
              <a:spcAft>
                <a:spcPts val="300"/>
              </a:spcAft>
            </a:pPr>
            <a:r>
              <a:rPr sz="1000" b="0" i="0">
                <a:solidFill>
                  <a:srgbClr val="3A3A4A"/>
                </a:solidFill>
                <a:latin typeface="Calibri"/>
              </a:rPr>
              <a:t>•  Promoter-controlled ownership and thin independent assurance widen the gap further in India.</a:t>
            </a:r>
          </a:p>
        </p:txBody>
      </p:sp>
      <p:sp>
        <p:nvSpPr>
          <p:cNvPr id="13" name="Rounded Rectangle 12"/>
          <p:cNvSpPr/>
          <p:nvPr/>
        </p:nvSpPr>
        <p:spPr>
          <a:xfrm>
            <a:off x="500000" y="5470000"/>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0000" y="5540000"/>
            <a:ext cx="10912000" cy="650000"/>
          </a:xfrm>
          <a:prstGeom prst="rect">
            <a:avLst/>
          </a:prstGeom>
          <a:noFill/>
        </p:spPr>
        <p:txBody>
          <a:bodyPr wrap="square" lIns="45720" tIns="22860" rIns="45720" bIns="22860" anchor="ctr">
            <a:spAutoFit/>
          </a:bodyPr>
          <a:lstStyle/>
          <a:p>
            <a:pPr algn="ctr"/>
            <a:r>
              <a:rPr sz="1100" b="1" i="0">
                <a:solidFill>
                  <a:srgbClr val="095E4F"/>
                </a:solidFill>
                <a:latin typeface="Calibri"/>
              </a:rPr>
              <a:t>Answer to RQ3:  </a:t>
            </a:r>
            <a:r>
              <a:rPr sz="1100" b="0" i="0">
                <a:solidFill>
                  <a:srgbClr val="3A3A4A"/>
                </a:solidFill>
                <a:latin typeface="Calibri"/>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66928" y="6400800"/>
            <a:ext cx="4000000" cy="246221"/>
          </a:xfrm>
          <a:prstGeom prst="rect">
            <a:avLst/>
          </a:prstGeom>
          <a:noFill/>
        </p:spPr>
        <p:txBody>
          <a:bodyPr wrap="square" lIns="45720" tIns="22860" rIns="45720" bIns="22860" anchor="t">
            <a:spAutoFit/>
          </a:bodyPr>
          <a:lstStyle/>
          <a:p>
            <a:pPr algn="l"/>
            <a:r>
              <a:rPr sz="900" b="0" i="0">
                <a:solidFill>
                  <a:srgbClr val="6B6F6A"/>
                </a:solidFill>
                <a:latin typeface="Calibri"/>
              </a:rPr>
              <a:t>Source base: Chapter 3, sections 3.1 to 3.4.</a:t>
            </a:r>
          </a:p>
        </p:txBody>
      </p:sp>
    </p:spTree>
    <p:extLst>
      <p:ext uri="{BB962C8B-B14F-4D97-AF65-F5344CB8AC3E}">
        <p14:creationId xmlns:p14="http://schemas.microsoft.com/office/powerpoint/2010/main" val="3047954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9623858" cy="67710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Legal Ecosystem</a:t>
            </a:r>
            <a:r>
              <a:rPr lang="en-US" dirty="0"/>
              <a:t> Tackling Misleading Environmental Claims</a:t>
            </a:r>
            <a:r>
              <a:rPr dirty="0"/>
              <a:t>: </a:t>
            </a:r>
            <a:endParaRPr lang="en-US" dirty="0"/>
          </a:p>
          <a:p>
            <a:pPr>
              <a:defRPr sz="2200" b="1">
                <a:solidFill>
                  <a:srgbClr val="173F35"/>
                </a:solidFill>
                <a:latin typeface="Avenir Next Demi Bold"/>
              </a:defRPr>
            </a:pPr>
            <a:r>
              <a:rPr sz="1600" dirty="0"/>
              <a:t>Many Rules, </a:t>
            </a:r>
            <a:r>
              <a:rPr lang="en-US" sz="1600" dirty="0"/>
              <a:t>But not a Functioning System</a:t>
            </a:r>
          </a:p>
        </p:txBody>
      </p:sp>
      <p:sp>
        <p:nvSpPr>
          <p:cNvPr id="6" name="Rounded Rectangle 5"/>
          <p:cNvSpPr/>
          <p:nvPr/>
        </p:nvSpPr>
        <p:spPr>
          <a:xfrm>
            <a:off x="1005840" y="136588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06317" y="1583395"/>
            <a:ext cx="9729323" cy="492443"/>
          </a:xfrm>
          <a:prstGeom prst="rect">
            <a:avLst/>
          </a:prstGeom>
          <a:noFill/>
        </p:spPr>
        <p:txBody>
          <a:bodyPr wrap="square" anchor="t">
            <a:spAutoFit/>
          </a:bodyPr>
          <a:lstStyle/>
          <a:p>
            <a:pPr algn="ctr">
              <a:defRPr sz="1300" b="1">
                <a:solidFill>
                  <a:srgbClr val="173F35"/>
                </a:solidFill>
                <a:latin typeface="Avenir Next"/>
              </a:defRPr>
            </a:pPr>
            <a:r>
              <a:t>Constitutional bedrock: Articles 21, 48A, 51A(g), environmental doctrines, and M.K. Ranjitsinh strengthen the duty to take environmental claims seriously.</a:t>
            </a:r>
          </a:p>
        </p:txBody>
      </p:sp>
      <p:sp>
        <p:nvSpPr>
          <p:cNvPr id="8" name="Rounded Rectangle 7"/>
          <p:cNvSpPr/>
          <p:nvPr/>
        </p:nvSpPr>
        <p:spPr>
          <a:xfrm>
            <a:off x="877824"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77824" y="2436188"/>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24128"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1: Consumer Protection</a:t>
            </a:r>
          </a:p>
        </p:txBody>
      </p:sp>
      <p:sp>
        <p:nvSpPr>
          <p:cNvPr id="11" name="TextBox 10"/>
          <p:cNvSpPr txBox="1"/>
          <p:nvPr/>
        </p:nvSpPr>
        <p:spPr>
          <a:xfrm>
            <a:off x="1024128" y="2997398"/>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rPr dirty="0"/>
              <a:t>CPA 2019, CCPA, consumer commissions, and ASCI target misleading product and advertising claims. </a:t>
            </a:r>
            <a:endParaRPr lang="en-US" dirty="0"/>
          </a:p>
          <a:p>
            <a:pPr>
              <a:defRPr sz="1200" b="0">
                <a:solidFill>
                  <a:srgbClr val="2A2A2A"/>
                </a:solidFill>
                <a:latin typeface="Avenir Next"/>
              </a:defRPr>
            </a:pPr>
            <a:r>
              <a:rPr dirty="0"/>
              <a:t>Strength: </a:t>
            </a:r>
            <a:r>
              <a:rPr lang="en-US" dirty="0"/>
              <a:t>Aspirational</a:t>
            </a:r>
            <a:r>
              <a:rPr dirty="0"/>
              <a:t>. </a:t>
            </a:r>
            <a:endParaRPr lang="en-US" dirty="0"/>
          </a:p>
          <a:p>
            <a:pPr algn="l">
              <a:defRPr sz="1200" b="0">
                <a:solidFill>
                  <a:srgbClr val="2A2A2A"/>
                </a:solidFill>
                <a:latin typeface="Avenir Next"/>
              </a:defRPr>
            </a:pPr>
            <a:r>
              <a:rPr dirty="0"/>
              <a:t>Weakness: </a:t>
            </a:r>
            <a:r>
              <a:rPr lang="en-US" dirty="0"/>
              <a:t>primarily remedial</a:t>
            </a:r>
            <a:r>
              <a:rPr dirty="0"/>
              <a:t> and consumer-facing.</a:t>
            </a:r>
          </a:p>
        </p:txBody>
      </p:sp>
      <p:sp>
        <p:nvSpPr>
          <p:cNvPr id="12" name="Rounded Rectangle 11"/>
          <p:cNvSpPr/>
          <p:nvPr/>
        </p:nvSpPr>
        <p:spPr>
          <a:xfrm>
            <a:off x="4462272"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62272" y="2436188"/>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08576"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2: Securities and Finance</a:t>
            </a:r>
          </a:p>
        </p:txBody>
      </p:sp>
      <p:sp>
        <p:nvSpPr>
          <p:cNvPr id="15" name="TextBox 14"/>
          <p:cNvSpPr txBox="1"/>
          <p:nvPr/>
        </p:nvSpPr>
        <p:spPr>
          <a:xfrm>
            <a:off x="4595089" y="3139010"/>
            <a:ext cx="2999232" cy="1200329"/>
          </a:xfrm>
          <a:prstGeom prst="rect">
            <a:avLst/>
          </a:prstGeom>
          <a:noFill/>
        </p:spPr>
        <p:txBody>
          <a:bodyPr wrap="square" lIns="91440" tIns="45720" rIns="91440" bIns="45720" anchor="t">
            <a:spAutoFit/>
          </a:bodyPr>
          <a:lstStyle/>
          <a:p>
            <a:pPr>
              <a:defRPr sz="1200" b="0">
                <a:solidFill>
                  <a:srgbClr val="2A2A2A"/>
                </a:solidFill>
                <a:latin typeface="Avenir Next"/>
              </a:defRPr>
            </a:pPr>
            <a:r>
              <a:t>SEBI, BRSR, BRSR Core, ESG debt rules, PFUTP, and ESG ratings address investor-facing claims. </a:t>
            </a:r>
            <a:endParaRPr lang="en-US"/>
          </a:p>
          <a:p>
            <a:pPr>
              <a:defRPr sz="1200" b="0">
                <a:solidFill>
                  <a:srgbClr val="2A2A2A"/>
                </a:solidFill>
                <a:latin typeface="Avenir Next"/>
              </a:defRPr>
            </a:pPr>
            <a:r>
              <a:t>Strength: formal disclosure architecture. </a:t>
            </a:r>
            <a:endParaRPr lang="en-US"/>
          </a:p>
          <a:p>
            <a:pPr>
              <a:defRPr sz="1200" b="0">
                <a:solidFill>
                  <a:srgbClr val="2A2A2A"/>
                </a:solidFill>
                <a:latin typeface="Avenir Next"/>
              </a:defRPr>
            </a:pPr>
            <a:r>
              <a:t>Weakness: </a:t>
            </a:r>
            <a:r>
              <a:rPr lang="en-US"/>
              <a:t>limited assurance</a:t>
            </a:r>
            <a:r>
              <a:t> and </a:t>
            </a:r>
            <a:r>
              <a:rPr dirty="0"/>
              <a:t>diluted verification.</a:t>
            </a:r>
          </a:p>
        </p:txBody>
      </p:sp>
      <p:sp>
        <p:nvSpPr>
          <p:cNvPr id="16" name="Rounded Rectangle 15"/>
          <p:cNvSpPr/>
          <p:nvPr/>
        </p:nvSpPr>
        <p:spPr>
          <a:xfrm>
            <a:off x="8046720" y="2503622"/>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046720" y="2436188"/>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93024" y="2631638"/>
            <a:ext cx="2999232" cy="384048"/>
          </a:xfrm>
          <a:prstGeom prst="rect">
            <a:avLst/>
          </a:prstGeom>
          <a:noFill/>
        </p:spPr>
        <p:txBody>
          <a:bodyPr wrap="square" anchor="t">
            <a:spAutoFit/>
          </a:bodyPr>
          <a:lstStyle/>
          <a:p>
            <a:pPr algn="l">
              <a:defRPr sz="1600" b="1">
                <a:solidFill>
                  <a:srgbClr val="173F35"/>
                </a:solidFill>
                <a:latin typeface="Avenir Next Demi Bold"/>
              </a:defRPr>
            </a:pPr>
            <a:r>
              <a:t>Pillar 3: Corporate Governance</a:t>
            </a:r>
          </a:p>
        </p:txBody>
      </p:sp>
      <p:sp>
        <p:nvSpPr>
          <p:cNvPr id="19" name="TextBox 18"/>
          <p:cNvSpPr txBox="1"/>
          <p:nvPr/>
        </p:nvSpPr>
        <p:spPr>
          <a:xfrm>
            <a:off x="8193024" y="3139010"/>
            <a:ext cx="2999232" cy="1384995"/>
          </a:xfrm>
          <a:prstGeom prst="rect">
            <a:avLst/>
          </a:prstGeom>
          <a:noFill/>
        </p:spPr>
        <p:txBody>
          <a:bodyPr wrap="square" lIns="91440" tIns="45720" rIns="91440" bIns="45720" anchor="t">
            <a:spAutoFit/>
          </a:bodyPr>
          <a:lstStyle/>
          <a:p>
            <a:pPr>
              <a:defRPr sz="1200" b="0">
                <a:solidFill>
                  <a:srgbClr val="2A2A2A"/>
                </a:solidFill>
                <a:latin typeface="Avenir Next"/>
              </a:defRPr>
            </a:pPr>
            <a:r>
              <a:t>MCA and the Companies Act place environmental protection inside directors' duties. </a:t>
            </a:r>
            <a:endParaRPr lang="en-US"/>
          </a:p>
          <a:p>
            <a:pPr>
              <a:defRPr sz="1200" b="0">
                <a:solidFill>
                  <a:srgbClr val="2A2A2A"/>
                </a:solidFill>
                <a:latin typeface="Avenir Next"/>
              </a:defRPr>
            </a:pPr>
            <a:r>
              <a:t>Strength: Section 166(2) is textually strong. </a:t>
            </a:r>
            <a:endParaRPr lang="en-US"/>
          </a:p>
          <a:p>
            <a:pPr algn="l">
              <a:defRPr sz="1200" b="0">
                <a:solidFill>
                  <a:srgbClr val="2A2A2A"/>
                </a:solidFill>
                <a:latin typeface="Avenir Next"/>
              </a:defRPr>
            </a:pPr>
            <a:r>
              <a:t>Weakness: standing, penalties, and enforcement route remain weak.</a:t>
            </a:r>
          </a:p>
        </p:txBody>
      </p:sp>
      <p:sp>
        <p:nvSpPr>
          <p:cNvPr id="20" name="Rounded Rectangle 19"/>
          <p:cNvSpPr/>
          <p:nvPr/>
        </p:nvSpPr>
        <p:spPr>
          <a:xfrm>
            <a:off x="1249519" y="4747414"/>
            <a:ext cx="9775867" cy="150476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405426" y="4828841"/>
            <a:ext cx="9576650" cy="1328569"/>
          </a:xfrm>
          <a:prstGeom prst="rect">
            <a:avLst/>
          </a:prstGeom>
          <a:noFill/>
        </p:spPr>
        <p:txBody>
          <a:bodyPr wrap="square" lIns="91440" tIns="45720" rIns="91440" bIns="45720" anchor="t">
            <a:spAutoFit/>
          </a:bodyPr>
          <a:lstStyle/>
          <a:p>
            <a:pPr marL="171450" indent="-171450">
              <a:spcAft>
                <a:spcPts val="200"/>
              </a:spcAft>
              <a:buFont typeface="Arial,Sans-Serif"/>
              <a:buChar char="•"/>
              <a:defRPr sz="1150" b="0">
                <a:solidFill>
                  <a:srgbClr val="2A2A2A"/>
                </a:solidFill>
                <a:latin typeface="Avenir Next"/>
              </a:defRPr>
            </a:pPr>
            <a:r>
              <a:rPr lang="en-IN" sz="1200" b="1" i="1" dirty="0">
                <a:solidFill>
                  <a:srgbClr val="3A3A4A"/>
                </a:solidFill>
                <a:latin typeface="Calibri"/>
                <a:ea typeface="Calibri"/>
                <a:cs typeface="Calibri"/>
              </a:rPr>
              <a:t>Other Complementary laws and bodies:</a:t>
            </a:r>
            <a:r>
              <a:rPr lang="en-IN" sz="1200" b="1" dirty="0">
                <a:solidFill>
                  <a:srgbClr val="3A3A4A"/>
                </a:solidFill>
                <a:latin typeface="Calibri"/>
                <a:ea typeface="Calibri"/>
                <a:cs typeface="Calibri"/>
              </a:rPr>
              <a:t>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EPA 1986 (provides environmental performance standards as objective benchmarks which can possibly be followed for greenwashing too),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NGT (broad remedial spectrum, </a:t>
            </a:r>
            <a:r>
              <a:rPr lang="en-IN" sz="1200" i="1" dirty="0" err="1">
                <a:solidFill>
                  <a:srgbClr val="3A3A4A"/>
                </a:solidFill>
                <a:latin typeface="Calibri"/>
                <a:ea typeface="Calibri"/>
                <a:cs typeface="Calibri"/>
              </a:rPr>
              <a:t>suo</a:t>
            </a:r>
            <a:r>
              <a:rPr lang="en-IN" sz="1200" i="1" dirty="0">
                <a:solidFill>
                  <a:srgbClr val="3A3A4A"/>
                </a:solidFill>
                <a:latin typeface="Calibri"/>
                <a:ea typeface="Calibri"/>
                <a:cs typeface="Calibri"/>
              </a:rPr>
              <a:t> motu</a:t>
            </a:r>
            <a:r>
              <a:rPr lang="en-IN" sz="1200" dirty="0">
                <a:solidFill>
                  <a:srgbClr val="3A3A4A"/>
                </a:solidFill>
                <a:latin typeface="Calibri"/>
                <a:ea typeface="Calibri"/>
                <a:cs typeface="Calibri"/>
              </a:rPr>
              <a:t> powers, proportionality-based penalties),</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FSSAI (covers food-sector claims, has brought in mandatory scientific substantiation from Jan 2026 for new products),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BIS </a:t>
            </a:r>
            <a:r>
              <a:rPr lang="en-IN" sz="1200" dirty="0" err="1">
                <a:solidFill>
                  <a:srgbClr val="3A3A4A"/>
                </a:solidFill>
                <a:latin typeface="Calibri"/>
                <a:ea typeface="Calibri"/>
                <a:cs typeface="Calibri"/>
              </a:rPr>
              <a:t>Ecomark</a:t>
            </a:r>
            <a:r>
              <a:rPr lang="en-IN" sz="1200" dirty="0">
                <a:solidFill>
                  <a:srgbClr val="3A3A4A"/>
                </a:solidFill>
                <a:latin typeface="Calibri"/>
                <a:ea typeface="Calibri"/>
                <a:cs typeface="Calibri"/>
              </a:rPr>
              <a:t> (voluntary third-party certification can be obtained by anyone), </a:t>
            </a:r>
            <a:endParaRPr lang="en-US" sz="1200" dirty="0">
              <a:latin typeface="Calibri"/>
              <a:ea typeface="Calibri"/>
              <a:cs typeface="Calibri"/>
            </a:endParaRPr>
          </a:p>
          <a:p>
            <a:pPr marL="628650" lvl="1" indent="-171450">
              <a:spcAft>
                <a:spcPts val="200"/>
              </a:spcAft>
              <a:buFont typeface="Arial,Sans-Serif"/>
              <a:buChar char="•"/>
              <a:defRPr sz="1150" b="0">
                <a:solidFill>
                  <a:srgbClr val="2A2A2A"/>
                </a:solidFill>
                <a:latin typeface="Avenir Next"/>
              </a:defRPr>
            </a:pPr>
            <a:r>
              <a:rPr lang="en-IN" sz="1200" dirty="0">
                <a:solidFill>
                  <a:srgbClr val="3A3A4A"/>
                </a:solidFill>
                <a:latin typeface="Calibri"/>
                <a:ea typeface="Calibri"/>
                <a:cs typeface="Calibri"/>
              </a:rPr>
              <a:t>Trademark Act Section 9(1)(b) (provides indirect protection by refusing registration of deceptive 'green' marks)</a:t>
            </a:r>
            <a:endParaRPr dirty="0"/>
          </a:p>
        </p:txBody>
      </p:sp>
      <p:sp>
        <p:nvSpPr>
          <p:cNvPr id="24" name="TextBox 23"/>
          <p:cNvSpPr txBox="1"/>
          <p:nvPr/>
        </p:nvSpPr>
        <p:spPr>
          <a:xfrm>
            <a:off x="701795" y="6481720"/>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5.</a:t>
            </a:r>
          </a:p>
        </p:txBody>
      </p:sp>
    </p:spTree>
    <p:extLst>
      <p:ext uri="{BB962C8B-B14F-4D97-AF65-F5344CB8AC3E}">
        <p14:creationId xmlns:p14="http://schemas.microsoft.com/office/powerpoint/2010/main" val="2513919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38404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Why Section 166(2) </a:t>
            </a:r>
            <a:r>
              <a:rPr lang="en-US"/>
              <a:t>of Companies Act </a:t>
            </a:r>
            <a:r>
              <a:rPr dirty="0"/>
              <a:t>Remains Weakly Enforced</a:t>
            </a:r>
          </a:p>
        </p:txBody>
      </p:sp>
      <p:sp>
        <p:nvSpPr>
          <p:cNvPr id="6" name="Rounded Rectangle 5"/>
          <p:cNvSpPr/>
          <p:nvPr/>
        </p:nvSpPr>
        <p:spPr>
          <a:xfrm>
            <a:off x="786384" y="1389888"/>
            <a:ext cx="10607040" cy="4412479"/>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53272" y="1840291"/>
            <a:ext cx="9289484" cy="3354765"/>
          </a:xfrm>
          <a:prstGeom prst="rect">
            <a:avLst/>
          </a:prstGeom>
          <a:noFill/>
        </p:spPr>
        <p:txBody>
          <a:bodyPr wrap="square" lIns="91440" tIns="45720" rIns="91440" bIns="45720" anchor="t">
            <a:spAutoFit/>
          </a:bodyPr>
          <a:lstStyle/>
          <a:p>
            <a:pPr marL="171450" indent="-171450">
              <a:spcAft>
                <a:spcPts val="600"/>
              </a:spcAft>
              <a:buFont typeface="Arial"/>
              <a:buChar char="•"/>
              <a:defRPr sz="1140">
                <a:solidFill>
                  <a:srgbClr val="2A2A2A"/>
                </a:solidFill>
                <a:latin typeface="Avenir Next"/>
              </a:defRPr>
            </a:pPr>
            <a:r>
              <a:rPr lang="en-US" sz="1400" dirty="0">
                <a:ea typeface="+mn-lt"/>
                <a:cs typeface="+mn-lt"/>
              </a:rPr>
              <a:t>Vague and Broad Scope: The terms "community," "environment," and "best interests of stakeholders" are broad and undefined.</a:t>
            </a:r>
          </a:p>
          <a:p>
            <a:pPr marL="171450" indent="-171450">
              <a:spcAft>
                <a:spcPts val="600"/>
              </a:spcAft>
              <a:buFont typeface="Arial"/>
              <a:buChar char="•"/>
              <a:defRPr sz="1140">
                <a:solidFill>
                  <a:srgbClr val="2A2A2A"/>
                </a:solidFill>
                <a:latin typeface="Avenir Next"/>
              </a:defRPr>
            </a:pPr>
            <a:r>
              <a:rPr lang="en-US" sz="1400" dirty="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spcAft>
                <a:spcPts val="600"/>
              </a:spcAft>
              <a:buFont typeface="Arial"/>
              <a:buChar char="•"/>
              <a:defRPr sz="1140">
                <a:solidFill>
                  <a:srgbClr val="2A2A2A"/>
                </a:solidFill>
                <a:latin typeface="Avenir Next"/>
              </a:defRPr>
            </a:pPr>
            <a:r>
              <a:rPr sz="1400" dirty="0"/>
              <a:t>Sections 241-244 and derivative-style pathways are narrow </a:t>
            </a:r>
            <a:r>
              <a:rPr lang="en-US" sz="1400" dirty="0"/>
              <a:t>in environmental cases </a:t>
            </a:r>
            <a:r>
              <a:rPr sz="1400" dirty="0"/>
              <a:t>and designed mainly for shareholder disputes.</a:t>
            </a:r>
          </a:p>
          <a:p>
            <a:pPr marL="171450" indent="-171450">
              <a:spcAft>
                <a:spcPts val="600"/>
              </a:spcAft>
              <a:buFont typeface="Arial"/>
              <a:buChar char="•"/>
              <a:defRPr sz="1140">
                <a:solidFill>
                  <a:srgbClr val="2A2A2A"/>
                </a:solidFill>
                <a:latin typeface="Avenir Next"/>
              </a:defRPr>
            </a:pPr>
            <a:r>
              <a:rPr sz="1400" dirty="0"/>
              <a:t>Section 166(7</a:t>
            </a:r>
            <a:r>
              <a:rPr lang="en-US" sz="1400" dirty="0"/>
              <a:t>):</a:t>
            </a:r>
            <a:r>
              <a:rPr sz="1400" dirty="0"/>
              <a:t> ₹1-5 lakh penalty is too small to deter board-level greenwashing in large companies.</a:t>
            </a:r>
          </a:p>
          <a:p>
            <a:pPr marL="171450" indent="-171450">
              <a:spcAft>
                <a:spcPts val="600"/>
              </a:spcAft>
              <a:buFont typeface="Arial"/>
              <a:buChar char="•"/>
              <a:defRPr sz="1140">
                <a:solidFill>
                  <a:srgbClr val="2A2A2A"/>
                </a:solidFill>
                <a:latin typeface="Avenir Next"/>
              </a:defRPr>
            </a:pPr>
            <a:r>
              <a:rPr lang="en-US" sz="1400" dirty="0">
                <a:ea typeface="+mn-lt"/>
                <a:cs typeface="+mn-lt"/>
              </a:rPr>
              <a:t>Conflict with Profit Maximization: Directors often prioritize short-term commercial goals over long-term environmental or community interests</a:t>
            </a:r>
          </a:p>
          <a:p>
            <a:pPr marL="171450" indent="-171450">
              <a:spcAft>
                <a:spcPts val="600"/>
              </a:spcAft>
              <a:buFont typeface="Arial"/>
              <a:buChar char="•"/>
              <a:defRPr sz="1140">
                <a:solidFill>
                  <a:srgbClr val="2A2A2A"/>
                </a:solidFill>
                <a:latin typeface="Avenir Next"/>
              </a:defRPr>
            </a:pPr>
            <a:r>
              <a:rPr lang="en-US" sz="1400" dirty="0"/>
              <a:t>No mandatory referral system moves a misleading claim from CCPA or SEBI into MCA action under Section 166(2).</a:t>
            </a:r>
          </a:p>
          <a:p>
            <a:pPr marL="171450" indent="-171450">
              <a:spcAft>
                <a:spcPts val="600"/>
              </a:spcAft>
              <a:buFont typeface="Arial"/>
              <a:buChar char="•"/>
              <a:defRPr sz="1140">
                <a:solidFill>
                  <a:srgbClr val="2A2A2A"/>
                </a:solidFill>
                <a:latin typeface="Avenir Next"/>
              </a:defRPr>
            </a:pPr>
            <a:r>
              <a:rPr lang="en-US" sz="1400" dirty="0"/>
              <a:t>"Protection of environment" needs judicial precedent linking with "environmental misrepresentation”, that’s the hurdle of enforcement.</a:t>
            </a:r>
          </a:p>
        </p:txBody>
      </p:sp>
      <p:sp>
        <p:nvSpPr>
          <p:cNvPr id="17" name="TextBox 16"/>
          <p:cNvSpPr txBox="1"/>
          <p:nvPr/>
        </p:nvSpPr>
        <p:spPr>
          <a:xfrm>
            <a:off x="789459" y="6259189"/>
            <a:ext cx="8367996"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Chapter </a:t>
            </a:r>
            <a:r>
              <a:rPr lang="en-US" sz="1000"/>
              <a:t>3</a:t>
            </a:r>
            <a:r>
              <a:rPr sz="1000"/>
              <a:t> on Section 166(2)'s standing and enforcement deficit; Chapter 5 on MCA capacity, fragmentation, and referral gaps.</a:t>
            </a:r>
          </a:p>
        </p:txBody>
      </p:sp>
      <p:sp>
        <p:nvSpPr>
          <p:cNvPr id="18" name="TextBox 17"/>
          <p:cNvSpPr txBox="1"/>
          <p:nvPr/>
        </p:nvSpPr>
        <p:spPr>
          <a:xfrm>
            <a:off x="555043" y="900000"/>
            <a:ext cx="11000000" cy="553998"/>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4 : </a:t>
            </a:r>
            <a:r>
              <a:rPr lang="en-IN" sz="1100" dirty="0">
                <a:ea typeface="+mn-lt"/>
                <a:cs typeface="+mn-lt"/>
              </a:rPr>
              <a:t>What duties of directors, disclosure obligations, and assurance requirements, under Indian company and securities law, can ground liability for misleading environmental claims?</a:t>
            </a:r>
            <a:endParaRPr lang="en-US" sz="1100" dirty="0">
              <a:ea typeface="+mn-lt"/>
              <a:cs typeface="+mn-lt"/>
            </a:endParaRPr>
          </a:p>
          <a:p>
            <a:pPr algn="l"/>
            <a:endParaRPr sz="11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t>SEBI's ESG Regime: Progress on Paper, </a:t>
            </a:r>
            <a:r>
              <a:rPr lang="en-US"/>
              <a:t>Backsliding in</a:t>
            </a:r>
            <a:r>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7115" y="1488602"/>
            <a:ext cx="10186416" cy="219456"/>
          </a:xfrm>
          <a:prstGeom prst="rect">
            <a:avLst/>
          </a:prstGeom>
          <a:noFill/>
        </p:spPr>
        <p:txBody>
          <a:bodyPr wrap="square" anchor="t">
            <a:spAutoFit/>
          </a:bodyPr>
          <a:lstStyle/>
          <a:p>
            <a:pPr algn="ctr">
              <a:defRPr sz="1300" b="1">
                <a:solidFill>
                  <a:srgbClr val="173F35"/>
                </a:solidFill>
                <a:latin typeface="Avenir Next Demi Bold"/>
              </a:defRPr>
            </a:pPr>
            <a: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2021</a:t>
            </a:r>
          </a:p>
          <a:p>
            <a:pPr algn="ctr">
              <a:defRPr sz="1050">
                <a:solidFill>
                  <a:srgbClr val="2A2A2A"/>
                </a:solidFill>
                <a:latin typeface="Avenir Next"/>
              </a:defRPr>
            </a:pPr>
            <a:r>
              <a:rPr dirty="0"/>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2023</a:t>
            </a:r>
          </a:p>
          <a:p>
            <a:pPr algn="ctr">
              <a:defRPr sz="1050">
                <a:solidFill>
                  <a:srgbClr val="2A2A2A"/>
                </a:solidFill>
                <a:latin typeface="Avenir Next"/>
              </a:defRPr>
            </a:pPr>
            <a: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t>Dec 2024</a:t>
            </a:r>
          </a:p>
          <a:p>
            <a:pPr algn="ctr">
              <a:defRPr sz="1050">
                <a:solidFill>
                  <a:srgbClr val="2A2A2A"/>
                </a:solidFill>
                <a:latin typeface="Avenir Next"/>
              </a:defRPr>
            </a:pPr>
            <a:r>
              <a:rPr dirty="0"/>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t>2025</a:t>
            </a:r>
          </a:p>
          <a:p>
            <a:pPr algn="ctr">
              <a:defRPr sz="1050">
                <a:solidFill>
                  <a:srgbClr val="2A2A2A"/>
                </a:solidFill>
                <a:latin typeface="Avenir Next"/>
              </a:defRPr>
            </a:pPr>
            <a: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BRSR still covers only the top 1000 listed entities, leaving major unlisted and lower-ranked emitters outside.</a:t>
            </a:r>
            <a:endParaRPr lang="en-US"/>
          </a:p>
          <a:p>
            <a:pPr marL="171450" indent="-171450">
              <a:spcAft>
                <a:spcPts val="600"/>
              </a:spcAft>
              <a:buFont typeface="Arial"/>
              <a:buChar char="•"/>
              <a:defRPr sz="1080">
                <a:solidFill>
                  <a:srgbClr val="2A2A2A"/>
                </a:solidFill>
                <a:latin typeface="Avenir Next"/>
              </a:defRPr>
            </a:pPr>
            <a: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t>Backsliding</a:t>
            </a:r>
            <a:endParaRPr lang="en-US" dirty="0"/>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t>Reasonable assurance gave way to 'assessment or assurance', a much softer credibility signal.</a:t>
            </a:r>
            <a:endParaRPr lang="en-US"/>
          </a:p>
          <a:p>
            <a:pPr marL="171450" indent="-171450">
              <a:spcAft>
                <a:spcPts val="600"/>
              </a:spcAft>
              <a:buFont typeface="Arial"/>
              <a:buChar char="•"/>
              <a:defRPr sz="1080">
                <a:solidFill>
                  <a:srgbClr val="2A2A2A"/>
                </a:solidFill>
                <a:latin typeface="Avenir Next"/>
              </a:defRPr>
            </a:pPr>
            <a: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t>Gensol-BluSmart</a:t>
            </a:r>
            <a:r>
              <a:rPr sz="1050" dirty="0"/>
              <a:t> shows SEBI can act, but the trigger was public scrutiny and whistleblowing, not routine ESG surveillance.</a:t>
            </a:r>
            <a:endParaRPr lang="en-US" sz="1050" dirty="0"/>
          </a:p>
          <a:p>
            <a:pPr marL="171450" indent="-171450">
              <a:spcAft>
                <a:spcPts val="600"/>
              </a:spcAft>
              <a:buFont typeface="Arial"/>
              <a:buChar char="•"/>
              <a:defRPr sz="1080">
                <a:solidFill>
                  <a:srgbClr val="2A2A2A"/>
                </a:solidFill>
                <a:latin typeface="Avenir Next"/>
              </a:defRPr>
            </a:pPr>
            <a: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t>There is still no dedicated ESG enforcement vertical or systematic cross-check with pollution and compliance data.</a:t>
            </a:r>
          </a:p>
        </p:txBody>
      </p:sp>
      <p:sp>
        <p:nvSpPr>
          <p:cNvPr id="23" name="TextBox 22"/>
          <p:cNvSpPr txBox="1"/>
          <p:nvPr/>
        </p:nvSpPr>
        <p:spPr>
          <a:xfrm>
            <a:off x="887096" y="6503254"/>
            <a:ext cx="1351652" cy="223138"/>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a:t>
            </a:r>
            <a:r>
              <a:rPr lang="en-US"/>
              <a:t>5</a:t>
            </a:r>
          </a:p>
        </p:txBody>
      </p:sp>
      <p:sp>
        <p:nvSpPr>
          <p:cNvPr id="24" name="TextBox 23"/>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29190" y="5830000"/>
            <a:ext cx="10327831" cy="48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RQ4:  </a:t>
            </a:r>
            <a:r>
              <a:rPr sz="1000" b="0" i="0">
                <a:solidFill>
                  <a:srgbClr val="3A3A4A"/>
                </a:solidFill>
                <a:latin typeface="Calibri"/>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07996"/>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Greenwashing in India</a:t>
            </a:r>
            <a:r>
              <a:rPr lang="en-US" dirty="0"/>
              <a:t> Needs To Be Treated At Corporate Governance Level, Beyond Misleading Advertisements</a:t>
            </a:r>
          </a:p>
          <a:p>
            <a:pPr>
              <a:defRPr sz="2200" b="1">
                <a:solidFill>
                  <a:srgbClr val="173F35"/>
                </a:solidFill>
                <a:latin typeface="Avenir Next Demi Bold"/>
              </a:defRPr>
            </a:pPr>
            <a:endParaRPr dirty="0"/>
          </a:p>
        </p:txBody>
      </p:sp>
      <p:sp>
        <p:nvSpPr>
          <p:cNvPr id="5" name="TextBox 4"/>
          <p:cNvSpPr txBox="1"/>
          <p:nvPr/>
        </p:nvSpPr>
        <p:spPr>
          <a:xfrm>
            <a:off x="555043" y="1120000"/>
            <a:ext cx="11000000" cy="600164"/>
          </a:xfrm>
          <a:prstGeom prst="rect">
            <a:avLst/>
          </a:prstGeom>
          <a:noFill/>
        </p:spPr>
        <p:txBody>
          <a:bodyPr wrap="square" lIns="91440" tIns="45720" rIns="91440" bIns="45720" anchor="t">
            <a:spAutoFit/>
          </a:bodyPr>
          <a:lstStyle/>
          <a:p>
            <a:pPr>
              <a:defRPr sz="1200">
                <a:solidFill>
                  <a:srgbClr val="6B6F6A"/>
                </a:solidFill>
                <a:latin typeface="Avenir Next"/>
              </a:defRPr>
            </a:pPr>
            <a:r>
              <a:rPr sz="1100" b="0" dirty="0">
                <a:solidFill>
                  <a:srgbClr val="6B6F6A"/>
                </a:solidFill>
                <a:latin typeface="Avenir Next"/>
              </a:rPr>
              <a:t>Research Question 2: </a:t>
            </a:r>
            <a:r>
              <a:rPr lang="en-IN" sz="1100" dirty="0">
                <a:ea typeface="+mn-lt"/>
                <a:cs typeface="+mn-lt"/>
              </a:rPr>
              <a:t>What are the structural limitations of consumer protection and advertising law in addressing greenwashing, and what legal pathways exist through corporate governance?</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2554"/>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661963"/>
            <a:ext cx="1022299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A</a:t>
            </a:r>
            <a:r>
              <a:rPr dirty="0"/>
              <a:t> </a:t>
            </a:r>
            <a:r>
              <a:rPr lang="en-US" dirty="0"/>
              <a:t>consumer law and advertising</a:t>
            </a:r>
            <a:r>
              <a:rPr dirty="0"/>
              <a:t> </a:t>
            </a:r>
            <a:r>
              <a:rPr lang="en-US" dirty="0"/>
              <a:t>based </a:t>
            </a:r>
            <a:r>
              <a:rPr dirty="0"/>
              <a:t>framework can catch some claims, but it cannot control the </a:t>
            </a:r>
            <a:r>
              <a:rPr lang="en-US" dirty="0"/>
              <a:t>internal corporate</a:t>
            </a:r>
            <a:r>
              <a:rPr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Green Debt / Net Zero</a:t>
            </a:r>
          </a:p>
        </p:txBody>
      </p:sp>
      <p:sp>
        <p:nvSpPr>
          <p:cNvPr id="19" name="Rounded Rectangle 18"/>
          <p:cNvSpPr/>
          <p:nvPr/>
        </p:nvSpPr>
        <p:spPr>
          <a:xfrm>
            <a:off x="6365299" y="2997695"/>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85326" y="3282175"/>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t>Inference: </a:t>
            </a:r>
            <a:r>
              <a:rPr lang="en-US" dirty="0"/>
              <a:t>T</a:t>
            </a:r>
            <a:r>
              <a:rPr dirty="0"/>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5663730"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a:t>
            </a:r>
            <a:r>
              <a:rPr lang="en-US" sz="1000" dirty="0"/>
              <a:t>2</a:t>
            </a:r>
            <a:r>
              <a:rPr sz="1000" dirty="0"/>
              <a:t> consumer-law analysis</a:t>
            </a:r>
            <a:r>
              <a:rPr lang="en-US" sz="1000" dirty="0"/>
              <a:t>;</a:t>
            </a:r>
            <a:r>
              <a:rPr sz="1000" dirty="0"/>
              <a:t> Chapter 5 on fragmentation and architecture.</a:t>
            </a:r>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390630"/>
            <a:ext cx="5212080" cy="323299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t>CPA 2019 &amp; CCPA </a:t>
            </a:r>
            <a:r>
              <a:rPr lang="en-US" dirty="0"/>
              <a:t>Greenwashing Guidelines</a:t>
            </a:r>
            <a:r>
              <a:rPr dirty="0"/>
              <a:t> — </a:t>
            </a:r>
            <a:endParaRPr lang="en-US" dirty="0"/>
          </a:p>
          <a:p>
            <a:pPr>
              <a:spcAft>
                <a:spcPts val="300"/>
              </a:spcAft>
              <a:defRPr sz="1500" b="1">
                <a:solidFill>
                  <a:srgbClr val="095E4F"/>
                </a:solidFill>
                <a:latin typeface="Calibri"/>
              </a:defRPr>
            </a:pPr>
            <a:r>
              <a:rPr dirty="0"/>
              <a:t>Structural </a:t>
            </a:r>
            <a:r>
              <a:rPr lang="en-US" dirty="0"/>
              <a:t>Limitations</a:t>
            </a:r>
            <a:endParaRPr dirty="0"/>
          </a:p>
          <a:p>
            <a:pPr algn="l">
              <a:spcAft>
                <a:spcPts val="150"/>
              </a:spcAft>
              <a:defRPr sz="1050" b="0">
                <a:solidFill>
                  <a:srgbClr val="3A3A4A"/>
                </a:solidFill>
                <a:latin typeface="Calibri"/>
              </a:defRPr>
            </a:pPr>
            <a:r>
              <a:rPr sz="1200" dirty="0"/>
              <a:t>1. Reactive, complaint-driven architecture — intervention occurs after claims enter the market.</a:t>
            </a:r>
            <a:endParaRPr sz="1200" dirty="0">
              <a:ea typeface="Calibri"/>
              <a:cs typeface="Calibri"/>
            </a:endParaRPr>
          </a:p>
          <a:p>
            <a:pPr algn="l">
              <a:spcAft>
                <a:spcPts val="150"/>
              </a:spcAft>
              <a:defRPr sz="1050" b="0">
                <a:solidFill>
                  <a:srgbClr val="3A3A4A"/>
                </a:solidFill>
                <a:latin typeface="Calibri"/>
              </a:defRPr>
            </a:pPr>
            <a:r>
              <a:rPr sz="1200" dirty="0"/>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t>3. Evidentiary asymmetry — burden on complainant; corporations control the information.</a:t>
            </a:r>
          </a:p>
          <a:p>
            <a:pPr algn="l">
              <a:spcAft>
                <a:spcPts val="150"/>
              </a:spcAft>
              <a:defRPr sz="1050" b="0">
                <a:solidFill>
                  <a:srgbClr val="3A3A4A"/>
                </a:solidFill>
                <a:latin typeface="Calibri"/>
              </a:defRPr>
            </a:pPr>
            <a:r>
              <a:rPr sz="1200" dirty="0"/>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t>5. Puffery exception — 'obvious hyperboles' carve-out creates loopholes for vague environmental language.</a:t>
            </a:r>
          </a:p>
          <a:p>
            <a:pPr algn="l">
              <a:spcAft>
                <a:spcPts val="0"/>
              </a:spcAft>
              <a:defRPr sz="1050" b="0">
                <a:solidFill>
                  <a:srgbClr val="3A3A4A"/>
                </a:solidFill>
                <a:latin typeface="Calibri"/>
              </a:defRPr>
            </a:pPr>
            <a:r>
              <a:rPr sz="1200" dirty="0"/>
              <a:t>6. No director / board-level accountability — fines imposed on entities, not decision-makers.</a:t>
            </a:r>
          </a:p>
          <a:p>
            <a:pPr>
              <a:defRPr sz="1050" b="0">
                <a:solidFill>
                  <a:srgbClr val="3A3A4A"/>
                </a:solidFill>
                <a:latin typeface="Calibri"/>
              </a:defRPr>
            </a:pPr>
            <a:r>
              <a:rPr lang="en-US" sz="1200" dirty="0">
                <a:ea typeface="Calibri"/>
                <a:cs typeface="Calibri"/>
              </a:rPr>
              <a:t>7. Guidelines only: may not stand legal test</a:t>
            </a:r>
          </a:p>
        </p:txBody>
      </p:sp>
      <p:sp>
        <p:nvSpPr>
          <p:cNvPr id="25" name="Rounded Rectangle 24"/>
          <p:cNvSpPr/>
          <p:nvPr/>
        </p:nvSpPr>
        <p:spPr>
          <a:xfrm>
            <a:off x="6365299" y="4780000"/>
            <a:ext cx="5431536" cy="900000"/>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495299" y="4850000"/>
            <a:ext cx="5171536" cy="760000"/>
          </a:xfrm>
          <a:prstGeom prst="rect">
            <a:avLst/>
          </a:prstGeom>
          <a:noFill/>
        </p:spPr>
        <p:txBody>
          <a:bodyPr wrap="square" lIns="45720" tIns="22860" rIns="45720" bIns="22860" anchor="ctr">
            <a:spAutoFit/>
          </a:bodyPr>
          <a:lstStyle/>
          <a:p>
            <a:pPr algn="l"/>
            <a:r>
              <a:rPr sz="1000" b="1" i="0">
                <a:solidFill>
                  <a:srgbClr val="095E4F"/>
                </a:solidFill>
                <a:latin typeface="Calibri"/>
              </a:rPr>
              <a:t>Answer to RQ2:  </a:t>
            </a:r>
            <a:r>
              <a:rPr sz="1000" b="0" i="0">
                <a:solidFill>
                  <a:srgbClr val="3A3A4A"/>
                </a:solidFill>
                <a:latin typeface="Calibri"/>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 Has Legal </a:t>
            </a:r>
            <a:r>
              <a:rPr lang="en-US" dirty="0"/>
              <a:t>Grounds</a:t>
            </a:r>
            <a:r>
              <a:rPr dirty="0"/>
              <a:t>, but the </a:t>
            </a:r>
            <a:r>
              <a:rPr lang="en-US" dirty="0"/>
              <a:t>Enforcement Pathway</a:t>
            </a:r>
            <a:r>
              <a:rPr dirty="0"/>
              <a:t> Is Weak</a:t>
            </a:r>
          </a:p>
        </p:txBody>
      </p:sp>
      <p:sp>
        <p:nvSpPr>
          <p:cNvPr id="5" name="TextBox 4"/>
          <p:cNvSpPr txBox="1"/>
          <p:nvPr/>
        </p:nvSpPr>
        <p:spPr>
          <a:xfrm>
            <a:off x="566928" y="960120"/>
            <a:ext cx="7102265"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There is </a:t>
            </a:r>
            <a:r>
              <a:t>doctrinal strength </a:t>
            </a:r>
            <a:r>
              <a:rPr lang="en-US"/>
              <a:t>in laws but has</a:t>
            </a:r>
            <a:r>
              <a:t> not yet been converted into visible, routine </a:t>
            </a:r>
            <a:r>
              <a:rPr lang="en-US"/>
              <a:t>enforcement</a:t>
            </a:r>
            <a:r>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a:t>Already</a:t>
            </a:r>
            <a:r>
              <a:t> in law</a:t>
            </a:r>
          </a:p>
        </p:txBody>
      </p:sp>
      <p:sp>
        <p:nvSpPr>
          <p:cNvPr id="10" name="TextBox 9"/>
          <p:cNvSpPr txBox="1"/>
          <p:nvPr/>
        </p:nvSpPr>
        <p:spPr>
          <a:xfrm>
            <a:off x="956694" y="2541600"/>
            <a:ext cx="4352544"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dirty="0"/>
              <a:t>Section 166(2) expressly places environmental protection inside directors' duties.</a:t>
            </a:r>
            <a:endParaRPr lang="en-US" dirty="0"/>
          </a:p>
          <a:p>
            <a:pPr marL="171450" indent="-171450">
              <a:spcAft>
                <a:spcPts val="600"/>
              </a:spcAft>
              <a:buFont typeface="Arial"/>
              <a:buChar char="•"/>
              <a:defRPr sz="1220">
                <a:solidFill>
                  <a:srgbClr val="2A2A2A"/>
                </a:solidFill>
                <a:latin typeface="Avenir Next"/>
              </a:defRPr>
            </a:pPr>
            <a:r>
              <a:rPr dirty="0"/>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200" dirty="0"/>
              <a:t>SEBI's BRSR and BRSR Core </a:t>
            </a:r>
            <a:r>
              <a:rPr sz="1200" dirty="0" err="1"/>
              <a:t>formalise</a:t>
            </a:r>
            <a:r>
              <a:rPr sz="1200" dirty="0"/>
              <a:t> sustainability disclosure obligations.</a:t>
            </a:r>
          </a:p>
          <a:p>
            <a:pPr marL="171450" indent="-171450">
              <a:spcAft>
                <a:spcPts val="600"/>
              </a:spcAft>
              <a:buFont typeface="Arial"/>
              <a:buChar char="•"/>
              <a:defRPr sz="1220">
                <a:solidFill>
                  <a:srgbClr val="2A2A2A"/>
                </a:solidFill>
                <a:latin typeface="Avenir Next"/>
              </a:defRPr>
            </a:pPr>
            <a:r>
              <a:rPr dirty="0"/>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Lack of Case enforcement</a:t>
            </a:r>
            <a:endParaRPr dirty="0"/>
          </a:p>
        </p:txBody>
      </p:sp>
      <p:sp>
        <p:nvSpPr>
          <p:cNvPr id="13" name="TextBox 12"/>
          <p:cNvSpPr txBox="1"/>
          <p:nvPr/>
        </p:nvSpPr>
        <p:spPr>
          <a:xfrm>
            <a:off x="6095622" y="2541600"/>
            <a:ext cx="4846320" cy="1825115"/>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t>No reported director liability under Section 166(2) for environmental misrepresentation.</a:t>
            </a:r>
            <a:endParaRPr lang="en-US"/>
          </a:p>
          <a:p>
            <a:pPr marL="171450" indent="-171450">
              <a:spcAft>
                <a:spcPts val="600"/>
              </a:spcAft>
              <a:buFont typeface="Arial"/>
              <a:buChar char="•"/>
              <a:defRPr sz="1220">
                <a:solidFill>
                  <a:srgbClr val="2A2A2A"/>
                </a:solidFill>
                <a:latin typeface="Avenir Next"/>
              </a:defRPr>
            </a:pPr>
            <a: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200" dirty="0"/>
              <a:t>Section 166(7) penalties remain commercially minor for large companies.</a:t>
            </a:r>
          </a:p>
          <a:p>
            <a:pPr marL="171450" indent="-171450">
              <a:spcAft>
                <a:spcPts val="600"/>
              </a:spcAft>
              <a:buFont typeface="Arial"/>
              <a:buChar char="•"/>
              <a:defRPr sz="1220">
                <a:solidFill>
                  <a:srgbClr val="2A2A2A"/>
                </a:solidFill>
                <a:latin typeface="Avenir Next"/>
              </a:defRPr>
            </a:pPr>
            <a:r>
              <a:t>BRSR assurance is partial and delayed, leaving much ESG data effectively self-certified.</a:t>
            </a:r>
          </a:p>
        </p:txBody>
      </p:sp>
      <p:sp>
        <p:nvSpPr>
          <p:cNvPr id="17" name="TextBox 16"/>
          <p:cNvSpPr txBox="1"/>
          <p:nvPr/>
        </p:nvSpPr>
        <p:spPr>
          <a:xfrm>
            <a:off x="566928" y="6252446"/>
            <a:ext cx="5062604"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Chapter</a:t>
            </a:r>
            <a:r>
              <a:rPr sz="1000"/>
              <a:t> 3 on Section 166 and Chapter 5 on BRSR design weaknesses.</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296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2960" y="4994656"/>
            <a:ext cx="256032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6926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rPr dirty="0"/>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69264" y="5488432"/>
            <a:ext cx="2267712" cy="274320"/>
          </a:xfrm>
          <a:prstGeom prst="rect">
            <a:avLst/>
          </a:prstGeom>
          <a:noFill/>
        </p:spPr>
        <p:txBody>
          <a:bodyPr wrap="square" anchor="t">
            <a:spAutoFit/>
          </a:bodyPr>
          <a:lstStyle/>
          <a:p>
            <a:pPr algn="l">
              <a:defRPr sz="1200" b="0">
                <a:solidFill>
                  <a:srgbClr val="2A2A2A"/>
                </a:solidFill>
                <a:latin typeface="Avenir Next"/>
              </a:defRPr>
            </a:pPr>
            <a:r>
              <a:rPr dirty="0"/>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1880" y="4994656"/>
            <a:ext cx="2560320" cy="115214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1880" y="4994656"/>
            <a:ext cx="256032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8184" y="5122672"/>
            <a:ext cx="2267712" cy="338554"/>
          </a:xfrm>
          <a:prstGeom prst="rect">
            <a:avLst/>
          </a:prstGeom>
          <a:noFill/>
        </p:spPr>
        <p:txBody>
          <a:bodyPr wrap="square" anchor="t">
            <a:spAutoFit/>
          </a:bodyPr>
          <a:lstStyle/>
          <a:p>
            <a:pPr algn="l">
              <a:defRPr sz="1600" b="1">
                <a:solidFill>
                  <a:srgbClr val="173F35"/>
                </a:solidFill>
                <a:latin typeface="Avenir Next Demi Bold"/>
              </a:defRPr>
            </a:pPr>
            <a:r>
              <a:rPr dirty="0"/>
              <a:t>Uni</a:t>
            </a:r>
            <a:r>
              <a:rPr lang="en-US" dirty="0"/>
              <a:t>ted States</a:t>
            </a:r>
            <a:endParaRPr dirty="0"/>
          </a:p>
        </p:txBody>
      </p:sp>
      <p:sp>
        <p:nvSpPr>
          <p:cNvPr id="19" name="TextBox 18">
            <a:extLst>
              <a:ext uri="{FF2B5EF4-FFF2-40B4-BE49-F238E27FC236}">
                <a16:creationId xmlns:a16="http://schemas.microsoft.com/office/drawing/2014/main" id="{B4755C55-9279-EAC2-E8F1-D870948CA206}"/>
              </a:ext>
            </a:extLst>
          </p:cNvPr>
          <p:cNvSpPr txBox="1"/>
          <p:nvPr/>
        </p:nvSpPr>
        <p:spPr>
          <a:xfrm>
            <a:off x="3758184" y="5488432"/>
            <a:ext cx="2267712" cy="646331"/>
          </a:xfrm>
          <a:prstGeom prst="rect">
            <a:avLst/>
          </a:prstGeom>
          <a:noFill/>
        </p:spPr>
        <p:txBody>
          <a:bodyPr wrap="square" anchor="t">
            <a:spAutoFit/>
          </a:bodyPr>
          <a:lstStyle/>
          <a:p>
            <a:pPr algn="l">
              <a:defRPr sz="1200" b="0">
                <a:solidFill>
                  <a:srgbClr val="2A2A2A"/>
                </a:solidFill>
                <a:latin typeface="Avenir Next"/>
              </a:defRPr>
            </a:pPr>
            <a:r>
              <a:rPr lang="en-US" dirty="0"/>
              <a:t>US FTC brought 90 greenwashing enforcement actions between 2021-2023</a:t>
            </a:r>
            <a:endParaRPr dirty="0"/>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0800" y="4994656"/>
            <a:ext cx="25603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0800" y="4994656"/>
            <a:ext cx="256032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7104" y="5122672"/>
            <a:ext cx="2267712" cy="384048"/>
          </a:xfrm>
          <a:prstGeom prst="rect">
            <a:avLst/>
          </a:prstGeom>
          <a:noFill/>
        </p:spPr>
        <p:txBody>
          <a:bodyPr wrap="square" anchor="t">
            <a:spAutoFit/>
          </a:bodyPr>
          <a:lstStyle/>
          <a:p>
            <a:pPr algn="l">
              <a:defRPr sz="1600" b="1">
                <a:solidFill>
                  <a:srgbClr val="173F35"/>
                </a:solidFill>
                <a:latin typeface="Avenir Next Demi Bold"/>
              </a:defRPr>
            </a:pPr>
            <a: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1997" y="5461226"/>
            <a:ext cx="2414016" cy="707886"/>
          </a:xfrm>
          <a:prstGeom prst="rect">
            <a:avLst/>
          </a:prstGeom>
          <a:noFill/>
        </p:spPr>
        <p:txBody>
          <a:bodyPr wrap="square" anchor="t">
            <a:spAutoFit/>
          </a:bodyPr>
          <a:lstStyle/>
          <a:p>
            <a:pPr algn="l">
              <a:defRPr sz="1200" b="0">
                <a:solidFill>
                  <a:srgbClr val="2A2A2A"/>
                </a:solidFill>
                <a:latin typeface="Avenir Next"/>
              </a:defRPr>
            </a:pPr>
            <a:r>
              <a:rPr sz="1000" dirty="0"/>
              <a:t>Integrated reporting, claim controls, verification, and coordinated sweeps.</a:t>
            </a:r>
            <a:endParaRPr lang="en-US" sz="1000" dirty="0"/>
          </a:p>
          <a:p>
            <a:pPr algn="l">
              <a:defRPr sz="1200" b="0">
                <a:solidFill>
                  <a:srgbClr val="2A2A2A"/>
                </a:solidFill>
                <a:latin typeface="Avenir Next"/>
              </a:defRPr>
            </a:pPr>
            <a:r>
              <a:rPr lang="en-IN" sz="1000" dirty="0"/>
              <a:t>France alone issued 141 warnings &amp; 114 injunctions-misleading env claims</a:t>
            </a:r>
            <a:endParaRPr sz="1000" dirty="0"/>
          </a:p>
        </p:txBody>
      </p:sp>
      <p:sp>
        <p:nvSpPr>
          <p:cNvPr id="24" name="Rounded Rectangle 23">
            <a:extLst>
              <a:ext uri="{FF2B5EF4-FFF2-40B4-BE49-F238E27FC236}">
                <a16:creationId xmlns:a16="http://schemas.microsoft.com/office/drawing/2014/main" id="{DB524ECD-0D2D-5A1D-CF13-897C1810DCE3}"/>
              </a:ext>
            </a:extLst>
          </p:cNvPr>
          <p:cNvSpPr/>
          <p:nvPr/>
        </p:nvSpPr>
        <p:spPr>
          <a:xfrm>
            <a:off x="9189720" y="4994656"/>
            <a:ext cx="2103120" cy="118463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89720" y="4994656"/>
            <a:ext cx="210312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024" y="5122672"/>
            <a:ext cx="1810512" cy="384048"/>
          </a:xfrm>
          <a:prstGeom prst="rect">
            <a:avLst/>
          </a:prstGeom>
          <a:noFill/>
        </p:spPr>
        <p:txBody>
          <a:bodyPr wrap="square" anchor="t">
            <a:spAutoFit/>
          </a:bodyPr>
          <a:lstStyle/>
          <a:p>
            <a:pPr algn="l">
              <a:defRPr sz="1600" b="1">
                <a:solidFill>
                  <a:srgbClr val="173F35"/>
                </a:solidFill>
                <a:latin typeface="Avenir Next Demi Bold"/>
              </a:defRPr>
            </a:pPr>
            <a: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024" y="5488432"/>
            <a:ext cx="1810512" cy="646331"/>
          </a:xfrm>
          <a:prstGeom prst="rect">
            <a:avLst/>
          </a:prstGeom>
          <a:noFill/>
        </p:spPr>
        <p:txBody>
          <a:bodyPr wrap="square" anchor="t">
            <a:spAutoFit/>
          </a:bodyPr>
          <a:lstStyle/>
          <a:p>
            <a:pPr algn="l">
              <a:defRPr sz="1200" b="0">
                <a:solidFill>
                  <a:srgbClr val="2A2A2A"/>
                </a:solidFill>
                <a:latin typeface="Avenir Next"/>
              </a:defRPr>
            </a:pPr>
            <a:r>
              <a:rPr dirty="0"/>
              <a:t>Tools exist, but visible </a:t>
            </a:r>
            <a:r>
              <a:rPr lang="en-US" dirty="0"/>
              <a:t>reported </a:t>
            </a:r>
            <a:r>
              <a:rPr dirty="0"/>
              <a:t>deterrent </a:t>
            </a:r>
            <a:r>
              <a:rPr lang="en-US" dirty="0"/>
              <a:t>case</a:t>
            </a:r>
            <a:r>
              <a:rPr dirty="0"/>
              <a:t> is close to zero.</a:t>
            </a:r>
          </a:p>
        </p:txBody>
      </p:sp>
    </p:spTree>
    <p:extLst>
      <p:ext uri="{BB962C8B-B14F-4D97-AF65-F5344CB8AC3E}">
        <p14:creationId xmlns:p14="http://schemas.microsoft.com/office/powerpoint/2010/main" val="2662535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dirty="0"/>
              <a:t>India's Enforcement Gap Is </a:t>
            </a:r>
            <a:r>
              <a:rPr lang="en-US" dirty="0"/>
              <a:t>Firstly</a:t>
            </a:r>
            <a:r>
              <a:rPr dirty="0"/>
              <a:t> a Design Problem</a:t>
            </a:r>
          </a:p>
        </p:txBody>
      </p:sp>
      <p:sp>
        <p:nvSpPr>
          <p:cNvPr id="8" name="Chevron 7"/>
          <p:cNvSpPr/>
          <p:nvPr/>
        </p:nvSpPr>
        <p:spPr>
          <a:xfrm>
            <a:off x="751642"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Board Responsibility</a:t>
            </a:r>
          </a:p>
        </p:txBody>
      </p:sp>
      <p:sp>
        <p:nvSpPr>
          <p:cNvPr id="9" name="Chevron 8"/>
          <p:cNvSpPr/>
          <p:nvPr/>
        </p:nvSpPr>
        <p:spPr>
          <a:xfrm>
            <a:off x="2799898"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Claim Substantiation</a:t>
            </a:r>
          </a:p>
        </p:txBody>
      </p:sp>
      <p:sp>
        <p:nvSpPr>
          <p:cNvPr id="10" name="Chevron 9"/>
          <p:cNvSpPr/>
          <p:nvPr/>
        </p:nvSpPr>
        <p:spPr>
          <a:xfrm>
            <a:off x="4848154"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Independent Assurance</a:t>
            </a:r>
          </a:p>
        </p:txBody>
      </p:sp>
      <p:sp>
        <p:nvSpPr>
          <p:cNvPr id="11" name="Chevron 10"/>
          <p:cNvSpPr/>
          <p:nvPr/>
        </p:nvSpPr>
        <p:spPr>
          <a:xfrm>
            <a:off x="6896410"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Regulator Coordination</a:t>
            </a:r>
          </a:p>
        </p:txBody>
      </p:sp>
      <p:sp>
        <p:nvSpPr>
          <p:cNvPr id="12" name="Chevron 11"/>
          <p:cNvSpPr/>
          <p:nvPr/>
        </p:nvSpPr>
        <p:spPr>
          <a:xfrm>
            <a:off x="8944666" y="1446365"/>
            <a:ext cx="199339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t>Visible Penalties</a:t>
            </a:r>
          </a:p>
        </p:txBody>
      </p:sp>
      <p:sp>
        <p:nvSpPr>
          <p:cNvPr id="13" name="Rounded Rectangle 12"/>
          <p:cNvSpPr/>
          <p:nvPr/>
        </p:nvSpPr>
        <p:spPr>
          <a:xfrm>
            <a:off x="735296" y="2251037"/>
            <a:ext cx="6709754" cy="216003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943207" y="2355856"/>
            <a:ext cx="3075296" cy="46885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100" dirty="0">
                <a:ea typeface="+mn-lt"/>
                <a:cs typeface="+mn-lt"/>
              </a:rPr>
              <a:t>Stronger jurisdictions share common design features</a:t>
            </a:r>
            <a:endParaRPr lang="en-US" sz="1100"/>
          </a:p>
        </p:txBody>
      </p:sp>
      <p:sp>
        <p:nvSpPr>
          <p:cNvPr id="15" name="TextBox 14"/>
          <p:cNvSpPr txBox="1"/>
          <p:nvPr/>
        </p:nvSpPr>
        <p:spPr>
          <a:xfrm>
            <a:off x="1026987" y="2819798"/>
            <a:ext cx="6108192"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200">
                <a:ea typeface="+mn-lt"/>
                <a:cs typeface="+mn-lt"/>
              </a:rPr>
              <a:t>- ex ante substantiation requirements</a:t>
            </a:r>
            <a:endParaRPr lang="en-US"/>
          </a:p>
          <a:p>
            <a:pPr>
              <a:lnSpc>
                <a:spcPct val="150000"/>
              </a:lnSpc>
              <a:defRPr sz="1200">
                <a:solidFill>
                  <a:srgbClr val="2A2A2A"/>
                </a:solidFill>
                <a:latin typeface="Avenir Next"/>
              </a:defRPr>
            </a:pPr>
            <a:r>
              <a:rPr lang="en-US" sz="1200">
                <a:ea typeface="+mn-lt"/>
                <a:cs typeface="+mn-lt"/>
              </a:rPr>
              <a:t>- stronger assurance / verification</a:t>
            </a:r>
            <a:endParaRPr lang="en-US"/>
          </a:p>
          <a:p>
            <a:pPr>
              <a:lnSpc>
                <a:spcPct val="150000"/>
              </a:lnSpc>
              <a:defRPr sz="1200">
                <a:solidFill>
                  <a:srgbClr val="2A2A2A"/>
                </a:solidFill>
                <a:latin typeface="Avenir Next"/>
              </a:defRPr>
            </a:pPr>
            <a:r>
              <a:rPr lang="en-US" sz="1200">
                <a:ea typeface="+mn-lt"/>
                <a:cs typeface="+mn-lt"/>
              </a:rPr>
              <a:t>- clear liability </a:t>
            </a:r>
            <a:r>
              <a:rPr lang="en-US">
                <a:ea typeface="+mn-lt"/>
                <a:cs typeface="+mn-lt"/>
              </a:rPr>
              <a:t>architecture</a:t>
            </a:r>
            <a:endParaRPr lang="en-US"/>
          </a:p>
          <a:p>
            <a:pPr>
              <a:lnSpc>
                <a:spcPct val="150000"/>
              </a:lnSpc>
              <a:defRPr sz="1200">
                <a:solidFill>
                  <a:srgbClr val="2A2A2A"/>
                </a:solidFill>
                <a:latin typeface="Avenir Next"/>
              </a:defRPr>
            </a:pPr>
            <a:r>
              <a:rPr lang="en-US">
                <a:ea typeface="+mn-lt"/>
                <a:cs typeface="+mn-lt"/>
              </a:rPr>
              <a:t>- credible </a:t>
            </a:r>
            <a:r>
              <a:rPr lang="en-US" sz="1200">
                <a:ea typeface="+mn-lt"/>
                <a:cs typeface="+mn-lt"/>
              </a:rPr>
              <a:t>and </a:t>
            </a:r>
            <a:r>
              <a:rPr lang="en-US">
                <a:ea typeface="+mn-lt"/>
                <a:cs typeface="+mn-lt"/>
              </a:rPr>
              <a:t>visible penalties</a:t>
            </a:r>
          </a:p>
          <a:p>
            <a:pPr>
              <a:lnSpc>
                <a:spcPct val="150000"/>
              </a:lnSpc>
              <a:spcAft>
                <a:spcPts val="600"/>
              </a:spcAft>
              <a:defRPr sz="1200">
                <a:solidFill>
                  <a:srgbClr val="2A2A2A"/>
                </a:solidFill>
                <a:latin typeface="Avenir Next"/>
              </a:defRPr>
            </a:pPr>
            <a:r>
              <a:rPr lang="en-US">
                <a:ea typeface="+mn-lt"/>
                <a:cs typeface="+mn-lt"/>
              </a:rPr>
              <a:t>- preventive design across the life cycle of the claim</a:t>
            </a:r>
            <a:endParaRPr/>
          </a:p>
        </p:txBody>
      </p:sp>
      <p:sp>
        <p:nvSpPr>
          <p:cNvPr id="16" name="Rounded Rectangle 15"/>
          <p:cNvSpPr/>
          <p:nvPr/>
        </p:nvSpPr>
        <p:spPr>
          <a:xfrm>
            <a:off x="7646218" y="2251037"/>
            <a:ext cx="3639312" cy="201168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865674" y="2355856"/>
            <a:ext cx="1353312"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t>Indian </a:t>
            </a:r>
            <a:r>
              <a:rPr lang="en-US" dirty="0" err="1"/>
              <a:t>Regularoty</a:t>
            </a:r>
            <a:r>
              <a:rPr lang="en-US" dirty="0"/>
              <a:t> Design</a:t>
            </a:r>
            <a:endParaRPr dirty="0"/>
          </a:p>
        </p:txBody>
      </p:sp>
      <p:sp>
        <p:nvSpPr>
          <p:cNvPr id="18" name="TextBox 17"/>
          <p:cNvSpPr txBox="1"/>
          <p:nvPr/>
        </p:nvSpPr>
        <p:spPr>
          <a:xfrm>
            <a:off x="7868534" y="2791656"/>
            <a:ext cx="3504983" cy="1446165"/>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dirty="0">
                <a:ea typeface="+mn-lt"/>
                <a:cs typeface="+mn-lt"/>
              </a:rPr>
              <a:t>- incomplete verification architecture</a:t>
            </a:r>
            <a:endParaRPr lang="en-US" dirty="0"/>
          </a:p>
          <a:p>
            <a:pPr>
              <a:lnSpc>
                <a:spcPct val="150000"/>
              </a:lnSpc>
              <a:defRPr sz="1200">
                <a:solidFill>
                  <a:srgbClr val="2A2A2A"/>
                </a:solidFill>
                <a:latin typeface="Avenir Next"/>
              </a:defRPr>
            </a:pPr>
            <a:r>
              <a:rPr lang="en-US" dirty="0">
                <a:ea typeface="+mn-lt"/>
                <a:cs typeface="+mn-lt"/>
              </a:rPr>
              <a:t>- weak assurance design</a:t>
            </a:r>
            <a:endParaRPr lang="en-US" dirty="0"/>
          </a:p>
          <a:p>
            <a:pPr>
              <a:lnSpc>
                <a:spcPct val="150000"/>
              </a:lnSpc>
              <a:defRPr sz="1200">
                <a:solidFill>
                  <a:srgbClr val="2A2A2A"/>
                </a:solidFill>
                <a:latin typeface="Avenir Next"/>
              </a:defRPr>
            </a:pPr>
            <a:r>
              <a:rPr lang="en-US" dirty="0">
                <a:ea typeface="+mn-lt"/>
                <a:cs typeface="+mn-lt"/>
              </a:rPr>
              <a:t>- no robust ex ante substantiation framework</a:t>
            </a:r>
            <a:endParaRPr lang="en-US" dirty="0"/>
          </a:p>
          <a:p>
            <a:pPr>
              <a:lnSpc>
                <a:spcPct val="150000"/>
              </a:lnSpc>
              <a:defRPr sz="1200">
                <a:solidFill>
                  <a:srgbClr val="2A2A2A"/>
                </a:solidFill>
                <a:latin typeface="Avenir Next"/>
              </a:defRPr>
            </a:pPr>
            <a:r>
              <a:rPr lang="en-US" dirty="0">
                <a:ea typeface="+mn-lt"/>
                <a:cs typeface="+mn-lt"/>
              </a:rPr>
              <a:t>- repeated regulatory relaxations / backsliding</a:t>
            </a:r>
            <a:endParaRPr dirty="0"/>
          </a:p>
          <a:p>
            <a:pPr>
              <a:lnSpc>
                <a:spcPct val="150000"/>
              </a:lnSpc>
              <a:spcAft>
                <a:spcPts val="600"/>
              </a:spcAft>
              <a:defRPr sz="1200">
                <a:solidFill>
                  <a:srgbClr val="2A2A2A"/>
                </a:solidFill>
                <a:latin typeface="Avenir Next"/>
              </a:defRPr>
            </a:pPr>
            <a:r>
              <a:rPr lang="en-US" dirty="0">
                <a:ea typeface="+mn-lt"/>
                <a:cs typeface="+mn-lt"/>
              </a:rPr>
              <a:t>- comparatively modest penalties</a:t>
            </a:r>
          </a:p>
        </p:txBody>
      </p:sp>
      <p:sp>
        <p:nvSpPr>
          <p:cNvPr id="19" name="Rounded Rectangle 18"/>
          <p:cNvSpPr/>
          <p:nvPr/>
        </p:nvSpPr>
        <p:spPr>
          <a:xfrm>
            <a:off x="767988" y="5094368"/>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07674" y="5290735"/>
            <a:ext cx="9948672" cy="492443"/>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dirty="0"/>
              <a:t>This </a:t>
            </a:r>
            <a:r>
              <a:rPr dirty="0"/>
              <a:t>points to </a:t>
            </a:r>
            <a:r>
              <a:rPr lang="en-US" dirty="0">
                <a:ea typeface="+mn-lt"/>
                <a:cs typeface="+mn-lt"/>
              </a:rPr>
              <a:t>India's stark lack of anti-greenwashing enforcement</a:t>
            </a:r>
            <a:endParaRPr lang="en-US" dirty="0"/>
          </a:p>
          <a:p>
            <a:pPr algn="ctr">
              <a:defRPr sz="1300" b="1">
                <a:solidFill>
                  <a:srgbClr val="173F35"/>
                </a:solidFill>
                <a:latin typeface="Avenir Next Demi Bold"/>
              </a:defRPr>
            </a:pPr>
            <a:r>
              <a:rPr lang="en-US" dirty="0">
                <a:ea typeface="+mn-lt"/>
                <a:cs typeface="+mn-lt"/>
              </a:rPr>
              <a:t>as mainly a result of poor regulatory design</a:t>
            </a:r>
            <a:endParaRPr lang="en-US" dirty="0"/>
          </a:p>
        </p:txBody>
      </p:sp>
      <p:sp>
        <p:nvSpPr>
          <p:cNvPr id="21" name="TextBox 20"/>
          <p:cNvSpPr txBox="1"/>
          <p:nvPr/>
        </p:nvSpPr>
        <p:spPr>
          <a:xfrm>
            <a:off x="566928" y="6400800"/>
            <a:ext cx="2874505"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a:t>Source base: </a:t>
            </a:r>
            <a:r>
              <a:rPr lang="en-US" sz="1000"/>
              <a:t>Comparative</a:t>
            </a:r>
            <a:r>
              <a:rPr sz="1000"/>
              <a:t> study in Chapter 4.</a:t>
            </a:r>
          </a:p>
        </p:txBody>
      </p:sp>
    </p:spTree>
    <p:extLst>
      <p:ext uri="{BB962C8B-B14F-4D97-AF65-F5344CB8AC3E}">
        <p14:creationId xmlns:p14="http://schemas.microsoft.com/office/powerpoint/2010/main" val="41472969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100" b="1" dirty="0">
                <a:solidFill>
                  <a:srgbClr val="173F35"/>
                </a:solidFill>
                <a:latin typeface="Avenir Next Demi Bold"/>
              </a:rPr>
              <a:t>More Faults Beyond Poor Regulatory Design</a:t>
            </a:r>
            <a:endParaRPr dirty="0"/>
          </a:p>
        </p:txBody>
      </p:sp>
      <p:sp>
        <p:nvSpPr>
          <p:cNvPr id="34" name="TextBox 33"/>
          <p:cNvSpPr txBox="1"/>
          <p:nvPr/>
        </p:nvSpPr>
        <p:spPr>
          <a:xfrm>
            <a:off x="566928" y="6400800"/>
            <a:ext cx="2241319"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a:t>
            </a:r>
            <a:r>
              <a:rPr lang="en-US" sz="1000"/>
              <a:t>Analysis</a:t>
            </a:r>
            <a:r>
              <a:rPr sz="1000" dirty="0"/>
              <a:t> in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1337314"/>
            <a:ext cx="5291452" cy="209143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35840"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68123" y="1402817"/>
            <a:ext cx="5044439" cy="1977464"/>
          </a:xfrm>
          <a:prstGeom prst="rect">
            <a:avLst/>
          </a:prstGeom>
          <a:noFill/>
        </p:spPr>
        <p:txBody>
          <a:bodyPr wrap="square">
            <a:spAutoFit/>
          </a:bodyPr>
          <a:lstStyle/>
          <a:p>
            <a:pPr algn="l">
              <a:spcAft>
                <a:spcPts val="300"/>
              </a:spcAft>
              <a:defRPr sz="1400" b="1">
                <a:solidFill>
                  <a:srgbClr val="095E4F"/>
                </a:solidFill>
                <a:latin typeface="Calibri"/>
              </a:defRPr>
            </a:pPr>
            <a:r>
              <a:rPr sz="1600" dirty="0"/>
              <a:t>Definitional Fragmentation</a:t>
            </a:r>
          </a:p>
          <a:p>
            <a:pPr marL="171450" indent="-171450">
              <a:buFont typeface="Arial" panose="020B0604020202020204" pitchFamily="34" charset="0"/>
              <a:buChar char="•"/>
              <a:defRPr sz="1100" b="0">
                <a:solidFill>
                  <a:srgbClr val="3A3A4A"/>
                </a:solidFill>
                <a:latin typeface="Calibri"/>
              </a:defRPr>
            </a:pPr>
            <a:r>
              <a:rPr lang="en-IN" sz="1300" dirty="0"/>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300" dirty="0"/>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300" dirty="0"/>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300" dirty="0"/>
              <a:t>Firms invest in "defensible wording" rather than verifiable performance</a:t>
            </a:r>
            <a:endParaRPr sz="1300" dirty="0"/>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623334"/>
            <a:ext cx="5175557" cy="254989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66143" y="36831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678198"/>
            <a:ext cx="5033807" cy="2377574"/>
          </a:xfrm>
          <a:prstGeom prst="rect">
            <a:avLst/>
          </a:prstGeom>
          <a:noFill/>
        </p:spPr>
        <p:txBody>
          <a:bodyPr wrap="square">
            <a:spAutoFit/>
          </a:bodyPr>
          <a:lstStyle/>
          <a:p>
            <a:pPr algn="l">
              <a:spcAft>
                <a:spcPts val="300"/>
              </a:spcAft>
              <a:defRPr sz="1400" b="1">
                <a:solidFill>
                  <a:srgbClr val="095E4F"/>
                </a:solidFill>
                <a:latin typeface="Calibri"/>
              </a:defRPr>
            </a:pPr>
            <a:r>
              <a:rPr lang="en-US" sz="1600" dirty="0"/>
              <a:t>Regulatory Proliferation with Sustained Ambiguity</a:t>
            </a:r>
            <a:endParaRPr sz="1600" dirty="0"/>
          </a:p>
          <a:p>
            <a:pPr marL="171450" indent="-171450">
              <a:buFont typeface="Arial" panose="020B0604020202020204" pitchFamily="34" charset="0"/>
              <a:buChar char="•"/>
              <a:defRPr sz="1100" b="0">
                <a:solidFill>
                  <a:srgbClr val="3A3A4A"/>
                </a:solidFill>
                <a:latin typeface="Calibri"/>
              </a:defRPr>
            </a:pPr>
            <a:r>
              <a:rPr lang="en-IN" sz="1300" dirty="0"/>
              <a:t>A single "carbon neutral" claim simultaneously engages CCPA, SEBI, MCA, FSSAI, and </a:t>
            </a:r>
            <a:r>
              <a:rPr lang="en-IN" sz="1300" dirty="0" err="1"/>
              <a:t>MoEFCC</a:t>
            </a:r>
            <a:endParaRPr lang="en-IN" sz="1300" dirty="0"/>
          </a:p>
          <a:p>
            <a:pPr marL="171450" indent="-171450">
              <a:buFont typeface="Arial" panose="020B0604020202020204" pitchFamily="34" charset="0"/>
              <a:buChar char="•"/>
              <a:defRPr sz="1100" b="0">
                <a:solidFill>
                  <a:srgbClr val="3A3A4A"/>
                </a:solidFill>
                <a:latin typeface="Calibri"/>
              </a:defRPr>
            </a:pPr>
            <a:r>
              <a:rPr lang="en-IN" sz="1300" dirty="0"/>
              <a:t>Green Taxonomy Paradox: India's May 2025 Climate Finance Taxonomy added a </a:t>
            </a:r>
            <a:r>
              <a:rPr lang="en-IN" sz="1300" i="1" dirty="0"/>
              <a:t>new</a:t>
            </a:r>
            <a:r>
              <a:rPr lang="en-IN" sz="1300" dirty="0"/>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300" dirty="0"/>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300" dirty="0"/>
              <a:t>CCPA Guidelines' subordination clause ("in addition to and not in derogation of") creates ambiguity rather than resolving it.</a:t>
            </a:r>
            <a:endParaRPr sz="1300" dirty="0"/>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582850"/>
            <a:ext cx="5212080" cy="171561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53593" y="484827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5</a:t>
            </a:r>
            <a:endParaRPr dirty="0">
              <a:solidFill>
                <a:schemeClr val="tx1"/>
              </a:solidFill>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730253"/>
            <a:ext cx="5067118" cy="1577355"/>
          </a:xfrm>
          <a:prstGeom prst="rect">
            <a:avLst/>
          </a:prstGeom>
          <a:noFill/>
        </p:spPr>
        <p:txBody>
          <a:bodyPr wrap="square">
            <a:spAutoFit/>
          </a:bodyPr>
          <a:lstStyle/>
          <a:p>
            <a:pPr algn="l">
              <a:spcAft>
                <a:spcPts val="300"/>
              </a:spcAft>
              <a:defRPr sz="1400" b="1">
                <a:solidFill>
                  <a:srgbClr val="095E4F"/>
                </a:solidFill>
                <a:latin typeface="Calibri"/>
              </a:defRPr>
            </a:pPr>
            <a:r>
              <a:rPr sz="1600" dirty="0"/>
              <a:t>Penalty Arbitrage — Greenwashing as Rational Strategy</a:t>
            </a:r>
            <a:endParaRPr lang="en-IN" sz="1600" dirty="0"/>
          </a:p>
          <a:p>
            <a:pPr marL="171450" indent="-171450">
              <a:buFont typeface="Arial" panose="020B0604020202020204" pitchFamily="34" charset="0"/>
              <a:buChar char="•"/>
              <a:defRPr sz="1100" b="0">
                <a:solidFill>
                  <a:srgbClr val="3A3A4A"/>
                </a:solidFill>
                <a:latin typeface="Calibri"/>
              </a:defRPr>
            </a:pPr>
            <a:r>
              <a:rPr lang="en-IN" sz="1300" dirty="0"/>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300" dirty="0"/>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300" dirty="0"/>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300" dirty="0"/>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1316056"/>
            <a:ext cx="5196834" cy="1546577"/>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889244" y="1425784"/>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3</a:t>
            </a:r>
            <a:endParaRPr dirty="0">
              <a:solidFill>
                <a:schemeClr val="tx1"/>
              </a:solidFill>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21010" y="1370920"/>
            <a:ext cx="5145784" cy="1415772"/>
          </a:xfrm>
          <a:prstGeom prst="rect">
            <a:avLst/>
          </a:prstGeom>
          <a:noFill/>
        </p:spPr>
        <p:txBody>
          <a:bodyPr wrap="square">
            <a:spAutoFit/>
          </a:bodyPr>
          <a:lstStyle/>
          <a:p>
            <a:pPr algn="l">
              <a:spcAft>
                <a:spcPts val="300"/>
              </a:spcAft>
              <a:defRPr sz="1400" b="1">
                <a:solidFill>
                  <a:srgbClr val="095E4F"/>
                </a:solidFill>
                <a:latin typeface="Calibri"/>
              </a:defRPr>
            </a:pPr>
            <a:r>
              <a:rPr sz="1600" dirty="0"/>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300" dirty="0"/>
              <a:t>SEBI (active dilution): value-chain disclosure deferred &amp; narrowed; 'assessment or assurance’ </a:t>
            </a:r>
            <a:r>
              <a:rPr lang="en-US" sz="1300" dirty="0"/>
              <a:t>choice replaces earlier</a:t>
            </a:r>
            <a:r>
              <a:rPr sz="1300" dirty="0"/>
              <a:t> mandatory assurance.</a:t>
            </a:r>
            <a:endParaRPr lang="en-US" sz="1300" dirty="0"/>
          </a:p>
          <a:p>
            <a:pPr marL="171450" indent="-171450" algn="l">
              <a:spcAft>
                <a:spcPts val="300"/>
              </a:spcAft>
              <a:buFont typeface="Arial" panose="020B0604020202020204" pitchFamily="34" charset="0"/>
              <a:buChar char="•"/>
              <a:defRPr sz="1100" b="0">
                <a:solidFill>
                  <a:srgbClr val="3A3A4A"/>
                </a:solidFill>
                <a:latin typeface="Calibri"/>
              </a:defRPr>
            </a:pPr>
            <a:r>
              <a:rPr sz="1300" dirty="0"/>
              <a:t>MCA</a:t>
            </a:r>
            <a:r>
              <a:rPr lang="en-US" sz="1300" dirty="0"/>
              <a:t> </a:t>
            </a:r>
            <a:r>
              <a:rPr sz="1300" dirty="0"/>
              <a:t>Rejected all Parliamentary Standing Committee recommendations for ESG oversight body, turnover-based penalties</a:t>
            </a:r>
            <a:r>
              <a:rPr lang="en-US" sz="1300" dirty="0"/>
              <a:t>.</a:t>
            </a:r>
            <a:endParaRPr sz="1300" dirty="0"/>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3005544"/>
            <a:ext cx="5116716" cy="146526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26651" y="3248605"/>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a:t>
            </a:r>
            <a:r>
              <a:rPr lang="en-US" dirty="0">
                <a:solidFill>
                  <a:schemeClr val="tx1"/>
                </a:solidFill>
              </a:rPr>
              <a:t>4</a:t>
            </a:r>
            <a:endParaRPr dirty="0">
              <a:solidFill>
                <a:schemeClr val="tx1"/>
              </a:solidFill>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3067141"/>
            <a:ext cx="5069243" cy="1546577"/>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sz="1600">
                <a:ea typeface="+mn-lt"/>
                <a:cs typeface="+mn-lt"/>
              </a:rPr>
              <a:t>Reactive enforcement &amp;</a:t>
            </a:r>
            <a:r>
              <a:rPr lang="en-US" sz="1600"/>
              <a:t> </a:t>
            </a:r>
            <a:r>
              <a:rPr sz="1600"/>
              <a:t>Surveillance Limitations</a:t>
            </a:r>
            <a:endParaRPr lang="en-US"/>
          </a:p>
          <a:p>
            <a:pPr marL="171450" indent="-171450" algn="l">
              <a:spcAft>
                <a:spcPts val="0"/>
              </a:spcAft>
              <a:buFont typeface="Arial" panose="020B0604020202020204" pitchFamily="34" charset="0"/>
              <a:buChar char="•"/>
              <a:defRPr sz="1100" b="0">
                <a:solidFill>
                  <a:srgbClr val="3A3A4A"/>
                </a:solidFill>
                <a:latin typeface="Calibri"/>
              </a:defRPr>
            </a:pPr>
            <a:r>
              <a:rPr sz="1300" dirty="0"/>
              <a:t>Complaint-driven, reactive architecture — no proactive market scanning for environmental claims.</a:t>
            </a:r>
            <a:r>
              <a:rPr lang="en-US" sz="1300" dirty="0"/>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300" dirty="0"/>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300" dirty="0"/>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100" dirty="0"/>
          </a:p>
        </p:txBody>
      </p:sp>
      <p:sp>
        <p:nvSpPr>
          <p:cNvPr id="66" name="TextBox 65"/>
          <p:cNvSpPr txBox="1"/>
          <p:nvPr/>
        </p:nvSpPr>
        <p:spPr>
          <a:xfrm>
            <a:off x="440000" y="830000"/>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2357" y="0"/>
            <a:ext cx="12191695" cy="6858000"/>
          </a:xfrm>
          <a:prstGeom prst="rect">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43000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t>Comparative Study: What</a:t>
            </a:r>
            <a:r>
              <a:rPr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377605906"/>
              </p:ext>
            </p:extLst>
          </p:nvPr>
        </p:nvGraphicFramePr>
        <p:xfrm>
          <a:off x="679515" y="1373434"/>
          <a:ext cx="10835640" cy="361188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t>Design element</a:t>
                      </a:r>
                    </a:p>
                  </a:txBody>
                  <a:tcPr>
                    <a:solidFill>
                      <a:srgbClr val="173F35"/>
                    </a:solidFill>
                  </a:tcPr>
                </a:tc>
                <a:tc>
                  <a:txBody>
                    <a:bodyPr/>
                    <a:lstStyle/>
                    <a:p>
                      <a:pPr algn="ctr">
                        <a:defRPr sz="1100" b="1">
                          <a:solidFill>
                            <a:srgbClr val="FFFFFF"/>
                          </a:solidFill>
                          <a:latin typeface="Avenir Next"/>
                        </a:defRPr>
                      </a:pPr>
                      <a:r>
                        <a:t>European Union</a:t>
                      </a:r>
                    </a:p>
                  </a:txBody>
                  <a:tcPr>
                    <a:solidFill>
                      <a:srgbClr val="173F35"/>
                    </a:solidFill>
                  </a:tcPr>
                </a:tc>
                <a:tc>
                  <a:txBody>
                    <a:bodyPr/>
                    <a:lstStyle/>
                    <a:p>
                      <a:pPr algn="ctr">
                        <a:defRPr sz="1100" b="1">
                          <a:solidFill>
                            <a:srgbClr val="FFFFFF"/>
                          </a:solidFill>
                          <a:latin typeface="Avenir Next"/>
                        </a:defRPr>
                      </a:pPr>
                      <a:r>
                        <a:t>United Kingdom</a:t>
                      </a:r>
                    </a:p>
                  </a:txBody>
                  <a:tcPr>
                    <a:solidFill>
                      <a:srgbClr val="173F35"/>
                    </a:solidFill>
                  </a:tcPr>
                </a:tc>
                <a:tc>
                  <a:txBody>
                    <a:bodyPr/>
                    <a:lstStyle/>
                    <a:p>
                      <a:pPr algn="ctr">
                        <a:defRPr sz="1100" b="1">
                          <a:solidFill>
                            <a:srgbClr val="FFFFFF"/>
                          </a:solidFill>
                          <a:latin typeface="Avenir Next"/>
                        </a:defRPr>
                      </a:pPr>
                      <a:r>
                        <a:t>Australia</a:t>
                      </a:r>
                    </a:p>
                  </a:txBody>
                  <a:tcPr>
                    <a:solidFill>
                      <a:srgbClr val="173F35"/>
                    </a:solidFill>
                  </a:tcPr>
                </a:tc>
                <a:tc>
                  <a:txBody>
                    <a:bodyPr/>
                    <a:lstStyle/>
                    <a:p>
                      <a:pPr algn="ctr">
                        <a:defRPr sz="1100" b="1">
                          <a:solidFill>
                            <a:srgbClr val="FFFFFF"/>
                          </a:solidFill>
                          <a:latin typeface="Avenir Next"/>
                        </a:defRPr>
                      </a:pPr>
                      <a:r>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t>Board-level accountability</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Strong</a:t>
                      </a:r>
                    </a:p>
                  </a:txBody>
                  <a:tcPr>
                    <a:solidFill>
                      <a:srgbClr val="FFFDF8"/>
                    </a:solidFill>
                  </a:tcPr>
                </a:tc>
                <a:tc>
                  <a:txBody>
                    <a:bodyPr/>
                    <a:lstStyle/>
                    <a:p>
                      <a:pPr algn="ctr">
                        <a:defRPr sz="1050" b="0">
                          <a:solidFill>
                            <a:srgbClr val="2A2A2A"/>
                          </a:solidFill>
                          <a:latin typeface="Avenir Next"/>
                        </a:defRPr>
                      </a:pPr>
                      <a:r>
                        <a:t>Partial but real</a:t>
                      </a:r>
                    </a:p>
                  </a:txBody>
                  <a:tcPr>
                    <a:solidFill>
                      <a:srgbClr val="FFFDF8"/>
                    </a:solidFill>
                  </a:tcPr>
                </a:tc>
                <a:tc>
                  <a:txBody>
                    <a:bodyPr/>
                    <a:lstStyle/>
                    <a:p>
                      <a:pPr algn="ctr">
                        <a:defRPr sz="1050" b="0">
                          <a:solidFill>
                            <a:srgbClr val="173F35"/>
                          </a:solidFill>
                          <a:latin typeface="Avenir Next"/>
                        </a:defRPr>
                      </a:pPr>
                      <a:r>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t>Integrated architecture</a:t>
                      </a:r>
                    </a:p>
                  </a:txBody>
                  <a:tcPr>
                    <a:solidFill>
                      <a:srgbClr val="E8EFE6"/>
                    </a:solidFill>
                  </a:tcPr>
                </a:tc>
                <a:tc>
                  <a:txBody>
                    <a:bodyPr/>
                    <a:lstStyle/>
                    <a:p>
                      <a:pPr algn="ctr">
                        <a:defRPr sz="1050" b="0">
                          <a:solidFill>
                            <a:srgbClr val="2A2A2A"/>
                          </a:solidFill>
                          <a:latin typeface="Avenir Next"/>
                        </a:defRPr>
                      </a:pPr>
                      <a:r>
                        <a:t>Reporting + claims + enforcement</a:t>
                      </a:r>
                    </a:p>
                  </a:txBody>
                  <a:tcPr>
                    <a:solidFill>
                      <a:srgbClr val="E8EFE6"/>
                    </a:solidFill>
                  </a:tcPr>
                </a:tc>
                <a:tc>
                  <a:txBody>
                    <a:bodyPr/>
                    <a:lstStyle/>
                    <a:p>
                      <a:pPr algn="ctr">
                        <a:defRPr sz="1050" b="0">
                          <a:solidFill>
                            <a:srgbClr val="2A2A2A"/>
                          </a:solidFill>
                          <a:latin typeface="Avenir Next"/>
                        </a:defRPr>
                      </a:pPr>
                      <a:r>
                        <a:t>FCA + CMA + company law</a:t>
                      </a:r>
                    </a:p>
                  </a:txBody>
                  <a:tcPr>
                    <a:solidFill>
                      <a:srgbClr val="E8EFE6"/>
                    </a:solidFill>
                  </a:tcPr>
                </a:tc>
                <a:tc>
                  <a:txBody>
                    <a:bodyPr/>
                    <a:lstStyle/>
                    <a:p>
                      <a:pPr algn="ctr">
                        <a:defRPr sz="1050" b="0">
                          <a:solidFill>
                            <a:srgbClr val="2A2A2A"/>
                          </a:solidFill>
                          <a:latin typeface="Avenir Next"/>
                        </a:defRPr>
                      </a:pPr>
                      <a:r>
                        <a:t>Active regulator coordination</a:t>
                      </a:r>
                    </a:p>
                  </a:txBody>
                  <a:tcPr>
                    <a:solidFill>
                      <a:srgbClr val="E8EFE6"/>
                    </a:solidFill>
                  </a:tcPr>
                </a:tc>
                <a:tc>
                  <a:txBody>
                    <a:bodyPr/>
                    <a:lstStyle/>
                    <a:p>
                      <a:pPr algn="ctr">
                        <a:defRPr sz="1050" b="0">
                          <a:solidFill>
                            <a:srgbClr val="173F35"/>
                          </a:solidFill>
                          <a:latin typeface="Avenir Next"/>
                        </a:defRPr>
                      </a:pPr>
                      <a:r>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t>Third-party assurance</a:t>
                      </a:r>
                    </a:p>
                  </a:txBody>
                  <a:tcPr>
                    <a:solidFill>
                      <a:srgbClr val="FFFDF8"/>
                    </a:solidFill>
                  </a:tcPr>
                </a:tc>
                <a:tc>
                  <a:txBody>
                    <a:bodyPr/>
                    <a:lstStyle/>
                    <a:p>
                      <a:pPr algn="ctr">
                        <a:defRPr sz="1050" b="0">
                          <a:solidFill>
                            <a:srgbClr val="2A2A2A"/>
                          </a:solidFill>
                          <a:latin typeface="Avenir Next"/>
                        </a:defRPr>
                      </a:pPr>
                      <a:r>
                        <a:t>Phased toward stronger assurance</a:t>
                      </a:r>
                    </a:p>
                  </a:txBody>
                  <a:tcPr>
                    <a:solidFill>
                      <a:srgbClr val="FFFDF8"/>
                    </a:solidFill>
                  </a:tcPr>
                </a:tc>
                <a:tc>
                  <a:txBody>
                    <a:bodyPr/>
                    <a:lstStyle/>
                    <a:p>
                      <a:pPr algn="ctr">
                        <a:defRPr sz="1050" b="0">
                          <a:solidFill>
                            <a:srgbClr val="2A2A2A"/>
                          </a:solidFill>
                          <a:latin typeface="Avenir Next"/>
                        </a:defRPr>
                      </a:pPr>
                      <a:r>
                        <a:t>Developing</a:t>
                      </a:r>
                    </a:p>
                  </a:txBody>
                  <a:tcPr>
                    <a:solidFill>
                      <a:srgbClr val="FFFDF8"/>
                    </a:solidFill>
                  </a:tcPr>
                </a:tc>
                <a:tc>
                  <a:txBody>
                    <a:bodyPr/>
                    <a:lstStyle/>
                    <a:p>
                      <a:pPr algn="ctr">
                        <a:defRPr sz="1050" b="0">
                          <a:solidFill>
                            <a:srgbClr val="2A2A2A"/>
                          </a:solidFill>
                          <a:latin typeface="Avenir Next"/>
                        </a:defRPr>
                      </a:pPr>
                      <a:r>
                        <a:t>Building toward mandatory climate assurance</a:t>
                      </a:r>
                    </a:p>
                  </a:txBody>
                  <a:tcPr>
                    <a:solidFill>
                      <a:srgbClr val="FFFDF8"/>
                    </a:solidFill>
                  </a:tcPr>
                </a:tc>
                <a:tc>
                  <a:txBody>
                    <a:bodyPr/>
                    <a:lstStyle/>
                    <a:p>
                      <a:pPr algn="ctr">
                        <a:defRPr sz="1050" b="0">
                          <a:solidFill>
                            <a:srgbClr val="173F35"/>
                          </a:solidFill>
                          <a:latin typeface="Avenir Next"/>
                        </a:defRPr>
                      </a:pPr>
                      <a:r>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t>Forward-looking claim controls</a:t>
                      </a:r>
                    </a:p>
                  </a:txBody>
                  <a:tcPr>
                    <a:solidFill>
                      <a:srgbClr val="E8EFE6"/>
                    </a:solidFill>
                  </a:tcPr>
                </a:tc>
                <a:tc>
                  <a:txBody>
                    <a:bodyPr/>
                    <a:lstStyle/>
                    <a:p>
                      <a:pPr algn="ctr">
                        <a:defRPr sz="1050" b="0">
                          <a:solidFill>
                            <a:srgbClr val="2A2A2A"/>
                          </a:solidFill>
                          <a:latin typeface="Avenir Next"/>
                        </a:defRPr>
                      </a:pPr>
                      <a:r>
                        <a:t>Offsets and neutrality claims constrained</a:t>
                      </a:r>
                    </a:p>
                  </a:txBody>
                  <a:tcPr>
                    <a:solidFill>
                      <a:srgbClr val="E8EFE6"/>
                    </a:solidFill>
                  </a:tcPr>
                </a:tc>
                <a:tc>
                  <a:txBody>
                    <a:bodyPr/>
                    <a:lstStyle/>
                    <a:p>
                      <a:pPr algn="ctr">
                        <a:defRPr sz="1050" b="0">
                          <a:solidFill>
                            <a:srgbClr val="2A2A2A"/>
                          </a:solidFill>
                          <a:latin typeface="Avenir Next"/>
                        </a:defRPr>
                      </a:pPr>
                      <a:r>
                        <a:t>Partial</a:t>
                      </a:r>
                    </a:p>
                  </a:txBody>
                  <a:tcPr>
                    <a:solidFill>
                      <a:srgbClr val="E8EFE6"/>
                    </a:solidFill>
                  </a:tcPr>
                </a:tc>
                <a:tc>
                  <a:txBody>
                    <a:bodyPr/>
                    <a:lstStyle/>
                    <a:p>
                      <a:pPr algn="ctr">
                        <a:defRPr sz="1050" b="0">
                          <a:solidFill>
                            <a:srgbClr val="2A2A2A"/>
                          </a:solidFill>
                          <a:latin typeface="Avenir Next"/>
                        </a:defRPr>
                      </a:pPr>
                      <a:r>
                        <a:t>Emerging</a:t>
                      </a:r>
                    </a:p>
                  </a:txBody>
                  <a:tcPr>
                    <a:solidFill>
                      <a:srgbClr val="E8EFE6"/>
                    </a:solidFill>
                  </a:tcPr>
                </a:tc>
                <a:tc>
                  <a:txBody>
                    <a:bodyPr/>
                    <a:lstStyle/>
                    <a:p>
                      <a:pPr algn="ctr">
                        <a:defRPr sz="1050" b="0">
                          <a:solidFill>
                            <a:srgbClr val="173F35"/>
                          </a:solidFill>
                          <a:latin typeface="Avenir Next"/>
                        </a:defRPr>
                      </a:pPr>
                      <a:r>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t>Proportionate penalties</a:t>
                      </a:r>
                    </a:p>
                  </a:txBody>
                  <a:tcPr>
                    <a:solidFill>
                      <a:srgbClr val="FFFDF8"/>
                    </a:solidFill>
                  </a:tcPr>
                </a:tc>
                <a:tc>
                  <a:txBody>
                    <a:bodyPr/>
                    <a:lstStyle/>
                    <a:p>
                      <a:pPr algn="ctr">
                        <a:defRPr sz="1050" b="0">
                          <a:solidFill>
                            <a:srgbClr val="2A2A2A"/>
                          </a:solidFill>
                          <a:latin typeface="Avenir Next"/>
                        </a:defRPr>
                      </a:pPr>
                      <a:r>
                        <a:t>Turnover-linked</a:t>
                      </a:r>
                    </a:p>
                  </a:txBody>
                  <a:tcPr>
                    <a:solidFill>
                      <a:srgbClr val="FFFDF8"/>
                    </a:solidFill>
                  </a:tcPr>
                </a:tc>
                <a:tc>
                  <a:txBody>
                    <a:bodyPr/>
                    <a:lstStyle/>
                    <a:p>
                      <a:pPr algn="ctr">
                        <a:defRPr sz="1050" b="0">
                          <a:solidFill>
                            <a:srgbClr val="2A2A2A"/>
                          </a:solidFill>
                          <a:latin typeface="Avenir Next"/>
                        </a:defRPr>
                      </a:pPr>
                      <a:r>
                        <a:t>Up to 10% global turnover</a:t>
                      </a:r>
                    </a:p>
                  </a:txBody>
                  <a:tcPr>
                    <a:solidFill>
                      <a:srgbClr val="FFFDF8"/>
                    </a:solidFill>
                  </a:tcPr>
                </a:tc>
                <a:tc>
                  <a:txBody>
                    <a:bodyPr/>
                    <a:lstStyle/>
                    <a:p>
                      <a:pPr algn="ctr">
                        <a:defRPr sz="1050" b="0">
                          <a:solidFill>
                            <a:srgbClr val="2A2A2A"/>
                          </a:solidFill>
                          <a:latin typeface="Avenir Next"/>
                        </a:defRPr>
                      </a:pPr>
                      <a:r>
                        <a:t>High civil penalty exposure</a:t>
                      </a:r>
                    </a:p>
                  </a:txBody>
                  <a:tcPr>
                    <a:solidFill>
                      <a:srgbClr val="FFFDF8"/>
                    </a:solidFill>
                  </a:tcPr>
                </a:tc>
                <a:tc>
                  <a:txBody>
                    <a:bodyPr/>
                    <a:lstStyle/>
                    <a:p>
                      <a:pPr algn="ctr">
                        <a:defRPr sz="1050" b="0">
                          <a:solidFill>
                            <a:srgbClr val="173F35"/>
                          </a:solidFill>
                          <a:latin typeface="Avenir Next"/>
                        </a:defRPr>
                      </a:pPr>
                      <a:r>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4605748"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4 comparative </a:t>
            </a:r>
            <a:r>
              <a:rPr lang="en-US" sz="1000"/>
              <a:t> study and</a:t>
            </a:r>
            <a:r>
              <a:rPr sz="1000" dirty="0"/>
              <a:t> cross-jurisdictional analysis.</a:t>
            </a:r>
            <a:endParaRPr lang="en-US" sz="1000" dirty="0"/>
          </a:p>
        </p:txBody>
      </p:sp>
      <p:sp>
        <p:nvSpPr>
          <p:cNvPr id="10" name="TextBox 9"/>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
        <p:nvSpPr>
          <p:cNvPr id="11" name="Rounded Rectangle 10"/>
          <p:cNvSpPr/>
          <p:nvPr/>
        </p:nvSpPr>
        <p:spPr>
          <a:xfrm>
            <a:off x="679515" y="5220000"/>
            <a:ext cx="10835640" cy="9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09515" y="5290000"/>
            <a:ext cx="10575640" cy="7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RQ5:  </a:t>
            </a:r>
            <a:r>
              <a:rPr sz="1000" b="0" i="0">
                <a:solidFill>
                  <a:srgbClr val="3A3A4A"/>
                </a:solidFill>
                <a:latin typeface="Calibri"/>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315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229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a:t>
            </a:r>
          </a:p>
        </p:txBody>
      </p:sp>
      <p:sp>
        <p:nvSpPr>
          <p:cNvPr id="8" name="TextBox 7"/>
          <p:cNvSpPr txBox="1"/>
          <p:nvPr/>
        </p:nvSpPr>
        <p:spPr>
          <a:xfrm>
            <a:off x="12618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Ex ante claim approval</a:t>
            </a:r>
          </a:p>
          <a:p>
            <a:pPr algn="l">
              <a:spcAft>
                <a:spcPts val="0"/>
              </a:spcAft>
              <a:defRPr sz="950" b="0">
                <a:solidFill>
                  <a:srgbClr val="3A3A4A"/>
                </a:solidFill>
                <a:latin typeface="Calibri"/>
              </a:defRPr>
            </a:pPr>
            <a:r>
              <a:t>Independent 'Certificate of Conformity' before publication — EU GCD; Colombia Decree 1369.</a:t>
            </a:r>
          </a:p>
        </p:txBody>
      </p:sp>
      <p:sp>
        <p:nvSpPr>
          <p:cNvPr id="9" name="Rounded Rectangle 8"/>
          <p:cNvSpPr/>
          <p:nvPr/>
        </p:nvSpPr>
        <p:spPr>
          <a:xfrm>
            <a:off x="6217920" y="143613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309360" y="157329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2</a:t>
            </a:r>
          </a:p>
        </p:txBody>
      </p:sp>
      <p:sp>
        <p:nvSpPr>
          <p:cNvPr id="11" name="TextBox 10"/>
          <p:cNvSpPr txBox="1"/>
          <p:nvPr/>
        </p:nvSpPr>
        <p:spPr>
          <a:xfrm>
            <a:off x="6748272" y="150013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third-party assurance</a:t>
            </a:r>
          </a:p>
          <a:p>
            <a:pPr algn="l">
              <a:spcAft>
                <a:spcPts val="0"/>
              </a:spcAft>
              <a:defRPr sz="950" b="0">
                <a:solidFill>
                  <a:srgbClr val="3A3A4A"/>
                </a:solidFill>
                <a:latin typeface="Calibri"/>
              </a:defRPr>
            </a:pPr>
            <a:r>
              <a:t>Limited assurance from Year 1; escalating to reasonable (audit) assurance — EU CSRD; Australia AASB S2.</a:t>
            </a:r>
          </a:p>
        </p:txBody>
      </p:sp>
      <p:sp>
        <p:nvSpPr>
          <p:cNvPr id="12" name="Rounded Rectangle 11"/>
          <p:cNvSpPr/>
          <p:nvPr/>
        </p:nvSpPr>
        <p:spPr>
          <a:xfrm>
            <a:off x="7315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229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3</a:t>
            </a:r>
          </a:p>
        </p:txBody>
      </p:sp>
      <p:sp>
        <p:nvSpPr>
          <p:cNvPr id="14" name="TextBox 13"/>
          <p:cNvSpPr txBox="1"/>
          <p:nvPr/>
        </p:nvSpPr>
        <p:spPr>
          <a:xfrm>
            <a:off x="12618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Double materiality</a:t>
            </a:r>
          </a:p>
          <a:p>
            <a:pPr algn="l">
              <a:spcAft>
                <a:spcPts val="0"/>
              </a:spcAft>
              <a:defRPr sz="950" b="0">
                <a:solidFill>
                  <a:srgbClr val="3A3A4A"/>
                </a:solidFill>
                <a:latin typeface="Calibri"/>
              </a:defRPr>
            </a:pPr>
            <a:r>
              <a:t>Disclose how sustainability affects the firm AND how the firm affects the environment — EU CSRD/ESRS. Single-direction materiality enables selective disclosure.</a:t>
            </a:r>
          </a:p>
        </p:txBody>
      </p:sp>
      <p:sp>
        <p:nvSpPr>
          <p:cNvPr id="15" name="Rounded Rectangle 14"/>
          <p:cNvSpPr/>
          <p:nvPr/>
        </p:nvSpPr>
        <p:spPr>
          <a:xfrm>
            <a:off x="6217920" y="230481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309360" y="2441970"/>
            <a:ext cx="347472" cy="347472"/>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4</a:t>
            </a:r>
          </a:p>
        </p:txBody>
      </p:sp>
      <p:sp>
        <p:nvSpPr>
          <p:cNvPr id="17" name="TextBox 16"/>
          <p:cNvSpPr txBox="1"/>
          <p:nvPr/>
        </p:nvSpPr>
        <p:spPr>
          <a:xfrm>
            <a:off x="6748272" y="236881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LCA for product claims</a:t>
            </a:r>
          </a:p>
          <a:p>
            <a:pPr algn="l">
              <a:spcAft>
                <a:spcPts val="0"/>
              </a:spcAft>
              <a:defRPr sz="950" b="0">
                <a:solidFill>
                  <a:srgbClr val="3A3A4A"/>
                </a:solidFill>
                <a:latin typeface="Calibri"/>
              </a:defRPr>
            </a:pPr>
            <a:r>
              <a:t>Full lifecycle assessment — raw materials to end-of-life — required for any environmental product claim. EU GCD; UK Green Claims Code.</a:t>
            </a:r>
          </a:p>
        </p:txBody>
      </p:sp>
      <p:sp>
        <p:nvSpPr>
          <p:cNvPr id="18" name="Rounded Rectangle 17"/>
          <p:cNvSpPr/>
          <p:nvPr/>
        </p:nvSpPr>
        <p:spPr>
          <a:xfrm>
            <a:off x="7315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29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5</a:t>
            </a:r>
          </a:p>
        </p:txBody>
      </p:sp>
      <p:sp>
        <p:nvSpPr>
          <p:cNvPr id="20" name="TextBox 19"/>
          <p:cNvSpPr txBox="1"/>
          <p:nvPr/>
        </p:nvSpPr>
        <p:spPr>
          <a:xfrm>
            <a:off x="12618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Mandatory Scope 3 reporting</a:t>
            </a:r>
          </a:p>
          <a:p>
            <a:pPr algn="l">
              <a:spcAft>
                <a:spcPts val="0"/>
              </a:spcAft>
              <a:defRPr sz="950" b="0">
                <a:solidFill>
                  <a:srgbClr val="3A3A4A"/>
                </a:solidFill>
                <a:latin typeface="Calibri"/>
              </a:defRPr>
            </a:pPr>
            <a:r>
              <a:t>Supply-chain emissions cannot be excluded — hiding Scope 3 allows 'climate progress' claims while concealing largest source. EU CSRD; Australia AASB S2.</a:t>
            </a:r>
          </a:p>
        </p:txBody>
      </p:sp>
      <p:sp>
        <p:nvSpPr>
          <p:cNvPr id="21" name="Rounded Rectangle 20"/>
          <p:cNvSpPr/>
          <p:nvPr/>
        </p:nvSpPr>
        <p:spPr>
          <a:xfrm>
            <a:off x="6217920" y="317349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309360" y="331065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6</a:t>
            </a:r>
          </a:p>
        </p:txBody>
      </p:sp>
      <p:sp>
        <p:nvSpPr>
          <p:cNvPr id="23" name="TextBox 22"/>
          <p:cNvSpPr txBox="1"/>
          <p:nvPr/>
        </p:nvSpPr>
        <p:spPr>
          <a:xfrm>
            <a:off x="6748272" y="323749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Reversed burden of proof</a:t>
            </a:r>
          </a:p>
          <a:p>
            <a:pPr algn="l">
              <a:spcAft>
                <a:spcPts val="0"/>
              </a:spcAft>
              <a:defRPr sz="950" b="0">
                <a:solidFill>
                  <a:srgbClr val="3A3A4A"/>
                </a:solidFill>
                <a:latin typeface="Calibri"/>
              </a:defRPr>
            </a:pPr>
            <a:r>
              <a:t>Company must affirmatively prove each claim — not the complainant. Canada Competition Act; Chile proposed bill; EU GCD.</a:t>
            </a:r>
          </a:p>
        </p:txBody>
      </p:sp>
      <p:sp>
        <p:nvSpPr>
          <p:cNvPr id="24" name="Rounded Rectangle 23"/>
          <p:cNvSpPr/>
          <p:nvPr/>
        </p:nvSpPr>
        <p:spPr>
          <a:xfrm>
            <a:off x="7315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8229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7</a:t>
            </a:r>
          </a:p>
        </p:txBody>
      </p:sp>
      <p:sp>
        <p:nvSpPr>
          <p:cNvPr id="26" name="TextBox 25"/>
          <p:cNvSpPr txBox="1"/>
          <p:nvPr/>
        </p:nvSpPr>
        <p:spPr>
          <a:xfrm>
            <a:off x="12618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Claim-specific substantiation</a:t>
            </a:r>
          </a:p>
          <a:p>
            <a:pPr algn="l">
              <a:spcAft>
                <a:spcPts val="0"/>
              </a:spcAft>
              <a:defRPr sz="950" b="0">
                <a:solidFill>
                  <a:srgbClr val="3A3A4A"/>
                </a:solidFill>
                <a:latin typeface="Calibri"/>
              </a:defRPr>
            </a:pPr>
            <a: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17920" y="404217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309360" y="4179330"/>
            <a:ext cx="347472" cy="347472"/>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8</a:t>
            </a:r>
          </a:p>
        </p:txBody>
      </p:sp>
      <p:sp>
        <p:nvSpPr>
          <p:cNvPr id="29" name="TextBox 28"/>
          <p:cNvSpPr txBox="1"/>
          <p:nvPr/>
        </p:nvSpPr>
        <p:spPr>
          <a:xfrm>
            <a:off x="6748272" y="410617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Ban on vague generic claims</a:t>
            </a:r>
          </a:p>
          <a:p>
            <a:pPr algn="l">
              <a:spcAft>
                <a:spcPts val="0"/>
              </a:spcAft>
              <a:defRPr sz="950" b="0">
                <a:solidFill>
                  <a:srgbClr val="3A3A4A"/>
                </a:solidFill>
                <a:latin typeface="Calibri"/>
              </a:defRPr>
            </a:pPr>
            <a:r>
              <a:t>'Eco-friendly,' 'sustainable,' 'green,' 'climate neutral' without evidence are prohibited — EU ECGT; UK CMA; FTC; CCPA 2024.</a:t>
            </a:r>
          </a:p>
        </p:txBody>
      </p:sp>
      <p:sp>
        <p:nvSpPr>
          <p:cNvPr id="30" name="Rounded Rectangle 29"/>
          <p:cNvSpPr/>
          <p:nvPr/>
        </p:nvSpPr>
        <p:spPr>
          <a:xfrm>
            <a:off x="7315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229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9</a:t>
            </a:r>
          </a:p>
        </p:txBody>
      </p:sp>
      <p:sp>
        <p:nvSpPr>
          <p:cNvPr id="32" name="TextBox 31"/>
          <p:cNvSpPr txBox="1"/>
          <p:nvPr/>
        </p:nvSpPr>
        <p:spPr>
          <a:xfrm>
            <a:off x="1261872" y="4984002"/>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Turnover-linked proportionate penalties</a:t>
            </a:r>
          </a:p>
          <a:p>
            <a:pPr algn="l">
              <a:spcAft>
                <a:spcPts val="0"/>
              </a:spcAft>
              <a:defRPr sz="950" b="0">
                <a:solidFill>
                  <a:srgbClr val="3A3A4A"/>
                </a:solidFill>
                <a:latin typeface="Calibri"/>
              </a:defRPr>
            </a:pPr>
            <a:r>
              <a:t>EU ≥4% | UK 10% | Canada 3% worldwide revenues. Fixed / low-cap penalties (India ₹5L) are insufficient deterrents.</a:t>
            </a:r>
          </a:p>
        </p:txBody>
      </p:sp>
      <p:sp>
        <p:nvSpPr>
          <p:cNvPr id="33" name="Rounded Rectangle 32"/>
          <p:cNvSpPr/>
          <p:nvPr/>
        </p:nvSpPr>
        <p:spPr>
          <a:xfrm>
            <a:off x="6217920" y="4910850"/>
            <a:ext cx="5212080" cy="80467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6309360" y="5048010"/>
            <a:ext cx="347472" cy="347472"/>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t>10</a:t>
            </a:r>
          </a:p>
        </p:txBody>
      </p:sp>
      <p:sp>
        <p:nvSpPr>
          <p:cNvPr id="35" name="TextBox 34"/>
          <p:cNvSpPr txBox="1"/>
          <p:nvPr/>
        </p:nvSpPr>
        <p:spPr>
          <a:xfrm>
            <a:off x="6748272" y="4974858"/>
            <a:ext cx="4553712" cy="713232"/>
          </a:xfrm>
          <a:prstGeom prst="rect">
            <a:avLst/>
          </a:prstGeom>
          <a:noFill/>
        </p:spPr>
        <p:txBody>
          <a:bodyPr wrap="square">
            <a:spAutoFit/>
          </a:bodyPr>
          <a:lstStyle/>
          <a:p>
            <a:pPr algn="l">
              <a:spcAft>
                <a:spcPts val="200"/>
              </a:spcAft>
              <a:defRPr sz="1100" b="1">
                <a:solidFill>
                  <a:srgbClr val="095E4F"/>
                </a:solidFill>
                <a:latin typeface="Calibri"/>
              </a:defRPr>
            </a:pPr>
            <a:r>
              <a:t>Coordinated multi-agency architecture</a:t>
            </a:r>
          </a:p>
          <a:p>
            <a:pPr algn="l">
              <a:spcAft>
                <a:spcPts val="0"/>
              </a:spcAft>
              <a:defRPr sz="950" b="0">
                <a:solidFill>
                  <a:srgbClr val="3A3A4A"/>
                </a:solidFill>
                <a:latin typeface="Calibri"/>
              </a:defRPr>
            </a:pPr>
            <a:r>
              <a:t>Greenwashing crosses consumer, securities, environmental, and company law — requires automatic referral between agencies. EU model vs. India (CCPA / SEBI / MCA / MoEFCC: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717224" y="518915"/>
            <a:ext cx="9886849" cy="43088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a:ea typeface="+mn-lt"/>
                <a:cs typeface="+mn-lt"/>
              </a:rPr>
              <a:t>Comparative Benchmark — International Best Practices </a:t>
            </a:r>
            <a:endParaRPr lang="en-US"/>
          </a:p>
        </p:txBody>
      </p:sp>
      <p:sp>
        <p:nvSpPr>
          <p:cNvPr id="2" name="TextBox 1">
            <a:extLst>
              <a:ext uri="{FF2B5EF4-FFF2-40B4-BE49-F238E27FC236}">
                <a16:creationId xmlns:a16="http://schemas.microsoft.com/office/drawing/2014/main" id="{73CA1F73-E102-BBCB-2FBA-B5E42CCEA779}"/>
              </a:ext>
            </a:extLst>
          </p:cNvPr>
          <p:cNvSpPr txBox="1"/>
          <p:nvPr/>
        </p:nvSpPr>
        <p:spPr>
          <a:xfrm>
            <a:off x="596000" y="980000"/>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384721"/>
          </a:xfrm>
          <a:prstGeom prst="rect">
            <a:avLst/>
          </a:prstGeom>
          <a:noFill/>
        </p:spPr>
        <p:txBody>
          <a:bodyPr wrap="square" lIns="45720" tIns="22860" rIns="45720" bIns="22860" anchor="t">
            <a:spAutoFit/>
          </a:bodyPr>
          <a:lstStyle/>
          <a:p>
            <a:pPr algn="l"/>
            <a:r>
              <a:rPr sz="2200" b="1" i="0" dirty="0">
                <a:solidFill>
                  <a:srgbClr val="173F35"/>
                </a:solidFill>
                <a:latin typeface="Avenir Next Demi Bold"/>
              </a:rPr>
              <a:t>Research Question</a:t>
            </a:r>
            <a:r>
              <a:rPr lang="en-US" sz="2200" b="1" i="0" dirty="0">
                <a:solidFill>
                  <a:srgbClr val="173F35"/>
                </a:solidFill>
                <a:latin typeface="Avenir Next Demi Bold"/>
              </a:rPr>
              <a:t>s Decoded</a:t>
            </a:r>
            <a:endParaRPr sz="2200" b="1" i="0" dirty="0">
              <a:solidFill>
                <a:srgbClr val="173F35"/>
              </a:solidFill>
              <a:latin typeface="Avenir Next Demi Bold"/>
            </a:endParaRPr>
          </a:p>
        </p:txBody>
      </p:sp>
      <p:graphicFrame>
        <p:nvGraphicFramePr>
          <p:cNvPr id="5" name="Table 4"/>
          <p:cNvGraphicFramePr>
            <a:graphicFrameLocks noGrp="1"/>
          </p:cNvGraphicFramePr>
          <p:nvPr/>
        </p:nvGraphicFramePr>
        <p:xfrm>
          <a:off x="596000" y="1290000"/>
          <a:ext cx="11000000" cy="4950000"/>
        </p:xfrm>
        <a:graphic>
          <a:graphicData uri="http://schemas.openxmlformats.org/drawingml/2006/table">
            <a:tbl>
              <a:tblPr firstRow="1">
                <a:tableStyleId>{5C22544A-7EE6-4342-B048-85BDC9FD1C3A}</a:tableStyleId>
              </a:tblPr>
              <a:tblGrid>
                <a:gridCol w="520000">
                  <a:extLst>
                    <a:ext uri="{9D8B030D-6E8A-4147-A177-3AD203B41FA5}">
                      <a16:colId xmlns:a16="http://schemas.microsoft.com/office/drawing/2014/main" val="20000"/>
                    </a:ext>
                  </a:extLst>
                </a:gridCol>
                <a:gridCol w="3380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6200000">
                  <a:extLst>
                    <a:ext uri="{9D8B030D-6E8A-4147-A177-3AD203B41FA5}">
                      <a16:colId xmlns:a16="http://schemas.microsoft.com/office/drawing/2014/main" val="20003"/>
                    </a:ext>
                  </a:extLst>
                </a:gridCol>
              </a:tblGrid>
              <a:tr h="330000">
                <a:tc>
                  <a:txBody>
                    <a:bodyPr/>
                    <a:lstStyle/>
                    <a:p>
                      <a:pPr algn="ctr"/>
                      <a:r>
                        <a:rPr sz="950" b="1">
                          <a:solidFill>
                            <a:srgbClr val="FFFFFF"/>
                          </a:solidFill>
                          <a:latin typeface="Calibri"/>
                        </a:rPr>
                        <a:t>RQ</a:t>
                      </a:r>
                    </a:p>
                  </a:txBody>
                  <a:tcPr marL="82296" marR="82296" anchor="ctr">
                    <a:solidFill>
                      <a:srgbClr val="173F35"/>
                    </a:solidFill>
                  </a:tcPr>
                </a:tc>
                <a:tc>
                  <a:txBody>
                    <a:bodyPr/>
                    <a:lstStyle/>
                    <a:p>
                      <a:pPr algn="l"/>
                      <a:r>
                        <a:rPr sz="950" b="1">
                          <a:solidFill>
                            <a:srgbClr val="FFFFFF"/>
                          </a:solidFill>
                          <a:latin typeface="Calibri"/>
                        </a:rPr>
                        <a:t>The question, in plain words</a:t>
                      </a:r>
                    </a:p>
                  </a:txBody>
                  <a:tcPr marL="82296" marR="82296" anchor="ctr">
                    <a:solidFill>
                      <a:srgbClr val="173F35"/>
                    </a:solidFill>
                  </a:tcPr>
                </a:tc>
                <a:tc>
                  <a:txBody>
                    <a:bodyPr/>
                    <a:lstStyle/>
                    <a:p>
                      <a:pPr algn="ctr"/>
                      <a:r>
                        <a:rPr sz="950" b="1">
                          <a:solidFill>
                            <a:srgbClr val="FFFFFF"/>
                          </a:solidFill>
                          <a:latin typeface="Calibri"/>
                        </a:rPr>
                        <a:t>Slide</a:t>
                      </a:r>
                    </a:p>
                  </a:txBody>
                  <a:tcPr marL="82296" marR="82296" anchor="ctr">
                    <a:solidFill>
                      <a:srgbClr val="173F35"/>
                    </a:solidFill>
                  </a:tcPr>
                </a:tc>
                <a:tc>
                  <a:txBody>
                    <a:bodyPr/>
                    <a:lstStyle/>
                    <a:p>
                      <a:pPr algn="l"/>
                      <a:r>
                        <a:rPr sz="950" b="1">
                          <a:solidFill>
                            <a:srgbClr val="FFFFFF"/>
                          </a:solidFill>
                          <a:latin typeface="Calibri"/>
                        </a:rPr>
                        <a:t>The short answer</a:t>
                      </a:r>
                    </a:p>
                  </a:txBody>
                  <a:tcPr marL="82296" marR="82296" anchor="ctr">
                    <a:solidFill>
                      <a:srgbClr val="173F35"/>
                    </a:solidFill>
                  </a:tcPr>
                </a:tc>
                <a:extLst>
                  <a:ext uri="{0D108BD9-81ED-4DB2-BD59-A6C34878D82A}">
                    <a16:rowId xmlns:a16="http://schemas.microsoft.com/office/drawing/2014/main" val="10000"/>
                  </a:ext>
                </a:extLst>
              </a:tr>
              <a:tr h="660000">
                <a:tc>
                  <a:txBody>
                    <a:bodyPr/>
                    <a:lstStyle/>
                    <a:p>
                      <a:pPr algn="ctr"/>
                      <a:r>
                        <a:rPr sz="900" b="1">
                          <a:solidFill>
                            <a:srgbClr val="095E4F"/>
                          </a:solidFill>
                          <a:latin typeface="Calibri"/>
                        </a:rPr>
                        <a:t>1</a:t>
                      </a:r>
                    </a:p>
                  </a:txBody>
                  <a:tcPr marL="82296" marR="82296" anchor="ctr">
                    <a:solidFill>
                      <a:srgbClr val="FFF6EA"/>
                    </a:solidFill>
                  </a:tcPr>
                </a:tc>
                <a:tc>
                  <a:txBody>
                    <a:bodyPr/>
                    <a:lstStyle/>
                    <a:p>
                      <a:pPr algn="l"/>
                      <a:r>
                        <a:rPr sz="900" b="0">
                          <a:solidFill>
                            <a:srgbClr val="3A3A4A"/>
                          </a:solidFill>
                          <a:latin typeface="Calibri"/>
                        </a:rPr>
                        <a:t>What is greenwashing, how has it changed over time, and what harm does it do?</a:t>
                      </a:r>
                    </a:p>
                  </a:txBody>
                  <a:tcPr marL="82296" marR="82296" anchor="ctr">
                    <a:solidFill>
                      <a:srgbClr val="FFF6EA"/>
                    </a:solidFill>
                  </a:tcPr>
                </a:tc>
                <a:tc>
                  <a:txBody>
                    <a:bodyPr/>
                    <a:lstStyle/>
                    <a:p>
                      <a:pPr algn="ctr"/>
                      <a:r>
                        <a:rPr sz="900" b="0">
                          <a:solidFill>
                            <a:srgbClr val="095E4F"/>
                          </a:solidFill>
                          <a:latin typeface="Calibri"/>
                        </a:rPr>
                        <a:t>2–3</a:t>
                      </a:r>
                    </a:p>
                  </a:txBody>
                  <a:tcPr marL="82296" marR="82296" anchor="ctr">
                    <a:solidFill>
                      <a:srgbClr val="FFF6EA"/>
                    </a:solidFill>
                  </a:tcPr>
                </a:tc>
                <a:tc>
                  <a:txBody>
                    <a:bodyPr/>
                    <a:lstStyle/>
                    <a:p>
                      <a:pPr algn="l"/>
                      <a:r>
                        <a:rPr sz="900" b="0">
                          <a:solidFill>
                            <a:srgbClr val="3A3A4A"/>
                          </a:solidFill>
                          <a:latin typeface="Calibri"/>
                        </a:rPr>
                        <a:t>It has moved from the product label to the balance sheet. The harm is misdirected capital, weaker market integrity and delayed climate action, not only a misled shopper.</a:t>
                      </a:r>
                    </a:p>
                  </a:txBody>
                  <a:tcPr marL="82296" marR="82296" anchor="ctr">
                    <a:solidFill>
                      <a:srgbClr val="FFF6EA"/>
                    </a:solidFill>
                  </a:tcPr>
                </a:tc>
                <a:extLst>
                  <a:ext uri="{0D108BD9-81ED-4DB2-BD59-A6C34878D82A}">
                    <a16:rowId xmlns:a16="http://schemas.microsoft.com/office/drawing/2014/main" val="10001"/>
                  </a:ext>
                </a:extLst>
              </a:tr>
              <a:tr h="660000">
                <a:tc>
                  <a:txBody>
                    <a:bodyPr/>
                    <a:lstStyle/>
                    <a:p>
                      <a:pPr algn="ctr"/>
                      <a:r>
                        <a:rPr sz="900" b="1">
                          <a:solidFill>
                            <a:srgbClr val="095E4F"/>
                          </a:solidFill>
                          <a:latin typeface="Calibri"/>
                        </a:rPr>
                        <a:t>2</a:t>
                      </a:r>
                    </a:p>
                  </a:txBody>
                  <a:tcPr marL="82296" marR="82296" anchor="ctr">
                    <a:solidFill>
                      <a:srgbClr val="E8EFE6"/>
                    </a:solidFill>
                  </a:tcPr>
                </a:tc>
                <a:tc>
                  <a:txBody>
                    <a:bodyPr/>
                    <a:lstStyle/>
                    <a:p>
                      <a:pPr algn="l"/>
                      <a:r>
                        <a:rPr sz="900" b="0">
                          <a:solidFill>
                            <a:srgbClr val="3A3A4A"/>
                          </a:solidFill>
                          <a:latin typeface="Calibri"/>
                        </a:rPr>
                        <a:t>Why can consumer and advertising law not fix it on its own, and what else can?</a:t>
                      </a:r>
                    </a:p>
                  </a:txBody>
                  <a:tcPr marL="82296" marR="82296" anchor="ctr">
                    <a:solidFill>
                      <a:srgbClr val="E8EFE6"/>
                    </a:solidFill>
                  </a:tcPr>
                </a:tc>
                <a:tc>
                  <a:txBody>
                    <a:bodyPr/>
                    <a:lstStyle/>
                    <a:p>
                      <a:pPr algn="ctr"/>
                      <a:r>
                        <a:rPr sz="900" b="0">
                          <a:solidFill>
                            <a:srgbClr val="095E4F"/>
                          </a:solidFill>
                          <a:latin typeface="Calibri"/>
                        </a:rPr>
                        <a:t>13</a:t>
                      </a:r>
                    </a:p>
                  </a:txBody>
                  <a:tcPr marL="82296" marR="82296" anchor="ctr">
                    <a:solidFill>
                      <a:srgbClr val="E8EFE6"/>
                    </a:solidFill>
                  </a:tcPr>
                </a:tc>
                <a:tc>
                  <a:txBody>
                    <a:bodyPr/>
                    <a:lstStyle/>
                    <a:p>
                      <a:pPr algn="l"/>
                      <a:r>
                        <a:rPr sz="900" b="0">
                          <a:solidFill>
                            <a:srgbClr val="3A3A4A"/>
                          </a:solidFill>
                          <a:latin typeface="Calibri"/>
                        </a:rPr>
                        <a:t>That law only reaches the claim after it is published. Company law reaches the board, the disclosure and the assurance that produced the claim.</a:t>
                      </a:r>
                    </a:p>
                  </a:txBody>
                  <a:tcPr marL="82296" marR="82296" anchor="ctr">
                    <a:solidFill>
                      <a:srgbClr val="E8EFE6"/>
                    </a:solidFill>
                  </a:tcPr>
                </a:tc>
                <a:extLst>
                  <a:ext uri="{0D108BD9-81ED-4DB2-BD59-A6C34878D82A}">
                    <a16:rowId xmlns:a16="http://schemas.microsoft.com/office/drawing/2014/main" val="10002"/>
                  </a:ext>
                </a:extLst>
              </a:tr>
              <a:tr h="660000">
                <a:tc>
                  <a:txBody>
                    <a:bodyPr/>
                    <a:lstStyle/>
                    <a:p>
                      <a:pPr algn="ctr"/>
                      <a:r>
                        <a:rPr sz="900" b="1">
                          <a:solidFill>
                            <a:srgbClr val="095E4F"/>
                          </a:solidFill>
                          <a:latin typeface="Calibri"/>
                        </a:rPr>
                        <a:t>3</a:t>
                      </a:r>
                    </a:p>
                  </a:txBody>
                  <a:tcPr marL="82296" marR="82296" anchor="ctr">
                    <a:solidFill>
                      <a:srgbClr val="FFF6EA"/>
                    </a:solidFill>
                  </a:tcPr>
                </a:tc>
                <a:tc>
                  <a:txBody>
                    <a:bodyPr/>
                    <a:lstStyle/>
                    <a:p>
                      <a:pPr algn="l"/>
                      <a:r>
                        <a:rPr sz="900" b="0">
                          <a:solidFill>
                            <a:srgbClr val="3A3A4A"/>
                          </a:solidFill>
                          <a:latin typeface="Calibri"/>
                        </a:rPr>
                        <a:t>What legal thinking makes greenwashing an accountability failure rather than bad marketing?</a:t>
                      </a:r>
                    </a:p>
                  </a:txBody>
                  <a:tcPr marL="82296" marR="82296" anchor="ctr">
                    <a:solidFill>
                      <a:srgbClr val="FFF6EA"/>
                    </a:solidFill>
                  </a:tcPr>
                </a:tc>
                <a:tc>
                  <a:txBody>
                    <a:bodyPr/>
                    <a:lstStyle/>
                    <a:p>
                      <a:pPr algn="ctr"/>
                      <a:r>
                        <a:rPr sz="900" b="0">
                          <a:solidFill>
                            <a:srgbClr val="095E4F"/>
                          </a:solidFill>
                          <a:latin typeface="Calibri"/>
                        </a:rPr>
                        <a:t>9</a:t>
                      </a:r>
                    </a:p>
                  </a:txBody>
                  <a:tcPr marL="82296" marR="82296" anchor="ctr">
                    <a:solidFill>
                      <a:srgbClr val="FFF6EA"/>
                    </a:solidFill>
                  </a:tcPr>
                </a:tc>
                <a:tc>
                  <a:txBody>
                    <a:bodyPr/>
                    <a:lstStyle/>
                    <a:p>
                      <a:pPr algn="l"/>
                      <a:r>
                        <a:rPr sz="900" b="0">
                          <a:solidFill>
                            <a:srgbClr val="3A3A4A"/>
                          </a:solidFill>
                          <a:latin typeface="Calibri"/>
                        </a:rPr>
                        <a:t>Read through Hohfeld, greenwashing is a breached duty, a misused managerial freedom and an exploited information advantage.</a:t>
                      </a:r>
                    </a:p>
                  </a:txBody>
                  <a:tcPr marL="82296" marR="82296" anchor="ctr">
                    <a:solidFill>
                      <a:srgbClr val="FFF6EA"/>
                    </a:solidFill>
                  </a:tcPr>
                </a:tc>
                <a:extLst>
                  <a:ext uri="{0D108BD9-81ED-4DB2-BD59-A6C34878D82A}">
                    <a16:rowId xmlns:a16="http://schemas.microsoft.com/office/drawing/2014/main" val="10003"/>
                  </a:ext>
                </a:extLst>
              </a:tr>
              <a:tr h="660000">
                <a:tc>
                  <a:txBody>
                    <a:bodyPr/>
                    <a:lstStyle/>
                    <a:p>
                      <a:pPr algn="ctr"/>
                      <a:r>
                        <a:rPr sz="900" b="1">
                          <a:solidFill>
                            <a:srgbClr val="095E4F"/>
                          </a:solidFill>
                          <a:latin typeface="Calibri"/>
                        </a:rPr>
                        <a:t>4</a:t>
                      </a:r>
                    </a:p>
                  </a:txBody>
                  <a:tcPr marL="82296" marR="82296" anchor="ctr">
                    <a:solidFill>
                      <a:srgbClr val="E8EFE6"/>
                    </a:solidFill>
                  </a:tcPr>
                </a:tc>
                <a:tc>
                  <a:txBody>
                    <a:bodyPr/>
                    <a:lstStyle/>
                    <a:p>
                      <a:pPr algn="l"/>
                      <a:r>
                        <a:rPr sz="900" b="0">
                          <a:solidFill>
                            <a:srgbClr val="3A3A4A"/>
                          </a:solidFill>
                          <a:latin typeface="Calibri"/>
                        </a:rPr>
                        <a:t>Which director duties, disclosure duties and assurance rules can ground liability in India?</a:t>
                      </a:r>
                    </a:p>
                  </a:txBody>
                  <a:tcPr marL="82296" marR="82296" anchor="ctr">
                    <a:solidFill>
                      <a:srgbClr val="E8EFE6"/>
                    </a:solidFill>
                  </a:tcPr>
                </a:tc>
                <a:tc>
                  <a:txBody>
                    <a:bodyPr/>
                    <a:lstStyle/>
                    <a:p>
                      <a:pPr algn="ctr"/>
                      <a:r>
                        <a:rPr sz="900" b="0">
                          <a:solidFill>
                            <a:srgbClr val="095E4F"/>
                          </a:solidFill>
                          <a:latin typeface="Calibri"/>
                        </a:rPr>
                        <a:t>11–12</a:t>
                      </a:r>
                    </a:p>
                  </a:txBody>
                  <a:tcPr marL="82296" marR="82296" anchor="ctr">
                    <a:solidFill>
                      <a:srgbClr val="E8EFE6"/>
                    </a:solidFill>
                  </a:tcPr>
                </a:tc>
                <a:tc>
                  <a:txBody>
                    <a:bodyPr/>
                    <a:lstStyle/>
                    <a:p>
                      <a:pPr algn="l"/>
                      <a:r>
                        <a:rPr sz="900" b="0">
                          <a:solidFill>
                            <a:srgbClr val="3A3A4A"/>
                          </a:solidFill>
                          <a:latin typeface="Calibri"/>
                        </a:rPr>
                        <a:t>Section 166(2), SEBI's BRSR and BRSR Core, and PFUTP already exist. Narrow standing, small penalties and softened assurance stop them from being triggered.</a:t>
                      </a:r>
                    </a:p>
                  </a:txBody>
                  <a:tcPr marL="82296" marR="82296" anchor="ctr">
                    <a:solidFill>
                      <a:srgbClr val="E8EFE6"/>
                    </a:solidFill>
                  </a:tcPr>
                </a:tc>
                <a:extLst>
                  <a:ext uri="{0D108BD9-81ED-4DB2-BD59-A6C34878D82A}">
                    <a16:rowId xmlns:a16="http://schemas.microsoft.com/office/drawing/2014/main" val="10004"/>
                  </a:ext>
                </a:extLst>
              </a:tr>
              <a:tr h="660000">
                <a:tc>
                  <a:txBody>
                    <a:bodyPr/>
                    <a:lstStyle/>
                    <a:p>
                      <a:pPr algn="ctr"/>
                      <a:r>
                        <a:rPr sz="900" b="1">
                          <a:solidFill>
                            <a:srgbClr val="095E4F"/>
                          </a:solidFill>
                          <a:latin typeface="Calibri"/>
                        </a:rPr>
                        <a:t>5</a:t>
                      </a:r>
                    </a:p>
                  </a:txBody>
                  <a:tcPr marL="82296" marR="82296" anchor="ctr">
                    <a:solidFill>
                      <a:srgbClr val="FFF6EA"/>
                    </a:solidFill>
                  </a:tcPr>
                </a:tc>
                <a:tc>
                  <a:txBody>
                    <a:bodyPr/>
                    <a:lstStyle/>
                    <a:p>
                      <a:pPr algn="l"/>
                      <a:r>
                        <a:rPr sz="900" b="0">
                          <a:solidFill>
                            <a:srgbClr val="3A3A4A"/>
                          </a:solidFill>
                          <a:latin typeface="Calibri"/>
                        </a:rPr>
                        <a:t>What do stronger jurisdictions do, and what can India borrow from them?</a:t>
                      </a:r>
                    </a:p>
                  </a:txBody>
                  <a:tcPr marL="82296" marR="82296" anchor="ctr">
                    <a:solidFill>
                      <a:srgbClr val="FFF6EA"/>
                    </a:solidFill>
                  </a:tcPr>
                </a:tc>
                <a:tc>
                  <a:txBody>
                    <a:bodyPr/>
                    <a:lstStyle/>
                    <a:p>
                      <a:pPr algn="ctr"/>
                      <a:r>
                        <a:rPr sz="900" b="0">
                          <a:solidFill>
                            <a:srgbClr val="095E4F"/>
                          </a:solidFill>
                          <a:latin typeface="Calibri"/>
                        </a:rPr>
                        <a:t>15, 17–18</a:t>
                      </a:r>
                    </a:p>
                  </a:txBody>
                  <a:tcPr marL="82296" marR="82296" anchor="ctr">
                    <a:solidFill>
                      <a:srgbClr val="FFF6EA"/>
                    </a:solidFill>
                  </a:tcPr>
                </a:tc>
                <a:tc>
                  <a:txBody>
                    <a:bodyPr/>
                    <a:lstStyle/>
                    <a:p>
                      <a:pPr algn="l"/>
                      <a:r>
                        <a:rPr sz="900" b="0">
                          <a:solidFill>
                            <a:srgbClr val="3A3A4A"/>
                          </a:solidFill>
                          <a:latin typeface="Calibri"/>
                        </a:rPr>
                        <a:t>Ten design features, led by proof before publication, independent assurance, automatic referral between regulators and turnover-linked penalties.</a:t>
                      </a:r>
                    </a:p>
                  </a:txBody>
                  <a:tcPr marL="82296" marR="82296" anchor="ctr">
                    <a:solidFill>
                      <a:srgbClr val="FFF6EA"/>
                    </a:solidFill>
                  </a:tcPr>
                </a:tc>
                <a:extLst>
                  <a:ext uri="{0D108BD9-81ED-4DB2-BD59-A6C34878D82A}">
                    <a16:rowId xmlns:a16="http://schemas.microsoft.com/office/drawing/2014/main" val="10005"/>
                  </a:ext>
                </a:extLst>
              </a:tr>
              <a:tr h="660000">
                <a:tc>
                  <a:txBody>
                    <a:bodyPr/>
                    <a:lstStyle/>
                    <a:p>
                      <a:pPr algn="ctr"/>
                      <a:r>
                        <a:rPr sz="900" b="1">
                          <a:solidFill>
                            <a:srgbClr val="095E4F"/>
                          </a:solidFill>
                          <a:latin typeface="Calibri"/>
                        </a:rPr>
                        <a:t>6</a:t>
                      </a:r>
                    </a:p>
                  </a:txBody>
                  <a:tcPr marL="82296" marR="82296" anchor="ctr">
                    <a:solidFill>
                      <a:srgbClr val="E8EFE6"/>
                    </a:solidFill>
                  </a:tcPr>
                </a:tc>
                <a:tc>
                  <a:txBody>
                    <a:bodyPr/>
                    <a:lstStyle/>
                    <a:p>
                      <a:pPr algn="l"/>
                      <a:r>
                        <a:rPr sz="900" b="0">
                          <a:solidFill>
                            <a:srgbClr val="3A3A4A"/>
                          </a:solidFill>
                          <a:latin typeface="Calibri"/>
                        </a:rPr>
                        <a:t>How do overlap, weak coordination and thin enforcement block accountability here?</a:t>
                      </a:r>
                    </a:p>
                  </a:txBody>
                  <a:tcPr marL="82296" marR="82296" anchor="ctr">
                    <a:solidFill>
                      <a:srgbClr val="E8EFE6"/>
                    </a:solidFill>
                  </a:tcPr>
                </a:tc>
                <a:tc>
                  <a:txBody>
                    <a:bodyPr/>
                    <a:lstStyle/>
                    <a:p>
                      <a:pPr algn="ctr"/>
                      <a:r>
                        <a:rPr sz="900" b="0">
                          <a:solidFill>
                            <a:srgbClr val="095E4F"/>
                          </a:solidFill>
                          <a:latin typeface="Calibri"/>
                        </a:rPr>
                        <a:t>10, 16</a:t>
                      </a:r>
                    </a:p>
                  </a:txBody>
                  <a:tcPr marL="82296" marR="82296" anchor="ctr">
                    <a:solidFill>
                      <a:srgbClr val="E8EFE6"/>
                    </a:solidFill>
                  </a:tcPr>
                </a:tc>
                <a:tc>
                  <a:txBody>
                    <a:bodyPr/>
                    <a:lstStyle/>
                    <a:p>
                      <a:pPr algn="l"/>
                      <a:r>
                        <a:rPr sz="900" b="0">
                          <a:solidFill>
                            <a:srgbClr val="3A3A4A"/>
                          </a:solidFill>
                          <a:latin typeface="Calibri"/>
                        </a:rPr>
                        <a:t>Five structural gaps: fragmented definitions, unharmonised proliferation, active backsliding, reactive enforcement and penalty arbitrage.</a:t>
                      </a:r>
                    </a:p>
                  </a:txBody>
                  <a:tcPr marL="82296" marR="82296" anchor="ctr">
                    <a:solidFill>
                      <a:srgbClr val="E8EFE6"/>
                    </a:solidFill>
                  </a:tcPr>
                </a:tc>
                <a:extLst>
                  <a:ext uri="{0D108BD9-81ED-4DB2-BD59-A6C34878D82A}">
                    <a16:rowId xmlns:a16="http://schemas.microsoft.com/office/drawing/2014/main" val="10006"/>
                  </a:ext>
                </a:extLst>
              </a:tr>
              <a:tr h="660000">
                <a:tc>
                  <a:txBody>
                    <a:bodyPr/>
                    <a:lstStyle/>
                    <a:p>
                      <a:pPr algn="ctr"/>
                      <a:r>
                        <a:rPr sz="900" b="1">
                          <a:solidFill>
                            <a:srgbClr val="095E4F"/>
                          </a:solidFill>
                          <a:latin typeface="Calibri"/>
                        </a:rPr>
                        <a:t>7</a:t>
                      </a:r>
                    </a:p>
                  </a:txBody>
                  <a:tcPr marL="82296" marR="82296" anchor="ctr">
                    <a:solidFill>
                      <a:srgbClr val="FFF6EA"/>
                    </a:solidFill>
                  </a:tcPr>
                </a:tc>
                <a:tc>
                  <a:txBody>
                    <a:bodyPr/>
                    <a:lstStyle/>
                    <a:p>
                      <a:pPr algn="l"/>
                      <a:r>
                        <a:rPr sz="900" b="0">
                          <a:solidFill>
                            <a:srgbClr val="3A3A4A"/>
                          </a:solidFill>
                          <a:latin typeface="Calibri"/>
                        </a:rPr>
                        <a:t>What reforms would build an integrated liability framework?</a:t>
                      </a:r>
                    </a:p>
                  </a:txBody>
                  <a:tcPr marL="82296" marR="82296" anchor="ctr">
                    <a:solidFill>
                      <a:srgbClr val="FFF6EA"/>
                    </a:solidFill>
                  </a:tcPr>
                </a:tc>
                <a:tc>
                  <a:txBody>
                    <a:bodyPr/>
                    <a:lstStyle/>
                    <a:p>
                      <a:pPr algn="ctr"/>
                      <a:r>
                        <a:rPr sz="900" b="0">
                          <a:solidFill>
                            <a:srgbClr val="095E4F"/>
                          </a:solidFill>
                          <a:latin typeface="Calibri"/>
                        </a:rPr>
                        <a:t>19–20</a:t>
                      </a:r>
                    </a:p>
                  </a:txBody>
                  <a:tcPr marL="82296" marR="82296" anchor="ctr">
                    <a:solidFill>
                      <a:srgbClr val="FFF6EA"/>
                    </a:solidFill>
                  </a:tcPr>
                </a:tc>
                <a:tc>
                  <a:txBody>
                    <a:bodyPr/>
                    <a:lstStyle/>
                    <a:p>
                      <a:pPr algn="l"/>
                      <a:r>
                        <a:rPr sz="900" b="0">
                          <a:solidFill>
                            <a:srgbClr val="3A3A4A"/>
                          </a:solidFill>
                          <a:latin typeface="Calibri"/>
                        </a:rPr>
                        <a:t>Five system-level moves, plus specific levers inside the Companies Act, SEBI regulations and consumer law, shifting the law from reacting to preventing.</a:t>
                      </a:r>
                    </a:p>
                  </a:txBody>
                  <a:tcPr marL="82296" marR="8229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430887"/>
          </a:xfrm>
          <a:prstGeom prst="rect">
            <a:avLst/>
          </a:prstGeom>
          <a:noFill/>
        </p:spPr>
        <p:txBody>
          <a:bodyPr wrap="square">
            <a:spAutoFit/>
          </a:bodyPr>
          <a:lstStyle/>
          <a:p>
            <a:pPr>
              <a:defRPr sz="2200" b="1">
                <a:solidFill>
                  <a:srgbClr val="173F35"/>
                </a:solidFill>
                <a:latin typeface="Avenir Next Demi Bold"/>
              </a:defRPr>
            </a:pPr>
            <a:r>
              <a:rPr lang="en-US" dirty="0"/>
              <a:t>General Suggestions</a:t>
            </a:r>
            <a:endParaRPr dirty="0"/>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1):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86384"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86384"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1. Institutional integration</a:t>
            </a:r>
          </a:p>
        </p:txBody>
      </p:sp>
      <p:sp>
        <p:nvSpPr>
          <p:cNvPr id="9" name="TextBox 8"/>
          <p:cNvSpPr txBox="1"/>
          <p:nvPr/>
        </p:nvSpPr>
        <p:spPr>
          <a:xfrm>
            <a:off x="932688"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Create a permanent inter-regulatory greenwashing mechanism linking MCA, SEBI, CCPA, </a:t>
            </a:r>
            <a:r>
              <a:rPr dirty="0" err="1"/>
              <a:t>MoEFCC</a:t>
            </a:r>
            <a:r>
              <a:rPr dirty="0"/>
              <a:t>, CPCB, BIS, FSSAI, and sectoral bodies.</a:t>
            </a:r>
          </a:p>
        </p:txBody>
      </p:sp>
      <p:sp>
        <p:nvSpPr>
          <p:cNvPr id="10" name="Rounded Rectangle 9"/>
          <p:cNvSpPr/>
          <p:nvPr/>
        </p:nvSpPr>
        <p:spPr>
          <a:xfrm>
            <a:off x="2926080"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926080" y="1554480"/>
            <a:ext cx="205740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072384"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rPr dirty="0"/>
              <a:t>2. Lead regulator model</a:t>
            </a:r>
          </a:p>
        </p:txBody>
      </p:sp>
      <p:sp>
        <p:nvSpPr>
          <p:cNvPr id="13" name="TextBox 12"/>
          <p:cNvSpPr txBox="1"/>
          <p:nvPr/>
        </p:nvSpPr>
        <p:spPr>
          <a:xfrm>
            <a:off x="3072384"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Use mandatory cross-referrals, shared evidence protocols, and a rule for who coordinates a claim that travels across the market.</a:t>
            </a:r>
          </a:p>
        </p:txBody>
      </p:sp>
      <p:sp>
        <p:nvSpPr>
          <p:cNvPr id="14" name="Rounded Rectangle 13"/>
          <p:cNvSpPr/>
          <p:nvPr/>
        </p:nvSpPr>
        <p:spPr>
          <a:xfrm>
            <a:off x="5065776"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065776" y="1554480"/>
            <a:ext cx="205740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12080"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3. Standardised substantiation</a:t>
            </a:r>
          </a:p>
        </p:txBody>
      </p:sp>
      <p:sp>
        <p:nvSpPr>
          <p:cNvPr id="17" name="TextBox 16"/>
          <p:cNvSpPr txBox="1"/>
          <p:nvPr/>
        </p:nvSpPr>
        <p:spPr>
          <a:xfrm>
            <a:off x="5212080"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Move toward lifecycle-based verification, product-category rules, accredited verifiers, and common evidentiary standards.</a:t>
            </a:r>
          </a:p>
        </p:txBody>
      </p:sp>
      <p:sp>
        <p:nvSpPr>
          <p:cNvPr id="18" name="Rounded Rectangle 17"/>
          <p:cNvSpPr/>
          <p:nvPr/>
        </p:nvSpPr>
        <p:spPr>
          <a:xfrm>
            <a:off x="7205472"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205472" y="1554480"/>
            <a:ext cx="205740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51776"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4. Proactive surveillance</a:t>
            </a:r>
          </a:p>
        </p:txBody>
      </p:sp>
      <p:sp>
        <p:nvSpPr>
          <p:cNvPr id="21" name="TextBox 20"/>
          <p:cNvSpPr txBox="1"/>
          <p:nvPr/>
        </p:nvSpPr>
        <p:spPr>
          <a:xfrm>
            <a:off x="7351776" y="2194560"/>
            <a:ext cx="1764792" cy="1783080"/>
          </a:xfrm>
          <a:prstGeom prst="rect">
            <a:avLst/>
          </a:prstGeom>
          <a:noFill/>
        </p:spPr>
        <p:txBody>
          <a:bodyPr wrap="square" anchor="t">
            <a:spAutoFit/>
          </a:bodyPr>
          <a:lstStyle/>
          <a:p>
            <a:pPr algn="l">
              <a:defRPr sz="1200" b="0">
                <a:solidFill>
                  <a:srgbClr val="2A2A2A"/>
                </a:solidFill>
                <a:latin typeface="Avenir Next"/>
              </a:defRPr>
            </a:pPr>
            <a:r>
              <a:rPr dirty="0"/>
              <a:t>Run market sweeps in high-risk sectors and cross-check sustainability claims against pollution, compliance, and finance records.</a:t>
            </a:r>
          </a:p>
        </p:txBody>
      </p:sp>
      <p:sp>
        <p:nvSpPr>
          <p:cNvPr id="22" name="Rounded Rectangle 21"/>
          <p:cNvSpPr/>
          <p:nvPr/>
        </p:nvSpPr>
        <p:spPr>
          <a:xfrm>
            <a:off x="9345168" y="1554480"/>
            <a:ext cx="2057400" cy="24231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345168" y="1554480"/>
            <a:ext cx="2057400" cy="73152"/>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491472" y="1682496"/>
            <a:ext cx="1764792" cy="384048"/>
          </a:xfrm>
          <a:prstGeom prst="rect">
            <a:avLst/>
          </a:prstGeom>
          <a:noFill/>
        </p:spPr>
        <p:txBody>
          <a:bodyPr wrap="square" anchor="t">
            <a:spAutoFit/>
          </a:bodyPr>
          <a:lstStyle/>
          <a:p>
            <a:pPr algn="l">
              <a:defRPr sz="1600" b="1">
                <a:solidFill>
                  <a:srgbClr val="173F35"/>
                </a:solidFill>
                <a:latin typeface="Avenir Next Demi Bold"/>
              </a:defRPr>
            </a:pPr>
            <a:r>
              <a:t>5. Enforcement capacity</a:t>
            </a:r>
          </a:p>
        </p:txBody>
      </p:sp>
      <p:sp>
        <p:nvSpPr>
          <p:cNvPr id="25" name="TextBox 24"/>
          <p:cNvSpPr txBox="1"/>
          <p:nvPr/>
        </p:nvSpPr>
        <p:spPr>
          <a:xfrm>
            <a:off x="9491472" y="2221992"/>
            <a:ext cx="1764792" cy="1783080"/>
          </a:xfrm>
          <a:prstGeom prst="rect">
            <a:avLst/>
          </a:prstGeom>
          <a:noFill/>
        </p:spPr>
        <p:txBody>
          <a:bodyPr wrap="square" anchor="t">
            <a:spAutoFit/>
          </a:bodyPr>
          <a:lstStyle/>
          <a:p>
            <a:pPr algn="l">
              <a:defRPr sz="1200" b="0">
                <a:solidFill>
                  <a:srgbClr val="2A2A2A"/>
                </a:solidFill>
                <a:latin typeface="Avenir Next"/>
              </a:defRPr>
            </a:pPr>
            <a:r>
              <a:rPr dirty="0"/>
              <a:t>Build shared technical expertise on carbon accounting, offsets, lifecycle analysis, and ESG assurance.</a:t>
            </a:r>
          </a:p>
        </p:txBody>
      </p:sp>
      <p:sp>
        <p:nvSpPr>
          <p:cNvPr id="26" name="Rounded Rectangle 25"/>
          <p:cNvSpPr/>
          <p:nvPr/>
        </p:nvSpPr>
        <p:spPr>
          <a:xfrm>
            <a:off x="1097280" y="4407408"/>
            <a:ext cx="10012680" cy="91440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53312" y="4645152"/>
            <a:ext cx="9509760" cy="402336"/>
          </a:xfrm>
          <a:prstGeom prst="rect">
            <a:avLst/>
          </a:prstGeom>
          <a:noFill/>
        </p:spPr>
        <p:txBody>
          <a:bodyPr wrap="square" anchor="t">
            <a:spAutoFit/>
          </a:bodyPr>
          <a:lstStyle/>
          <a:p>
            <a:pPr algn="ctr">
              <a:defRPr sz="1800" b="0">
                <a:solidFill>
                  <a:srgbClr val="173F35"/>
                </a:solidFill>
                <a:latin typeface="Georgia"/>
              </a:defRPr>
            </a:pPr>
            <a:r>
              <a:t>Narrative takeaway: credible anti-greenwashing law starts before the claim is published, not after the complaint is filed.</a:t>
            </a:r>
          </a:p>
        </p:txBody>
      </p:sp>
      <p:sp>
        <p:nvSpPr>
          <p:cNvPr id="28" name="TextBox 27"/>
          <p:cNvSpPr txBox="1"/>
          <p:nvPr/>
        </p:nvSpPr>
        <p:spPr>
          <a:xfrm>
            <a:off x="566928" y="6252446"/>
            <a:ext cx="5008102" cy="246221"/>
          </a:xfrm>
          <a:prstGeom prst="rect">
            <a:avLst/>
          </a:prstGeom>
          <a:noFill/>
        </p:spPr>
        <p:txBody>
          <a:bodyPr wrap="none">
            <a:spAutoFit/>
          </a:bodyPr>
          <a:lstStyle/>
          <a:p>
            <a:pPr>
              <a:defRPr sz="850">
                <a:solidFill>
                  <a:srgbClr val="6B6F6A"/>
                </a:solidFill>
                <a:latin typeface="Avenir Next"/>
              </a:defRPr>
            </a:pPr>
            <a:r>
              <a:rPr sz="1000"/>
              <a:t>Source base: Chapter 6 suggestions and comparative design lessons in Chapter 4.</a:t>
            </a:r>
          </a:p>
        </p:txBody>
      </p:sp>
    </p:spTree>
    <p:extLst>
      <p:ext uri="{BB962C8B-B14F-4D97-AF65-F5344CB8AC3E}">
        <p14:creationId xmlns:p14="http://schemas.microsoft.com/office/powerpoint/2010/main" val="9189718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384048"/>
            <a:ext cx="7863840" cy="640080"/>
          </a:xfrm>
          <a:prstGeom prst="rect">
            <a:avLst/>
          </a:prstGeom>
          <a:noFill/>
        </p:spPr>
        <p:txBody>
          <a:bodyPr wrap="square">
            <a:spAutoFit/>
          </a:bodyPr>
          <a:lstStyle/>
          <a:p>
            <a:pPr>
              <a:defRPr sz="2200" b="1">
                <a:solidFill>
                  <a:srgbClr val="173F35"/>
                </a:solidFill>
                <a:latin typeface="Avenir Next Demi Bold"/>
              </a:defRPr>
            </a:pPr>
            <a:r>
              <a:t>Recommendations: Legal Reform Levers</a:t>
            </a:r>
          </a:p>
        </p:txBody>
      </p:sp>
      <p:sp>
        <p:nvSpPr>
          <p:cNvPr id="5" name="TextBox 4"/>
          <p:cNvSpPr txBox="1"/>
          <p:nvPr/>
        </p:nvSpPr>
        <p:spPr>
          <a:xfrm>
            <a:off x="566928" y="930000"/>
            <a:ext cx="11000000" cy="600164"/>
          </a:xfrm>
          <a:prstGeom prst="rect">
            <a:avLst/>
          </a:prstGeom>
          <a:noFill/>
        </p:spPr>
        <p:txBody>
          <a:bodyPr wrap="square">
            <a:spAutoFit/>
          </a:bodyPr>
          <a:lstStyle/>
          <a:p>
            <a:pPr>
              <a:defRPr sz="1200">
                <a:solidFill>
                  <a:srgbClr val="6B6F6A"/>
                </a:solidFill>
                <a:latin typeface="Avenir Next"/>
              </a:defRPr>
            </a:pPr>
            <a:r>
              <a:rPr sz="1100" b="0" dirty="0">
                <a:solidFill>
                  <a:srgbClr val="6B6F6A"/>
                </a:solidFill>
                <a:latin typeface="Avenir Next"/>
              </a:rPr>
              <a:t>Research Question 7 (part 2): </a:t>
            </a:r>
            <a:r>
              <a:rPr lang="en-IN" sz="1100" dirty="0">
                <a:ea typeface="+mn-lt"/>
                <a:cs typeface="+mn-lt"/>
              </a:rPr>
              <a:t>What legal and policy recommendations can create an integrated liability framework that holds corporations accountable for misleading environmental claims?</a:t>
            </a:r>
            <a:endParaRPr lang="en-US" sz="11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572768"/>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Companies Act / MCA</a:t>
            </a:r>
          </a:p>
        </p:txBody>
      </p:sp>
      <p:sp>
        <p:nvSpPr>
          <p:cNvPr id="9" name="TextBox 8"/>
          <p:cNvSpPr txBox="1"/>
          <p:nvPr/>
        </p:nvSpPr>
        <p:spPr>
          <a:xfrm>
            <a:off x="841248" y="2267712"/>
            <a:ext cx="3255264" cy="3383280"/>
          </a:xfrm>
          <a:prstGeom prst="rect">
            <a:avLst/>
          </a:prstGeom>
          <a:noFill/>
        </p:spPr>
        <p:txBody>
          <a:bodyPr wrap="square" anchor="t">
            <a:spAutoFit/>
          </a:bodyPr>
          <a:lstStyle/>
          <a:p>
            <a:pPr algn="l">
              <a:defRPr sz="1200" b="0">
                <a:solidFill>
                  <a:srgbClr val="2A2A2A"/>
                </a:solidFill>
                <a:latin typeface="Avenir Next"/>
              </a:defRPr>
            </a:pPr>
            <a:r>
              <a:t>- Turnover-linked penalties for directors authorising misleading environmental claims.</a:t>
            </a:r>
            <a:br/>
            <a:br/>
            <a:r>
              <a:t>- Clear standing to enforce the environmental duty under Section 166(2).</a:t>
            </a:r>
            <a:br/>
            <a:br/>
            <a:r>
              <a:t>- Board-level ESG committee and stronger whistleblower pathways for environmental misrepresentation.</a:t>
            </a:r>
          </a:p>
        </p:txBody>
      </p:sp>
      <p:sp>
        <p:nvSpPr>
          <p:cNvPr id="10" name="Rounded Rectangle 9"/>
          <p:cNvSpPr/>
          <p:nvPr/>
        </p:nvSpPr>
        <p:spPr>
          <a:xfrm>
            <a:off x="4325112"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25112" y="1572768"/>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71416"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SEBI / Securities law</a:t>
            </a:r>
          </a:p>
        </p:txBody>
      </p:sp>
      <p:sp>
        <p:nvSpPr>
          <p:cNvPr id="13" name="TextBox 12"/>
          <p:cNvSpPr txBox="1"/>
          <p:nvPr/>
        </p:nvSpPr>
        <p:spPr>
          <a:xfrm>
            <a:off x="4468215" y="2240280"/>
            <a:ext cx="3255264" cy="3383280"/>
          </a:xfrm>
          <a:prstGeom prst="rect">
            <a:avLst/>
          </a:prstGeom>
          <a:noFill/>
        </p:spPr>
        <p:txBody>
          <a:bodyPr wrap="square" anchor="t">
            <a:spAutoFit/>
          </a:bodyPr>
          <a:lstStyle/>
          <a:p>
            <a:pPr algn="l">
              <a:defRPr sz="1200" b="0">
                <a:solidFill>
                  <a:srgbClr val="2A2A2A"/>
                </a:solidFill>
                <a:latin typeface="Avenir Next"/>
              </a:defRPr>
            </a:pPr>
            <a:r>
              <a:rPr dirty="0"/>
              <a:t>- Fuller value-chain disclosure and mandatory reasonable assurance over time.</a:t>
            </a:r>
            <a:br>
              <a:rPr dirty="0"/>
            </a:br>
            <a:br>
              <a:rPr dirty="0"/>
            </a:br>
            <a:r>
              <a:rPr dirty="0"/>
              <a:t>- Explicit classification of ESG misrepresentation under PFUTP.</a:t>
            </a:r>
            <a:br>
              <a:rPr dirty="0"/>
            </a:br>
            <a:br>
              <a:rPr dirty="0"/>
            </a:br>
            <a:r>
              <a:rPr dirty="0"/>
              <a:t>- Stronger competence, transparency, and penalty rules for ESG rating providers; movement toward double materiality.</a:t>
            </a:r>
          </a:p>
        </p:txBody>
      </p:sp>
      <p:sp>
        <p:nvSpPr>
          <p:cNvPr id="14" name="Rounded Rectangle 13"/>
          <p:cNvSpPr/>
          <p:nvPr/>
        </p:nvSpPr>
        <p:spPr>
          <a:xfrm>
            <a:off x="7918704" y="1572768"/>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18704" y="1572768"/>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65008" y="1700784"/>
            <a:ext cx="3255264" cy="384048"/>
          </a:xfrm>
          <a:prstGeom prst="rect">
            <a:avLst/>
          </a:prstGeom>
          <a:noFill/>
        </p:spPr>
        <p:txBody>
          <a:bodyPr wrap="square" anchor="t">
            <a:spAutoFit/>
          </a:bodyPr>
          <a:lstStyle/>
          <a:p>
            <a:pPr algn="l">
              <a:defRPr sz="1600" b="1">
                <a:solidFill>
                  <a:srgbClr val="173F35"/>
                </a:solidFill>
                <a:latin typeface="Avenir Next Demi Bold"/>
              </a:defRPr>
            </a:pPr>
            <a:r>
              <a:t>CCPA / Consumer law</a:t>
            </a:r>
          </a:p>
        </p:txBody>
      </p:sp>
      <p:sp>
        <p:nvSpPr>
          <p:cNvPr id="17" name="TextBox 16"/>
          <p:cNvSpPr txBox="1"/>
          <p:nvPr/>
        </p:nvSpPr>
        <p:spPr>
          <a:xfrm>
            <a:off x="8016087" y="2212848"/>
            <a:ext cx="3255264" cy="3383280"/>
          </a:xfrm>
          <a:prstGeom prst="rect">
            <a:avLst/>
          </a:prstGeom>
          <a:noFill/>
        </p:spPr>
        <p:txBody>
          <a:bodyPr wrap="square" anchor="t">
            <a:spAutoFit/>
          </a:bodyPr>
          <a:lstStyle/>
          <a:p>
            <a:pPr algn="l">
              <a:defRPr sz="1200" b="0">
                <a:solidFill>
                  <a:srgbClr val="2A2A2A"/>
                </a:solidFill>
                <a:latin typeface="Avenir Next"/>
              </a:defRPr>
            </a:pPr>
            <a:r>
              <a:rPr dirty="0"/>
              <a:t>- Convert the 2024 Greenwashing Guidelines into formal delegated legislation.</a:t>
            </a:r>
            <a:br>
              <a:rPr dirty="0"/>
            </a:br>
            <a:br>
              <a:rPr dirty="0"/>
            </a:br>
            <a:r>
              <a:rPr dirty="0"/>
              <a:t>- Use turnover-based penalties and corrective advertising for serious claims.</a:t>
            </a:r>
            <a:br>
              <a:rPr dirty="0"/>
            </a:br>
            <a:br>
              <a:rPr dirty="0"/>
            </a:br>
            <a:r>
              <a:rPr dirty="0"/>
              <a:t>- Narrow the puffery exception and adopt claim-specific substantiation standards.</a:t>
            </a:r>
          </a:p>
        </p:txBody>
      </p:sp>
      <p:sp>
        <p:nvSpPr>
          <p:cNvPr id="18" name="TextBox 17"/>
          <p:cNvSpPr txBox="1"/>
          <p:nvPr/>
        </p:nvSpPr>
        <p:spPr>
          <a:xfrm>
            <a:off x="566928" y="6400800"/>
            <a:ext cx="5328703" cy="246221"/>
          </a:xfrm>
          <a:prstGeom prst="rect">
            <a:avLst/>
          </a:prstGeom>
          <a:noFill/>
        </p:spPr>
        <p:txBody>
          <a:bodyPr wrap="none" lIns="91440" tIns="45720" rIns="91440" bIns="45720" anchor="t">
            <a:spAutoFit/>
          </a:bodyPr>
          <a:lstStyle/>
          <a:p>
            <a:pPr>
              <a:defRPr sz="850">
                <a:solidFill>
                  <a:srgbClr val="6B6F6A"/>
                </a:solidFill>
                <a:latin typeface="Avenir Next"/>
              </a:defRPr>
            </a:pPr>
            <a:r>
              <a:t>Source base: Chapter 6 recommendations under </a:t>
            </a:r>
            <a:r>
              <a:rPr sz="1000"/>
              <a:t>Companies</a:t>
            </a:r>
            <a:r>
              <a:t> Act, SEBI, and consumer protection law.</a:t>
            </a:r>
          </a:p>
        </p:txBody>
      </p:sp>
      <p:sp>
        <p:nvSpPr>
          <p:cNvPr id="19" name="Rounded Rectangle 18"/>
          <p:cNvSpPr/>
          <p:nvPr/>
        </p:nvSpPr>
        <p:spPr>
          <a:xfrm>
            <a:off x="731520" y="5720000"/>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61520" y="5790000"/>
            <a:ext cx="10475056" cy="460000"/>
          </a:xfrm>
          <a:prstGeom prst="rect">
            <a:avLst/>
          </a:prstGeom>
          <a:noFill/>
        </p:spPr>
        <p:txBody>
          <a:bodyPr wrap="square" lIns="45720" tIns="22860" rIns="45720" bIns="22860" anchor="ctr">
            <a:spAutoFit/>
          </a:bodyPr>
          <a:lstStyle/>
          <a:p>
            <a:pPr algn="ctr"/>
            <a:r>
              <a:rPr sz="1000" b="1" i="0">
                <a:solidFill>
                  <a:srgbClr val="095E4F"/>
                </a:solidFill>
                <a:latin typeface="Calibri"/>
              </a:rPr>
              <a:t>Answer to RQ7:  </a:t>
            </a:r>
            <a:r>
              <a:rPr sz="1000" b="0" i="0">
                <a:solidFill>
                  <a:srgbClr val="3A3A4A"/>
                </a:solidFill>
                <a:latin typeface="Calibri"/>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015663"/>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6000"/>
              <a:t>Thank You</a:t>
            </a:r>
            <a:endParaRPr lang="en-US" sz="600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1304</TotalTime>
  <Words>4604</Words>
  <Application>Microsoft Macintosh PowerPoint</Application>
  <PresentationFormat>Widescreen</PresentationFormat>
  <Paragraphs>415</Paragraphs>
  <Slides>21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Aptos</vt:lpstr>
      <vt:lpstr>Arial</vt:lpstr>
      <vt:lpstr>Arial,Sans-Serif</vt:lpstr>
      <vt:lpstr>Avenir Next</vt:lpstr>
      <vt:lpstr>Avenir Next Demi Bold</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898</cp:revision>
  <dcterms:created xsi:type="dcterms:W3CDTF">2013-01-27T09:14:16Z</dcterms:created>
  <dcterms:modified xsi:type="dcterms:W3CDTF">2026-08-12T18:15:17Z</dcterms:modified>
  <cp:category/>
</cp:coreProperties>
</file>