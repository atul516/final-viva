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319" r:id="rId16"/>
    <p:sldId id="323" r:id="rId17"/>
    <p:sldId id="272" r:id="rId18"/>
    <p:sldId id="289" r:id="rId19"/>
    <p:sldId id="296" r:id="rId20"/>
    <p:sldId id="299"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8D29"/>
    <a:srgbClr val="00A731"/>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40"/>
    <p:restoredTop sz="94629"/>
  </p:normalViewPr>
  <p:slideViewPr>
    <p:cSldViewPr snapToGrid="0" snapToObjects="1">
      <p:cViewPr varScale="1">
        <p:scale>
          <a:sx n="78" d="100"/>
          <a:sy n="78" d="100"/>
        </p:scale>
        <p:origin x="200" y="712"/>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10</a:t>
            </a:fld>
            <a:endParaRPr lang="en-US"/>
          </a:p>
        </p:txBody>
      </p:sp>
    </p:spTree>
    <p:extLst>
      <p:ext uri="{BB962C8B-B14F-4D97-AF65-F5344CB8AC3E}">
        <p14:creationId xmlns:p14="http://schemas.microsoft.com/office/powerpoint/2010/main" val="3994628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15</a:t>
            </a:fld>
            <a:endParaRPr lang="en-US"/>
          </a:p>
        </p:txBody>
      </p:sp>
    </p:spTree>
    <p:extLst>
      <p:ext uri="{BB962C8B-B14F-4D97-AF65-F5344CB8AC3E}">
        <p14:creationId xmlns:p14="http://schemas.microsoft.com/office/powerpoint/2010/main" val="40598478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473965"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on finding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104458"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8"/>
            <a:ext cx="10058400" cy="867621"/>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endParaRPr dirty="0"/>
          </a:p>
        </p:txBody>
      </p:sp>
      <p:sp>
        <p:nvSpPr>
          <p:cNvPr id="8" name="Rounded Rectangle 7"/>
          <p:cNvSpPr/>
          <p:nvPr/>
        </p:nvSpPr>
        <p:spPr>
          <a:xfrm>
            <a:off x="757509"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757509" y="2285896"/>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903812" y="2481346"/>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903813" y="2806765"/>
            <a:ext cx="3145536"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p:txBody>
      </p:sp>
      <p:sp>
        <p:nvSpPr>
          <p:cNvPr id="12" name="Rounded Rectangle 11"/>
          <p:cNvSpPr/>
          <p:nvPr/>
        </p:nvSpPr>
        <p:spPr>
          <a:xfrm>
            <a:off x="4341957"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341957" y="2285896"/>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488261" y="2481346"/>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475915" y="2825053"/>
            <a:ext cx="3316531" cy="1395254"/>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p:txBody>
      </p:sp>
      <p:sp>
        <p:nvSpPr>
          <p:cNvPr id="16" name="Rounded Rectangle 15"/>
          <p:cNvSpPr/>
          <p:nvPr/>
        </p:nvSpPr>
        <p:spPr>
          <a:xfrm>
            <a:off x="7926405"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7926405" y="2285896"/>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072709" y="2481346"/>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139687" y="2849406"/>
            <a:ext cx="3212515"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p:txBody>
      </p:sp>
      <p:sp>
        <p:nvSpPr>
          <p:cNvPr id="20" name="Rounded Rectangle 19"/>
          <p:cNvSpPr/>
          <p:nvPr/>
        </p:nvSpPr>
        <p:spPr>
          <a:xfrm>
            <a:off x="1249519" y="4785759"/>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876140"/>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46438" cy="86762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1146468"/>
          </a:xfrm>
          <a:prstGeom prst="rect">
            <a:avLst/>
          </a:prstGeom>
          <a:noFill/>
        </p:spPr>
        <p:txBody>
          <a:bodyPr wrap="square" anchor="t">
            <a:spAutoFit/>
          </a:bodyPr>
          <a:lstStyle/>
          <a:p>
            <a:pPr algn="l">
              <a:defRPr sz="1250" b="1">
                <a:solidFill>
                  <a:srgbClr val="D1A94B"/>
                </a:solidFill>
                <a:latin typeface="Avenir Next"/>
              </a:defRPr>
            </a:pPr>
            <a:r>
              <a:rPr sz="1250" b="1" dirty="0">
                <a:solidFill>
                  <a:schemeClr val="tx1">
                    <a:lumMod val="95000"/>
                    <a:lumOff val="5000"/>
                  </a:schemeClr>
                </a:solidFill>
                <a:latin typeface="Avenir Next" panose="020B0503020202020204" pitchFamily="34" charset="0"/>
              </a:rPr>
              <a:t>Constitutional Bedrock: </a:t>
            </a:r>
            <a:endParaRPr lang="en-US" sz="1250" b="1" dirty="0">
              <a:solidFill>
                <a:schemeClr val="tx1">
                  <a:lumMod val="95000"/>
                  <a:lumOff val="5000"/>
                </a:schemeClr>
              </a:solidFill>
              <a:latin typeface="Avenir Next" panose="020B0503020202020204" pitchFamily="34" charset="0"/>
            </a:endParaRPr>
          </a:p>
          <a:p>
            <a:pPr marL="285750" indent="-285750" algn="l">
              <a:buFont typeface="Arial" panose="020B0604020202020204" pitchFamily="34" charset="0"/>
              <a:buChar char="•"/>
              <a:defRPr sz="1400" b="1">
                <a:solidFill>
                  <a:srgbClr val="FFFFFF"/>
                </a:solidFill>
                <a:latin typeface="Avenir Next"/>
              </a:defRPr>
            </a:pPr>
            <a:r>
              <a:rPr sz="1400" b="1" dirty="0">
                <a:solidFill>
                  <a:schemeClr val="tx1">
                    <a:lumMod val="95000"/>
                    <a:lumOff val="5000"/>
                  </a:schemeClr>
                </a:solidFill>
                <a:latin typeface="Avenir Next" panose="020B0503020202020204" pitchFamily="34" charset="0"/>
              </a:rPr>
              <a:t>Articles 21, 48A, 51A(g)</a:t>
            </a:r>
            <a:r>
              <a:rPr lang="en-US" sz="1400" b="1" dirty="0">
                <a:solidFill>
                  <a:schemeClr val="tx1">
                    <a:lumMod val="95000"/>
                    <a:lumOff val="5000"/>
                  </a:schemeClr>
                </a:solidFill>
                <a:latin typeface="Avenir Next" panose="020B0503020202020204" pitchFamily="34" charset="0"/>
              </a:rPr>
              <a:t> of the constitution.</a:t>
            </a:r>
          </a:p>
          <a:p>
            <a:pPr marL="285750" indent="-285750" algn="l">
              <a:buFont typeface="Arial" panose="020B0604020202020204" pitchFamily="34" charset="0"/>
              <a:buChar char="•"/>
              <a:defRPr sz="1400" b="1">
                <a:solidFill>
                  <a:srgbClr val="FFFFFF"/>
                </a:solidFill>
                <a:latin typeface="Avenir Next"/>
              </a:defRPr>
            </a:pPr>
            <a:r>
              <a:rPr lang="en-US" sz="1400" b="1" dirty="0">
                <a:solidFill>
                  <a:schemeClr val="tx1">
                    <a:lumMod val="95000"/>
                    <a:lumOff val="5000"/>
                  </a:schemeClr>
                </a:solidFill>
                <a:latin typeface="Avenir Next" panose="020B0503020202020204" pitchFamily="34" charset="0"/>
              </a:rPr>
              <a:t>Supreme Court rulings (Tata-Mistry and MK Ranjitsinh) affirm environmental duties and climate rights.</a:t>
            </a: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90044"/>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380949"/>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4001368"/>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4001368"/>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638910"/>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a:t>
            </a:r>
            <a:r>
              <a:rPr lang="en-US" sz="1400" dirty="0">
                <a:latin typeface="Avenir Next" panose="020B0503020202020204" pitchFamily="34" charset="0"/>
              </a:rPr>
              <a:t> and</a:t>
            </a:r>
            <a:r>
              <a:rPr sz="1400" dirty="0">
                <a:latin typeface="Avenir Next" panose="020B0503020202020204" pitchFamily="34" charset="0"/>
              </a:rPr>
              <a:t>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627235"/>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116086"/>
            <a:ext cx="11277600" cy="461833"/>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(Contd.)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33524" y="384048"/>
            <a:ext cx="11629874"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Enforcement </a:t>
            </a:r>
            <a:r>
              <a:rPr sz="2800" dirty="0"/>
              <a:t>Is Weak</a:t>
            </a:r>
            <a:r>
              <a:rPr lang="en-US" sz="2800" dirty="0"/>
              <a:t>: A comparison</a:t>
            </a:r>
            <a:endParaRPr sz="2800" dirty="0"/>
          </a:p>
        </p:txBody>
      </p:sp>
      <p:sp>
        <p:nvSpPr>
          <p:cNvPr id="5" name="TextBox 4"/>
          <p:cNvSpPr txBox="1"/>
          <p:nvPr/>
        </p:nvSpPr>
        <p:spPr>
          <a:xfrm>
            <a:off x="490348"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23900" y="1975759"/>
            <a:ext cx="4914900" cy="3666674"/>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65200" y="1966685"/>
            <a:ext cx="4432300" cy="342900"/>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 in Law — But Unenforced</a:t>
            </a:r>
          </a:p>
        </p:txBody>
      </p:sp>
      <p:sp>
        <p:nvSpPr>
          <p:cNvPr id="10" name="TextBox 9"/>
          <p:cNvSpPr txBox="1"/>
          <p:nvPr/>
        </p:nvSpPr>
        <p:spPr>
          <a:xfrm>
            <a:off x="952500" y="2559959"/>
            <a:ext cx="4445000" cy="2831544"/>
          </a:xfrm>
          <a:prstGeom prst="rect">
            <a:avLst/>
          </a:prstGeom>
          <a:noFill/>
        </p:spPr>
        <p:txBody>
          <a:bodyPr wrap="square" lIns="91440" tIns="45720" rIns="91440" bIns="45720" anchor="t">
            <a:spAutoFit/>
          </a:bodyPr>
          <a:lstStyle/>
          <a:p>
            <a:pPr marL="171450" indent="-171450">
              <a:spcAft>
                <a:spcPts val="600"/>
              </a:spcAft>
              <a:defRPr sz="1150">
                <a:solidFill>
                  <a:srgbClr val="2D2D2D"/>
                </a:solidFill>
                <a:latin typeface="Avenir Next"/>
              </a:defRPr>
            </a:pPr>
            <a:r>
              <a:rPr lang="en-US" sz="1400" dirty="0">
                <a:latin typeface="Avenir Next" panose="020B0503020202020204" pitchFamily="34" charset="0"/>
              </a:rPr>
              <a:t>• Section 166(2) explicitly places environmental protection inside directors' duties, yet not a single director liability case has been reported under it for green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Supreme Court rulings (Tata-Mistry, Ranjitsinh) affirm environmental duties and climate rights, but narrow legal standing keeps the affected public and civil society from filing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SEBI's BRSR and BRSR Core formalize detailed sustainability disclosures, while audits remain partial and delayed, leaving the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58420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5842000" y="1975759"/>
            <a:ext cx="2603500" cy="88900"/>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59817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5981700" y="2460172"/>
            <a:ext cx="2324100" cy="1015663"/>
          </a:xfrm>
          <a:prstGeom prst="rect">
            <a:avLst/>
          </a:prstGeom>
          <a:noFill/>
        </p:spPr>
        <p:txBody>
          <a:bodyPr wrap="square" anchor="t">
            <a:spAutoFit/>
          </a:bodyPr>
          <a:lstStyle/>
          <a:p>
            <a:pPr>
              <a:defRPr sz="1000" b="0">
                <a:solidFill>
                  <a:srgbClr val="2A2A2A"/>
                </a:solidFill>
                <a:latin typeface="Avenir Next"/>
              </a:defRPr>
            </a:pPr>
            <a:r>
              <a:rPr lang="en-IN" sz="1200" dirty="0">
                <a:latin typeface="Avenir Next" panose="020B0503020202020204" pitchFamily="34" charset="0"/>
              </a:rPr>
              <a:t>In Australia, its securities regulator, ASIC made 47 greenwashing-related regulatory interventions in just 15 months ending June 2024.</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87122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8712200" y="1975759"/>
            <a:ext cx="2603500" cy="88900"/>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88519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8851900" y="2509159"/>
            <a:ext cx="2324100" cy="830997"/>
          </a:xfrm>
          <a:prstGeom prst="rect">
            <a:avLst/>
          </a:prstGeom>
          <a:noFill/>
        </p:spPr>
        <p:txBody>
          <a:bodyPr wrap="square" anchor="t">
            <a:spAutoFit/>
          </a:bodyPr>
          <a:lstStyle/>
          <a:p>
            <a:pPr algn="l">
              <a:defRPr sz="1000" b="0">
                <a:solidFill>
                  <a:srgbClr val="2A2A2A"/>
                </a:solidFill>
                <a:latin typeface="Avenir Next"/>
              </a:defRPr>
            </a:pPr>
            <a:r>
              <a:rPr sz="1200" dirty="0">
                <a:latin typeface="Avenir Next" panose="020B0503020202020204" pitchFamily="34" charset="0"/>
              </a:rPr>
              <a:t>US FTC and SEC brought </a:t>
            </a:r>
            <a:r>
              <a:rPr lang="en-US" sz="1200" dirty="0">
                <a:latin typeface="Avenir Next" panose="020B0503020202020204" pitchFamily="34" charset="0"/>
              </a:rPr>
              <a:t>over </a:t>
            </a:r>
            <a:r>
              <a:rPr sz="1200" dirty="0">
                <a:latin typeface="Avenir Next" panose="020B0503020202020204" pitchFamily="34" charset="0"/>
              </a:rPr>
              <a:t>90 greenwashing enforcement actions </a:t>
            </a:r>
            <a:r>
              <a:rPr lang="en-US" sz="1200" dirty="0">
                <a:latin typeface="Avenir Next" panose="020B0503020202020204" pitchFamily="34" charset="0"/>
              </a:rPr>
              <a:t>between </a:t>
            </a:r>
            <a:r>
              <a:rPr sz="1200" dirty="0">
                <a:latin typeface="Avenir Next" panose="020B0503020202020204" pitchFamily="34" charset="0"/>
              </a:rPr>
              <a:t>2021</a:t>
            </a:r>
            <a:r>
              <a:rPr lang="en-US" sz="1200" dirty="0">
                <a:latin typeface="Avenir Next" panose="020B0503020202020204" pitchFamily="34" charset="0"/>
              </a:rPr>
              <a:t> and 2023.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5842000" y="4000500"/>
            <a:ext cx="2603500" cy="173372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5842000" y="4000500"/>
            <a:ext cx="2603500" cy="88900"/>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59817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5981700" y="4484913"/>
            <a:ext cx="2324100" cy="1200329"/>
          </a:xfrm>
          <a:prstGeom prst="rect">
            <a:avLst/>
          </a:prstGeom>
          <a:noFill/>
        </p:spPr>
        <p:txBody>
          <a:bodyPr wrap="square" anchor="t">
            <a:spAutoFit/>
          </a:bodyPr>
          <a:lstStyle/>
          <a:p>
            <a:pPr algn="l">
              <a:defRPr sz="1000" b="0">
                <a:solidFill>
                  <a:srgbClr val="2A2A2A"/>
                </a:solidFill>
                <a:latin typeface="Avenir Next"/>
              </a:defRPr>
            </a:pPr>
            <a:r>
              <a:rPr lang="en-IN" sz="1200" dirty="0">
                <a:latin typeface="Avenir Next" panose="020B0503020202020204" pitchFamily="34" charset="0"/>
              </a:rPr>
              <a:t>n the European Union, France’s competition authority</a:t>
            </a:r>
          </a:p>
          <a:p>
            <a:pPr algn="l">
              <a:defRPr sz="1000" b="0">
                <a:solidFill>
                  <a:srgbClr val="2A2A2A"/>
                </a:solidFill>
                <a:latin typeface="Avenir Next"/>
              </a:defRPr>
            </a:pPr>
            <a:r>
              <a:rPr lang="en-IN" sz="1200" dirty="0">
                <a:latin typeface="Avenir Next" panose="020B0503020202020204" pitchFamily="34" charset="0"/>
              </a:rPr>
              <a:t>alone issued 141 warnings and 114 injunctions for misleading environmental claims.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8712200" y="4000500"/>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8712200" y="4000500"/>
            <a:ext cx="2603500" cy="88900"/>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88519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8851900" y="4533900"/>
            <a:ext cx="2324100" cy="646331"/>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a:t>
            </a:r>
            <a:r>
              <a:rPr lang="en-US" sz="1200" dirty="0">
                <a:latin typeface="Avenir Next" panose="020B0503020202020204" pitchFamily="34" charset="0"/>
              </a:rPr>
              <a:t>enforcement is scarce.</a:t>
            </a:r>
            <a:endParaRPr sz="1200" dirty="0">
              <a:latin typeface="Avenir Next" panose="020B0503020202020204" pitchFamily="34" charset="0"/>
            </a:endParaRPr>
          </a:p>
        </p:txBody>
      </p:sp>
    </p:spTree>
    <p:extLst>
      <p:ext uri="{BB962C8B-B14F-4D97-AF65-F5344CB8AC3E}">
        <p14:creationId xmlns:p14="http://schemas.microsoft.com/office/powerpoint/2010/main" val="91152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5137" y="351390"/>
            <a:ext cx="11636617"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t>India's Enforcement Gap Is</a:t>
            </a:r>
            <a:r>
              <a:rPr lang="en-US" sz="2600" dirty="0"/>
              <a:t> A</a:t>
            </a:r>
            <a:r>
              <a:rPr sz="2600" dirty="0"/>
              <a:t> Design Problem</a:t>
            </a:r>
            <a:r>
              <a:rPr lang="en-US" sz="2600" dirty="0"/>
              <a:t>: A Comparative Study</a:t>
            </a:r>
            <a:endParaRPr sz="2600" dirty="0"/>
          </a:p>
        </p:txBody>
      </p:sp>
      <p:sp>
        <p:nvSpPr>
          <p:cNvPr id="21" name="TextBox 20"/>
          <p:cNvSpPr txBox="1"/>
          <p:nvPr/>
        </p:nvSpPr>
        <p:spPr>
          <a:xfrm>
            <a:off x="566928" y="6580418"/>
            <a:ext cx="3698448" cy="261610"/>
          </a:xfrm>
          <a:prstGeom prst="rect">
            <a:avLst/>
          </a:prstGeom>
          <a:noFill/>
        </p:spPr>
        <p:txBody>
          <a:bodyPr wrap="none" lIns="91440" tIns="45720" rIns="91440" bIns="45720" anchor="t">
            <a:spAutoFit/>
          </a:bodyPr>
          <a:lstStyle/>
          <a:p>
            <a:pPr>
              <a:defRPr sz="850">
                <a:solidFill>
                  <a:srgbClr val="6B6F6A"/>
                </a:solidFill>
                <a:latin typeface="Avenir Next"/>
              </a:defRPr>
            </a:pPr>
            <a:r>
              <a:rPr lang="en-US" sz="1100" dirty="0"/>
              <a:t>Source base: Comparative study, Chapter 4, Chapter 5</a:t>
            </a:r>
          </a:p>
        </p:txBody>
      </p:sp>
      <p:sp>
        <p:nvSpPr>
          <p:cNvPr id="41" name="Shape 41"/>
          <p:cNvSpPr/>
          <p:nvPr/>
        </p:nvSpPr>
        <p:spPr>
          <a:xfrm>
            <a:off x="6096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42" name="Shape 42"/>
          <p:cNvSpPr/>
          <p:nvPr/>
        </p:nvSpPr>
        <p:spPr>
          <a:xfrm>
            <a:off x="609600" y="1030511"/>
            <a:ext cx="3568700" cy="88900"/>
          </a:xfrm>
          <a:prstGeom prst="rect">
            <a:avLst/>
          </a:prstGeom>
          <a:solidFill>
            <a:srgbClr val="6A8C69"/>
          </a:solidFill>
          <a:ln>
            <a:noFill/>
          </a:ln>
        </p:spPr>
        <p:txBody>
          <a:bodyPr/>
          <a:lstStyle/>
          <a:p>
            <a:endParaRPr/>
          </a:p>
        </p:txBody>
      </p:sp>
      <p:sp>
        <p:nvSpPr>
          <p:cNvPr id="43" name="TextBox 43"/>
          <p:cNvSpPr txBox="1"/>
          <p:nvPr/>
        </p:nvSpPr>
        <p:spPr>
          <a:xfrm>
            <a:off x="8128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European Union</a:t>
            </a:r>
          </a:p>
          <a:p>
            <a:r>
              <a:rPr lang="en-US" sz="1400" b="1" dirty="0">
                <a:solidFill>
                  <a:srgbClr val="6A8C69"/>
                </a:solidFill>
                <a:latin typeface="Avenir Next" panose="020B0503020202020204" pitchFamily="34" charset="0"/>
              </a:rPr>
              <a:t>Integrated reporting architecture</a:t>
            </a:r>
          </a:p>
        </p:txBody>
      </p:sp>
      <p:sp>
        <p:nvSpPr>
          <p:cNvPr id="44" name="TextBox 44"/>
          <p:cNvSpPr txBox="1"/>
          <p:nvPr/>
        </p:nvSpPr>
        <p:spPr>
          <a:xfrm>
            <a:off x="812800" y="1914065"/>
            <a:ext cx="3365500" cy="2458361"/>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CSRD: direct board accountability, double materiality, phased move to reasonable assurance and audits, standardized ESRS format for reports.</a:t>
            </a:r>
          </a:p>
          <a:p>
            <a:pPr marL="171450" indent="-171450">
              <a:spcAft>
                <a:spcPts val="500"/>
              </a:spcAft>
            </a:pPr>
            <a:r>
              <a:rPr lang="en-US" sz="1600" b="0" i="0" dirty="0">
                <a:solidFill>
                  <a:srgbClr val="2D2D2D"/>
                </a:solidFill>
                <a:latin typeface="Avenir Next" panose="020B0503020202020204" pitchFamily="34" charset="0"/>
              </a:rPr>
              <a:t>• Green Claims Directive: lifecycle substantiation, accredited verification pre-publication</a:t>
            </a:r>
          </a:p>
          <a:p>
            <a:pPr marL="171450" indent="-171450">
              <a:spcAft>
                <a:spcPts val="500"/>
              </a:spcAft>
            </a:pPr>
            <a:r>
              <a:rPr lang="en-US" sz="1600" dirty="0">
                <a:solidFill>
                  <a:srgbClr val="2D2D2D"/>
                </a:solidFill>
                <a:latin typeface="Avenir Next" panose="020B0503020202020204" pitchFamily="34" charset="0"/>
              </a:rPr>
              <a:t>• Turnover Linked Penalties</a:t>
            </a:r>
            <a:endParaRPr lang="en-US" sz="1600" b="0" i="0" dirty="0">
              <a:solidFill>
                <a:srgbClr val="2D2D2D"/>
              </a:solidFill>
              <a:latin typeface="Avenir Next" panose="020B0503020202020204" pitchFamily="34" charset="0"/>
            </a:endParaRPr>
          </a:p>
        </p:txBody>
      </p:sp>
      <p:sp>
        <p:nvSpPr>
          <p:cNvPr id="45" name="Shape 45"/>
          <p:cNvSpPr/>
          <p:nvPr/>
        </p:nvSpPr>
        <p:spPr>
          <a:xfrm>
            <a:off x="4381500" y="1030510"/>
            <a:ext cx="3568700" cy="3341917"/>
          </a:xfrm>
          <a:prstGeom prst="roundRect">
            <a:avLst>
              <a:gd name="adj" fmla="val 8000"/>
            </a:avLst>
          </a:prstGeom>
          <a:solidFill>
            <a:srgbClr val="FFFDF8"/>
          </a:solidFill>
          <a:ln w="9525">
            <a:solidFill>
              <a:srgbClr val="E5E0D8"/>
            </a:solidFill>
          </a:ln>
        </p:spPr>
        <p:txBody>
          <a:bodyPr/>
          <a:lstStyle/>
          <a:p>
            <a:endParaRPr/>
          </a:p>
        </p:txBody>
      </p:sp>
      <p:sp>
        <p:nvSpPr>
          <p:cNvPr id="46" name="Shape 46"/>
          <p:cNvSpPr/>
          <p:nvPr/>
        </p:nvSpPr>
        <p:spPr>
          <a:xfrm>
            <a:off x="4381500" y="1030511"/>
            <a:ext cx="3568700" cy="88900"/>
          </a:xfrm>
          <a:prstGeom prst="rect">
            <a:avLst/>
          </a:prstGeom>
          <a:solidFill>
            <a:srgbClr val="C8A24D"/>
          </a:solidFill>
          <a:ln>
            <a:noFill/>
          </a:ln>
        </p:spPr>
        <p:txBody>
          <a:bodyPr/>
          <a:lstStyle/>
          <a:p>
            <a:endParaRPr/>
          </a:p>
        </p:txBody>
      </p:sp>
      <p:sp>
        <p:nvSpPr>
          <p:cNvPr id="47" name="TextBox 47"/>
          <p:cNvSpPr txBox="1"/>
          <p:nvPr/>
        </p:nvSpPr>
        <p:spPr>
          <a:xfrm>
            <a:off x="45847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United Kingdom</a:t>
            </a:r>
          </a:p>
          <a:p>
            <a:r>
              <a:rPr lang="en-US" sz="1400" b="1" dirty="0">
                <a:solidFill>
                  <a:srgbClr val="C8A24D"/>
                </a:solidFill>
                <a:latin typeface="Avenir Next" panose="020B0503020202020204" pitchFamily="34" charset="0"/>
              </a:rPr>
              <a:t>Aligned regulators</a:t>
            </a:r>
          </a:p>
        </p:txBody>
      </p:sp>
      <p:sp>
        <p:nvSpPr>
          <p:cNvPr id="48" name="TextBox 48"/>
          <p:cNvSpPr txBox="1"/>
          <p:nvPr/>
        </p:nvSpPr>
        <p:spPr>
          <a:xfrm>
            <a:off x="4584700" y="1914066"/>
            <a:ext cx="3365500" cy="2545446"/>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FCA rule: environmental claims must be fair, clear, not misleading and evidence-backed</a:t>
            </a:r>
          </a:p>
          <a:p>
            <a:pPr marL="171450" indent="-171450">
              <a:spcAft>
                <a:spcPts val="500"/>
              </a:spcAft>
            </a:pPr>
            <a:r>
              <a:rPr lang="en-US" sz="1600" b="0" i="0" dirty="0">
                <a:solidFill>
                  <a:srgbClr val="2D2D2D"/>
                </a:solidFill>
                <a:latin typeface="Avenir Next" panose="020B0503020202020204" pitchFamily="34" charset="0"/>
              </a:rPr>
              <a:t>• CMA can fine up to 10% of global turnover for breaking consumer laws</a:t>
            </a:r>
          </a:p>
          <a:p>
            <a:pPr marL="171450" indent="-171450"/>
            <a:r>
              <a:rPr lang="en-US" sz="1600" b="0" i="0" dirty="0">
                <a:solidFill>
                  <a:srgbClr val="2D2D2D"/>
                </a:solidFill>
                <a:latin typeface="Avenir Next" panose="020B0503020202020204" pitchFamily="34" charset="0"/>
              </a:rPr>
              <a:t>• FCA and CMA act as one aligned enforcement structure, not silos</a:t>
            </a:r>
          </a:p>
          <a:p>
            <a:pPr marL="171450" indent="-171450"/>
            <a:r>
              <a:rPr lang="en-US" sz="1600" dirty="0">
                <a:solidFill>
                  <a:srgbClr val="2D2D2D"/>
                </a:solidFill>
                <a:latin typeface="Avenir Next" panose="020B0503020202020204" pitchFamily="34" charset="0"/>
              </a:rPr>
              <a:t>• Turnover Linked Penalties</a:t>
            </a:r>
          </a:p>
        </p:txBody>
      </p:sp>
      <p:sp>
        <p:nvSpPr>
          <p:cNvPr id="49" name="Shape 49"/>
          <p:cNvSpPr/>
          <p:nvPr/>
        </p:nvSpPr>
        <p:spPr>
          <a:xfrm>
            <a:off x="81534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50" name="Shape 50"/>
          <p:cNvSpPr/>
          <p:nvPr/>
        </p:nvSpPr>
        <p:spPr>
          <a:xfrm>
            <a:off x="8153400" y="1030511"/>
            <a:ext cx="3568700" cy="88900"/>
          </a:xfrm>
          <a:prstGeom prst="rect">
            <a:avLst/>
          </a:prstGeom>
          <a:solidFill>
            <a:srgbClr val="C96A3D"/>
          </a:solidFill>
          <a:ln>
            <a:noFill/>
          </a:ln>
        </p:spPr>
        <p:txBody>
          <a:bodyPr/>
          <a:lstStyle/>
          <a:p>
            <a:endParaRPr/>
          </a:p>
        </p:txBody>
      </p:sp>
      <p:sp>
        <p:nvSpPr>
          <p:cNvPr id="51" name="TextBox 51"/>
          <p:cNvSpPr txBox="1"/>
          <p:nvPr/>
        </p:nvSpPr>
        <p:spPr>
          <a:xfrm>
            <a:off x="83566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Australia</a:t>
            </a:r>
          </a:p>
          <a:p>
            <a:r>
              <a:rPr lang="en-US" sz="1400" b="1" dirty="0">
                <a:solidFill>
                  <a:srgbClr val="C96A3D"/>
                </a:solidFill>
                <a:latin typeface="Avenir Next" panose="020B0503020202020204" pitchFamily="34" charset="0"/>
              </a:rPr>
              <a:t>Visible enforcement</a:t>
            </a:r>
          </a:p>
        </p:txBody>
      </p:sp>
      <p:sp>
        <p:nvSpPr>
          <p:cNvPr id="52" name="TextBox 52"/>
          <p:cNvSpPr txBox="1"/>
          <p:nvPr/>
        </p:nvSpPr>
        <p:spPr>
          <a:xfrm>
            <a:off x="8356600" y="1914065"/>
            <a:ext cx="3225800" cy="2509163"/>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ASIC: 47 greenwashing interventions in the 15 months to 30 June 2024</a:t>
            </a:r>
          </a:p>
          <a:p>
            <a:pPr marL="171450" indent="-171450">
              <a:spcAft>
                <a:spcPts val="500"/>
              </a:spcAft>
            </a:pPr>
            <a:r>
              <a:rPr lang="en-US" sz="1600" b="0" i="0" dirty="0">
                <a:solidFill>
                  <a:srgbClr val="2D2D2D"/>
                </a:solidFill>
                <a:latin typeface="Avenir Next" panose="020B0503020202020204" pitchFamily="34" charset="0"/>
              </a:rPr>
              <a:t>• AUD 11.3 Million penalty against Mercer Super for misleading ESG disclosures</a:t>
            </a:r>
          </a:p>
          <a:p>
            <a:pPr marL="171450" indent="-171450"/>
            <a:r>
              <a:rPr lang="en-US" sz="1600" b="0" i="0" dirty="0">
                <a:solidFill>
                  <a:srgbClr val="2D2D2D"/>
                </a:solidFill>
                <a:latin typeface="Avenir Next" panose="020B0503020202020204" pitchFamily="34" charset="0"/>
              </a:rPr>
              <a:t>• ASIC and ACCC treat greenwashing as a joint priority</a:t>
            </a:r>
          </a:p>
          <a:p>
            <a:pPr marL="171450" indent="-171450"/>
            <a:r>
              <a:rPr lang="en-US" sz="1600" dirty="0">
                <a:solidFill>
                  <a:srgbClr val="2D2D2D"/>
                </a:solidFill>
                <a:latin typeface="Avenir Next" panose="020B0503020202020204" pitchFamily="34" charset="0"/>
              </a:rPr>
              <a:t>• Turnover Linked Penalties</a:t>
            </a:r>
          </a:p>
        </p:txBody>
      </p:sp>
      <p:sp>
        <p:nvSpPr>
          <p:cNvPr id="53" name="Shape 53"/>
          <p:cNvSpPr/>
          <p:nvPr/>
        </p:nvSpPr>
        <p:spPr>
          <a:xfrm>
            <a:off x="609600" y="4497612"/>
            <a:ext cx="10972800" cy="2044706"/>
          </a:xfrm>
          <a:prstGeom prst="roundRect">
            <a:avLst>
              <a:gd name="adj" fmla="val 8000"/>
            </a:avLst>
          </a:prstGeom>
          <a:solidFill>
            <a:srgbClr val="E8EFE6"/>
          </a:solidFill>
          <a:ln>
            <a:noFill/>
          </a:ln>
        </p:spPr>
        <p:txBody>
          <a:bodyPr/>
          <a:lstStyle/>
          <a:p>
            <a:endParaRPr/>
          </a:p>
        </p:txBody>
      </p:sp>
      <p:sp>
        <p:nvSpPr>
          <p:cNvPr id="54" name="Shape 54"/>
          <p:cNvSpPr/>
          <p:nvPr/>
        </p:nvSpPr>
        <p:spPr>
          <a:xfrm>
            <a:off x="609600" y="4497613"/>
            <a:ext cx="10972800" cy="88900"/>
          </a:xfrm>
          <a:prstGeom prst="rect">
            <a:avLst/>
          </a:prstGeom>
          <a:solidFill>
            <a:srgbClr val="173F35"/>
          </a:solidFill>
          <a:ln>
            <a:noFill/>
          </a:ln>
        </p:spPr>
        <p:txBody>
          <a:bodyPr/>
          <a:lstStyle/>
          <a:p>
            <a:endParaRPr/>
          </a:p>
        </p:txBody>
      </p:sp>
      <p:sp>
        <p:nvSpPr>
          <p:cNvPr id="55" name="TextBox 55"/>
          <p:cNvSpPr txBox="1"/>
          <p:nvPr/>
        </p:nvSpPr>
        <p:spPr>
          <a:xfrm>
            <a:off x="838200" y="4660897"/>
            <a:ext cx="10515600" cy="304800"/>
          </a:xfrm>
          <a:prstGeom prst="rect">
            <a:avLst/>
          </a:prstGeom>
          <a:noFill/>
        </p:spPr>
        <p:txBody>
          <a:bodyPr wrap="square" lIns="0" tIns="0" rIns="0" bIns="0">
            <a:normAutofit/>
          </a:bodyPr>
          <a:lstStyle/>
          <a:p>
            <a:r>
              <a:rPr lang="en-US" sz="1600" b="1" dirty="0">
                <a:solidFill>
                  <a:srgbClr val="173F35"/>
                </a:solidFill>
                <a:latin typeface="Avenir Next" panose="020B0503020202020204" pitchFamily="34" charset="0"/>
              </a:rPr>
              <a:t>Indian Regulatory Design Failures</a:t>
            </a:r>
          </a:p>
        </p:txBody>
      </p:sp>
      <p:sp>
        <p:nvSpPr>
          <p:cNvPr id="56" name="TextBox 56"/>
          <p:cNvSpPr txBox="1"/>
          <p:nvPr/>
        </p:nvSpPr>
        <p:spPr>
          <a:xfrm>
            <a:off x="838200" y="4982026"/>
            <a:ext cx="10515600" cy="1560292"/>
          </a:xfrm>
          <a:prstGeom prst="rect">
            <a:avLst/>
          </a:prstGeom>
          <a:noFill/>
        </p:spPr>
        <p:txBody>
          <a:bodyPr wrap="square" lIns="0" tIns="0" rIns="0" bIns="0">
            <a:noAutofit/>
          </a:bodyPr>
          <a:lstStyle/>
          <a:p>
            <a:pPr marL="171450" indent="-171450">
              <a:spcAft>
                <a:spcPts val="300"/>
              </a:spcAft>
            </a:pPr>
            <a:r>
              <a:rPr lang="en-US" sz="1500" b="0" i="0" dirty="0">
                <a:solidFill>
                  <a:srgbClr val="2D2D2D"/>
                </a:solidFill>
                <a:latin typeface="Avenir Next" panose="020B0503020202020204" pitchFamily="34" charset="0"/>
              </a:rPr>
              <a:t>• No integrated architecture linking Section 166(2), SEBI's BRSR and the CCPA guidelines across the life cycle of a claim.</a:t>
            </a:r>
          </a:p>
          <a:p>
            <a:pPr marL="171450" indent="-171450">
              <a:spcAft>
                <a:spcPts val="300"/>
              </a:spcAft>
            </a:pPr>
            <a:r>
              <a:rPr lang="en-US" sz="1500" b="0" i="0" dirty="0">
                <a:solidFill>
                  <a:srgbClr val="2D2D2D"/>
                </a:solidFill>
                <a:latin typeface="Avenir Next" panose="020B0503020202020204" pitchFamily="34" charset="0"/>
              </a:rPr>
              <a:t>• No protocol for operational coordination.</a:t>
            </a:r>
          </a:p>
          <a:p>
            <a:pPr marL="171450" indent="-171450">
              <a:spcAft>
                <a:spcPts val="300"/>
              </a:spcAft>
            </a:pPr>
            <a:r>
              <a:rPr lang="en-US" sz="1500" dirty="0">
                <a:solidFill>
                  <a:srgbClr val="2D2D2D"/>
                </a:solidFill>
                <a:latin typeface="Avenir Next" panose="020B0503020202020204" pitchFamily="34" charset="0"/>
              </a:rPr>
              <a:t>• The </a:t>
            </a:r>
            <a:r>
              <a:rPr lang="en-US" sz="1500" b="0" i="0" dirty="0">
                <a:solidFill>
                  <a:srgbClr val="2D2D2D"/>
                </a:solidFill>
                <a:latin typeface="Avenir Next" panose="020B0503020202020204" pitchFamily="34" charset="0"/>
              </a:rPr>
              <a:t>study finds poor enforcement record not just for section 166(2), but also for SEBI BRSR and CCPA Greenwashing Guidelines.</a:t>
            </a:r>
          </a:p>
          <a:p>
            <a:pPr marL="171450" indent="-171450"/>
            <a:r>
              <a:rPr lang="en-US" sz="1500" b="0" i="0" dirty="0">
                <a:solidFill>
                  <a:srgbClr val="2D2D2D"/>
                </a:solidFill>
                <a:latin typeface="Avenir Next" panose="020B0503020202020204" pitchFamily="34" charset="0"/>
              </a:rPr>
              <a:t>• Backsliding rather than tightening: BRSR assurance and value-chain relaxations.</a:t>
            </a:r>
          </a:p>
          <a:p>
            <a:pPr marL="171450" indent="-171450"/>
            <a:r>
              <a:rPr lang="en-US" sz="1500" dirty="0">
                <a:solidFill>
                  <a:srgbClr val="2D2D2D"/>
                </a:solidFill>
                <a:latin typeface="Avenir Next" panose="020B0503020202020204" pitchFamily="34" charset="0"/>
              </a:rPr>
              <a:t>• Fixed low cap penalties: CCPA ₹50L, Section 166(7) ₹5L, FSSAI ₹10L, far below global practice.</a:t>
            </a:r>
            <a:endParaRPr lang="en-US" sz="1500" b="0" i="0" dirty="0">
              <a:solidFill>
                <a:srgbClr val="2D2D2D"/>
              </a:solidFill>
              <a:latin typeface="Avenir Next" panose="020B0503020202020204" pitchFamily="34" charset="0"/>
            </a:endParaRPr>
          </a:p>
          <a:p>
            <a:pPr marL="171450" indent="-171450"/>
            <a:endParaRPr lang="en-US" sz="1500" b="0" i="0" dirty="0">
              <a:solidFill>
                <a:srgbClr val="2D2D2D"/>
              </a:solidFill>
              <a:latin typeface="Avenir Next" panose="020B0503020202020204" pitchFamily="34" charset="0"/>
            </a:endParaRPr>
          </a:p>
        </p:txBody>
      </p:sp>
    </p:spTree>
    <p:extLst>
      <p:ext uri="{BB962C8B-B14F-4D97-AF65-F5344CB8AC3E}">
        <p14:creationId xmlns:p14="http://schemas.microsoft.com/office/powerpoint/2010/main" val="299616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International Best Practices – A Comparative Benchmark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b="1" dirty="0">
                <a:solidFill>
                  <a:srgbClr val="173F35"/>
                </a:solidFill>
                <a:latin typeface="Avenir Next Demi Bold"/>
              </a:rPr>
              <a:t>Other Gaps in Indian Regulatory Ecosystem</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821999" y="1063289"/>
            <a:ext cx="5116716" cy="164853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176403" y="1023034"/>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932893" y="1172276"/>
            <a:ext cx="5044439" cy="1477328"/>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625317" y="3200811"/>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76403" y="3111569"/>
            <a:ext cx="711962"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917251" y="3260811"/>
            <a:ext cx="4690875"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t>
            </a:r>
            <a:r>
              <a:rPr lang="en-IN" sz="1600" dirty="0">
                <a:latin typeface="Avenir Next" panose="020B0503020202020204" pitchFamily="34" charset="0"/>
              </a:rPr>
              <a:t>&amp; Ambiguity</a:t>
            </a:r>
            <a:endParaRPr sz="1600" dirty="0">
              <a:latin typeface="Avenir Next" panose="020B0503020202020204" pitchFamily="34" charset="0"/>
            </a:endParaRP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792883" y="2098155"/>
            <a:ext cx="5116716" cy="195133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105286" y="205867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842481" y="2256535"/>
            <a:ext cx="5069243" cy="1620957"/>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lang="en-US" sz="1600" dirty="0">
                <a:latin typeface="Avenir Next" panose="020B0503020202020204" pitchFamily="34" charset="0"/>
              </a:rPr>
              <a:t>Scientific </a:t>
            </a:r>
            <a:r>
              <a:rPr sz="1600" dirty="0">
                <a:latin typeface="Avenir Next" panose="020B0503020202020204" pitchFamily="34" charset="0"/>
              </a:rPr>
              <a:t>&amp; Technical </a:t>
            </a:r>
            <a:r>
              <a:rPr lang="en-US" sz="1600" dirty="0">
                <a:latin typeface="Avenir Next" panose="020B0503020202020204" pitchFamily="34" charset="0"/>
              </a:rPr>
              <a:t>Verification </a:t>
            </a:r>
            <a:r>
              <a:rPr sz="1600" dirty="0">
                <a:latin typeface="Avenir Next" panose="020B0503020202020204" pitchFamily="34" charset="0"/>
              </a:rPr>
              <a:t>Gaps</a:t>
            </a:r>
            <a:endParaRPr lang="en-US" sz="1600" dirty="0">
              <a:latin typeface="Avenir Next" panose="020B0503020202020204" pitchFamily="34" charset="0"/>
            </a:endParaRP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endParaRPr lang="en-US" sz="1600" dirty="0">
              <a:latin typeface="Avenir Next" panose="020B0503020202020204" pitchFamily="34" charset="0"/>
            </a:endParaRPr>
          </a:p>
          <a:p>
            <a:pPr>
              <a:defRPr sz="1100">
                <a:solidFill>
                  <a:srgbClr val="2D2D2D"/>
                </a:solidFill>
              </a:defRPr>
            </a:pPr>
            <a:r>
              <a:rPr lang="en-IN" sz="1600" dirty="0">
                <a:latin typeface="Avenir Next" panose="020B0503020202020204" pitchFamily="34" charset="0"/>
              </a:rPr>
              <a:t>• India still lacks joint enforcement teams, shared technical experts or a unified enforcement database for greenwashing matters.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6064911"/>
            <a:ext cx="10835640" cy="40904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136164"/>
            <a:ext cx="10575640" cy="261610"/>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(Contd.)</a:t>
            </a:r>
            <a:endParaRPr lang="en-US" sz="1400" b="1" dirty="0">
              <a:solidFill>
                <a:srgbClr val="173F35"/>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2333</TotalTime>
  <Words>4280</Words>
  <Application>Microsoft Macintosh PowerPoint</Application>
  <PresentationFormat>Widescreen</PresentationFormat>
  <Paragraphs>433</Paragraphs>
  <Slides>23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1640</cp:revision>
  <dcterms:created xsi:type="dcterms:W3CDTF">2013-01-27T09:14:16Z</dcterms:created>
  <dcterms:modified xsi:type="dcterms:W3CDTF">2026-08-19T11:46:58Z</dcterms:modified>
  <cp:category/>
</cp:coreProperties>
</file>