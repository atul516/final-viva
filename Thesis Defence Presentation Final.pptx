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5"/>
    <p:restoredTop sz="94629"/>
  </p:normalViewPr>
  <p:slideViewPr>
    <p:cSldViewPr snapToGrid="0" snapToObjects="1">
      <p:cViewPr varScale="1">
        <p:scale>
          <a:sx n="103" d="100"/>
          <a:sy n="103" d="100"/>
        </p:scale>
        <p:origin x="552"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Research Question 1: What is greenwashing, how has it evolved, and what are its consequences?</a:t>
            </a:r>
          </a:p>
          <a:p>
            <a:pPr>
              <a:defRPr sz="1150" i="1">
                <a:solidFill>
                  <a:srgbClr val="4A4A4A"/>
                </a:solidFill>
                <a:latin typeface="Calibri"/>
              </a:defRPr>
            </a:pPr>
            <a:r>
              <a:rPr lang="en-IN" dirty="0">
                <a:latin typeface="Avenir Next" panose="020B0503020202020204" pitchFamily="34" charset="0"/>
              </a:rPr>
              <a:t>Answer to RQ1: Greenwashing has shifted from product labels to corporate disclosures and balance sheets. Its harm extends beyond consumer deception to capital misallocation, market distortion, and delayed climate action.</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147204"/>
            <a:ext cx="4226454" cy="2622908"/>
          </a:xfrm>
          <a:prstGeom prst="roundRect">
            <a:avLst/>
          </a:prstGeom>
          <a:solidFill>
            <a:schemeClr val="accent6">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1302246"/>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57092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4"/>
            <a:ext cx="6678424" cy="500035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25" name="Rounded Rectangle 24"/>
          <p:cNvSpPr/>
          <p:nvPr/>
        </p:nvSpPr>
        <p:spPr>
          <a:xfrm>
            <a:off x="7570381" y="4236431"/>
            <a:ext cx="4226454" cy="1808786"/>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7740502" y="4392740"/>
            <a:ext cx="3920726" cy="1377300"/>
          </a:xfrm>
          <a:prstGeom prst="rect">
            <a:avLst/>
          </a:prstGeom>
          <a:noFill/>
        </p:spPr>
        <p:txBody>
          <a:bodyPr wrap="square" lIns="45720" tIns="22860" rIns="45720" bIns="22860" anchor="ctr">
            <a:spAutoFit/>
          </a:bodyPr>
          <a:lstStyle/>
          <a:p>
            <a:pPr>
              <a:spcAft>
                <a:spcPts val="300"/>
              </a:spcAft>
              <a:defRPr sz="1100" b="1">
                <a:solidFill>
                  <a:srgbClr val="12402D"/>
                </a:solidFill>
              </a:defRPr>
            </a:pPr>
            <a:r>
              <a:rPr sz="1400" dirty="0">
                <a:latin typeface="Avenir Next" panose="020B0503020202020204" pitchFamily="34" charset="0"/>
              </a:rPr>
              <a:t>Research Question 2: Why can't consumer law solve greenwashing alone?</a:t>
            </a:r>
          </a:p>
          <a:p>
            <a:pPr>
              <a:defRPr sz="1050">
                <a:solidFill>
                  <a:srgbClr val="282828"/>
                </a:solidFill>
              </a:defRPr>
            </a:pPr>
            <a:r>
              <a:rPr sz="1400" dirty="0">
                <a:latin typeface="Avenir Next" panose="020B0503020202020204" pitchFamily="34" charset="0"/>
              </a:rPr>
              <a:t>Answer: Consumer law only polices the end-product ad; corporate governance polices the internal systems, board oversight, and verified data that produced the claim.</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508000" y="355600"/>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041400"/>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041400"/>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041400"/>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219200"/>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219200"/>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219200"/>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219200"/>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219200"/>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219200"/>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244600"/>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244600"/>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244600"/>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1854200"/>
            <a:ext cx="3251200" cy="25400"/>
          </a:xfrm>
          <a:prstGeom prst="rect">
            <a:avLst/>
          </a:prstGeom>
          <a:solidFill>
            <a:srgbClr val="C5B89A"/>
          </a:solidFill>
          <a:ln>
            <a:noFill/>
          </a:ln>
        </p:spPr>
        <p:txBody>
          <a:bodyPr/>
          <a:lstStyle/>
          <a:p>
            <a:endParaRPr lang="en-US"/>
          </a:p>
        </p:txBody>
      </p:sp>
      <p:sp>
        <p:nvSpPr>
          <p:cNvPr id="17" name="Div 2"/>
          <p:cNvSpPr/>
          <p:nvPr/>
        </p:nvSpPr>
        <p:spPr>
          <a:xfrm>
            <a:off x="4470400" y="1854200"/>
            <a:ext cx="3251200" cy="25400"/>
          </a:xfrm>
          <a:prstGeom prst="rect">
            <a:avLst/>
          </a:prstGeom>
          <a:solidFill>
            <a:srgbClr val="A8C4B0"/>
          </a:solidFill>
          <a:ln>
            <a:noFill/>
          </a:ln>
        </p:spPr>
        <p:txBody>
          <a:bodyPr/>
          <a:lstStyle/>
          <a:p>
            <a:endParaRPr lang="en-US"/>
          </a:p>
        </p:txBody>
      </p:sp>
      <p:sp>
        <p:nvSpPr>
          <p:cNvPr id="18" name="Div 3"/>
          <p:cNvSpPr/>
          <p:nvPr/>
        </p:nvSpPr>
        <p:spPr>
          <a:xfrm>
            <a:off x="8280400" y="1854200"/>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1951180"/>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1951180"/>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1951180"/>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029200"/>
            <a:ext cx="11277600" cy="1320800"/>
          </a:xfrm>
          <a:prstGeom prst="roundRect">
            <a:avLst/>
          </a:prstGeom>
          <a:solidFill>
            <a:srgbClr val="F7F3E8"/>
          </a:solidFill>
          <a:ln>
            <a:noFill/>
          </a:ln>
        </p:spPr>
        <p:txBody>
          <a:bodyPr/>
          <a:lstStyle/>
          <a:p>
            <a:endParaRPr lang="en-US"/>
          </a:p>
        </p:txBody>
      </p:sp>
      <p:sp>
        <p:nvSpPr>
          <p:cNvPr id="23" name="Answer"/>
          <p:cNvSpPr txBox="1"/>
          <p:nvPr/>
        </p:nvSpPr>
        <p:spPr>
          <a:xfrm>
            <a:off x="660400" y="5181600"/>
            <a:ext cx="10871200" cy="914400"/>
          </a:xfrm>
          <a:prstGeom prst="rect">
            <a:avLst/>
          </a:prstGeom>
        </p:spPr>
        <p:txBody>
          <a:bodyPr wrap="square" rtlCol="0" anchor="ctr">
            <a:noAutofit/>
          </a:bodyPr>
          <a:lstStyle/>
          <a:p>
            <a:r>
              <a:rPr lang="en-IN" sz="1400" b="1" dirty="0">
                <a:solidFill>
                  <a:srgbClr val="173F35"/>
                </a:solidFill>
              </a:rPr>
              <a:t>Research Question 4: What duties of directors, disclosure obligations and assurance requirements, under Indian company and securities law, can ground liability for misleading environmental claims?</a:t>
            </a:r>
          </a:p>
          <a:p>
            <a:pPr algn="l"/>
            <a:endParaRPr lang="en-US" sz="500" b="1" dirty="0">
              <a:solidFill>
                <a:srgbClr val="173F35"/>
              </a:solidFill>
            </a:endParaRPr>
          </a:p>
          <a:p>
            <a:pPr algn="l"/>
            <a:r>
              <a:rPr lang="en-US" sz="1400" dirty="0">
                <a:solidFill>
                  <a:srgbClr val="2A2A2A"/>
                </a:solidFill>
                <a:latin typeface="Calibri"/>
                <a:cs typeface="Calibri"/>
              </a:rPr>
              <a:t>Answer to RQ4: Duties already exist in Section 166(2) and SEBI rules. What is missing is the trigger, open legal standing, meaningful penalties, and an automatic bridge between regulators.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5" name="Rounded Rectangle 24"/>
          <p:cNvSpPr/>
          <p:nvPr/>
        </p:nvSpPr>
        <p:spPr>
          <a:xfrm>
            <a:off x="799190" y="6095425"/>
            <a:ext cx="10587831" cy="49722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800">
              <a:latin typeface="Avenir Next" panose="020B0503020202020204" pitchFamily="34" charset="0"/>
            </a:endParaRPr>
          </a:p>
        </p:txBody>
      </p:sp>
      <p:sp>
        <p:nvSpPr>
          <p:cNvPr id="26" name="TextBox 25"/>
          <p:cNvSpPr txBox="1"/>
          <p:nvPr/>
        </p:nvSpPr>
        <p:spPr>
          <a:xfrm>
            <a:off x="929190" y="6107918"/>
            <a:ext cx="10327831" cy="477054"/>
          </a:xfrm>
          <a:prstGeom prst="rect">
            <a:avLst/>
          </a:prstGeom>
          <a:noFill/>
        </p:spPr>
        <p:txBody>
          <a:bodyPr wrap="square" lIns="45720" tIns="22860" rIns="45720" bIns="22860" anchor="ctr">
            <a:spAutoFit/>
          </a:bodyPr>
          <a:lstStyle/>
          <a:p>
            <a:pPr algn="ctr">
              <a:defRPr sz="1050">
                <a:solidFill>
                  <a:srgbClr val="282828"/>
                </a:solidFill>
              </a:defRPr>
            </a:pPr>
            <a:r>
              <a:rPr sz="1400" dirty="0">
                <a:latin typeface="Avenir Next" panose="020B0503020202020204" pitchFamily="34" charset="0"/>
              </a:rPr>
              <a:t>Answer to RQ4: Mandatory disclosure rules exist, but recent rollbacks have softened assurance and deferred supply-chain reporting, allowing greenwashing to persist.</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4208208374"/>
              </p:ext>
            </p:extLst>
          </p:nvPr>
        </p:nvGraphicFramePr>
        <p:xfrm>
          <a:off x="627999" y="1193128"/>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r>
                        <a:rPr sz="1600" b="1" dirty="0">
                          <a:solidFill>
                            <a:srgbClr val="FFFFFF"/>
                          </a:solidFill>
                        </a:rPr>
                        <a:t>Design Element</a:t>
                      </a:r>
                    </a:p>
                  </a:txBody>
                  <a:tcPr>
                    <a:solidFill>
                      <a:srgbClr val="173F35"/>
                    </a:solidFill>
                  </a:tcPr>
                </a:tc>
                <a:tc>
                  <a:txBody>
                    <a:bodyPr/>
                    <a:lstStyle/>
                    <a:p>
                      <a:r>
                        <a:rPr sz="1600" b="1">
                          <a:solidFill>
                            <a:srgbClr val="FFFFFF"/>
                          </a:solidFill>
                        </a:rPr>
                        <a:t>European Union</a:t>
                      </a:r>
                    </a:p>
                  </a:txBody>
                  <a:tcPr>
                    <a:solidFill>
                      <a:srgbClr val="173F35"/>
                    </a:solidFill>
                  </a:tcPr>
                </a:tc>
                <a:tc>
                  <a:txBody>
                    <a:bodyPr/>
                    <a:lstStyle/>
                    <a:p>
                      <a:r>
                        <a:rPr sz="1600" b="1">
                          <a:solidFill>
                            <a:srgbClr val="FFFFFF"/>
                          </a:solidFill>
                        </a:rPr>
                        <a:t>United Kingdom</a:t>
                      </a:r>
                    </a:p>
                  </a:txBody>
                  <a:tcPr>
                    <a:solidFill>
                      <a:srgbClr val="173F35"/>
                    </a:solidFill>
                  </a:tcPr>
                </a:tc>
                <a:tc>
                  <a:txBody>
                    <a:bodyPr/>
                    <a:lstStyle/>
                    <a:p>
                      <a:r>
                        <a:rPr sz="1600" b="1">
                          <a:solidFill>
                            <a:srgbClr val="FFFFFF"/>
                          </a:solidFill>
                        </a:rPr>
                        <a:t>Australia</a:t>
                      </a:r>
                    </a:p>
                  </a:txBody>
                  <a:tcPr>
                    <a:solidFill>
                      <a:srgbClr val="173F35"/>
                    </a:solidFill>
                  </a:tcPr>
                </a:tc>
                <a:tc>
                  <a:txBody>
                    <a:bodyPr/>
                    <a:lstStyle/>
                    <a:p>
                      <a:r>
                        <a:rPr sz="1600" b="1">
                          <a:solidFill>
                            <a:srgbClr val="FFFFFF"/>
                          </a:solidFill>
                        </a:rPr>
                        <a:t>India</a:t>
                      </a:r>
                    </a:p>
                  </a:txBody>
                  <a:tcPr>
                    <a:solidFill>
                      <a:srgbClr val="173F35"/>
                    </a:solidFill>
                  </a:tcPr>
                </a:tc>
                <a:extLst>
                  <a:ext uri="{0D108BD9-81ED-4DB2-BD59-A6C34878D82A}">
                    <a16:rowId xmlns:a16="http://schemas.microsoft.com/office/drawing/2014/main" val="10000"/>
                  </a:ext>
                </a:extLst>
              </a:tr>
              <a:tr h="601980">
                <a:tc>
                  <a:txBody>
                    <a:bodyPr/>
                    <a:lstStyle/>
                    <a:p>
                      <a:r>
                        <a:rPr sz="1400" b="1"/>
                        <a:t>Board Accountability</a:t>
                      </a:r>
                    </a:p>
                  </a:txBody>
                  <a:tcPr>
                    <a:solidFill>
                      <a:srgbClr val="FFFDF8"/>
                    </a:solidFill>
                  </a:tcPr>
                </a:tc>
                <a:tc>
                  <a:txBody>
                    <a:bodyPr/>
                    <a:lstStyle/>
                    <a:p>
                      <a:r>
                        <a:rPr sz="1400" b="0" dirty="0"/>
                        <a:t>Strong &amp; direct</a:t>
                      </a:r>
                    </a:p>
                  </a:txBody>
                  <a:tcPr>
                    <a:solidFill>
                      <a:srgbClr val="FFFDF8"/>
                    </a:solidFill>
                  </a:tcPr>
                </a:tc>
                <a:tc>
                  <a:txBody>
                    <a:bodyPr/>
                    <a:lstStyle/>
                    <a:p>
                      <a:r>
                        <a:rPr sz="1400" b="0" dirty="0"/>
                        <a:t>Strong &amp; direct</a:t>
                      </a:r>
                    </a:p>
                  </a:txBody>
                  <a:tcPr>
                    <a:solidFill>
                      <a:srgbClr val="FFFDF8"/>
                    </a:solidFill>
                  </a:tcPr>
                </a:tc>
                <a:tc>
                  <a:txBody>
                    <a:bodyPr/>
                    <a:lstStyle/>
                    <a:p>
                      <a:r>
                        <a:rPr sz="1400" b="0"/>
                        <a:t>Growing &amp; active</a:t>
                      </a:r>
                    </a:p>
                  </a:txBody>
                  <a:tcPr>
                    <a:solidFill>
                      <a:srgbClr val="FFFDF8"/>
                    </a:solidFill>
                  </a:tcPr>
                </a:tc>
                <a:tc>
                  <a:txBody>
                    <a:bodyPr/>
                    <a:lstStyle/>
                    <a:p>
                      <a:r>
                        <a:rPr sz="1400" b="1">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400" dirty="0"/>
                        <a:t>Integrated architecture</a:t>
                      </a:r>
                    </a:p>
                  </a:txBody>
                  <a:tcPr>
                    <a:solidFill>
                      <a:srgbClr val="E8EFE6"/>
                    </a:solidFill>
                  </a:tcPr>
                </a:tc>
                <a:tc>
                  <a:txBody>
                    <a:bodyPr/>
                    <a:lstStyle/>
                    <a:p>
                      <a:r>
                        <a:rPr sz="1400" b="0"/>
                        <a:t>Integrated reporting &amp; claim rules</a:t>
                      </a:r>
                    </a:p>
                  </a:txBody>
                  <a:tcPr>
                    <a:solidFill>
                      <a:srgbClr val="E8EFE6"/>
                    </a:solidFill>
                  </a:tcPr>
                </a:tc>
                <a:tc>
                  <a:txBody>
                    <a:bodyPr/>
                    <a:lstStyle/>
                    <a:p>
                      <a:r>
                        <a:rPr sz="1400" b="0"/>
                        <a:t>FCA + CMA + Company Law</a:t>
                      </a:r>
                    </a:p>
                  </a:txBody>
                  <a:tcPr>
                    <a:solidFill>
                      <a:srgbClr val="E8EFE6"/>
                    </a:solidFill>
                  </a:tcPr>
                </a:tc>
                <a:tc>
                  <a:txBody>
                    <a:bodyPr/>
                    <a:lstStyle/>
                    <a:p>
                      <a:r>
                        <a:rPr sz="1400" b="0" dirty="0"/>
                        <a:t>Active inter-agency teamwork</a:t>
                      </a:r>
                    </a:p>
                  </a:txBody>
                  <a:tcPr>
                    <a:solidFill>
                      <a:srgbClr val="E8EFE6"/>
                    </a:solidFill>
                  </a:tcPr>
                </a:tc>
                <a:tc>
                  <a:txBody>
                    <a:bodyPr/>
                    <a:lstStyle/>
                    <a:p>
                      <a:r>
                        <a:rPr sz="1400" b="1" dirty="0">
                          <a:solidFill>
                            <a:srgbClr val="A8552F"/>
                          </a:solidFill>
                        </a:rPr>
                        <a:t>MCA, SEBI &amp; CCPA</a:t>
                      </a:r>
                      <a:r>
                        <a:rPr lang="en-US" sz="1400" b="1" dirty="0">
                          <a:solidFill>
                            <a:srgbClr val="A8552F"/>
                          </a:solidFill>
                        </a:rPr>
                        <a:t> working</a:t>
                      </a:r>
                      <a:r>
                        <a:rPr sz="1400" b="1"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400" b="1"/>
                        <a:t>Third-Party Audits</a:t>
                      </a:r>
                    </a:p>
                  </a:txBody>
                  <a:tcPr>
                    <a:solidFill>
                      <a:srgbClr val="FFFDF8"/>
                    </a:solidFill>
                  </a:tcPr>
                </a:tc>
                <a:tc>
                  <a:txBody>
                    <a:bodyPr/>
                    <a:lstStyle/>
                    <a:p>
                      <a:r>
                        <a:rPr sz="1400" b="0"/>
                        <a:t>Phased move to strict audits</a:t>
                      </a:r>
                    </a:p>
                  </a:txBody>
                  <a:tcPr>
                    <a:solidFill>
                      <a:srgbClr val="FFFDF8"/>
                    </a:solidFill>
                  </a:tcPr>
                </a:tc>
                <a:tc>
                  <a:txBody>
                    <a:bodyPr/>
                    <a:lstStyle/>
                    <a:p>
                      <a:r>
                        <a:rPr sz="1400" b="0"/>
                        <a:t>Expanding requirements</a:t>
                      </a:r>
                    </a:p>
                  </a:txBody>
                  <a:tcPr>
                    <a:solidFill>
                      <a:srgbClr val="FFFDF8"/>
                    </a:solidFill>
                  </a:tcPr>
                </a:tc>
                <a:tc>
                  <a:txBody>
                    <a:bodyPr/>
                    <a:lstStyle/>
                    <a:p>
                      <a:r>
                        <a:rPr sz="1400" b="0" dirty="0"/>
                        <a:t>Moving to mandatory audits</a:t>
                      </a:r>
                    </a:p>
                  </a:txBody>
                  <a:tcPr>
                    <a:solidFill>
                      <a:srgbClr val="FFFDF8"/>
                    </a:solidFill>
                  </a:tcPr>
                </a:tc>
                <a:tc>
                  <a:txBody>
                    <a:bodyPr/>
                    <a:lstStyle/>
                    <a:p>
                      <a:r>
                        <a:rPr sz="1400" b="1">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400" b="1"/>
                        <a:t>Future Claims &amp; Offsets</a:t>
                      </a:r>
                    </a:p>
                  </a:txBody>
                  <a:tcPr>
                    <a:solidFill>
                      <a:srgbClr val="E8EFE6"/>
                    </a:solidFill>
                  </a:tcPr>
                </a:tc>
                <a:tc>
                  <a:txBody>
                    <a:bodyPr/>
                    <a:lstStyle/>
                    <a:p>
                      <a:r>
                        <a:rPr sz="1400" b="0"/>
                        <a:t>Strict limits on offset claims</a:t>
                      </a:r>
                    </a:p>
                  </a:txBody>
                  <a:tcPr>
                    <a:solidFill>
                      <a:srgbClr val="E8EFE6"/>
                    </a:solidFill>
                  </a:tcPr>
                </a:tc>
                <a:tc>
                  <a:txBody>
                    <a:bodyPr/>
                    <a:lstStyle/>
                    <a:p>
                      <a:r>
                        <a:rPr sz="1400" b="0"/>
                        <a:t>Subject to regulatory checks</a:t>
                      </a:r>
                    </a:p>
                  </a:txBody>
                  <a:tcPr>
                    <a:solidFill>
                      <a:srgbClr val="E8EFE6"/>
                    </a:solidFill>
                  </a:tcPr>
                </a:tc>
                <a:tc>
                  <a:txBody>
                    <a:bodyPr/>
                    <a:lstStyle/>
                    <a:p>
                      <a:r>
                        <a:rPr sz="1400" b="0"/>
                        <a:t>Actively policed under law</a:t>
                      </a:r>
                    </a:p>
                  </a:txBody>
                  <a:tcPr>
                    <a:solidFill>
                      <a:srgbClr val="E8EFE6"/>
                    </a:solidFill>
                  </a:tcPr>
                </a:tc>
                <a:tc>
                  <a:txBody>
                    <a:bodyPr/>
                    <a:lstStyle/>
                    <a:p>
                      <a:r>
                        <a:rPr sz="1400" b="1"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400" dirty="0"/>
                        <a:t>Proportionate penalties</a:t>
                      </a:r>
                    </a:p>
                  </a:txBody>
                  <a:tcPr>
                    <a:solidFill>
                      <a:srgbClr val="FFFDF8"/>
                    </a:solidFill>
                  </a:tcPr>
                </a:tc>
                <a:tc>
                  <a:txBody>
                    <a:bodyPr/>
                    <a:lstStyle/>
                    <a:p>
                      <a:r>
                        <a:rPr sz="1400" b="0"/>
                        <a:t>Linked to company turnover</a:t>
                      </a:r>
                    </a:p>
                  </a:txBody>
                  <a:tcPr>
                    <a:solidFill>
                      <a:srgbClr val="FFFDF8"/>
                    </a:solidFill>
                  </a:tcPr>
                </a:tc>
                <a:tc>
                  <a:txBody>
                    <a:bodyPr/>
                    <a:lstStyle/>
                    <a:p>
                      <a:r>
                        <a:rPr sz="1400" b="0"/>
                        <a:t>Up to 10% global turnover</a:t>
                      </a:r>
                    </a:p>
                  </a:txBody>
                  <a:tcPr>
                    <a:solidFill>
                      <a:srgbClr val="FFFDF8"/>
                    </a:solidFill>
                  </a:tcPr>
                </a:tc>
                <a:tc>
                  <a:txBody>
                    <a:bodyPr/>
                    <a:lstStyle/>
                    <a:p>
                      <a:r>
                        <a:rPr sz="1400" b="0"/>
                        <a:t>High civil penalty exposure</a:t>
                      </a:r>
                    </a:p>
                  </a:txBody>
                  <a:tcPr>
                    <a:solidFill>
                      <a:srgbClr val="FFFDF8"/>
                    </a:solidFill>
                  </a:tcPr>
                </a:tc>
                <a:tc>
                  <a:txBody>
                    <a:bodyPr/>
                    <a:lstStyle/>
                    <a:p>
                      <a:r>
                        <a:rPr sz="1400" b="1" dirty="0">
                          <a:solidFill>
                            <a:srgbClr val="A8552F"/>
                          </a:solidFill>
                        </a:rPr>
                        <a:t>Low fixed cap </a:t>
                      </a:r>
                      <a:r>
                        <a:rPr lang="en-US" sz="1400" b="1" dirty="0">
                          <a:solidFill>
                            <a:srgbClr val="A8552F"/>
                          </a:solidFill>
                        </a:rPr>
                        <a:t>penalties</a:t>
                      </a:r>
                      <a:endParaRPr sz="1400" b="1"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015806"/>
            <a:ext cx="10835640" cy="1384994"/>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96928" y="5194288"/>
            <a:ext cx="10575640" cy="112338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latin typeface="Avenir Next" panose="020B0503020202020204" pitchFamily="34" charset="0"/>
              </a:rPr>
              <a:t>Research Question 5: </a:t>
            </a:r>
            <a:r>
              <a:rPr lang="en-IN" sz="1400" b="1"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p>
          <a:p>
            <a:pPr algn="just">
              <a:defRPr sz="1100">
                <a:solidFill>
                  <a:srgbClr val="282828"/>
                </a:solidFill>
              </a:defRPr>
            </a:pPr>
            <a:endParaRPr lang="en-US" sz="1400" dirty="0">
              <a:latin typeface="Avenir Next" panose="020B0503020202020204" pitchFamily="34" charset="0"/>
            </a:endParaRPr>
          </a:p>
          <a:p>
            <a:pPr algn="just">
              <a:defRPr sz="1100">
                <a:solidFill>
                  <a:srgbClr val="282828"/>
                </a:solidFill>
              </a:defRPr>
            </a:pPr>
            <a:r>
              <a:rPr sz="1400" dirty="0">
                <a:latin typeface="Avenir Next" panose="020B0503020202020204" pitchFamily="34" charset="0"/>
              </a:rPr>
              <a:t>Answer to RQ5: Effective systems demand proof before publication, require independent audits, connect their regulators with automatic referrals, and link fines to turnover so honesty is always the smart business choice.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104233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462633" y="6339493"/>
            <a:ext cx="11200000" cy="646331"/>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13" name="Rounded Rectangle 12"/>
          <p:cNvSpPr/>
          <p:nvPr/>
        </p:nvSpPr>
        <p:spPr>
          <a:xfrm>
            <a:off x="697925" y="1646661"/>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618129"/>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2272572"/>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Proof Before Publishing: </a:t>
            </a:r>
            <a:r>
              <a:rPr sz="1600" dirty="0">
                <a:latin typeface="Avenir Next" panose="020B0503020202020204" pitchFamily="34" charset="0"/>
              </a:rPr>
              <a:t>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Independent Audits: </a:t>
            </a:r>
            <a:r>
              <a:rPr sz="1600" dirty="0">
                <a:latin typeface="Avenir Next" panose="020B0503020202020204" pitchFamily="34" charset="0"/>
              </a:rPr>
              <a:t>Mandatory third-party assurance that escalates over time.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Clear Accountability: </a:t>
            </a:r>
            <a:r>
              <a:rPr sz="1600" dirty="0">
                <a:latin typeface="Avenir Next" panose="020B0503020202020204" pitchFamily="34" charset="0"/>
              </a:rPr>
              <a:t>Direct liability routes for decision-makers.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Turnover-Linked Penalties: </a:t>
            </a:r>
            <a:r>
              <a:rPr sz="1600" dirty="0">
                <a:latin typeface="Avenir Next" panose="020B0503020202020204" pitchFamily="34" charset="0"/>
              </a:rPr>
              <a:t>Fines scaled to company revenue to deter misconduct.</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Lifecycle Coverage: </a:t>
            </a:r>
            <a:r>
              <a:rPr sz="1600" dirty="0">
                <a:latin typeface="Avenir Next" panose="020B0503020202020204" pitchFamily="34" charset="0"/>
              </a:rPr>
              <a:t>Rules apply from product labels to financial filings.</a:t>
            </a:r>
          </a:p>
        </p:txBody>
      </p:sp>
      <p:sp>
        <p:nvSpPr>
          <p:cNvPr id="16" name="Rounded Rectangle 15"/>
          <p:cNvSpPr/>
          <p:nvPr/>
        </p:nvSpPr>
        <p:spPr>
          <a:xfrm>
            <a:off x="6350320" y="1646660"/>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618129"/>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2244430"/>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Reactive Policing: </a:t>
            </a:r>
            <a:r>
              <a:rPr sz="1600" dirty="0">
                <a:latin typeface="Avenir Next" panose="020B0503020202020204" pitchFamily="34" charset="0"/>
              </a:rPr>
              <a:t>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Diluted Auditing: </a:t>
            </a:r>
            <a:r>
              <a:rPr sz="1600" dirty="0">
                <a:latin typeface="Avenir Next" panose="020B0503020202020204" pitchFamily="34" charset="0"/>
              </a:rPr>
              <a:t>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No Pre-Approval: </a:t>
            </a:r>
            <a:r>
              <a:rPr sz="1600" dirty="0">
                <a:latin typeface="Avenir Next" panose="020B0503020202020204" pitchFamily="34" charset="0"/>
              </a:rPr>
              <a:t>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Regulatory Rollbacks:</a:t>
            </a:r>
            <a:r>
              <a:rPr sz="1600" dirty="0">
                <a:latin typeface="Avenir Next" panose="020B0503020202020204" pitchFamily="34" charset="0"/>
              </a:rPr>
              <a:t> Repeated delays and narrowed reporting scopes.</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Fixed Low Penalties: </a:t>
            </a:r>
            <a:r>
              <a:rPr sz="1600" dirty="0">
                <a:latin typeface="Avenir Next" panose="020B0503020202020204" pitchFamily="34" charset="0"/>
              </a:rPr>
              <a:t>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66" name="TextBox 65"/>
          <p:cNvSpPr txBox="1"/>
          <p:nvPr/>
        </p:nvSpPr>
        <p:spPr>
          <a:xfrm>
            <a:off x="568904" y="6366652"/>
            <a:ext cx="11400000" cy="477054"/>
          </a:xfrm>
          <a:prstGeom prst="rect">
            <a:avLst/>
          </a:prstGeom>
          <a:noFill/>
        </p:spPr>
        <p:txBody>
          <a:bodyPr wrap="square" lIns="45720" tIns="22860" rIns="45720" bIns="22860" anchor="t">
            <a:spAutoFit/>
          </a:bodyPr>
          <a:lstStyle/>
          <a:p>
            <a:r>
              <a:rPr sz="1400" i="0" dirty="0">
                <a:solidFill>
                  <a:srgbClr val="6B6F6A"/>
                </a:solidFill>
                <a:latin typeface="Avenir Next" panose="020B0503020202020204" pitchFamily="34" charset="0"/>
              </a:rPr>
              <a:t>Research Question 6: </a:t>
            </a:r>
            <a:r>
              <a:rPr lang="en-IN" sz="1400" dirty="0">
                <a:latin typeface="Avenir Next" panose="020B0503020202020204" pitchFamily="34" charset="0"/>
                <a:ea typeface="+mn-lt"/>
                <a:cs typeface="+mn-lt"/>
              </a:rPr>
              <a:t>How do fragmentation, overlap, weak coordination, and limited enforcement in India's regulatory ecosystem, impede accountability for greenwashing?</a:t>
            </a:r>
            <a:endParaRPr lang="en-US" sz="1400" dirty="0">
              <a:latin typeface="Avenir Next" panose="020B0503020202020204" pitchFamily="34" charset="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270126"/>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corporate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 </a:t>
            </a:r>
            <a:r>
              <a:rPr lang="en-IN" sz="13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r>
              <a:rPr sz="1300" dirty="0">
                <a:solidFill>
                  <a:srgbClr val="2D2D2D"/>
                </a:solidFill>
                <a:latin typeface="Avenir Next" panose="020B0503020202020204" pitchFamily="34" charset="0"/>
              </a:rPr>
              <a:t>.</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35664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609862" y="1350000"/>
            <a:ext cx="3263122" cy="1508105"/>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609862" y="2945300"/>
            <a:ext cx="3263122" cy="3116238"/>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Evaluates </a:t>
            </a:r>
            <a:r>
              <a:rPr lang="en-US" sz="1300" dirty="0">
                <a:solidFill>
                  <a:srgbClr val="2D2D2D"/>
                </a:solidFill>
                <a:latin typeface="Avenir Next" panose="020B0503020202020204" pitchFamily="34" charset="0"/>
              </a:rPr>
              <a:t>whether legal costs exceed benefits</a:t>
            </a:r>
            <a:r>
              <a:rPr sz="1300" dirty="0">
                <a:solidFill>
                  <a:srgbClr val="2D2D2D"/>
                </a:solidFill>
                <a:latin typeface="Avenir Next" panose="020B0503020202020204" pitchFamily="34" charset="0"/>
              </a:rPr>
              <a:t> across Company Law, Securities Law, and Consumer Protection.</a:t>
            </a: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ordinary liability routes are weak. Section 166(2) lacks open standing;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corporate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encompassing</a:t>
            </a:r>
            <a:r>
              <a:rPr sz="1300" dirty="0">
                <a:solidFill>
                  <a:srgbClr val="2D2D2D"/>
                </a:solidFill>
                <a:latin typeface="Avenir Next" panose="020B0503020202020204" pitchFamily="34" charset="0"/>
              </a:rPr>
              <a:t> products,</a:t>
            </a:r>
            <a:r>
              <a:rPr lang="en-US" sz="1300" dirty="0">
                <a:solidFill>
                  <a:srgbClr val="2D2D2D"/>
                </a:solidFill>
                <a:latin typeface="Avenir Next" panose="020B0503020202020204" pitchFamily="34" charset="0"/>
              </a:rPr>
              <a:t> ads,</a:t>
            </a:r>
            <a:r>
              <a:rPr sz="1300" dirty="0">
                <a:solidFill>
                  <a:srgbClr val="2D2D2D"/>
                </a:solidFill>
                <a:latin typeface="Avenir Next" panose="020B0503020202020204" pitchFamily="34" charset="0"/>
              </a:rPr>
              <a:t> corporate </a:t>
            </a:r>
            <a:r>
              <a:rPr lang="en-US" sz="1300" dirty="0">
                <a:solidFill>
                  <a:srgbClr val="2D2D2D"/>
                </a:solidFill>
                <a:latin typeface="Avenir Next" panose="020B0503020202020204" pitchFamily="34" charset="0"/>
              </a:rPr>
              <a:t>annual </a:t>
            </a:r>
            <a:r>
              <a:rPr sz="1300" dirty="0">
                <a:solidFill>
                  <a:srgbClr val="2D2D2D"/>
                </a:solidFill>
                <a:latin typeface="Avenir Next" panose="020B0503020202020204" pitchFamily="34" charset="0"/>
              </a:rPr>
              <a:t>reports,</a:t>
            </a:r>
            <a:r>
              <a:rPr lang="en-US" sz="1300" dirty="0">
                <a:solidFill>
                  <a:srgbClr val="2D2D2D"/>
                </a:solidFill>
                <a:latin typeface="Avenir Next" panose="020B0503020202020204" pitchFamily="34" charset="0"/>
              </a:rPr>
              <a:t> ESG Filings</a:t>
            </a:r>
            <a:r>
              <a:rPr sz="1300" dirty="0">
                <a:solidFill>
                  <a:srgbClr val="2D2D2D"/>
                </a:solidFill>
                <a:latin typeface="Avenir Next" panose="020B0503020202020204" pitchFamily="34" charset="0"/>
              </a:rPr>
              <a:t> and </a:t>
            </a:r>
            <a:r>
              <a:rPr lang="en-US" sz="1300" dirty="0">
                <a:solidFill>
                  <a:srgbClr val="2D2D2D"/>
                </a:solidFill>
                <a:latin typeface="Avenir Next" panose="020B0503020202020204" pitchFamily="34" charset="0"/>
              </a:rPr>
              <a:t>G</a:t>
            </a:r>
            <a:r>
              <a:rPr sz="1300" dirty="0">
                <a:solidFill>
                  <a:srgbClr val="2D2D2D"/>
                </a:solidFill>
                <a:latin typeface="Avenir Next" panose="020B0503020202020204" pitchFamily="34" charset="0"/>
              </a:rPr>
              <a:t>reen </a:t>
            </a:r>
            <a:r>
              <a:rPr lang="en-US" sz="1300" dirty="0">
                <a:solidFill>
                  <a:srgbClr val="2D2D2D"/>
                </a:solidFill>
                <a:latin typeface="Avenir Next" panose="020B0503020202020204" pitchFamily="34" charset="0"/>
              </a:rPr>
              <a:t>B</a:t>
            </a:r>
            <a:r>
              <a:rPr sz="1300" dirty="0">
                <a:solidFill>
                  <a:srgbClr val="2D2D2D"/>
                </a:solidFill>
                <a:latin typeface="Avenir Next" panose="020B0503020202020204" pitchFamily="34" charset="0"/>
              </a:rPr>
              <a:t>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188762"/>
            <a:ext cx="10911841" cy="47397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322112"/>
            <a:ext cx="10475056" cy="231602"/>
          </a:xfrm>
          <a:prstGeom prst="rect">
            <a:avLst/>
          </a:prstGeom>
          <a:noFill/>
        </p:spPr>
        <p:txBody>
          <a:bodyPr wrap="square" lIns="0" tIns="0" rIns="0" bIns="0">
            <a:spAutoFit/>
          </a:bodyPr>
          <a:lstStyle/>
          <a:p>
            <a:pPr algn="ctr">
              <a:lnSpc>
                <a:spcPct val="110000"/>
              </a:lnSpc>
              <a:defRPr sz="1300" b="1">
                <a:solidFill>
                  <a:srgbClr val="12402D"/>
                </a:solidFill>
              </a:defRPr>
            </a:pPr>
            <a:r>
              <a:rPr sz="1400" dirty="0">
                <a:latin typeface="Avenir Next" panose="020B0503020202020204" pitchFamily="34" charset="0"/>
              </a:rPr>
              <a:t>All Three Hypotheses Stand Formally Validated</a:t>
            </a:r>
            <a:endParaRPr sz="14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9" name="Rounded Rectangle 28">
            <a:extLst>
              <a:ext uri="{FF2B5EF4-FFF2-40B4-BE49-F238E27FC236}">
                <a16:creationId xmlns:a16="http://schemas.microsoft.com/office/drawing/2014/main" id="{26F3CA9D-8EC4-C356-F7AF-706559F73CDC}"/>
              </a:ext>
            </a:extLst>
          </p:cNvPr>
          <p:cNvSpPr/>
          <p:nvPr/>
        </p:nvSpPr>
        <p:spPr>
          <a:xfrm>
            <a:off x="611037" y="5570319"/>
            <a:ext cx="10735056" cy="86290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p:cNvSpPr txBox="1"/>
          <p:nvPr/>
        </p:nvSpPr>
        <p:spPr>
          <a:xfrm>
            <a:off x="734355" y="5702107"/>
            <a:ext cx="10405998" cy="692497"/>
          </a:xfrm>
          <a:prstGeom prst="rect">
            <a:avLst/>
          </a:prstGeom>
          <a:noFill/>
        </p:spPr>
        <p:txBody>
          <a:bodyPr wrap="square">
            <a:spAutoFit/>
          </a:bodyPr>
          <a:lstStyle/>
          <a:p>
            <a:pPr>
              <a:defRPr sz="1200">
                <a:solidFill>
                  <a:srgbClr val="6B6F6A"/>
                </a:solidFill>
                <a:latin typeface="Avenir Next"/>
              </a:defRPr>
            </a:pPr>
            <a:r>
              <a:rPr sz="1400" b="0" dirty="0">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latin typeface="Avenir Next"/>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877824"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841248" y="1791191"/>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471416"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468215" y="1763759"/>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8065008"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8016087" y="173632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389151"/>
            <a:ext cx="10735056" cy="117316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447325"/>
            <a:ext cx="10475056" cy="1031051"/>
          </a:xfrm>
          <a:prstGeom prst="rect">
            <a:avLst/>
          </a:prstGeom>
          <a:noFill/>
        </p:spPr>
        <p:txBody>
          <a:bodyPr wrap="square" lIns="45720" tIns="22860" rIns="45720" bIns="22860" anchor="ctr">
            <a:spAutoFit/>
          </a:bodyPr>
          <a:lstStyle/>
          <a:p>
            <a:pPr algn="just">
              <a:defRPr sz="1100">
                <a:solidFill>
                  <a:srgbClr val="282828"/>
                </a:solidFill>
              </a:defRPr>
            </a:pPr>
            <a:r>
              <a:rPr lang="en-IN" sz="140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p>
          <a:p>
            <a:pPr algn="just">
              <a:defRPr sz="1100">
                <a:solidFill>
                  <a:srgbClr val="282828"/>
                </a:solidFill>
              </a:defRPr>
            </a:pPr>
            <a:endParaRPr lang="en-US" sz="800" dirty="0"/>
          </a:p>
          <a:p>
            <a:pPr algn="just">
              <a:defRPr sz="1100">
                <a:solidFill>
                  <a:srgbClr val="282828"/>
                </a:solidFill>
              </a:defRPr>
            </a:pPr>
            <a:r>
              <a:rPr sz="1400" dirty="0"/>
              <a:t>Answer to RQ7: Three statutes working together in sequence—substantiate before publishing, audit independently, refer cases automatically between agencies, and link penalties to turnover so leadership carries the real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6ebd02e2-39fe-9866-8e33-718e47e27752&quot;,&quot;title&quot;:&quot;Condense Text in Sections 1 &amp; 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1857</TotalTime>
  <Words>4719</Words>
  <Application>Microsoft Macintosh PowerPoint</Application>
  <PresentationFormat>Widescreen</PresentationFormat>
  <Paragraphs>478</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1386</cp:revision>
  <dcterms:created xsi:type="dcterms:W3CDTF">2013-01-27T09:14:16Z</dcterms:created>
  <dcterms:modified xsi:type="dcterms:W3CDTF">2026-08-16T09:18:23Z</dcterms:modified>
  <cp:category/>
</cp:coreProperties>
</file>