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287" r:id="rId16"/>
    <p:sldId id="262" r:id="rId17"/>
    <p:sldId id="272" r:id="rId18"/>
    <p:sldId id="288" r:id="rId19"/>
    <p:sldId id="289" r:id="rId20"/>
    <p:sldId id="296" r:id="rId21"/>
    <p:sldId id="299" r:id="rId22"/>
    <p:sldId id="291" r:id="rId23"/>
    <p:sldId id="266" r:id="rId24"/>
    <p:sldId id="29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3559"/>
    <p:restoredTop sz="94629"/>
  </p:normalViewPr>
  <p:slideViewPr>
    <p:cSldViewPr snapToGrid="0" snapToObjects="1">
      <p:cViewPr varScale="1">
        <p:scale>
          <a:sx n="79" d="100"/>
          <a:sy n="79" d="100"/>
        </p:scale>
        <p:origin x="224" y="712"/>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96667"/>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92166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4452501"/>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Façade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Concealed)</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a:p>
            <a:pPr>
              <a:spcBef>
                <a:spcPts val="300"/>
              </a:spcBef>
              <a:spcAft>
                <a:spcPts val="400"/>
              </a:spcAft>
            </a:pPr>
            <a:r>
              <a:rPr sz="1400" b="1" dirty="0">
                <a:solidFill>
                  <a:srgbClr val="A8552F"/>
                </a:solidFill>
                <a:latin typeface="Avenir Next" panose="020B0503020202020204" pitchFamily="34" charset="0"/>
              </a:rPr>
              <a:t>• Disconnected Governance: </a:t>
            </a:r>
            <a:r>
              <a:rPr sz="1400" dirty="0">
                <a:solidFill>
                  <a:srgbClr val="2D2D2D"/>
                </a:solidFill>
                <a:latin typeface="Avenir Next" panose="020B0503020202020204" pitchFamily="34" charset="0"/>
              </a:rPr>
              <a:t>PR and marketing operate independently from boardroom decisions and oversight.</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31520" y="1041256"/>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31520" y="370909"/>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067013"/>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 just a distant corporate issue—it directly affects our wallets, our choices, and our future.</a:t>
            </a:r>
          </a:p>
        </p:txBody>
      </p:sp>
      <p:sp>
        <p:nvSpPr>
          <p:cNvPr id="6" name="Rounded Rectangle 5"/>
          <p:cNvSpPr/>
          <p:nvPr/>
        </p:nvSpPr>
        <p:spPr>
          <a:xfrm>
            <a:off x="731520" y="1737360"/>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1737360"/>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1920240"/>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1737360"/>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1737360"/>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1920240"/>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1737360"/>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1737360"/>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1920240"/>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Corporate slogans like 'Net-Zero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action, while extreme weather and toxic pollution directly threaten our families.</a:t>
            </a:r>
          </a:p>
        </p:txBody>
      </p:sp>
      <p:sp>
        <p:nvSpPr>
          <p:cNvPr id="15" name="Rounded Rectangle 14"/>
          <p:cNvSpPr/>
          <p:nvPr/>
        </p:nvSpPr>
        <p:spPr>
          <a:xfrm>
            <a:off x="731520" y="5394960"/>
            <a:ext cx="10698480" cy="1005840"/>
          </a:xfrm>
          <a:prstGeom prst="round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wrap="square" lIns="274320" tIns="137160" rIns="274320" rtlCol="0" anchor="ctr"/>
          <a:lstStyle/>
          <a:p>
            <a:pPr algn="ctr">
              <a:spcAft>
                <a:spcPts val="400"/>
              </a:spcAft>
              <a:defRPr sz="1100" b="1">
                <a:solidFill>
                  <a:srgbClr val="F5C542"/>
                </a:solidFill>
              </a:defRPr>
            </a:pPr>
            <a:r>
              <a:rPr dirty="0">
                <a:latin typeface="Avenir Next" panose="020B0503020202020204" pitchFamily="34" charset="0"/>
              </a:rPr>
              <a:t>THE </a:t>
            </a:r>
            <a:r>
              <a:rPr lang="en-US" dirty="0">
                <a:latin typeface="Avenir Next" panose="020B0503020202020204" pitchFamily="34" charset="0"/>
              </a:rPr>
              <a:t>PROBLEM</a:t>
            </a:r>
            <a:r>
              <a:rPr dirty="0">
                <a:latin typeface="Avenir Next" panose="020B0503020202020204" pitchFamily="34" charset="0"/>
              </a:rPr>
              <a:t> </a:t>
            </a:r>
            <a:r>
              <a:rPr lang="en-US" dirty="0">
                <a:latin typeface="Avenir Next" panose="020B0503020202020204" pitchFamily="34" charset="0"/>
              </a:rPr>
              <a:t>IN FRONT OF</a:t>
            </a:r>
            <a:r>
              <a:rPr dirty="0">
                <a:latin typeface="Avenir Next" panose="020B0503020202020204" pitchFamily="34" charset="0"/>
              </a:rPr>
              <a:t> US:</a:t>
            </a:r>
          </a:p>
          <a:p>
            <a:pPr algn="ctr">
              <a:defRPr sz="1500" b="1" i="1">
                <a:solidFill>
                  <a:srgbClr val="FFFFFF"/>
                </a:solidFill>
              </a:defRPr>
            </a:pPr>
            <a:r>
              <a:rPr dirty="0">
                <a:latin typeface="Avenir Next" panose="020B0503020202020204" pitchFamily="34" charset="0"/>
              </a:rPr>
              <a:t>“When every label claims to be 'green', how do </a:t>
            </a:r>
            <a:r>
              <a:rPr lang="en-US" dirty="0">
                <a:latin typeface="Avenir Next" panose="020B0503020202020204" pitchFamily="34" charset="0"/>
              </a:rPr>
              <a:t>we</a:t>
            </a:r>
            <a:r>
              <a:rPr dirty="0">
                <a:latin typeface="Avenir Next" panose="020B0503020202020204" pitchFamily="34" charset="0"/>
              </a:rPr>
              <a:t> protect our wallet, our trust and our family's future?”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As </a:t>
            </a:r>
            <a:r>
              <a:rPr sz="3200" b="1" dirty="0">
                <a:solidFill>
                  <a:srgbClr val="173F35"/>
                </a:solidFill>
                <a:latin typeface="Avenir Next Demi Bold"/>
              </a:rPr>
              <a:t>Visible in India</a:t>
            </a:r>
          </a:p>
        </p:txBody>
      </p:sp>
      <p:sp>
        <p:nvSpPr>
          <p:cNvPr id="8" name="Rounded Rectangle 7"/>
          <p:cNvSpPr/>
          <p:nvPr/>
        </p:nvSpPr>
        <p:spPr>
          <a:xfrm>
            <a:off x="783524" y="1614768"/>
            <a:ext cx="3166684" cy="296885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948116" y="1721529"/>
            <a:ext cx="2207454"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2268243"/>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987552" y="2752875"/>
            <a:ext cx="2670048" cy="1384995"/>
          </a:xfrm>
          <a:prstGeom prst="rect">
            <a:avLst/>
          </a:prstGeom>
          <a:noFill/>
        </p:spPr>
        <p:txBody>
          <a:bodyPr wrap="square" lIns="91440" tIns="45720" rIns="91440" bIns="45720" anchor="t">
            <a:spAutoFit/>
          </a:bodyPr>
          <a:lstStyle/>
          <a:p>
            <a:pPr>
              <a:defRPr sz="1150" b="0">
                <a:solidFill>
                  <a:srgbClr val="2A2A2A"/>
                </a:solidFill>
                <a:latin typeface="Avenir Next"/>
              </a:defRPr>
            </a:pPr>
            <a:r>
              <a:rPr sz="1400" dirty="0">
                <a:latin typeface="Avenir Next" panose="020B0503020202020204" pitchFamily="34" charset="0"/>
              </a:rPr>
              <a:t>ASCI reviewed 211 environmental ads in </a:t>
            </a:r>
            <a:r>
              <a:rPr lang="en-US" sz="1400" dirty="0">
                <a:latin typeface="Avenir Next" panose="020B0503020202020204" pitchFamily="34" charset="0"/>
              </a:rPr>
              <a:t>its 2024-25 Annual Report </a:t>
            </a:r>
            <a:r>
              <a:rPr sz="1400" dirty="0">
                <a:latin typeface="Avenir Next" panose="020B0503020202020204" pitchFamily="34" charset="0"/>
              </a:rPr>
              <a:t>and every one </a:t>
            </a:r>
            <a:r>
              <a:rPr lang="en-US" sz="1400" dirty="0">
                <a:latin typeface="Avenir Next" panose="020B0503020202020204" pitchFamily="34" charset="0"/>
              </a:rPr>
              <a:t>of them </a:t>
            </a:r>
            <a:r>
              <a:rPr sz="1400" dirty="0">
                <a:latin typeface="Avenir Next" panose="020B0503020202020204" pitchFamily="34" charset="0"/>
              </a:rPr>
              <a:t>required modification for lack of substantiation.</a:t>
            </a:r>
          </a:p>
        </p:txBody>
      </p:sp>
      <p:sp>
        <p:nvSpPr>
          <p:cNvPr id="13" name="Rounded Rectangle 12"/>
          <p:cNvSpPr/>
          <p:nvPr/>
        </p:nvSpPr>
        <p:spPr>
          <a:xfrm>
            <a:off x="4133087" y="1614768"/>
            <a:ext cx="3127248" cy="315061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Rounded Rectangle 13"/>
          <p:cNvSpPr/>
          <p:nvPr/>
        </p:nvSpPr>
        <p:spPr>
          <a:xfrm>
            <a:off x="4315968" y="1721528"/>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226470" y="2299101"/>
            <a:ext cx="2722970" cy="738664"/>
          </a:xfrm>
          <a:prstGeom prst="rect">
            <a:avLst/>
          </a:prstGeom>
          <a:noFill/>
        </p:spPr>
        <p:txBody>
          <a:bodyPr wrap="square" lIns="91440" tIns="45720" rIns="91440" bIns="45720" anchor="t">
            <a:spAutoFit/>
          </a:bodyPr>
          <a:lstStyle/>
          <a:p>
            <a:pPr marL="285750" indent="-285750" algn="l">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54% of NSE-listed firms in one study engaged in greenwashing.</a:t>
            </a:r>
            <a:endParaRPr lang="en-US" sz="1400" dirty="0">
              <a:latin typeface="Avenir Next" panose="020B0503020202020204" pitchFamily="34" charset="0"/>
            </a:endParaRPr>
          </a:p>
        </p:txBody>
      </p:sp>
      <p:sp>
        <p:nvSpPr>
          <p:cNvPr id="16" name="TextBox 15"/>
          <p:cNvSpPr txBox="1"/>
          <p:nvPr/>
        </p:nvSpPr>
        <p:spPr>
          <a:xfrm>
            <a:off x="4226470" y="3008074"/>
            <a:ext cx="2722970" cy="738664"/>
          </a:xfrm>
          <a:prstGeom prst="rect">
            <a:avLst/>
          </a:prstGeom>
          <a:noFill/>
        </p:spPr>
        <p:txBody>
          <a:bodyPr wrap="square" lIns="91440" tIns="45720" rIns="91440" bIns="45720" anchor="t">
            <a:spAutoFit/>
          </a:bodyPr>
          <a:lstStyle/>
          <a:p>
            <a:pPr marL="342900" indent="-342900">
              <a:buFont typeface="Arial" panose="020B0604020202020204" pitchFamily="34" charset="0"/>
              <a:buChar char="•"/>
              <a:defRPr sz="1150" b="1">
                <a:solidFill>
                  <a:srgbClr val="2A2A2A"/>
                </a:solidFill>
                <a:latin typeface="Avenir Next"/>
              </a:defRPr>
            </a:pPr>
            <a:r>
              <a:rPr sz="1400" dirty="0">
                <a:latin typeface="Avenir Next" panose="020B0503020202020204" pitchFamily="34" charset="0"/>
              </a:rPr>
              <a:t>47% of NIFTY 50 companies were flagged in </a:t>
            </a:r>
            <a:r>
              <a:rPr lang="en-US" sz="1400" dirty="0">
                <a:latin typeface="Avenir Next" panose="020B0503020202020204" pitchFamily="34" charset="0"/>
              </a:rPr>
              <a:t>another research</a:t>
            </a:r>
            <a:r>
              <a:rPr sz="1400" dirty="0">
                <a:latin typeface="Avenir Next" panose="020B0503020202020204" pitchFamily="34" charset="0"/>
              </a:rPr>
              <a:t>.</a:t>
            </a:r>
            <a:endParaRPr lang="en-US" sz="1400" dirty="0">
              <a:latin typeface="Avenir Next" panose="020B0503020202020204" pitchFamily="34" charset="0"/>
            </a:endParaRPr>
          </a:p>
        </p:txBody>
      </p:sp>
      <p:sp>
        <p:nvSpPr>
          <p:cNvPr id="17" name="TextBox 16"/>
          <p:cNvSpPr txBox="1"/>
          <p:nvPr/>
        </p:nvSpPr>
        <p:spPr>
          <a:xfrm>
            <a:off x="4212151" y="3692983"/>
            <a:ext cx="2938457" cy="954107"/>
          </a:xfrm>
          <a:prstGeom prst="rect">
            <a:avLst/>
          </a:prstGeom>
          <a:noFill/>
        </p:spPr>
        <p:txBody>
          <a:bodyPr wrap="square" anchor="t">
            <a:spAutoFit/>
          </a:bodyPr>
          <a:lstStyle/>
          <a:p>
            <a:pPr marL="285750" indent="-285750" algn="l">
              <a:buFont typeface="Arial" panose="020B0604020202020204" pitchFamily="34" charset="0"/>
              <a:buChar char="•"/>
              <a:defRPr sz="1080" b="0">
                <a:solidFill>
                  <a:srgbClr val="2A2A2A"/>
                </a:solidFill>
                <a:latin typeface="Avenir Next"/>
              </a:defRPr>
            </a:pPr>
            <a:r>
              <a:rPr sz="1400" dirty="0">
                <a:latin typeface="Avenir Next" panose="020B0503020202020204" pitchFamily="34" charset="0"/>
              </a:rPr>
              <a:t>CRISIL also found nearly 80% of 586 companies scored below average or weak on ESG parameters.</a:t>
            </a:r>
          </a:p>
        </p:txBody>
      </p:sp>
      <p:sp>
        <p:nvSpPr>
          <p:cNvPr id="18" name="Rounded Rectangle 17"/>
          <p:cNvSpPr/>
          <p:nvPr/>
        </p:nvSpPr>
        <p:spPr>
          <a:xfrm>
            <a:off x="7443216" y="1614769"/>
            <a:ext cx="422452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644382" y="1721529"/>
            <a:ext cx="1792223"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sz="1400" dirty="0">
                <a:solidFill>
                  <a:schemeClr val="bg1"/>
                </a:solidFill>
                <a:latin typeface="Avenir Next" panose="020B0503020202020204" pitchFamily="34" charset="0"/>
              </a:rPr>
              <a:t>ESG market scale</a:t>
            </a:r>
          </a:p>
        </p:txBody>
      </p:sp>
      <p:sp>
        <p:nvSpPr>
          <p:cNvPr id="20" name="TextBox 19"/>
          <p:cNvSpPr txBox="1"/>
          <p:nvPr/>
        </p:nvSpPr>
        <p:spPr>
          <a:xfrm>
            <a:off x="7699248" y="2289590"/>
            <a:ext cx="1591056"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1.2</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1" name="TextBox 20"/>
          <p:cNvSpPr txBox="1"/>
          <p:nvPr/>
        </p:nvSpPr>
        <p:spPr>
          <a:xfrm>
            <a:off x="7719478" y="2634238"/>
            <a:ext cx="1591056"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ESG fund assets by March 2024, up from USD 331M in 2020.</a:t>
            </a:r>
          </a:p>
        </p:txBody>
      </p:sp>
      <p:sp>
        <p:nvSpPr>
          <p:cNvPr id="22" name="TextBox 21"/>
          <p:cNvSpPr txBox="1"/>
          <p:nvPr/>
        </p:nvSpPr>
        <p:spPr>
          <a:xfrm>
            <a:off x="9400032" y="2289590"/>
            <a:ext cx="1792224"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sz="2000" dirty="0">
                <a:latin typeface="Avenir Next" panose="020B0503020202020204" pitchFamily="34" charset="0"/>
              </a:rPr>
              <a:t>USD 55.9</a:t>
            </a:r>
            <a:r>
              <a:rPr lang="en-US" sz="2000" dirty="0">
                <a:latin typeface="Avenir Next" panose="020B0503020202020204" pitchFamily="34" charset="0"/>
              </a:rPr>
              <a:t> </a:t>
            </a:r>
            <a:r>
              <a:rPr sz="2000" dirty="0">
                <a:latin typeface="Avenir Next" panose="020B0503020202020204" pitchFamily="34" charset="0"/>
              </a:rPr>
              <a:t>B</a:t>
            </a:r>
            <a:endParaRPr lang="en-US" sz="2000" dirty="0">
              <a:latin typeface="Avenir Next" panose="020B0503020202020204" pitchFamily="34" charset="0"/>
            </a:endParaRPr>
          </a:p>
        </p:txBody>
      </p:sp>
      <p:sp>
        <p:nvSpPr>
          <p:cNvPr id="23" name="TextBox 22"/>
          <p:cNvSpPr txBox="1"/>
          <p:nvPr/>
        </p:nvSpPr>
        <p:spPr>
          <a:xfrm>
            <a:off x="9349052" y="2701672"/>
            <a:ext cx="1901952" cy="830997"/>
          </a:xfrm>
          <a:prstGeom prst="rect">
            <a:avLst/>
          </a:prstGeom>
          <a:noFill/>
        </p:spPr>
        <p:txBody>
          <a:bodyPr wrap="square" anchor="t">
            <a:spAutoFit/>
          </a:bodyPr>
          <a:lstStyle/>
          <a:p>
            <a:pPr algn="ctr">
              <a:defRPr sz="1050" b="0">
                <a:solidFill>
                  <a:srgbClr val="2A2A2A"/>
                </a:solidFill>
                <a:latin typeface="Avenir Next"/>
              </a:defRPr>
            </a:pPr>
            <a:r>
              <a:rPr sz="1200" dirty="0">
                <a:latin typeface="Avenir Next" panose="020B0503020202020204" pitchFamily="34" charset="0"/>
              </a:rPr>
              <a:t>Cumulative green, social, and sustainability-linked debt by Dec 2024.</a:t>
            </a:r>
          </a:p>
        </p:txBody>
      </p:sp>
      <p:sp>
        <p:nvSpPr>
          <p:cNvPr id="24" name="TextBox 23"/>
          <p:cNvSpPr txBox="1"/>
          <p:nvPr/>
        </p:nvSpPr>
        <p:spPr>
          <a:xfrm>
            <a:off x="7702107" y="3585394"/>
            <a:ext cx="3657600" cy="1384995"/>
          </a:xfrm>
          <a:prstGeom prst="rect">
            <a:avLst/>
          </a:prstGeom>
          <a:noFill/>
        </p:spPr>
        <p:txBody>
          <a:bodyPr wrap="square" lIns="91440" tIns="45720" rIns="91440" bIns="45720" anchor="t">
            <a:spAutoFit/>
          </a:bodyPr>
          <a:lstStyle/>
          <a:p>
            <a:pPr algn="ctr">
              <a:defRPr sz="1070" b="1">
                <a:solidFill>
                  <a:srgbClr val="A23E2A"/>
                </a:solidFill>
                <a:latin typeface="Avenir Next"/>
              </a:defRPr>
            </a:pPr>
            <a:r>
              <a:rPr sz="1400" dirty="0">
                <a:latin typeface="Avenir Next" panose="020B0503020202020204" pitchFamily="34" charset="0"/>
              </a:rPr>
              <a:t>India is already the fourth-largest emerging-market source of sustainable debt globally, </a:t>
            </a:r>
            <a:endParaRPr lang="en-US" sz="1400" dirty="0">
              <a:latin typeface="Avenir Next" panose="020B0503020202020204" pitchFamily="34" charset="0"/>
            </a:endParaRPr>
          </a:p>
          <a:p>
            <a:pPr algn="ctr">
              <a:defRPr sz="1070" b="1">
                <a:solidFill>
                  <a:srgbClr val="A23E2A"/>
                </a:solidFill>
                <a:latin typeface="Avenir Next"/>
              </a:defRPr>
            </a:pPr>
            <a:r>
              <a:rPr lang="en-US" sz="1400" dirty="0">
                <a:latin typeface="Avenir Next" panose="020B0503020202020204" pitchFamily="34" charset="0"/>
              </a:rPr>
              <a:t>And</a:t>
            </a:r>
            <a:r>
              <a:rPr sz="1400" dirty="0">
                <a:latin typeface="Avenir Next" panose="020B0503020202020204" pitchFamily="34" charset="0"/>
              </a:rPr>
              <a:t> RBI research finds ESG </a:t>
            </a:r>
            <a:r>
              <a:rPr lang="en-US" sz="1400" dirty="0">
                <a:latin typeface="Avenir Next" panose="020B0503020202020204" pitchFamily="34" charset="0"/>
              </a:rPr>
              <a:t>claim based stocks have returns</a:t>
            </a:r>
            <a:r>
              <a:rPr sz="1400" dirty="0">
                <a:latin typeface="Avenir Next" panose="020B0503020202020204" pitchFamily="34" charset="0"/>
              </a:rPr>
              <a:t> above market predictions.</a:t>
            </a:r>
          </a:p>
        </p:txBody>
      </p:sp>
      <p:sp>
        <p:nvSpPr>
          <p:cNvPr id="25" name="Rounded Rectangle 24"/>
          <p:cNvSpPr/>
          <p:nvPr/>
        </p:nvSpPr>
        <p:spPr>
          <a:xfrm>
            <a:off x="770037" y="4909764"/>
            <a:ext cx="4931936" cy="1453652"/>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6" name="Rounded Rectangle 25"/>
          <p:cNvSpPr/>
          <p:nvPr/>
        </p:nvSpPr>
        <p:spPr>
          <a:xfrm>
            <a:off x="948116" y="5038696"/>
            <a:ext cx="3459291" cy="487833"/>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Compliance </a:t>
            </a:r>
            <a:r>
              <a:rPr lang="en-US" sz="1400" dirty="0">
                <a:latin typeface="Avenir Next" panose="020B0503020202020204" pitchFamily="34" charset="0"/>
              </a:rPr>
              <a:t>infrastructure lacks proper Verification</a:t>
            </a:r>
            <a:endParaRPr sz="1400" dirty="0">
              <a:latin typeface="Avenir Next" panose="020B0503020202020204" pitchFamily="34" charset="0"/>
            </a:endParaRPr>
          </a:p>
        </p:txBody>
      </p:sp>
      <p:sp>
        <p:nvSpPr>
          <p:cNvPr id="27" name="TextBox 26"/>
          <p:cNvSpPr txBox="1"/>
          <p:nvPr/>
        </p:nvSpPr>
        <p:spPr>
          <a:xfrm>
            <a:off x="783524" y="5555990"/>
            <a:ext cx="4918449" cy="830997"/>
          </a:xfrm>
          <a:prstGeom prst="rect">
            <a:avLst/>
          </a:prstGeom>
          <a:noFill/>
        </p:spPr>
        <p:txBody>
          <a:bodyPr wrap="square" lIns="91440" tIns="45720" rIns="91440" bIns="45720" anchor="t">
            <a:spAutoFit/>
          </a:bodyPr>
          <a:lstStyle/>
          <a:p>
            <a:pPr algn="ctr">
              <a:defRPr sz="1100" b="0">
                <a:solidFill>
                  <a:srgbClr val="2A2A2A"/>
                </a:solidFill>
                <a:latin typeface="Avenir Next"/>
              </a:defRPr>
            </a:pPr>
            <a:r>
              <a:rPr sz="1200" dirty="0">
                <a:latin typeface="Avenir Next" panose="020B0503020202020204" pitchFamily="34" charset="0"/>
              </a:rPr>
              <a:t>CPCB uncovered about 600,000 fake EPR certificates in 2024, </a:t>
            </a:r>
            <a:r>
              <a:rPr lang="en-US" sz="1200" dirty="0">
                <a:latin typeface="Avenir Next" panose="020B0503020202020204" pitchFamily="34" charset="0"/>
              </a:rPr>
              <a:t>and NGT took </a:t>
            </a:r>
            <a:r>
              <a:rPr lang="en-US" sz="1200" dirty="0" err="1">
                <a:latin typeface="Avenir Next" panose="020B0503020202020204" pitchFamily="34" charset="0"/>
              </a:rPr>
              <a:t>suo</a:t>
            </a:r>
            <a:r>
              <a:rPr lang="en-US" sz="1200" dirty="0">
                <a:latin typeface="Avenir Next" panose="020B0503020202020204" pitchFamily="34" charset="0"/>
              </a:rPr>
              <a:t> moto cognizance of it; </a:t>
            </a:r>
          </a:p>
          <a:p>
            <a:pPr algn="ctr">
              <a:defRPr sz="1100" b="0">
                <a:solidFill>
                  <a:srgbClr val="2A2A2A"/>
                </a:solidFill>
                <a:latin typeface="Avenir Next"/>
              </a:defRPr>
            </a:pPr>
            <a:r>
              <a:rPr lang="en-US" sz="1200" dirty="0">
                <a:latin typeface="Avenir Next" panose="020B0503020202020204" pitchFamily="34" charset="0"/>
              </a:rPr>
              <a:t>showing</a:t>
            </a:r>
            <a:r>
              <a:rPr sz="1200" dirty="0">
                <a:latin typeface="Avenir Next" panose="020B0503020202020204" pitchFamily="34" charset="0"/>
              </a:rPr>
              <a:t> that the verification deficit reaches the infrastructure of environmental compliance itself.</a:t>
            </a:r>
          </a:p>
        </p:txBody>
      </p:sp>
      <p:sp>
        <p:nvSpPr>
          <p:cNvPr id="28" name="Rounded Rectangle 27"/>
          <p:cNvSpPr/>
          <p:nvPr/>
        </p:nvSpPr>
        <p:spPr>
          <a:xfrm>
            <a:off x="5925312" y="5390971"/>
            <a:ext cx="5742432" cy="934460"/>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5987728" y="5464473"/>
            <a:ext cx="5266944" cy="738664"/>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IN" sz="1400" dirty="0">
                <a:latin typeface="Avenir Next" panose="020B0503020202020204" pitchFamily="34" charset="0"/>
              </a:rPr>
              <a:t>Key Takeaway: At this scale, greenwashing is not harmless marketing hype. It distorts both consumer choice and capital allocation.</a:t>
            </a:r>
            <a:endParaRPr lang="en-IN" sz="1600" dirty="0">
              <a:latin typeface="Avenir Next" panose="020B0503020202020204" pitchFamily="34" charset="0"/>
            </a:endParaRPr>
          </a:p>
        </p:txBody>
      </p:sp>
      <p:sp>
        <p:nvSpPr>
          <p:cNvPr id="30" name="TextBox 29"/>
          <p:cNvSpPr txBox="1"/>
          <p:nvPr/>
        </p:nvSpPr>
        <p:spPr>
          <a:xfrm>
            <a:off x="593901" y="6545178"/>
            <a:ext cx="6784230"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ASCI</a:t>
            </a:r>
            <a:r>
              <a:rPr sz="1100" dirty="0"/>
              <a:t>, CRISIL, RBI, CPCB figures</a:t>
            </a:r>
            <a:r>
              <a:rPr lang="en-US" sz="1100" dirty="0"/>
              <a:t> and NSE/NIFTY peer-reviewed studies, </a:t>
            </a:r>
            <a:r>
              <a:rPr sz="1100" dirty="0"/>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1088910"/>
            <a:ext cx="4844596"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Based on available data from authority-based sources</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914400"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4" name="TextBox 3"/>
          <p:cNvSpPr txBox="1"/>
          <p:nvPr/>
        </p:nvSpPr>
        <p:spPr>
          <a:xfrm>
            <a:off x="731520" y="1251794"/>
            <a:ext cx="10698480" cy="584775"/>
          </a:xfrm>
          <a:prstGeom prst="rect">
            <a:avLst/>
          </a:prstGeom>
          <a:noFill/>
        </p:spPr>
        <p:txBody>
          <a:bodyPr wrap="square" lIns="91440" tIns="45720" rIns="91440" bIns="45720" anchor="t">
            <a:spAutoFit/>
          </a:bodyPr>
          <a:lstStyle/>
          <a:p>
            <a:pPr>
              <a:defRPr sz="1200" b="0">
                <a:solidFill>
                  <a:srgbClr val="6B6B7B"/>
                </a:solidFill>
                <a:latin typeface="Calibri"/>
              </a:defRPr>
            </a:pPr>
            <a:r>
              <a:rPr sz="1600" b="1" dirty="0"/>
              <a:t>Existing scholarship treats greenwashing primarily as a marketing issue. This research investigates the structural flaws in legal accountability.</a:t>
            </a:r>
            <a:endParaRPr lang="en-US" sz="1600" b="1" dirty="0">
              <a:ea typeface="Calibri"/>
              <a:cs typeface="Calibri"/>
            </a:endParaRPr>
          </a:p>
        </p:txBody>
      </p:sp>
      <p:sp>
        <p:nvSpPr>
          <p:cNvPr id="5" name="Rounded Rectangle 4"/>
          <p:cNvSpPr/>
          <p:nvPr/>
        </p:nvSpPr>
        <p:spPr>
          <a:xfrm>
            <a:off x="7469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6" name="Rounded Rectangle 5"/>
          <p:cNvSpPr/>
          <p:nvPr/>
        </p:nvSpPr>
        <p:spPr>
          <a:xfrm>
            <a:off x="8245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1</a:t>
            </a:r>
          </a:p>
        </p:txBody>
      </p:sp>
      <p:sp>
        <p:nvSpPr>
          <p:cNvPr id="7" name="TextBox 6"/>
          <p:cNvSpPr txBox="1"/>
          <p:nvPr/>
        </p:nvSpPr>
        <p:spPr>
          <a:xfrm>
            <a:off x="14759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Board-Level Accountability</a:t>
            </a:r>
          </a:p>
          <a:p>
            <a:pPr>
              <a:defRPr sz="1050"/>
            </a:pPr>
            <a:r>
              <a:rPr sz="1400" dirty="0">
                <a:latin typeface="Avenir Next" panose="020B0503020202020204" pitchFamily="34" charset="0"/>
              </a:rPr>
              <a:t>Limited </a:t>
            </a:r>
            <a:r>
              <a:rPr lang="en-US" sz="1400" dirty="0">
                <a:latin typeface="Avenir Next" panose="020B0503020202020204" pitchFamily="34" charset="0"/>
              </a:rPr>
              <a:t>existing doctrinal </a:t>
            </a:r>
            <a:r>
              <a:rPr sz="1400" dirty="0">
                <a:latin typeface="Avenir Next" panose="020B0503020202020204" pitchFamily="34" charset="0"/>
              </a:rPr>
              <a:t>work on invoking Section 166(2) against misleading sustainability claims in corporate reports and ESG disclosures.</a:t>
            </a:r>
          </a:p>
        </p:txBody>
      </p:sp>
      <p:sp>
        <p:nvSpPr>
          <p:cNvPr id="8" name="Rounded Rectangle 7"/>
          <p:cNvSpPr/>
          <p:nvPr/>
        </p:nvSpPr>
        <p:spPr>
          <a:xfrm>
            <a:off x="7469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8245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2</a:t>
            </a:r>
          </a:p>
        </p:txBody>
      </p:sp>
      <p:sp>
        <p:nvSpPr>
          <p:cNvPr id="10" name="TextBox 9"/>
          <p:cNvSpPr txBox="1"/>
          <p:nvPr/>
        </p:nvSpPr>
        <p:spPr>
          <a:xfrm>
            <a:off x="14759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Regulatory Fragmentation</a:t>
            </a:r>
          </a:p>
          <a:p>
            <a:pPr>
              <a:defRPr sz="1050"/>
            </a:pPr>
            <a:r>
              <a:rPr sz="1400" dirty="0">
                <a:latin typeface="Avenir Next" panose="020B0503020202020204" pitchFamily="34" charset="0"/>
              </a:rPr>
              <a:t>Green claims are policed across siloed regimes (MCA, SEBI, CCPA/ASCI), creating jurisdictional overlap and an accountability vacuum.</a:t>
            </a:r>
          </a:p>
        </p:txBody>
      </p:sp>
      <p:sp>
        <p:nvSpPr>
          <p:cNvPr id="11" name="Rounded Rectangle 10"/>
          <p:cNvSpPr/>
          <p:nvPr/>
        </p:nvSpPr>
        <p:spPr>
          <a:xfrm>
            <a:off x="746974" y="42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824586" y="43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3</a:t>
            </a:r>
          </a:p>
        </p:txBody>
      </p:sp>
      <p:sp>
        <p:nvSpPr>
          <p:cNvPr id="13" name="TextBox 12"/>
          <p:cNvSpPr txBox="1"/>
          <p:nvPr/>
        </p:nvSpPr>
        <p:spPr>
          <a:xfrm>
            <a:off x="1475918" y="43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a:latin typeface="Avenir Next" panose="020B0503020202020204" pitchFamily="34" charset="0"/>
              </a:rPr>
              <a:t>Verification &amp; Assurance Gap</a:t>
            </a:r>
          </a:p>
          <a:p>
            <a:pPr>
              <a:defRPr sz="1050"/>
            </a:pPr>
            <a:r>
              <a:rPr sz="1400">
                <a:latin typeface="Avenir Next" panose="020B0503020202020204" pitchFamily="34" charset="0"/>
              </a:rPr>
              <a:t>Mandatory ESG disclosure has expanded without mandatory third-party verification, leaving claims unverified.</a:t>
            </a:r>
          </a:p>
        </p:txBody>
      </p:sp>
      <p:sp>
        <p:nvSpPr>
          <p:cNvPr id="14" name="Rounded Rectangle 13"/>
          <p:cNvSpPr/>
          <p:nvPr/>
        </p:nvSpPr>
        <p:spPr>
          <a:xfrm>
            <a:off x="6233374" y="18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5" name="Rounded Rectangle 14"/>
          <p:cNvSpPr/>
          <p:nvPr/>
        </p:nvSpPr>
        <p:spPr>
          <a:xfrm>
            <a:off x="6310986" y="19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4</a:t>
            </a:r>
          </a:p>
        </p:txBody>
      </p:sp>
      <p:sp>
        <p:nvSpPr>
          <p:cNvPr id="16" name="TextBox 15"/>
          <p:cNvSpPr txBox="1"/>
          <p:nvPr/>
        </p:nvSpPr>
        <p:spPr>
          <a:xfrm>
            <a:off x="6962318" y="19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Evolving </a:t>
            </a:r>
            <a:r>
              <a:rPr lang="en-US" dirty="0">
                <a:latin typeface="Avenir Next" panose="020B0503020202020204" pitchFamily="34" charset="0"/>
              </a:rPr>
              <a:t>Forms of Greenwashing: Legal Vacuum</a:t>
            </a:r>
            <a:endParaRPr dirty="0">
              <a:latin typeface="Avenir Next" panose="020B0503020202020204" pitchFamily="34" charset="0"/>
            </a:endParaRPr>
          </a:p>
          <a:p>
            <a:pPr>
              <a:defRPr sz="1050"/>
            </a:pPr>
            <a:r>
              <a:rPr sz="1400" dirty="0">
                <a:latin typeface="Avenir Next" panose="020B0503020202020204" pitchFamily="34" charset="0"/>
              </a:rPr>
              <a:t>Distant net-zero pledges (e.g. 2070) and questionable carbon-offset claims remain unaddressed in current frameworks.</a:t>
            </a:r>
          </a:p>
        </p:txBody>
      </p:sp>
      <p:sp>
        <p:nvSpPr>
          <p:cNvPr id="17" name="Rounded Rectangle 16"/>
          <p:cNvSpPr/>
          <p:nvPr/>
        </p:nvSpPr>
        <p:spPr>
          <a:xfrm>
            <a:off x="6233374" y="3050000"/>
            <a:ext cx="5196625" cy="1080000"/>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8" name="Rounded Rectangle 17"/>
          <p:cNvSpPr/>
          <p:nvPr/>
        </p:nvSpPr>
        <p:spPr>
          <a:xfrm>
            <a:off x="6310986" y="3170000"/>
            <a:ext cx="547013" cy="318828"/>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a:latin typeface="Avenir Next" panose="020B0503020202020204" pitchFamily="34" charset="0"/>
              </a:rPr>
              <a:t>Gap 5</a:t>
            </a:r>
          </a:p>
        </p:txBody>
      </p:sp>
      <p:sp>
        <p:nvSpPr>
          <p:cNvPr id="19" name="TextBox 18"/>
          <p:cNvSpPr txBox="1"/>
          <p:nvPr/>
        </p:nvSpPr>
        <p:spPr>
          <a:xfrm>
            <a:off x="6962318" y="3130000"/>
            <a:ext cx="4330521" cy="956672"/>
          </a:xfrm>
          <a:prstGeom prst="rect">
            <a:avLst/>
          </a:prstGeom>
          <a:noFill/>
        </p:spPr>
        <p:txBody>
          <a:bodyPr wrap="square">
            <a:spAutoFit/>
          </a:bodyPr>
          <a:lstStyle/>
          <a:p>
            <a:pPr algn="l">
              <a:spcAft>
                <a:spcPts val="200"/>
              </a:spcAft>
              <a:defRPr sz="1250" b="1">
                <a:solidFill>
                  <a:srgbClr val="12402D"/>
                </a:solidFill>
                <a:latin typeface="Calibri"/>
              </a:defRPr>
            </a:pPr>
            <a:r>
              <a:rPr dirty="0">
                <a:latin typeface="Avenir Next" panose="020B0503020202020204" pitchFamily="34" charset="0"/>
              </a:rPr>
              <a:t>Real-World Enforcement Analysis</a:t>
            </a:r>
          </a:p>
          <a:p>
            <a:pPr>
              <a:defRPr sz="1050"/>
            </a:pPr>
            <a:r>
              <a:rPr sz="1400" dirty="0">
                <a:latin typeface="Avenir Next" panose="020B0503020202020204" pitchFamily="34" charset="0"/>
              </a:rPr>
              <a:t>Lack of </a:t>
            </a:r>
            <a:r>
              <a:rPr lang="en-US" sz="1400" dirty="0">
                <a:latin typeface="Avenir Next" panose="020B0503020202020204" pitchFamily="34" charset="0"/>
              </a:rPr>
              <a:t>doctrinal </a:t>
            </a:r>
            <a:r>
              <a:rPr sz="1400" dirty="0">
                <a:latin typeface="Avenir Next" panose="020B0503020202020204" pitchFamily="34" charset="0"/>
              </a:rPr>
              <a:t>studies evaluating why regulators rarely bring deterrent enforcement actions against greenwashing.</a:t>
            </a:r>
          </a:p>
        </p:txBody>
      </p:sp>
      <p:sp>
        <p:nvSpPr>
          <p:cNvPr id="20" name="Rounded Rectangle 19"/>
          <p:cNvSpPr/>
          <p:nvPr/>
        </p:nvSpPr>
        <p:spPr>
          <a:xfrm>
            <a:off x="731520" y="5665372"/>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914400" y="5711092"/>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sz="1600" dirty="0">
                <a:latin typeface="Avenir Next" panose="020B0503020202020204" pitchFamily="34" charset="0"/>
              </a:rPr>
              <a:t>THIS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 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30846" y="357075"/>
            <a:ext cx="10058400" cy="877163"/>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Research Methodology</a:t>
            </a:r>
          </a:p>
          <a:p>
            <a:pPr>
              <a:defRPr sz="1300" b="0">
                <a:solidFill>
                  <a:srgbClr val="6B6B7B"/>
                </a:solidFill>
                <a:latin typeface="Calibri"/>
              </a:defRPr>
            </a:pPr>
            <a:r>
              <a:rPr lang="en-US" sz="1400" dirty="0">
                <a:latin typeface="Avenir Next" panose="020B0503020202020204" pitchFamily="34" charset="0"/>
              </a:rPr>
              <a:t>Comparative and Analytical </a:t>
            </a:r>
            <a:r>
              <a:rPr sz="1400" dirty="0">
                <a:latin typeface="Avenir Next" panose="020B0503020202020204" pitchFamily="34" charset="0"/>
              </a:rPr>
              <a:t>Legal Research</a:t>
            </a:r>
            <a:endParaRPr sz="1400"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26080"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708160"/>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(CSRD, Green Claims Directive), US (SEC Rules, FTC Green Guides), UK (FCA Rule, CMA),</a:t>
            </a:r>
            <a:r>
              <a:rPr lang="en-US" sz="1400" dirty="0">
                <a:latin typeface="Avenir Next" panose="020B0503020202020204" pitchFamily="34" charset="0"/>
              </a:rPr>
              <a:t> </a:t>
            </a:r>
            <a:r>
              <a:rPr sz="1400" dirty="0">
                <a:latin typeface="Avenir Next" panose="020B0503020202020204" pitchFamily="34" charset="0"/>
              </a:rPr>
              <a:t>Australia, and others.</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708160"/>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the Companies Act 2013, Consumer Protection Act 2019, Environment Protection Act 1986 (EPA), and SEBI LODR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 between what the law currently provides (analysis)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 FSSAI, NGT, and BIS — 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How Greenwashing evolved and why it matters</a:t>
            </a:r>
            <a:r>
              <a:rPr lang="en-US" sz="3200" b="1" dirty="0">
                <a:solidFill>
                  <a:srgbClr val="173F35"/>
                </a:solidFill>
                <a:latin typeface="Avenir Next Demi Bold"/>
              </a:rPr>
              <a:t> </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088129"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GROWN</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9"/>
            <a:ext cx="10058400" cy="777240"/>
          </a:xfrm>
          <a:prstGeom prst="roundRect">
            <a:avLst/>
          </a:prstGeom>
          <a:solidFill>
            <a:schemeClr val="accent5">
              <a:lumMod val="75000"/>
            </a:schemeClr>
          </a:solidFill>
          <a:ln w="12700" cap="flat" cmpd="sng" algn="ctr">
            <a:no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dirty="0">
              <a:latin typeface="Avenir Next" panose="020B0503020202020204" pitchFamily="34" charset="0"/>
            </a:endParaRPr>
          </a:p>
        </p:txBody>
      </p:sp>
      <p:sp>
        <p:nvSpPr>
          <p:cNvPr id="8" name="Rounded Rectangle 7"/>
          <p:cNvSpPr/>
          <p:nvPr/>
        </p:nvSpPr>
        <p:spPr>
          <a:xfrm>
            <a:off x="877824"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877824" y="2021203"/>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1024127" y="2216653"/>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1024128" y="2542072"/>
            <a:ext cx="3145536" cy="2121093"/>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a:p>
            <a:pPr>
              <a:defRPr sz="1000" b="1"/>
            </a:pPr>
            <a:r>
              <a:rPr sz="1400" dirty="0">
                <a:latin typeface="Avenir Next" panose="020B0503020202020204" pitchFamily="34" charset="0"/>
              </a:rPr>
              <a:t>• Limitation: Reactive, downstream, and consumer-facing only.</a:t>
            </a:r>
          </a:p>
        </p:txBody>
      </p:sp>
      <p:sp>
        <p:nvSpPr>
          <p:cNvPr id="12" name="Rounded Rectangle 11"/>
          <p:cNvSpPr/>
          <p:nvPr/>
        </p:nvSpPr>
        <p:spPr>
          <a:xfrm>
            <a:off x="4462272" y="2088637"/>
            <a:ext cx="3425798" cy="268059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462272" y="2021203"/>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608576" y="2216653"/>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596230" y="2560360"/>
            <a:ext cx="3316531" cy="2336537"/>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a:p>
            <a:pPr>
              <a:defRPr sz="1000" b="1"/>
            </a:pPr>
            <a:r>
              <a:rPr sz="1400" dirty="0">
                <a:latin typeface="Avenir Next" panose="020B0503020202020204" pitchFamily="34" charset="0"/>
              </a:rPr>
              <a:t>• Limitation:</a:t>
            </a:r>
            <a:r>
              <a:rPr lang="en-US" sz="1400" dirty="0">
                <a:latin typeface="Avenir Next" panose="020B0503020202020204" pitchFamily="34" charset="0"/>
              </a:rPr>
              <a:t> Single Materiality,</a:t>
            </a:r>
            <a:r>
              <a:rPr sz="1400" dirty="0">
                <a:latin typeface="Avenir Next" panose="020B0503020202020204" pitchFamily="34" charset="0"/>
              </a:rPr>
              <a:t> </a:t>
            </a:r>
            <a:r>
              <a:rPr lang="en-US" sz="1400" dirty="0">
                <a:latin typeface="Avenir Next" panose="020B0503020202020204" pitchFamily="34" charset="0"/>
              </a:rPr>
              <a:t>Limited Assurance, Diluted Verification </a:t>
            </a:r>
            <a:r>
              <a:rPr sz="1400" dirty="0">
                <a:latin typeface="Avenir Next" panose="020B0503020202020204" pitchFamily="34" charset="0"/>
              </a:rPr>
              <a:t>&amp; delayed third-party audit.</a:t>
            </a:r>
          </a:p>
        </p:txBody>
      </p:sp>
      <p:sp>
        <p:nvSpPr>
          <p:cNvPr id="16" name="Rounded Rectangle 15"/>
          <p:cNvSpPr/>
          <p:nvPr/>
        </p:nvSpPr>
        <p:spPr>
          <a:xfrm>
            <a:off x="8046720" y="2088637"/>
            <a:ext cx="3425798" cy="256890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8046720" y="2021203"/>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193024" y="2216653"/>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260002" y="2584713"/>
            <a:ext cx="3212515" cy="1905650"/>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a:p>
            <a:pPr>
              <a:defRPr sz="1000" b="1"/>
            </a:pPr>
            <a:r>
              <a:rPr sz="1400" dirty="0">
                <a:latin typeface="Avenir Next" panose="020B0503020202020204" pitchFamily="34" charset="0"/>
              </a:rPr>
              <a:t>• Limitation: Narrow standing, ₹1–5L fines, zero reported cases.</a:t>
            </a:r>
          </a:p>
        </p:txBody>
      </p:sp>
      <p:sp>
        <p:nvSpPr>
          <p:cNvPr id="20" name="Rounded Rectangle 19"/>
          <p:cNvSpPr/>
          <p:nvPr/>
        </p:nvSpPr>
        <p:spPr>
          <a:xfrm>
            <a:off x="1249519" y="4906074"/>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996455"/>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101600" cy="77724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715581"/>
          </a:xfrm>
          <a:prstGeom prst="rect">
            <a:avLst/>
          </a:prstGeom>
          <a:noFill/>
        </p:spPr>
        <p:txBody>
          <a:bodyPr wrap="square" anchor="t">
            <a:spAutoFit/>
          </a:bodyPr>
          <a:lstStyle/>
          <a:p>
            <a:pPr algn="l">
              <a:defRPr sz="1250" b="1">
                <a:solidFill>
                  <a:srgbClr val="D1A94B"/>
                </a:solidFill>
                <a:latin typeface="Avenir Next"/>
              </a:defRPr>
            </a:pPr>
            <a:r>
              <a:rPr sz="1250" b="1" dirty="0">
                <a:solidFill>
                  <a:srgbClr val="D1A94B"/>
                </a:solidFill>
                <a:latin typeface="Avenir Next" panose="020B0503020202020204" pitchFamily="34" charset="0"/>
              </a:rPr>
              <a:t>Constitutional Bedrock: </a:t>
            </a:r>
            <a:endParaRPr lang="en-US" sz="1250" b="1" dirty="0">
              <a:solidFill>
                <a:srgbClr val="D1A94B"/>
              </a:solidFill>
              <a:latin typeface="Avenir Next" panose="020B0503020202020204" pitchFamily="34" charset="0"/>
            </a:endParaRPr>
          </a:p>
          <a:p>
            <a:pPr algn="l">
              <a:defRPr sz="1400" b="1">
                <a:solidFill>
                  <a:srgbClr val="FFFFFF"/>
                </a:solidFill>
                <a:latin typeface="Avenir Next"/>
              </a:defRPr>
            </a:pPr>
            <a:r>
              <a:rPr sz="1400" b="1" dirty="0">
                <a:latin typeface="Avenir Next" panose="020B0503020202020204" pitchFamily="34" charset="0"/>
              </a:rPr>
              <a:t>Articles 21, 48A, 51A(g), and the landmark M.K. Ranjitsinh ruling establish a strong duty to take environmental claims seriously.</a:t>
            </a:r>
            <a:endParaRPr lang="en-US" sz="1400" b="1" dirty="0">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Solution</a:t>
            </a: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462712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604292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9190" y="1015812"/>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17115" y="1106717"/>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822960"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becomes mandatory for the top 1000 listed entities</a:t>
            </a:r>
          </a:p>
        </p:txBody>
      </p:sp>
      <p:sp>
        <p:nvSpPr>
          <p:cNvPr id="9" name="Rounded Rectangle 8"/>
          <p:cNvSpPr/>
          <p:nvPr/>
        </p:nvSpPr>
        <p:spPr>
          <a:xfrm>
            <a:off x="3438144" y="4953252"/>
            <a:ext cx="2468880" cy="896112"/>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2023</a:t>
            </a:r>
          </a:p>
          <a:p>
            <a:pPr algn="ctr">
              <a:defRPr sz="1050">
                <a:solidFill>
                  <a:srgbClr val="2A2A2A"/>
                </a:solidFill>
                <a:latin typeface="Avenir Next"/>
              </a:defRPr>
            </a:pPr>
            <a:r>
              <a:rPr>
                <a:latin typeface="Avenir Next" panose="020B0503020202020204" pitchFamily="34" charset="0"/>
              </a:rPr>
              <a:t>BRSR Core adds key KPIs, assurance track, and value-chain reporting</a:t>
            </a:r>
          </a:p>
        </p:txBody>
      </p:sp>
      <p:sp>
        <p:nvSpPr>
          <p:cNvPr id="10" name="Rounded Rectangle 9"/>
          <p:cNvSpPr/>
          <p:nvPr/>
        </p:nvSpPr>
        <p:spPr>
          <a:xfrm>
            <a:off x="6053328" y="4953252"/>
            <a:ext cx="2468880" cy="896112"/>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and value-chain disclosure deferred and made voluntary</a:t>
            </a:r>
          </a:p>
        </p:txBody>
      </p:sp>
      <p:sp>
        <p:nvSpPr>
          <p:cNvPr id="11" name="Rounded Rectangle 10"/>
          <p:cNvSpPr/>
          <p:nvPr/>
        </p:nvSpPr>
        <p:spPr>
          <a:xfrm>
            <a:off x="8668512" y="4953252"/>
            <a:ext cx="2468880" cy="896112"/>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a:latin typeface="Avenir Next" panose="020B0503020202020204" pitchFamily="34" charset="0"/>
              </a:rPr>
              <a:t>2025</a:t>
            </a:r>
          </a:p>
          <a:p>
            <a:pPr algn="ctr">
              <a:defRPr sz="1050">
                <a:solidFill>
                  <a:srgbClr val="2A2A2A"/>
                </a:solidFill>
                <a:latin typeface="Avenir Next"/>
              </a:defRPr>
            </a:pPr>
            <a:r>
              <a:rPr>
                <a:latin typeface="Avenir Next" panose="020B0503020202020204" pitchFamily="34" charset="0"/>
              </a:rPr>
              <a:t>scope narrowed further even as the debt framework expands</a:t>
            </a:r>
          </a:p>
        </p:txBody>
      </p:sp>
      <p:sp>
        <p:nvSpPr>
          <p:cNvPr id="12" name="Rounded Rectangle 11"/>
          <p:cNvSpPr/>
          <p:nvPr/>
        </p:nvSpPr>
        <p:spPr>
          <a:xfrm>
            <a:off x="803750" y="1906551"/>
            <a:ext cx="3292762" cy="2740563"/>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972901" y="1986055"/>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1009476" y="247047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68675" y="1900148"/>
            <a:ext cx="3267149" cy="286984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612213" y="1986055"/>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48789" y="2470475"/>
            <a:ext cx="2921592"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Rollout delays leave most ESG data effectively self-certified.</a:t>
            </a:r>
          </a:p>
          <a:p>
            <a:pPr>
              <a:defRPr sz="1000"/>
            </a:pPr>
            <a:r>
              <a:rPr sz="1400" dirty="0">
                <a:latin typeface="Avenir Next" panose="020B0503020202020204" pitchFamily="34" charset="0"/>
              </a:rPr>
              <a:t>• Value-chain reporting deferred, made voluntary, and narrowed (2% threshold / 75% cap).</a:t>
            </a:r>
          </a:p>
        </p:txBody>
      </p:sp>
      <p:sp>
        <p:nvSpPr>
          <p:cNvPr id="18" name="Rounded Rectangle 17"/>
          <p:cNvSpPr/>
          <p:nvPr/>
        </p:nvSpPr>
        <p:spPr>
          <a:xfrm>
            <a:off x="8101583" y="1900149"/>
            <a:ext cx="3279955" cy="2843082"/>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251524" y="1986056"/>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88099" y="2470475"/>
            <a:ext cx="2968921"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Still lacks a dedicated ESG enforcement team or cross-checks with pollution data.</a:t>
            </a:r>
          </a:p>
        </p:txBody>
      </p:sp>
      <p:sp>
        <p:nvSpPr>
          <p:cNvPr id="24" name="TextBox 23"/>
          <p:cNvSpPr txBox="1"/>
          <p:nvPr/>
        </p:nvSpPr>
        <p:spPr>
          <a:xfrm>
            <a:off x="11336710" y="5407297"/>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010878"/>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2126" y="384048"/>
            <a:ext cx="10594902"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T</a:t>
            </a:r>
            <a:r>
              <a:rPr sz="2800" dirty="0"/>
              <a:t>he </a:t>
            </a:r>
            <a:r>
              <a:rPr lang="en-US" sz="2800" dirty="0"/>
              <a:t>Enforcement </a:t>
            </a:r>
            <a:r>
              <a:rPr sz="2800" dirty="0"/>
              <a:t>Is Weak</a:t>
            </a:r>
          </a:p>
        </p:txBody>
      </p:sp>
      <p:sp>
        <p:nvSpPr>
          <p:cNvPr id="5" name="TextBox 4"/>
          <p:cNvSpPr txBox="1"/>
          <p:nvPr/>
        </p:nvSpPr>
        <p:spPr>
          <a:xfrm>
            <a:off x="718950"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18950" y="1759662"/>
            <a:ext cx="4919472" cy="274320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70404" y="1852094"/>
            <a:ext cx="1719072" cy="347472"/>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a:t>
            </a:r>
            <a:r>
              <a:rPr sz="1600" dirty="0">
                <a:latin typeface="Avenir Next" panose="020B0503020202020204" pitchFamily="34" charset="0"/>
              </a:rPr>
              <a:t> in law</a:t>
            </a:r>
          </a:p>
        </p:txBody>
      </p:sp>
      <p:sp>
        <p:nvSpPr>
          <p:cNvPr id="10" name="TextBox 9"/>
          <p:cNvSpPr txBox="1"/>
          <p:nvPr/>
        </p:nvSpPr>
        <p:spPr>
          <a:xfrm>
            <a:off x="956694" y="2343888"/>
            <a:ext cx="4352544"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Section 166(2) explicitly places environmental protection inside directors' duties.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Supreme Court rulings (Tata-Mistry, Ranjitsinh) affirm environmental duties and climate rights.</a:t>
            </a:r>
          </a:p>
          <a:p>
            <a:pPr>
              <a:spcAft>
                <a:spcPts val="600"/>
              </a:spcAft>
              <a:defRPr sz="1150">
                <a:solidFill>
                  <a:srgbClr val="2D2D2D"/>
                </a:solidFill>
              </a:defRPr>
            </a:pPr>
            <a:r>
              <a:rPr sz="1400" dirty="0">
                <a:latin typeface="Avenir Next" panose="020B0503020202020204" pitchFamily="34" charset="0"/>
              </a:rPr>
              <a:t>• SEBI's BRSR and BRSR Core formalize detailed sustainability disclosures.</a:t>
            </a:r>
          </a:p>
          <a:p>
            <a:pPr>
              <a:defRPr sz="1150">
                <a:solidFill>
                  <a:srgbClr val="2D2D2D"/>
                </a:solidFill>
              </a:defRPr>
            </a:pPr>
            <a:r>
              <a:rPr sz="1400" dirty="0">
                <a:latin typeface="Avenir Next" panose="020B0503020202020204" pitchFamily="34" charset="0"/>
              </a:rPr>
              <a:t>• CPA 2019 and CCPA 2024 Guidelines prohibit deceptive green advertising.</a:t>
            </a:r>
          </a:p>
        </p:txBody>
      </p:sp>
      <p:sp>
        <p:nvSpPr>
          <p:cNvPr id="11" name="Rounded Rectangle 10"/>
          <p:cNvSpPr/>
          <p:nvPr/>
        </p:nvSpPr>
        <p:spPr>
          <a:xfrm>
            <a:off x="5839590" y="1759662"/>
            <a:ext cx="5468112" cy="2743200"/>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2" name="Rounded Rectangle 11"/>
          <p:cNvSpPr/>
          <p:nvPr/>
        </p:nvSpPr>
        <p:spPr>
          <a:xfrm>
            <a:off x="6059045" y="1852094"/>
            <a:ext cx="2755769" cy="347472"/>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Lack of Enforcement</a:t>
            </a:r>
            <a:endParaRPr sz="1600" dirty="0">
              <a:latin typeface="Avenir Next" panose="020B0503020202020204" pitchFamily="34" charset="0"/>
            </a:endParaRPr>
          </a:p>
        </p:txBody>
      </p:sp>
      <p:sp>
        <p:nvSpPr>
          <p:cNvPr id="13" name="TextBox 12"/>
          <p:cNvSpPr txBox="1"/>
          <p:nvPr/>
        </p:nvSpPr>
        <p:spPr>
          <a:xfrm>
            <a:off x="6095622" y="2343888"/>
            <a:ext cx="4846320" cy="2046714"/>
          </a:xfrm>
          <a:prstGeom prst="rect">
            <a:avLst/>
          </a:prstGeom>
          <a:noFill/>
        </p:spPr>
        <p:txBody>
          <a:bodyPr wrap="square" lIns="91440" tIns="45720" rIns="91440" bIns="45720" anchor="t">
            <a:spAutoFit/>
          </a:bodyPr>
          <a:lstStyle/>
          <a:p>
            <a:pPr>
              <a:spcAft>
                <a:spcPts val="600"/>
              </a:spcAft>
              <a:defRPr sz="1150">
                <a:solidFill>
                  <a:srgbClr val="2D2D2D"/>
                </a:solidFill>
                <a:latin typeface="Avenir Next"/>
              </a:defRPr>
            </a:pPr>
            <a:r>
              <a:rPr sz="1400" dirty="0">
                <a:latin typeface="Avenir Next" panose="020B0503020202020204" pitchFamily="34" charset="0"/>
              </a:rPr>
              <a:t>• Zero reported director liability cases under Section 166(2) for green claims.</a:t>
            </a:r>
            <a:endParaRPr lang="en-US" dirty="0">
              <a:latin typeface="Avenir Next" panose="020B0503020202020204" pitchFamily="34" charset="0"/>
            </a:endParaRPr>
          </a:p>
          <a:p>
            <a:pPr>
              <a:spcAft>
                <a:spcPts val="600"/>
              </a:spcAft>
              <a:defRPr sz="1150">
                <a:solidFill>
                  <a:srgbClr val="2D2D2D"/>
                </a:solidFill>
              </a:defRPr>
            </a:pPr>
            <a:r>
              <a:rPr sz="1400" dirty="0">
                <a:latin typeface="Avenir Next" panose="020B0503020202020204" pitchFamily="34" charset="0"/>
              </a:rPr>
              <a:t>• Narrow legal standing prevents affected public and civil society from filing claims.</a:t>
            </a:r>
          </a:p>
          <a:p>
            <a:pPr>
              <a:spcAft>
                <a:spcPts val="600"/>
              </a:spcAft>
              <a:defRPr sz="1150">
                <a:solidFill>
                  <a:srgbClr val="2D2D2D"/>
                </a:solidFill>
              </a:defRPr>
            </a:pPr>
            <a:r>
              <a:rPr sz="1400" dirty="0">
                <a:latin typeface="Avenir Next" panose="020B0503020202020204" pitchFamily="34" charset="0"/>
              </a:rPr>
              <a:t>• Penalties of ₹1–5 Lakhs under § 166(7) are treated as minor operational costs.</a:t>
            </a:r>
          </a:p>
          <a:p>
            <a:pPr>
              <a:defRPr sz="1150">
                <a:solidFill>
                  <a:srgbClr val="2D2D2D"/>
                </a:solidFill>
              </a:defRPr>
            </a:pPr>
            <a:r>
              <a:rPr sz="1400" dirty="0">
                <a:latin typeface="Avenir Next" panose="020B0503020202020204" pitchFamily="34" charset="0"/>
              </a:rPr>
              <a:t>• BRSR audits remain partial and delayed, leaving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82424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824248" y="4895800"/>
            <a:ext cx="2559032" cy="93924"/>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97040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97040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47 interventions in 15 months; AUD 11.3M penalty against Mercer.</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3613168" y="4895800"/>
            <a:ext cx="2559032" cy="1479296"/>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3613168" y="4895800"/>
            <a:ext cx="2559032" cy="93924"/>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375932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3759324" y="5389576"/>
            <a:ext cx="2266571"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US FTC and SEC brought 90+ greenwashing enforcement actions (2021–23).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6402088" y="4895799"/>
            <a:ext cx="255903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6402088" y="4895800"/>
            <a:ext cx="2559032" cy="93924"/>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6548244" y="5023815"/>
            <a:ext cx="226657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6483211" y="5362370"/>
            <a:ext cx="2412802" cy="646331"/>
          </a:xfrm>
          <a:prstGeom prst="rect">
            <a:avLst/>
          </a:prstGeom>
          <a:noFill/>
        </p:spPr>
        <p:txBody>
          <a:bodyPr wrap="square" anchor="t">
            <a:spAutoFit/>
          </a:bodyPr>
          <a:lstStyle/>
          <a:p>
            <a:pPr algn="l">
              <a:defRPr sz="1000" b="0">
                <a:solidFill>
                  <a:srgbClr val="2A2A2A"/>
                </a:solidFill>
                <a:latin typeface="Avenir Next"/>
              </a:defRPr>
            </a:pPr>
            <a:r>
              <a:rPr sz="1200">
                <a:latin typeface="Avenir Next" panose="020B0503020202020204" pitchFamily="34" charset="0"/>
              </a:rPr>
              <a:t>Coordinated sweeps; France issued 141 warnings and 114 injunctions.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9190778" y="4895799"/>
            <a:ext cx="2102062" cy="152101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9190778" y="4895800"/>
            <a:ext cx="2102062" cy="93924"/>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9336934" y="5023815"/>
            <a:ext cx="1809601"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9336934" y="5340148"/>
            <a:ext cx="1955906" cy="1015663"/>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visible deterrent penalties remain close to zero.</a:t>
            </a:r>
          </a:p>
        </p:txBody>
      </p:sp>
    </p:spTree>
    <p:extLst>
      <p:ext uri="{BB962C8B-B14F-4D97-AF65-F5344CB8AC3E}">
        <p14:creationId xmlns:p14="http://schemas.microsoft.com/office/powerpoint/2010/main" val="266253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6572" y="499428"/>
            <a:ext cx="112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Comparative Study: What</a:t>
            </a:r>
            <a:r>
              <a:rPr sz="2800" dirty="0"/>
              <a:t> Stronger Jurisdictions Do Differently</a:t>
            </a:r>
            <a:r>
              <a:rPr lang="en-US" sz="2800" dirty="0"/>
              <a:t> ?</a:t>
            </a:r>
            <a:endParaRPr sz="2800" dirty="0"/>
          </a:p>
        </p:txBody>
      </p:sp>
      <p:graphicFrame>
        <p:nvGraphicFramePr>
          <p:cNvPr id="6" name="Table 5"/>
          <p:cNvGraphicFramePr>
            <a:graphicFrameLocks noGrp="1"/>
          </p:cNvGraphicFramePr>
          <p:nvPr>
            <p:extLst>
              <p:ext uri="{D42A27DB-BD31-4B8C-83A1-F6EECF244321}">
                <p14:modId xmlns:p14="http://schemas.microsoft.com/office/powerpoint/2010/main" val="90132168"/>
              </p:ext>
            </p:extLst>
          </p:nvPr>
        </p:nvGraphicFramePr>
        <p:xfrm>
          <a:off x="627999" y="1600906"/>
          <a:ext cx="10835640" cy="3611880"/>
        </p:xfrm>
        <a:graphic>
          <a:graphicData uri="http://schemas.openxmlformats.org/drawingml/2006/table">
            <a:tbl>
              <a:tblPr firstRow="1" bandRow="1">
                <a:tableStyleId>{5C22544A-7EE6-4342-B048-85BDC9FD1C3A}</a:tableStyleId>
              </a:tblPr>
              <a:tblGrid>
                <a:gridCol w="2406146">
                  <a:extLst>
                    <a:ext uri="{9D8B030D-6E8A-4147-A177-3AD203B41FA5}">
                      <a16:colId xmlns:a16="http://schemas.microsoft.com/office/drawing/2014/main" val="20000"/>
                    </a:ext>
                  </a:extLst>
                </a:gridCol>
                <a:gridCol w="2015837">
                  <a:extLst>
                    <a:ext uri="{9D8B030D-6E8A-4147-A177-3AD203B41FA5}">
                      <a16:colId xmlns:a16="http://schemas.microsoft.com/office/drawing/2014/main" val="20001"/>
                    </a:ext>
                  </a:extLst>
                </a:gridCol>
                <a:gridCol w="2140527">
                  <a:extLst>
                    <a:ext uri="{9D8B030D-6E8A-4147-A177-3AD203B41FA5}">
                      <a16:colId xmlns:a16="http://schemas.microsoft.com/office/drawing/2014/main" val="20002"/>
                    </a:ext>
                  </a:extLst>
                </a:gridCol>
                <a:gridCol w="212429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tblGrid>
              <a:tr h="601980">
                <a:tc>
                  <a:txBody>
                    <a:bodyPr/>
                    <a:lstStyle/>
                    <a:p>
                      <a:pPr algn="ctr"/>
                      <a:r>
                        <a:rPr sz="1600" b="1" dirty="0">
                          <a:solidFill>
                            <a:srgbClr val="FFFFFF"/>
                          </a:solidFill>
                          <a:latin typeface="Avenir Next" panose="020B0503020202020204" pitchFamily="34" charset="0"/>
                        </a:rPr>
                        <a:t>Design Element</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European Union</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United Kingdom</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Australia</a:t>
                      </a:r>
                    </a:p>
                  </a:txBody>
                  <a:tcPr anchor="ctr">
                    <a:solidFill>
                      <a:srgbClr val="173F35"/>
                    </a:solidFill>
                  </a:tcPr>
                </a:tc>
                <a:tc>
                  <a:txBody>
                    <a:bodyPr/>
                    <a:lstStyle/>
                    <a:p>
                      <a:pPr algn="ctr"/>
                      <a:r>
                        <a:rPr sz="1600" b="1" dirty="0">
                          <a:solidFill>
                            <a:srgbClr val="FFFFFF"/>
                          </a:solidFill>
                          <a:latin typeface="Avenir Next" panose="020B0503020202020204" pitchFamily="34" charset="0"/>
                        </a:rPr>
                        <a:t>India</a:t>
                      </a:r>
                    </a:p>
                  </a:txBody>
                  <a:tcPr anchor="ctr">
                    <a:solidFill>
                      <a:srgbClr val="173F35"/>
                    </a:solidFill>
                  </a:tcPr>
                </a:tc>
                <a:extLst>
                  <a:ext uri="{0D108BD9-81ED-4DB2-BD59-A6C34878D82A}">
                    <a16:rowId xmlns:a16="http://schemas.microsoft.com/office/drawing/2014/main" val="10000"/>
                  </a:ext>
                </a:extLst>
              </a:tr>
              <a:tr h="601980">
                <a:tc>
                  <a:txBody>
                    <a:bodyPr/>
                    <a:lstStyle/>
                    <a:p>
                      <a:r>
                        <a:rPr sz="1600" b="0" dirty="0"/>
                        <a:t>Board Accountability</a:t>
                      </a:r>
                    </a:p>
                  </a:txBody>
                  <a:tcPr>
                    <a:solidFill>
                      <a:srgbClr val="FFFDF8"/>
                    </a:solidFill>
                  </a:tcPr>
                </a:tc>
                <a:tc>
                  <a:txBody>
                    <a:bodyPr/>
                    <a:lstStyle/>
                    <a:p>
                      <a:r>
                        <a:rPr sz="1600" b="0" dirty="0"/>
                        <a:t>Strong &amp; direct</a:t>
                      </a:r>
                    </a:p>
                  </a:txBody>
                  <a:tcPr>
                    <a:solidFill>
                      <a:srgbClr val="FFFDF8"/>
                    </a:solidFill>
                  </a:tcPr>
                </a:tc>
                <a:tc>
                  <a:txBody>
                    <a:bodyPr/>
                    <a:lstStyle/>
                    <a:p>
                      <a:r>
                        <a:rPr sz="1600" b="0" dirty="0"/>
                        <a:t>Strong &amp; direct</a:t>
                      </a:r>
                    </a:p>
                  </a:txBody>
                  <a:tcPr>
                    <a:solidFill>
                      <a:srgbClr val="FFFDF8"/>
                    </a:solidFill>
                  </a:tcPr>
                </a:tc>
                <a:tc>
                  <a:txBody>
                    <a:bodyPr/>
                    <a:lstStyle/>
                    <a:p>
                      <a:r>
                        <a:rPr sz="1600" b="0"/>
                        <a:t>Growing &amp; active</a:t>
                      </a:r>
                    </a:p>
                  </a:txBody>
                  <a:tcPr>
                    <a:solidFill>
                      <a:srgbClr val="FFFDF8"/>
                    </a:solidFill>
                  </a:tcPr>
                </a:tc>
                <a:tc>
                  <a:txBody>
                    <a:bodyPr/>
                    <a:lstStyle/>
                    <a:p>
                      <a:r>
                        <a:rPr sz="1600" b="0" dirty="0">
                          <a:solidFill>
                            <a:srgbClr val="A8552F"/>
                          </a:solidFill>
                        </a:rPr>
                        <a:t>Written in law, rarely used</a:t>
                      </a:r>
                    </a:p>
                  </a:txBody>
                  <a:tcPr>
                    <a:solidFill>
                      <a:srgbClr val="FFFDF8"/>
                    </a:solidFill>
                  </a:tcPr>
                </a:tc>
                <a:extLst>
                  <a:ext uri="{0D108BD9-81ED-4DB2-BD59-A6C34878D82A}">
                    <a16:rowId xmlns:a16="http://schemas.microsoft.com/office/drawing/2014/main" val="10001"/>
                  </a:ext>
                </a:extLst>
              </a:tr>
              <a:tr h="601980">
                <a:tc>
                  <a:txBody>
                    <a:bodyPr/>
                    <a:lstStyle/>
                    <a:p>
                      <a:pPr algn="l">
                        <a:defRPr sz="1050" b="1">
                          <a:solidFill>
                            <a:srgbClr val="2A2A2A"/>
                          </a:solidFill>
                          <a:latin typeface="Avenir Next"/>
                        </a:defRPr>
                      </a:pPr>
                      <a:r>
                        <a:rPr lang="en-IN" sz="1600" b="0" dirty="0"/>
                        <a:t>Integrated architecture</a:t>
                      </a:r>
                    </a:p>
                  </a:txBody>
                  <a:tcPr>
                    <a:solidFill>
                      <a:srgbClr val="E8EFE6"/>
                    </a:solidFill>
                  </a:tcPr>
                </a:tc>
                <a:tc>
                  <a:txBody>
                    <a:bodyPr/>
                    <a:lstStyle/>
                    <a:p>
                      <a:r>
                        <a:rPr sz="1600" b="0" dirty="0"/>
                        <a:t>Integrated reporting &amp; claim rules</a:t>
                      </a:r>
                    </a:p>
                  </a:txBody>
                  <a:tcPr>
                    <a:solidFill>
                      <a:srgbClr val="E8EFE6"/>
                    </a:solidFill>
                  </a:tcPr>
                </a:tc>
                <a:tc>
                  <a:txBody>
                    <a:bodyPr/>
                    <a:lstStyle/>
                    <a:p>
                      <a:r>
                        <a:rPr sz="1600" b="0" dirty="0"/>
                        <a:t>FCA + CMA + Company Law</a:t>
                      </a:r>
                    </a:p>
                  </a:txBody>
                  <a:tcPr>
                    <a:solidFill>
                      <a:srgbClr val="E8EFE6"/>
                    </a:solidFill>
                  </a:tcPr>
                </a:tc>
                <a:tc>
                  <a:txBody>
                    <a:bodyPr/>
                    <a:lstStyle/>
                    <a:p>
                      <a:r>
                        <a:rPr sz="1600" b="0" dirty="0"/>
                        <a:t>Active inter-agency teamwork</a:t>
                      </a:r>
                    </a:p>
                  </a:txBody>
                  <a:tcPr>
                    <a:solidFill>
                      <a:srgbClr val="E8EFE6"/>
                    </a:solidFill>
                  </a:tcPr>
                </a:tc>
                <a:tc>
                  <a:txBody>
                    <a:bodyPr/>
                    <a:lstStyle/>
                    <a:p>
                      <a:r>
                        <a:rPr sz="1600" b="0" dirty="0">
                          <a:solidFill>
                            <a:srgbClr val="A8552F"/>
                          </a:solidFill>
                        </a:rPr>
                        <a:t>MCA, SEBI &amp; CCPA</a:t>
                      </a:r>
                      <a:r>
                        <a:rPr lang="en-US" sz="1600" b="0" dirty="0">
                          <a:solidFill>
                            <a:srgbClr val="A8552F"/>
                          </a:solidFill>
                        </a:rPr>
                        <a:t> working</a:t>
                      </a:r>
                      <a:r>
                        <a:rPr sz="1600" b="0" dirty="0">
                          <a:solidFill>
                            <a:srgbClr val="A8552F"/>
                          </a:solidFill>
                        </a:rPr>
                        <a:t> in silos</a:t>
                      </a:r>
                    </a:p>
                  </a:txBody>
                  <a:tcPr>
                    <a:solidFill>
                      <a:srgbClr val="E8EFE6"/>
                    </a:solidFill>
                  </a:tcPr>
                </a:tc>
                <a:extLst>
                  <a:ext uri="{0D108BD9-81ED-4DB2-BD59-A6C34878D82A}">
                    <a16:rowId xmlns:a16="http://schemas.microsoft.com/office/drawing/2014/main" val="10002"/>
                  </a:ext>
                </a:extLst>
              </a:tr>
              <a:tr h="601980">
                <a:tc>
                  <a:txBody>
                    <a:bodyPr/>
                    <a:lstStyle/>
                    <a:p>
                      <a:r>
                        <a:rPr sz="1600" b="0"/>
                        <a:t>Third-Party Audits</a:t>
                      </a:r>
                    </a:p>
                  </a:txBody>
                  <a:tcPr>
                    <a:solidFill>
                      <a:srgbClr val="FFFDF8"/>
                    </a:solidFill>
                  </a:tcPr>
                </a:tc>
                <a:tc>
                  <a:txBody>
                    <a:bodyPr/>
                    <a:lstStyle/>
                    <a:p>
                      <a:r>
                        <a:rPr sz="1600" b="0"/>
                        <a:t>Phased move to strict audits</a:t>
                      </a:r>
                    </a:p>
                  </a:txBody>
                  <a:tcPr>
                    <a:solidFill>
                      <a:srgbClr val="FFFDF8"/>
                    </a:solidFill>
                  </a:tcPr>
                </a:tc>
                <a:tc>
                  <a:txBody>
                    <a:bodyPr/>
                    <a:lstStyle/>
                    <a:p>
                      <a:r>
                        <a:rPr sz="1600" b="0" dirty="0"/>
                        <a:t>Expanding requirements</a:t>
                      </a:r>
                    </a:p>
                  </a:txBody>
                  <a:tcPr>
                    <a:solidFill>
                      <a:srgbClr val="FFFDF8"/>
                    </a:solidFill>
                  </a:tcPr>
                </a:tc>
                <a:tc>
                  <a:txBody>
                    <a:bodyPr/>
                    <a:lstStyle/>
                    <a:p>
                      <a:r>
                        <a:rPr sz="1600" b="0" dirty="0"/>
                        <a:t>Moving to mandatory audits</a:t>
                      </a:r>
                    </a:p>
                  </a:txBody>
                  <a:tcPr>
                    <a:solidFill>
                      <a:srgbClr val="FFFDF8"/>
                    </a:solidFill>
                  </a:tcPr>
                </a:tc>
                <a:tc>
                  <a:txBody>
                    <a:bodyPr/>
                    <a:lstStyle/>
                    <a:p>
                      <a:r>
                        <a:rPr sz="1600" b="0">
                          <a:solidFill>
                            <a:srgbClr val="A8552F"/>
                          </a:solidFill>
                        </a:rPr>
                        <a:t>Deferred and softened</a:t>
                      </a:r>
                    </a:p>
                  </a:txBody>
                  <a:tcPr>
                    <a:solidFill>
                      <a:srgbClr val="FFFDF8"/>
                    </a:solidFill>
                  </a:tcPr>
                </a:tc>
                <a:extLst>
                  <a:ext uri="{0D108BD9-81ED-4DB2-BD59-A6C34878D82A}">
                    <a16:rowId xmlns:a16="http://schemas.microsoft.com/office/drawing/2014/main" val="10003"/>
                  </a:ext>
                </a:extLst>
              </a:tr>
              <a:tr h="601980">
                <a:tc>
                  <a:txBody>
                    <a:bodyPr/>
                    <a:lstStyle/>
                    <a:p>
                      <a:r>
                        <a:rPr sz="1600" b="0"/>
                        <a:t>Future Claims &amp; Offsets</a:t>
                      </a:r>
                    </a:p>
                  </a:txBody>
                  <a:tcPr>
                    <a:solidFill>
                      <a:srgbClr val="E8EFE6"/>
                    </a:solidFill>
                  </a:tcPr>
                </a:tc>
                <a:tc>
                  <a:txBody>
                    <a:bodyPr/>
                    <a:lstStyle/>
                    <a:p>
                      <a:r>
                        <a:rPr sz="1600" b="0"/>
                        <a:t>Strict limits on offset claims</a:t>
                      </a:r>
                    </a:p>
                  </a:txBody>
                  <a:tcPr>
                    <a:solidFill>
                      <a:srgbClr val="E8EFE6"/>
                    </a:solidFill>
                  </a:tcPr>
                </a:tc>
                <a:tc>
                  <a:txBody>
                    <a:bodyPr/>
                    <a:lstStyle/>
                    <a:p>
                      <a:r>
                        <a:rPr sz="1600" b="0"/>
                        <a:t>Subject to regulatory checks</a:t>
                      </a:r>
                    </a:p>
                  </a:txBody>
                  <a:tcPr>
                    <a:solidFill>
                      <a:srgbClr val="E8EFE6"/>
                    </a:solidFill>
                  </a:tcPr>
                </a:tc>
                <a:tc>
                  <a:txBody>
                    <a:bodyPr/>
                    <a:lstStyle/>
                    <a:p>
                      <a:r>
                        <a:rPr sz="1600" b="0" dirty="0"/>
                        <a:t>Actively policed under law</a:t>
                      </a:r>
                    </a:p>
                  </a:txBody>
                  <a:tcPr>
                    <a:solidFill>
                      <a:srgbClr val="E8EFE6"/>
                    </a:solidFill>
                  </a:tcPr>
                </a:tc>
                <a:tc>
                  <a:txBody>
                    <a:bodyPr/>
                    <a:lstStyle/>
                    <a:p>
                      <a:r>
                        <a:rPr sz="1600" b="0" dirty="0">
                          <a:solidFill>
                            <a:srgbClr val="A8552F"/>
                          </a:solidFill>
                        </a:rPr>
                        <a:t>Weak &amp; largely unregulated</a:t>
                      </a:r>
                    </a:p>
                  </a:txBody>
                  <a:tcPr>
                    <a:solidFill>
                      <a:srgbClr val="E8EFE6"/>
                    </a:solidFill>
                  </a:tcPr>
                </a:tc>
                <a:extLst>
                  <a:ext uri="{0D108BD9-81ED-4DB2-BD59-A6C34878D82A}">
                    <a16:rowId xmlns:a16="http://schemas.microsoft.com/office/drawing/2014/main" val="10004"/>
                  </a:ext>
                </a:extLst>
              </a:tr>
              <a:tr h="601980">
                <a:tc>
                  <a:txBody>
                    <a:bodyPr/>
                    <a:lstStyle/>
                    <a:p>
                      <a:pPr algn="l">
                        <a:defRPr sz="1050" b="1">
                          <a:solidFill>
                            <a:srgbClr val="2A2A2A"/>
                          </a:solidFill>
                          <a:latin typeface="Avenir Next"/>
                        </a:defRPr>
                      </a:pPr>
                      <a:r>
                        <a:rPr lang="en-IN" sz="1600" b="0" dirty="0"/>
                        <a:t>Proportionate penalties</a:t>
                      </a:r>
                    </a:p>
                  </a:txBody>
                  <a:tcPr>
                    <a:solidFill>
                      <a:srgbClr val="FFFDF8"/>
                    </a:solidFill>
                  </a:tcPr>
                </a:tc>
                <a:tc>
                  <a:txBody>
                    <a:bodyPr/>
                    <a:lstStyle/>
                    <a:p>
                      <a:r>
                        <a:rPr sz="1600" b="0"/>
                        <a:t>Linked to company turnover</a:t>
                      </a:r>
                    </a:p>
                  </a:txBody>
                  <a:tcPr>
                    <a:solidFill>
                      <a:srgbClr val="FFFDF8"/>
                    </a:solidFill>
                  </a:tcPr>
                </a:tc>
                <a:tc>
                  <a:txBody>
                    <a:bodyPr/>
                    <a:lstStyle/>
                    <a:p>
                      <a:r>
                        <a:rPr sz="1600" b="0"/>
                        <a:t>Up to 10% global turnover</a:t>
                      </a:r>
                    </a:p>
                  </a:txBody>
                  <a:tcPr>
                    <a:solidFill>
                      <a:srgbClr val="FFFDF8"/>
                    </a:solidFill>
                  </a:tcPr>
                </a:tc>
                <a:tc>
                  <a:txBody>
                    <a:bodyPr/>
                    <a:lstStyle/>
                    <a:p>
                      <a:r>
                        <a:rPr sz="1600" b="0"/>
                        <a:t>High civil penalty exposure</a:t>
                      </a:r>
                    </a:p>
                  </a:txBody>
                  <a:tcPr>
                    <a:solidFill>
                      <a:srgbClr val="FFFDF8"/>
                    </a:solidFill>
                  </a:tcPr>
                </a:tc>
                <a:tc>
                  <a:txBody>
                    <a:bodyPr/>
                    <a:lstStyle/>
                    <a:p>
                      <a:r>
                        <a:rPr sz="1600" b="0" dirty="0">
                          <a:solidFill>
                            <a:srgbClr val="A8552F"/>
                          </a:solidFill>
                        </a:rPr>
                        <a:t>Low fixed cap </a:t>
                      </a:r>
                      <a:r>
                        <a:rPr lang="en-US" sz="1600" b="0" dirty="0">
                          <a:solidFill>
                            <a:srgbClr val="A8552F"/>
                          </a:solidFill>
                        </a:rPr>
                        <a:t>penalties</a:t>
                      </a:r>
                      <a:endParaRPr sz="1600" b="0" dirty="0">
                        <a:solidFill>
                          <a:srgbClr val="A8552F"/>
                        </a:solidFill>
                      </a:endParaRPr>
                    </a:p>
                  </a:txBody>
                  <a:tcPr>
                    <a:solidFill>
                      <a:srgbClr val="FFFDF8"/>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566928" y="6608620"/>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a:t>
            </a:r>
            <a:r>
              <a:rPr lang="en-US" sz="1100" dirty="0">
                <a:latin typeface="Avenir Next" panose="020B0503020202020204" pitchFamily="34" charset="0"/>
              </a:rPr>
              <a:t>4.</a:t>
            </a:r>
          </a:p>
        </p:txBody>
      </p:sp>
      <p:sp>
        <p:nvSpPr>
          <p:cNvPr id="11" name="Rounded Rectangle 10"/>
          <p:cNvSpPr/>
          <p:nvPr/>
        </p:nvSpPr>
        <p:spPr>
          <a:xfrm>
            <a:off x="608357" y="5836568"/>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2" name="TextBox 11"/>
          <p:cNvSpPr txBox="1"/>
          <p:nvPr/>
        </p:nvSpPr>
        <p:spPr>
          <a:xfrm>
            <a:off x="738357" y="5880157"/>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Comparative Benchmark — International Best Practices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55383" y="384048"/>
            <a:ext cx="9880105" cy="553998"/>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3000" dirty="0"/>
              <a:t>India's Enforcement Gap Is </a:t>
            </a:r>
            <a:r>
              <a:rPr lang="en-US" sz="3000" dirty="0"/>
              <a:t>Firstly</a:t>
            </a:r>
            <a:r>
              <a:rPr sz="3000" dirty="0"/>
              <a:t> a Design Problem</a:t>
            </a:r>
          </a:p>
        </p:txBody>
      </p:sp>
      <p:sp>
        <p:nvSpPr>
          <p:cNvPr id="13" name="Rounded Rectangle 12"/>
          <p:cNvSpPr/>
          <p:nvPr/>
        </p:nvSpPr>
        <p:spPr>
          <a:xfrm>
            <a:off x="697925" y="1646661"/>
            <a:ext cx="5360704" cy="3831541"/>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4" name="Rounded Rectangle 13"/>
          <p:cNvSpPr/>
          <p:nvPr/>
        </p:nvSpPr>
        <p:spPr>
          <a:xfrm>
            <a:off x="601035" y="1618129"/>
            <a:ext cx="4275765" cy="626646"/>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ea typeface="+mn-lt"/>
                <a:cs typeface="+mn-lt"/>
              </a:rPr>
              <a:t>Stronger jurisdictions share common design features</a:t>
            </a:r>
            <a:endParaRPr lang="en-US" sz="1600" dirty="0">
              <a:latin typeface="Avenir Next" panose="020B0503020202020204" pitchFamily="34" charset="0"/>
            </a:endParaRPr>
          </a:p>
        </p:txBody>
      </p:sp>
      <p:sp>
        <p:nvSpPr>
          <p:cNvPr id="15" name="TextBox 14"/>
          <p:cNvSpPr txBox="1"/>
          <p:nvPr/>
        </p:nvSpPr>
        <p:spPr>
          <a:xfrm>
            <a:off x="765637" y="2272572"/>
            <a:ext cx="5292991"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Proof Before Publishing: </a:t>
            </a:r>
            <a:r>
              <a:rPr sz="1600" dirty="0">
                <a:latin typeface="Avenir Next" panose="020B0503020202020204" pitchFamily="34" charset="0"/>
              </a:rPr>
              <a:t>Mandatory verification prior to claims (ex ante).</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Independent Audits: </a:t>
            </a:r>
            <a:r>
              <a:rPr sz="1600" dirty="0">
                <a:latin typeface="Avenir Next" panose="020B0503020202020204" pitchFamily="34" charset="0"/>
              </a:rPr>
              <a:t>Mandatory third-party assurance that escalates over time.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Clear Accountability: </a:t>
            </a:r>
            <a:r>
              <a:rPr sz="1600" dirty="0">
                <a:latin typeface="Avenir Next" panose="020B0503020202020204" pitchFamily="34" charset="0"/>
              </a:rPr>
              <a:t>Direct liability routes for decision-makers.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Turnover-Linked Penalties: </a:t>
            </a:r>
            <a:r>
              <a:rPr sz="1600" dirty="0">
                <a:latin typeface="Avenir Next" panose="020B0503020202020204" pitchFamily="34" charset="0"/>
              </a:rPr>
              <a:t>Fines scaled to company revenue to deter misconduct.</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Lifecycle Coverage: </a:t>
            </a:r>
            <a:r>
              <a:rPr sz="1600" dirty="0">
                <a:latin typeface="Avenir Next" panose="020B0503020202020204" pitchFamily="34" charset="0"/>
              </a:rPr>
              <a:t>Rules apply from product labels to financial filings.</a:t>
            </a:r>
          </a:p>
        </p:txBody>
      </p:sp>
      <p:sp>
        <p:nvSpPr>
          <p:cNvPr id="16" name="Rounded Rectangle 15"/>
          <p:cNvSpPr/>
          <p:nvPr/>
        </p:nvSpPr>
        <p:spPr>
          <a:xfrm>
            <a:off x="6350320" y="1646660"/>
            <a:ext cx="4897839" cy="383154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7" name="Rounded Rectangle 16"/>
          <p:cNvSpPr/>
          <p:nvPr/>
        </p:nvSpPr>
        <p:spPr>
          <a:xfrm>
            <a:off x="6276188" y="1618129"/>
            <a:ext cx="3077362" cy="588635"/>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200" b="1">
                <a:solidFill>
                  <a:srgbClr val="FFFFFF"/>
                </a:solidFill>
                <a:latin typeface="Avenir Next"/>
              </a:defRPr>
            </a:pPr>
            <a:r>
              <a:rPr sz="1600">
                <a:latin typeface="Avenir Next" panose="020B0503020202020204" pitchFamily="34" charset="0"/>
              </a:rPr>
              <a:t>Indian Regulatory Design</a:t>
            </a:r>
            <a:endParaRPr sz="1600" dirty="0">
              <a:latin typeface="Avenir Next" panose="020B0503020202020204" pitchFamily="34" charset="0"/>
            </a:endParaRPr>
          </a:p>
        </p:txBody>
      </p:sp>
      <p:sp>
        <p:nvSpPr>
          <p:cNvPr id="18" name="TextBox 17"/>
          <p:cNvSpPr txBox="1"/>
          <p:nvPr/>
        </p:nvSpPr>
        <p:spPr>
          <a:xfrm>
            <a:off x="6402593" y="2244430"/>
            <a:ext cx="4933553" cy="3057247"/>
          </a:xfrm>
          <a:prstGeom prst="rect">
            <a:avLst/>
          </a:prstGeom>
          <a:noFill/>
        </p:spPr>
        <p:txBody>
          <a:bodyPr wrap="square" lIns="91440" tIns="45720" rIns="91440" bIns="45720" anchor="t">
            <a:spAutoFit/>
          </a:bodyPr>
          <a:lstStyle/>
          <a:p>
            <a:pPr>
              <a:lnSpc>
                <a:spcPct val="150000"/>
              </a:lnSpc>
              <a:spcAft>
                <a:spcPts val="500"/>
              </a:spcAft>
              <a:defRPr sz="1150">
                <a:solidFill>
                  <a:srgbClr val="2D2D2D"/>
                </a:solidFill>
                <a:latin typeface="Avenir Next"/>
              </a:defRPr>
            </a:pPr>
            <a:r>
              <a:rPr sz="1600" dirty="0">
                <a:latin typeface="Avenir Next" panose="020B0503020202020204" pitchFamily="34" charset="0"/>
              </a:rPr>
              <a:t>• </a:t>
            </a:r>
            <a:r>
              <a:rPr sz="1600" b="1" dirty="0">
                <a:latin typeface="Avenir Next" panose="020B0503020202020204" pitchFamily="34" charset="0"/>
              </a:rPr>
              <a:t>Reactive Policing: </a:t>
            </a:r>
            <a:r>
              <a:rPr sz="1600" dirty="0">
                <a:latin typeface="Avenir Next" panose="020B0503020202020204" pitchFamily="34" charset="0"/>
              </a:rPr>
              <a:t>Authorities only step in after an ad has already run.</a:t>
            </a:r>
            <a:endParaRPr lang="en-US" sz="1600" dirty="0">
              <a:latin typeface="Avenir Next" panose="020B0503020202020204" pitchFamily="34" charset="0"/>
            </a:endParaRP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Diluted Auditing: </a:t>
            </a:r>
            <a:r>
              <a:rPr sz="1600" dirty="0">
                <a:latin typeface="Avenir Next" panose="020B0503020202020204" pitchFamily="34" charset="0"/>
              </a:rPr>
              <a:t>Mandatory audits postponed and replaced with soft checks.</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No Pre-Approval: </a:t>
            </a:r>
            <a:r>
              <a:rPr sz="1600" dirty="0">
                <a:latin typeface="Avenir Next" panose="020B0503020202020204" pitchFamily="34" charset="0"/>
              </a:rPr>
              <a:t>No mandatory third-party verification before claims are made.</a:t>
            </a:r>
          </a:p>
          <a:p>
            <a:pPr>
              <a:spcAft>
                <a:spcPts val="500"/>
              </a:spcAft>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Regulatory Rollbacks:</a:t>
            </a:r>
            <a:r>
              <a:rPr sz="1600" dirty="0">
                <a:latin typeface="Avenir Next" panose="020B0503020202020204" pitchFamily="34" charset="0"/>
              </a:rPr>
              <a:t> Repeated delays and narrowed reporting scopes.</a:t>
            </a:r>
          </a:p>
          <a:p>
            <a:pPr>
              <a:defRPr sz="1150">
                <a:solidFill>
                  <a:srgbClr val="2D2D2D"/>
                </a:solidFill>
              </a:defRPr>
            </a:pPr>
            <a:r>
              <a:rPr sz="1600" dirty="0">
                <a:latin typeface="Avenir Next" panose="020B0503020202020204" pitchFamily="34" charset="0"/>
              </a:rPr>
              <a:t>• </a:t>
            </a:r>
            <a:r>
              <a:rPr sz="1600" b="1" dirty="0">
                <a:latin typeface="Avenir Next" panose="020B0503020202020204" pitchFamily="34" charset="0"/>
              </a:rPr>
              <a:t>Fixed Low Penalties: </a:t>
            </a:r>
            <a:r>
              <a:rPr sz="1600" dirty="0">
                <a:latin typeface="Avenir Next" panose="020B0503020202020204" pitchFamily="34" charset="0"/>
              </a:rPr>
              <a:t>Nominal fines that do not deter large corporations.</a:t>
            </a:r>
          </a:p>
        </p:txBody>
      </p:sp>
      <p:sp>
        <p:nvSpPr>
          <p:cNvPr id="21" name="TextBox 20"/>
          <p:cNvSpPr txBox="1"/>
          <p:nvPr/>
        </p:nvSpPr>
        <p:spPr>
          <a:xfrm>
            <a:off x="566928" y="6400800"/>
            <a:ext cx="313739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a:t>
            </a:r>
            <a:r>
              <a:rPr lang="en-US" sz="1100" dirty="0"/>
              <a:t>Comparative</a:t>
            </a:r>
            <a:r>
              <a:rPr sz="1100" dirty="0"/>
              <a:t> study in Chapter 4.</a:t>
            </a:r>
          </a:p>
        </p:txBody>
      </p:sp>
    </p:spTree>
    <p:extLst>
      <p:ext uri="{BB962C8B-B14F-4D97-AF65-F5344CB8AC3E}">
        <p14:creationId xmlns:p14="http://schemas.microsoft.com/office/powerpoint/2010/main" val="4147296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b="1" dirty="0">
                <a:solidFill>
                  <a:srgbClr val="173F35"/>
                </a:solidFill>
                <a:latin typeface="Avenir Next Demi Bold"/>
              </a:rPr>
              <a:t>More Faults Beyond Poor Regulatory Design</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740354" y="900000"/>
            <a:ext cx="5116716" cy="2262935"/>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94758" y="8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851248" y="960000"/>
            <a:ext cx="5044439" cy="2046714"/>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a:p>
            <a:pPr>
              <a:defRPr sz="1150">
                <a:solidFill>
                  <a:srgbClr val="2D2D2D"/>
                </a:solidFill>
              </a:defRPr>
            </a:pPr>
            <a:r>
              <a:rPr sz="1600" dirty="0">
                <a:latin typeface="Avenir Next" panose="020B0503020202020204" pitchFamily="34" charset="0"/>
              </a:rPr>
              <a:t>• Companies invest in 'defensible wording' rather than real environmental progress.</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568905" y="3500000"/>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19991" y="3459745"/>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860839" y="3560000"/>
            <a:ext cx="5033807"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&amp; Ambiguity</a:t>
            </a: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49" name="Rounded Rectangle 9">
            <a:extLst>
              <a:ext uri="{FF2B5EF4-FFF2-40B4-BE49-F238E27FC236}">
                <a16:creationId xmlns:a16="http://schemas.microsoft.com/office/drawing/2014/main" id="{692C4E0B-F254-0100-FC2C-4780D07E16D5}"/>
              </a:ext>
            </a:extLst>
          </p:cNvPr>
          <p:cNvSpPr/>
          <p:nvPr/>
        </p:nvSpPr>
        <p:spPr>
          <a:xfrm>
            <a:off x="6662253" y="4500000"/>
            <a:ext cx="5116716" cy="175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51" name="Rounded Rectangle 10">
            <a:extLst>
              <a:ext uri="{FF2B5EF4-FFF2-40B4-BE49-F238E27FC236}">
                <a16:creationId xmlns:a16="http://schemas.microsoft.com/office/drawing/2014/main" id="{76983213-AB3F-B2D6-4A49-5D4535B61986}"/>
              </a:ext>
            </a:extLst>
          </p:cNvPr>
          <p:cNvSpPr/>
          <p:nvPr/>
        </p:nvSpPr>
        <p:spPr>
          <a:xfrm>
            <a:off x="5974656" y="44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5</a:t>
            </a:r>
            <a:endParaRPr sz="1200" dirty="0">
              <a:solidFill>
                <a:schemeClr val="tx1"/>
              </a:solidFill>
              <a:latin typeface="Avenir Next" panose="020B0503020202020204" pitchFamily="34" charset="0"/>
            </a:endParaRPr>
          </a:p>
        </p:txBody>
      </p:sp>
      <p:sp>
        <p:nvSpPr>
          <p:cNvPr id="53" name="TextBox 52">
            <a:extLst>
              <a:ext uri="{FF2B5EF4-FFF2-40B4-BE49-F238E27FC236}">
                <a16:creationId xmlns:a16="http://schemas.microsoft.com/office/drawing/2014/main" id="{9F4C8B64-1BD3-A8F2-92EC-CC23C73C5485}"/>
              </a:ext>
            </a:extLst>
          </p:cNvPr>
          <p:cNvSpPr txBox="1"/>
          <p:nvPr/>
        </p:nvSpPr>
        <p:spPr>
          <a:xfrm>
            <a:off x="6711851" y="4560000"/>
            <a:ext cx="5067118" cy="1672253"/>
          </a:xfrm>
          <a:prstGeom prst="rect">
            <a:avLst/>
          </a:prstGeom>
          <a:noFill/>
        </p:spPr>
        <p:txBody>
          <a:bodyPr wrap="square">
            <a:spAutoFit/>
          </a:bodyPr>
          <a:lstStyle/>
          <a:p>
            <a:pPr algn="l">
              <a:spcAft>
                <a:spcPts val="400"/>
              </a:spcAft>
              <a:defRPr sz="1350" b="1">
                <a:solidFill>
                  <a:srgbClr val="A8552F"/>
                </a:solidFill>
                <a:latin typeface="Calibri"/>
              </a:defRPr>
            </a:pPr>
            <a:r>
              <a:rPr sz="1600" b="1" dirty="0">
                <a:solidFill>
                  <a:srgbClr val="12402D"/>
                </a:solidFill>
                <a:latin typeface="Avenir Next" panose="020B0503020202020204" pitchFamily="34" charset="0"/>
              </a:rPr>
              <a:t>Penalty Arbitrage (Greenwashing as a Strategy)</a:t>
            </a:r>
            <a:endParaRPr lang="en-IN" sz="1600" b="1" dirty="0">
              <a:solidFill>
                <a:srgbClr val="12402D"/>
              </a:solidFill>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Fixed low caps: CCPA ₹50L, Section 166(7) ₹5L, FSSAI ₹10L—far below global benchmarks (EU/UK 10% turnover).</a:t>
            </a:r>
          </a:p>
          <a:p>
            <a:pPr>
              <a:defRPr sz="1100">
                <a:solidFill>
                  <a:srgbClr val="2D2D2D"/>
                </a:solidFill>
              </a:defRPr>
            </a:pPr>
            <a:r>
              <a:rPr sz="1600" dirty="0">
                <a:latin typeface="Avenir Next" panose="020B0503020202020204" pitchFamily="34" charset="0"/>
              </a:rPr>
              <a:t>• Low fines turn greenwashing into an acceptable cost of doing business.</a:t>
            </a:r>
          </a:p>
        </p:txBody>
      </p:sp>
      <p:sp>
        <p:nvSpPr>
          <p:cNvPr id="55" name="Rounded Rectangle 12">
            <a:extLst>
              <a:ext uri="{FF2B5EF4-FFF2-40B4-BE49-F238E27FC236}">
                <a16:creationId xmlns:a16="http://schemas.microsoft.com/office/drawing/2014/main" id="{DB62E08F-1B27-5F90-3E28-AE9882C800C6}"/>
              </a:ext>
            </a:extLst>
          </p:cNvPr>
          <p:cNvSpPr/>
          <p:nvPr/>
        </p:nvSpPr>
        <p:spPr>
          <a:xfrm>
            <a:off x="6584260" y="900000"/>
            <a:ext cx="5196834" cy="1547559"/>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57" name="Rounded Rectangle 13">
            <a:extLst>
              <a:ext uri="{FF2B5EF4-FFF2-40B4-BE49-F238E27FC236}">
                <a16:creationId xmlns:a16="http://schemas.microsoft.com/office/drawing/2014/main" id="{9117E4A6-FBF2-60D8-7167-6C995847AB89}"/>
              </a:ext>
            </a:extLst>
          </p:cNvPr>
          <p:cNvSpPr/>
          <p:nvPr/>
        </p:nvSpPr>
        <p:spPr>
          <a:xfrm>
            <a:off x="5974656" y="84378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59" name="TextBox 58">
            <a:extLst>
              <a:ext uri="{FF2B5EF4-FFF2-40B4-BE49-F238E27FC236}">
                <a16:creationId xmlns:a16="http://schemas.microsoft.com/office/drawing/2014/main" id="{3E4BE53F-F7EA-E3DE-CA52-15E65F293897}"/>
              </a:ext>
            </a:extLst>
          </p:cNvPr>
          <p:cNvSpPr txBox="1"/>
          <p:nvPr/>
        </p:nvSpPr>
        <p:spPr>
          <a:xfrm>
            <a:off x="6695401" y="960000"/>
            <a:ext cx="5145784" cy="1426031"/>
          </a:xfrm>
          <a:prstGeom prst="rect">
            <a:avLst/>
          </a:prstGeom>
          <a:noFill/>
        </p:spPr>
        <p:txBody>
          <a:bodyPr wrap="square">
            <a:spAutoFit/>
          </a:bodyPr>
          <a:lstStyle/>
          <a:p>
            <a:pPr algn="l">
              <a:spcAft>
                <a:spcPts val="400"/>
              </a:spcAft>
              <a:defRPr sz="1350" b="1">
                <a:solidFill>
                  <a:srgbClr val="12402D"/>
                </a:solidFill>
                <a:latin typeface="Calibri"/>
              </a:defRPr>
            </a:pPr>
            <a:r>
              <a:rPr sz="1600" dirty="0">
                <a:latin typeface="Avenir Next" panose="020B0503020202020204" pitchFamily="34" charset="0"/>
              </a:rPr>
              <a:t>Regulatory Backsliding</a:t>
            </a:r>
          </a:p>
          <a:p>
            <a:pPr>
              <a:spcAft>
                <a:spcPts val="400"/>
              </a:spcAft>
              <a:defRPr sz="1100">
                <a:solidFill>
                  <a:srgbClr val="2D2D2D"/>
                </a:solidFill>
              </a:defRPr>
            </a:pPr>
            <a:r>
              <a:rPr sz="1600" dirty="0">
                <a:latin typeface="Avenir Next" panose="020B0503020202020204" pitchFamily="34" charset="0"/>
              </a:rPr>
              <a:t>• SEBI diluted mandatory audits to optional 'assessment' and deferred supply-chain reporting.</a:t>
            </a:r>
          </a:p>
          <a:p>
            <a:pPr>
              <a:defRPr sz="1100">
                <a:solidFill>
                  <a:srgbClr val="2D2D2D"/>
                </a:solidFill>
              </a:defRPr>
            </a:pPr>
            <a:r>
              <a:rPr sz="1600" dirty="0">
                <a:latin typeface="Avenir Next" panose="020B0503020202020204" pitchFamily="34" charset="0"/>
              </a:rPr>
              <a:t>• MCA rejected parliamentary proposals for a dedicated ESG oversight body.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662253" y="2604750"/>
            <a:ext cx="5116716" cy="1700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5974656" y="254853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4</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711851" y="2664750"/>
            <a:ext cx="5069243" cy="1426031"/>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sz="1600" dirty="0">
                <a:latin typeface="Avenir Next" panose="020B0503020202020204" pitchFamily="34" charset="0"/>
              </a:rPr>
              <a:t>Reactive Enforcement &amp; Technical Gaps</a:t>
            </a:r>
            <a:endParaRPr lang="en-US" sz="1600" dirty="0">
              <a:latin typeface="Avenir Next" panose="020B0503020202020204" pitchFamily="34" charset="0"/>
            </a:endParaRPr>
          </a:p>
          <a:p>
            <a:pPr>
              <a:spcAft>
                <a:spcPts val="400"/>
              </a:spcAft>
              <a:defRPr sz="1100">
                <a:solidFill>
                  <a:srgbClr val="2D2D2D"/>
                </a:solidFill>
              </a:defRPr>
            </a:pPr>
            <a:r>
              <a:rPr sz="1600" dirty="0">
                <a:latin typeface="Avenir Next" panose="020B0503020202020204" pitchFamily="34" charset="0"/>
              </a:rPr>
              <a:t>• Purely complaint-driven; consumer cases take 2–5 years to resolve.</a:t>
            </a: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070071"/>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into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a:t>
            </a:r>
            <a:r>
              <a:rPr lang="en-US" sz="1300" b="1"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Consumer law is reactive and complaint-led; corporate/securities routes reach upstream — board oversight, controls, assurance.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264587" y="1150000"/>
            <a:ext cx="3843209" cy="501435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439412" y="1350000"/>
            <a:ext cx="3433572" cy="1292662"/>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439412" y="2775180"/>
            <a:ext cx="3433572" cy="3100849"/>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D2D2D"/>
                </a:solidFill>
                <a:latin typeface="Avenir Next" panose="020B0503020202020204" pitchFamily="34" charset="0"/>
              </a:rPr>
              <a:t>Tests whether penalties are large and certain enough to outweigh the gains from greenwashing — across company, securities, and consumer law.</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enforcement routes are weak for Section 166(2); and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spanning products, ads, annual reports, ESG filings, and green bonds.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322112"/>
            <a:ext cx="10911841" cy="34062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403757"/>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rPr sz="1200" dirty="0">
                <a:latin typeface="Avenir Next" panose="020B0503020202020204" pitchFamily="34" charset="0"/>
              </a:rP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2057400"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2057400"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2057400"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2057400"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2057400"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984853"/>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6028442"/>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547872"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16956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246282" y="1474623"/>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547872"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142135"/>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839874" y="1474623"/>
            <a:ext cx="3547872"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547872"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114703"/>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5984853"/>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028442"/>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262e1e5b-f2ad-9fc2-aee0-e09e10d73375&quot;,&quot;title&quot;:&quot;Reduce Text Load Sections 1,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1904</TotalTime>
  <Words>4565</Words>
  <Application>Microsoft Macintosh PowerPoint</Application>
  <PresentationFormat>Widescreen</PresentationFormat>
  <Paragraphs>470</Paragraphs>
  <Slides>24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1418</cp:revision>
  <dcterms:created xsi:type="dcterms:W3CDTF">2013-01-27T09:14:16Z</dcterms:created>
  <dcterms:modified xsi:type="dcterms:W3CDTF">2026-08-16T15:19:35Z</dcterms:modified>
  <cp:category/>
</cp:coreProperties>
</file>