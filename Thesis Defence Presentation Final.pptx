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300" r:id="rId5"/>
    <p:sldId id="265" r:id="rId6"/>
    <p:sldId id="302" r:id="rId7"/>
    <p:sldId id="301" r:id="rId8"/>
    <p:sldId id="280" r:id="rId9"/>
    <p:sldId id="281" r:id="rId10"/>
    <p:sldId id="303" r:id="rId11"/>
    <p:sldId id="290" r:id="rId12"/>
    <p:sldId id="312" r:id="rId13"/>
    <p:sldId id="310" r:id="rId14"/>
    <p:sldId id="294" r:id="rId15"/>
    <p:sldId id="287" r:id="rId16"/>
    <p:sldId id="262" r:id="rId17"/>
    <p:sldId id="272" r:id="rId18"/>
    <p:sldId id="288" r:id="rId19"/>
    <p:sldId id="289"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3208"/>
    <p:restoredTop sz="94629"/>
  </p:normalViewPr>
  <p:slideViewPr>
    <p:cSldViewPr snapToGrid="0" snapToObjects="1">
      <p:cViewPr varScale="1">
        <p:scale>
          <a:sx n="92" d="100"/>
          <a:sy n="92" d="100"/>
        </p:scale>
        <p:origin x="176" y="41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92166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4452501"/>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Façade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Concealed)</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a:p>
            <a:pPr>
              <a:spcBef>
                <a:spcPts val="300"/>
              </a:spcBef>
              <a:spcAft>
                <a:spcPts val="400"/>
              </a:spcAft>
            </a:pPr>
            <a:r>
              <a:rPr sz="1400" b="1" dirty="0">
                <a:solidFill>
                  <a:srgbClr val="A8552F"/>
                </a:solidFill>
                <a:latin typeface="Avenir Next" panose="020B0503020202020204" pitchFamily="34" charset="0"/>
              </a:rPr>
              <a:t>• Disconnected Governance: </a:t>
            </a:r>
            <a:r>
              <a:rPr sz="1400" dirty="0">
                <a:solidFill>
                  <a:srgbClr val="2D2D2D"/>
                </a:solidFill>
                <a:latin typeface="Avenir Next" panose="020B0503020202020204" pitchFamily="34" charset="0"/>
              </a:rPr>
              <a:t>PR and marketing operate independently from boardroom decisions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 just a distant corporate issue—it directly affects our wallets, our choices, and our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1920240"/>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1920240"/>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1920240"/>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Corporate slogans like 'Net-Zero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action, while extreme weather and toxic pollution directly threaten our families.</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latin typeface="Avenir Next" panose="020B0503020202020204" pitchFamily="34" charset="0"/>
              </a:rPr>
              <a:t>THE </a:t>
            </a:r>
            <a:r>
              <a:rPr lang="en-US" dirty="0">
                <a:latin typeface="Avenir Next" panose="020B0503020202020204" pitchFamily="34" charset="0"/>
              </a:rPr>
              <a:t>PROBLEM</a:t>
            </a:r>
            <a:r>
              <a:rPr dirty="0">
                <a:latin typeface="Avenir Next" panose="020B0503020202020204" pitchFamily="34" charset="0"/>
              </a:rPr>
              <a:t> </a:t>
            </a:r>
            <a:r>
              <a:rPr lang="en-US" dirty="0">
                <a:latin typeface="Avenir Next" panose="020B0503020202020204" pitchFamily="34" charset="0"/>
              </a:rPr>
              <a:t>IN FRONT OF</a:t>
            </a:r>
            <a:r>
              <a:rPr dirty="0">
                <a:latin typeface="Avenir Next" panose="020B0503020202020204" pitchFamily="34" charset="0"/>
              </a:rPr>
              <a:t> US:</a:t>
            </a:r>
          </a:p>
          <a:p>
            <a:pPr algn="ctr">
              <a:defRPr sz="1500" b="1" i="1">
                <a:solidFill>
                  <a:srgbClr val="FFFFFF"/>
                </a:solidFill>
              </a:defRPr>
            </a:pPr>
            <a:r>
              <a:rPr dirty="0">
                <a:latin typeface="Avenir Next" panose="020B0503020202020204" pitchFamily="34" charset="0"/>
              </a:rPr>
              <a:t>“When every label claims to be 'green', how do </a:t>
            </a:r>
            <a:r>
              <a:rPr lang="en-US" dirty="0">
                <a:latin typeface="Avenir Next" panose="020B0503020202020204" pitchFamily="34" charset="0"/>
              </a:rPr>
              <a:t>we</a:t>
            </a:r>
            <a:r>
              <a:rPr dirty="0">
                <a:latin typeface="Avenir Next" panose="020B0503020202020204" pitchFamily="34" charset="0"/>
              </a:rPr>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614768"/>
            <a:ext cx="3166684" cy="29688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948116" y="1721529"/>
            <a:ext cx="2207454"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2268243"/>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987552" y="2752875"/>
            <a:ext cx="2670048" cy="1384995"/>
          </a:xfrm>
          <a:prstGeom prst="rect">
            <a:avLst/>
          </a:prstGeom>
          <a:noFill/>
        </p:spPr>
        <p:txBody>
          <a:bodyPr wrap="square" lIns="91440" tIns="45720" rIns="91440" bIns="45720" anchor="t">
            <a:spAutoFit/>
          </a:bodyPr>
          <a:lstStyle/>
          <a:p>
            <a:pPr>
              <a:defRPr sz="1150" b="0">
                <a:solidFill>
                  <a:srgbClr val="2A2A2A"/>
                </a:solidFill>
                <a:latin typeface="Avenir Next"/>
              </a:defRPr>
            </a:pPr>
            <a:r>
              <a:rPr sz="1400" dirty="0">
                <a:latin typeface="Avenir Next" panose="020B0503020202020204" pitchFamily="34" charset="0"/>
              </a:rPr>
              <a:t>ASCI reviewed 211 environmental ads in </a:t>
            </a:r>
            <a:r>
              <a:rPr lang="en-US" sz="1400" dirty="0">
                <a:latin typeface="Avenir Next" panose="020B0503020202020204" pitchFamily="34" charset="0"/>
              </a:rPr>
              <a:t>its 2024-25 Annual Report </a:t>
            </a:r>
            <a:r>
              <a:rPr sz="1400" dirty="0">
                <a:latin typeface="Avenir Next" panose="020B0503020202020204" pitchFamily="34" charset="0"/>
              </a:rPr>
              <a:t>and every one </a:t>
            </a:r>
            <a:r>
              <a:rPr lang="en-US" sz="1400" dirty="0">
                <a:latin typeface="Avenir Next" panose="020B0503020202020204" pitchFamily="34" charset="0"/>
              </a:rPr>
              <a:t>of them </a:t>
            </a:r>
            <a:r>
              <a:rPr sz="1400" dirty="0">
                <a:latin typeface="Avenir Next" panose="020B0503020202020204" pitchFamily="34" charset="0"/>
              </a:rPr>
              <a:t>required modification for lack of substantiation.</a:t>
            </a:r>
          </a:p>
        </p:txBody>
      </p:sp>
      <p:sp>
        <p:nvSpPr>
          <p:cNvPr id="13" name="Rounded Rectangle 12"/>
          <p:cNvSpPr/>
          <p:nvPr/>
        </p:nvSpPr>
        <p:spPr>
          <a:xfrm>
            <a:off x="4133087" y="1614768"/>
            <a:ext cx="3127248" cy="315061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Rounded Rectangle 13"/>
          <p:cNvSpPr/>
          <p:nvPr/>
        </p:nvSpPr>
        <p:spPr>
          <a:xfrm>
            <a:off x="4315968" y="1721528"/>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226470" y="2299101"/>
            <a:ext cx="2722970" cy="738664"/>
          </a:xfrm>
          <a:prstGeom prst="rect">
            <a:avLst/>
          </a:prstGeom>
          <a:noFill/>
        </p:spPr>
        <p:txBody>
          <a:bodyPr wrap="square" lIns="91440" tIns="45720" rIns="91440" bIns="45720" anchor="t">
            <a:spAutoFit/>
          </a:bodyPr>
          <a:lstStyle/>
          <a:p>
            <a:pPr marL="285750" indent="-285750" algn="l">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54% of NSE-listed firms in one study engaged in greenwashing.</a:t>
            </a:r>
            <a:endParaRPr lang="en-US" sz="1400" dirty="0">
              <a:latin typeface="Avenir Next" panose="020B0503020202020204" pitchFamily="34" charset="0"/>
            </a:endParaRPr>
          </a:p>
        </p:txBody>
      </p:sp>
      <p:sp>
        <p:nvSpPr>
          <p:cNvPr id="16" name="TextBox 15"/>
          <p:cNvSpPr txBox="1"/>
          <p:nvPr/>
        </p:nvSpPr>
        <p:spPr>
          <a:xfrm>
            <a:off x="4226470" y="3008074"/>
            <a:ext cx="2722970" cy="738664"/>
          </a:xfrm>
          <a:prstGeom prst="rect">
            <a:avLst/>
          </a:prstGeom>
          <a:noFill/>
        </p:spPr>
        <p:txBody>
          <a:bodyPr wrap="square" lIns="91440" tIns="45720" rIns="91440" bIns="45720" anchor="t">
            <a:spAutoFit/>
          </a:bodyPr>
          <a:lstStyle/>
          <a:p>
            <a:pPr marL="342900" indent="-342900">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47% of NIFTY 50 companies were flagged in </a:t>
            </a:r>
            <a:r>
              <a:rPr lang="en-US" sz="1400" dirty="0">
                <a:latin typeface="Avenir Next" panose="020B0503020202020204" pitchFamily="34" charset="0"/>
              </a:rPr>
              <a:t>another research</a:t>
            </a:r>
            <a:r>
              <a:rPr sz="1400" dirty="0">
                <a:latin typeface="Avenir Next" panose="020B0503020202020204" pitchFamily="34" charset="0"/>
              </a:rPr>
              <a:t>.</a:t>
            </a:r>
            <a:endParaRPr lang="en-US" sz="1400" dirty="0">
              <a:latin typeface="Avenir Next" panose="020B0503020202020204" pitchFamily="34" charset="0"/>
            </a:endParaRPr>
          </a:p>
        </p:txBody>
      </p:sp>
      <p:sp>
        <p:nvSpPr>
          <p:cNvPr id="17" name="TextBox 16"/>
          <p:cNvSpPr txBox="1"/>
          <p:nvPr/>
        </p:nvSpPr>
        <p:spPr>
          <a:xfrm>
            <a:off x="4212151" y="3692983"/>
            <a:ext cx="2938457" cy="954107"/>
          </a:xfrm>
          <a:prstGeom prst="rect">
            <a:avLst/>
          </a:prstGeom>
          <a:noFill/>
        </p:spPr>
        <p:txBody>
          <a:bodyPr wrap="square" anchor="t">
            <a:spAutoFit/>
          </a:bodyPr>
          <a:lstStyle/>
          <a:p>
            <a:pPr marL="285750" indent="-285750" algn="l">
              <a:buFont typeface="Arial" panose="020B0604020202020204" pitchFamily="34" charset="0"/>
              <a:buChar char="•"/>
              <a:defRPr sz="1080" b="0">
                <a:solidFill>
                  <a:srgbClr val="2A2A2A"/>
                </a:solidFill>
                <a:latin typeface="Avenir Next"/>
              </a:defRPr>
            </a:pPr>
            <a:r>
              <a:rPr sz="1400" dirty="0">
                <a:latin typeface="Avenir Next" panose="020B0503020202020204" pitchFamily="34" charset="0"/>
              </a:rPr>
              <a:t>CRISIL also found nearly 80% of 586 companies scored below average or weak on ESG parameters.</a:t>
            </a:r>
          </a:p>
        </p:txBody>
      </p:sp>
      <p:sp>
        <p:nvSpPr>
          <p:cNvPr id="18" name="Rounded Rectangle 17"/>
          <p:cNvSpPr/>
          <p:nvPr/>
        </p:nvSpPr>
        <p:spPr>
          <a:xfrm>
            <a:off x="7443216" y="1614769"/>
            <a:ext cx="422452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644382" y="1721529"/>
            <a:ext cx="1792223"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sz="1400" dirty="0">
                <a:solidFill>
                  <a:schemeClr val="bg1"/>
                </a:solidFill>
                <a:latin typeface="Avenir Next" panose="020B0503020202020204" pitchFamily="34" charset="0"/>
              </a:rPr>
              <a:t>ESG market scale</a:t>
            </a:r>
          </a:p>
        </p:txBody>
      </p:sp>
      <p:sp>
        <p:nvSpPr>
          <p:cNvPr id="20" name="TextBox 19"/>
          <p:cNvSpPr txBox="1"/>
          <p:nvPr/>
        </p:nvSpPr>
        <p:spPr>
          <a:xfrm>
            <a:off x="7699248" y="2289590"/>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1.2</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1" name="TextBox 20"/>
          <p:cNvSpPr txBox="1"/>
          <p:nvPr/>
        </p:nvSpPr>
        <p:spPr>
          <a:xfrm>
            <a:off x="7719478" y="2634238"/>
            <a:ext cx="1591056"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ESG fund assets by March 2024, up from USD 331M in 2020.</a:t>
            </a:r>
          </a:p>
        </p:txBody>
      </p:sp>
      <p:sp>
        <p:nvSpPr>
          <p:cNvPr id="22" name="TextBox 21"/>
          <p:cNvSpPr txBox="1"/>
          <p:nvPr/>
        </p:nvSpPr>
        <p:spPr>
          <a:xfrm>
            <a:off x="9400032" y="2289590"/>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55.9</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3" name="TextBox 22"/>
          <p:cNvSpPr txBox="1"/>
          <p:nvPr/>
        </p:nvSpPr>
        <p:spPr>
          <a:xfrm>
            <a:off x="9349052" y="2701672"/>
            <a:ext cx="1901952"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Cumulative green, social, and sustainability-linked debt by Dec 2024.</a:t>
            </a:r>
          </a:p>
        </p:txBody>
      </p:sp>
      <p:sp>
        <p:nvSpPr>
          <p:cNvPr id="24" name="TextBox 23"/>
          <p:cNvSpPr txBox="1"/>
          <p:nvPr/>
        </p:nvSpPr>
        <p:spPr>
          <a:xfrm>
            <a:off x="7702107" y="3585394"/>
            <a:ext cx="3657600" cy="1384995"/>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400" dirty="0">
                <a:latin typeface="Avenir Next" panose="020B0503020202020204" pitchFamily="34" charset="0"/>
              </a:rPr>
              <a:t>India is already the fourth-largest emerging-market source of sustainable debt globally, </a:t>
            </a:r>
            <a:endParaRPr lang="en-US" sz="1400" dirty="0">
              <a:latin typeface="Avenir Next" panose="020B0503020202020204" pitchFamily="34" charset="0"/>
            </a:endParaRPr>
          </a:p>
          <a:p>
            <a:pPr algn="ctr">
              <a:defRPr sz="1070" b="1">
                <a:solidFill>
                  <a:srgbClr val="A23E2A"/>
                </a:solidFill>
                <a:latin typeface="Avenir Next"/>
              </a:defRPr>
            </a:pPr>
            <a:r>
              <a:rPr lang="en-US" sz="1400" dirty="0">
                <a:latin typeface="Avenir Next" panose="020B0503020202020204" pitchFamily="34" charset="0"/>
              </a:rPr>
              <a:t>And</a:t>
            </a:r>
            <a:r>
              <a:rPr sz="1400" dirty="0">
                <a:latin typeface="Avenir Next" panose="020B0503020202020204" pitchFamily="34" charset="0"/>
              </a:rPr>
              <a:t> RBI research finds ESG </a:t>
            </a:r>
            <a:r>
              <a:rPr lang="en-US" sz="1400" dirty="0">
                <a:latin typeface="Avenir Next" panose="020B0503020202020204" pitchFamily="34" charset="0"/>
              </a:rPr>
              <a:t>claim based stocks have returns</a:t>
            </a:r>
            <a:r>
              <a:rPr sz="1400" dirty="0">
                <a:latin typeface="Avenir Next" panose="020B0503020202020204" pitchFamily="34" charset="0"/>
              </a:rPr>
              <a:t> above market predictions.</a:t>
            </a:r>
          </a:p>
        </p:txBody>
      </p:sp>
      <p:sp>
        <p:nvSpPr>
          <p:cNvPr id="25" name="Rounded Rectangle 24"/>
          <p:cNvSpPr/>
          <p:nvPr/>
        </p:nvSpPr>
        <p:spPr>
          <a:xfrm>
            <a:off x="770037" y="4909764"/>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6" name="Rounded Rectangle 25"/>
          <p:cNvSpPr/>
          <p:nvPr/>
        </p:nvSpPr>
        <p:spPr>
          <a:xfrm>
            <a:off x="948116" y="5038696"/>
            <a:ext cx="3459291" cy="487833"/>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Compliance </a:t>
            </a:r>
            <a:r>
              <a:rPr lang="en-US" sz="1400" dirty="0">
                <a:latin typeface="Avenir Next" panose="020B0503020202020204" pitchFamily="34" charset="0"/>
              </a:rPr>
              <a:t>infrastructure lacks proper Verification</a:t>
            </a:r>
            <a:endParaRPr sz="1400" dirty="0">
              <a:latin typeface="Avenir Next" panose="020B0503020202020204" pitchFamily="34" charset="0"/>
            </a:endParaRPr>
          </a:p>
        </p:txBody>
      </p:sp>
      <p:sp>
        <p:nvSpPr>
          <p:cNvPr id="27" name="TextBox 26"/>
          <p:cNvSpPr txBox="1"/>
          <p:nvPr/>
        </p:nvSpPr>
        <p:spPr>
          <a:xfrm>
            <a:off x="783524" y="5555990"/>
            <a:ext cx="4918449" cy="830997"/>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sz="1200" dirty="0">
                <a:latin typeface="Avenir Next" panose="020B0503020202020204" pitchFamily="34" charset="0"/>
              </a:rPr>
              <a:t>CPCB uncovered about 600,000 fake EPR certificates in 2024, </a:t>
            </a:r>
            <a:r>
              <a:rPr lang="en-US" sz="1200" dirty="0">
                <a:latin typeface="Avenir Next" panose="020B0503020202020204" pitchFamily="34" charset="0"/>
              </a:rPr>
              <a:t>and NGT took </a:t>
            </a:r>
            <a:r>
              <a:rPr lang="en-US" sz="1200" dirty="0" err="1">
                <a:latin typeface="Avenir Next" panose="020B0503020202020204" pitchFamily="34" charset="0"/>
              </a:rPr>
              <a:t>suo</a:t>
            </a:r>
            <a:r>
              <a:rPr lang="en-US" sz="1200" dirty="0">
                <a:latin typeface="Avenir Next" panose="020B0503020202020204" pitchFamily="34" charset="0"/>
              </a:rPr>
              <a:t> moto cognizance of it; </a:t>
            </a:r>
          </a:p>
          <a:p>
            <a:pPr algn="ctr">
              <a:defRPr sz="1100" b="0">
                <a:solidFill>
                  <a:srgbClr val="2A2A2A"/>
                </a:solidFill>
                <a:latin typeface="Avenir Next"/>
              </a:defRPr>
            </a:pPr>
            <a:r>
              <a:rPr lang="en-US" sz="1200" dirty="0">
                <a:latin typeface="Avenir Next" panose="020B0503020202020204" pitchFamily="34" charset="0"/>
              </a:rPr>
              <a:t>showing</a:t>
            </a:r>
            <a:r>
              <a:rPr sz="1200" dirty="0">
                <a:latin typeface="Avenir Next" panose="020B0503020202020204" pitchFamily="34" charset="0"/>
              </a:rPr>
              <a:t> that the verification deficit reaches the infrastructure of environmental compliance itself.</a:t>
            </a:r>
          </a:p>
        </p:txBody>
      </p:sp>
      <p:sp>
        <p:nvSpPr>
          <p:cNvPr id="28" name="Rounded Rectangle 27"/>
          <p:cNvSpPr/>
          <p:nvPr/>
        </p:nvSpPr>
        <p:spPr>
          <a:xfrm>
            <a:off x="5925312" y="5390971"/>
            <a:ext cx="5742432" cy="93446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5987728" y="5464473"/>
            <a:ext cx="5266944" cy="738664"/>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IN" sz="1400" dirty="0">
                <a:latin typeface="Avenir Next" panose="020B0503020202020204" pitchFamily="34" charset="0"/>
              </a:rPr>
              <a:t>Key Takeaway: At this scale, greenwashing is not harmless marketing hype. It distorts both consumer choice and capital allocation.</a:t>
            </a:r>
            <a:endParaRPr lang="en-IN" sz="1600" dirty="0">
              <a:latin typeface="Avenir Next" panose="020B0503020202020204" pitchFamily="34" charset="0"/>
            </a:endParaRPr>
          </a:p>
        </p:txBody>
      </p:sp>
      <p:sp>
        <p:nvSpPr>
          <p:cNvPr id="30" name="TextBox 29"/>
          <p:cNvSpPr txBox="1"/>
          <p:nvPr/>
        </p:nvSpPr>
        <p:spPr>
          <a:xfrm>
            <a:off x="593901" y="6545178"/>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Based on available data from authority-based sources</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84775"/>
          </a:xfrm>
          <a:prstGeom prst="rect">
            <a:avLst/>
          </a:prstGeom>
          <a:noFill/>
        </p:spPr>
        <p:txBody>
          <a:bodyPr wrap="square" lIns="91440" tIns="45720" rIns="91440" bIns="45720" anchor="t">
            <a:spAutoFit/>
          </a:bodyPr>
          <a:lstStyle/>
          <a:p>
            <a:pPr>
              <a:defRPr sz="1200" b="0">
                <a:solidFill>
                  <a:srgbClr val="6B6B7B"/>
                </a:solidFill>
                <a:latin typeface="Calibri"/>
              </a:defRPr>
            </a:pPr>
            <a:r>
              <a:rPr sz="1600" b="1" dirty="0"/>
              <a:t>Existing scholarship treats greenwashing primarily as a marketing issue. This research investigates the structural flaws in legal accountability.</a:t>
            </a:r>
            <a:endParaRPr lang="en-US" sz="1600" b="1" dirty="0">
              <a:ea typeface="Calibri"/>
              <a:cs typeface="Calibri"/>
            </a:endParaRPr>
          </a:p>
        </p:txBody>
      </p:sp>
      <p:sp>
        <p:nvSpPr>
          <p:cNvPr id="5" name="Rounded Rectangle 4"/>
          <p:cNvSpPr/>
          <p:nvPr/>
        </p:nvSpPr>
        <p:spPr>
          <a:xfrm>
            <a:off x="7469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6" name="Rounded Rectangle 5"/>
          <p:cNvSpPr/>
          <p:nvPr/>
        </p:nvSpPr>
        <p:spPr>
          <a:xfrm>
            <a:off x="8245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1</a:t>
            </a:r>
          </a:p>
        </p:txBody>
      </p:sp>
      <p:sp>
        <p:nvSpPr>
          <p:cNvPr id="7" name="TextBox 6"/>
          <p:cNvSpPr txBox="1"/>
          <p:nvPr/>
        </p:nvSpPr>
        <p:spPr>
          <a:xfrm>
            <a:off x="14759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Board-Level Accountability</a:t>
            </a:r>
          </a:p>
          <a:p>
            <a:pPr>
              <a:defRPr sz="1050"/>
            </a:pPr>
            <a:r>
              <a:rPr sz="1400" dirty="0">
                <a:latin typeface="Avenir Next" panose="020B0503020202020204" pitchFamily="34" charset="0"/>
              </a:rPr>
              <a:t>Limited </a:t>
            </a:r>
            <a:r>
              <a:rPr lang="en-US" sz="1400" dirty="0">
                <a:latin typeface="Avenir Next" panose="020B0503020202020204" pitchFamily="34" charset="0"/>
              </a:rPr>
              <a:t>existing doctrinal </a:t>
            </a:r>
            <a:r>
              <a:rPr sz="1400" dirty="0">
                <a:latin typeface="Avenir Next" panose="020B0503020202020204" pitchFamily="34" charset="0"/>
              </a:rPr>
              <a:t>work on invoking Section 166(2) against misleading sustainability claims in corporate reports and ESG disclosures.</a:t>
            </a:r>
          </a:p>
        </p:txBody>
      </p:sp>
      <p:sp>
        <p:nvSpPr>
          <p:cNvPr id="8" name="Rounded Rectangle 7"/>
          <p:cNvSpPr/>
          <p:nvPr/>
        </p:nvSpPr>
        <p:spPr>
          <a:xfrm>
            <a:off x="7469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8245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2</a:t>
            </a:r>
          </a:p>
        </p:txBody>
      </p:sp>
      <p:sp>
        <p:nvSpPr>
          <p:cNvPr id="10" name="TextBox 9"/>
          <p:cNvSpPr txBox="1"/>
          <p:nvPr/>
        </p:nvSpPr>
        <p:spPr>
          <a:xfrm>
            <a:off x="14759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Regulatory Fragmentation</a:t>
            </a:r>
          </a:p>
          <a:p>
            <a:pPr>
              <a:defRPr sz="1050"/>
            </a:pPr>
            <a:r>
              <a:rPr sz="1400" dirty="0">
                <a:latin typeface="Avenir Next" panose="020B0503020202020204" pitchFamily="34" charset="0"/>
              </a:rPr>
              <a:t>Green claims are policed across siloed regimes (MCA, SEBI, CCPA/ASCI), creating jurisdictional overlap and an accountability vacuum.</a:t>
            </a:r>
          </a:p>
        </p:txBody>
      </p:sp>
      <p:sp>
        <p:nvSpPr>
          <p:cNvPr id="11" name="Rounded Rectangle 10"/>
          <p:cNvSpPr/>
          <p:nvPr/>
        </p:nvSpPr>
        <p:spPr>
          <a:xfrm>
            <a:off x="746974" y="42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824586" y="43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3</a:t>
            </a:r>
          </a:p>
        </p:txBody>
      </p:sp>
      <p:sp>
        <p:nvSpPr>
          <p:cNvPr id="13" name="TextBox 12"/>
          <p:cNvSpPr txBox="1"/>
          <p:nvPr/>
        </p:nvSpPr>
        <p:spPr>
          <a:xfrm>
            <a:off x="1475918" y="43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a:latin typeface="Avenir Next" panose="020B0503020202020204" pitchFamily="34" charset="0"/>
              </a:rPr>
              <a:t>Verification &amp; Assurance Gap</a:t>
            </a:r>
          </a:p>
          <a:p>
            <a:pPr>
              <a:defRPr sz="1050"/>
            </a:pPr>
            <a:r>
              <a:rPr sz="1400">
                <a:latin typeface="Avenir Next" panose="020B0503020202020204" pitchFamily="34" charset="0"/>
              </a:rPr>
              <a:t>Mandatory ESG disclosure has expanded without mandatory third-party verification, leaving claims unverified.</a:t>
            </a:r>
          </a:p>
        </p:txBody>
      </p:sp>
      <p:sp>
        <p:nvSpPr>
          <p:cNvPr id="14" name="Rounded Rectangle 13"/>
          <p:cNvSpPr/>
          <p:nvPr/>
        </p:nvSpPr>
        <p:spPr>
          <a:xfrm>
            <a:off x="62333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5" name="Rounded Rectangle 14"/>
          <p:cNvSpPr/>
          <p:nvPr/>
        </p:nvSpPr>
        <p:spPr>
          <a:xfrm>
            <a:off x="63109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4</a:t>
            </a:r>
          </a:p>
        </p:txBody>
      </p:sp>
      <p:sp>
        <p:nvSpPr>
          <p:cNvPr id="16" name="TextBox 15"/>
          <p:cNvSpPr txBox="1"/>
          <p:nvPr/>
        </p:nvSpPr>
        <p:spPr>
          <a:xfrm>
            <a:off x="69623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Evolving </a:t>
            </a:r>
            <a:r>
              <a:rPr lang="en-US" dirty="0">
                <a:latin typeface="Avenir Next" panose="020B0503020202020204" pitchFamily="34" charset="0"/>
              </a:rPr>
              <a:t>Forms of Greenwashing: Legal Vacuum</a:t>
            </a:r>
            <a:endParaRPr dirty="0">
              <a:latin typeface="Avenir Next" panose="020B0503020202020204" pitchFamily="34" charset="0"/>
            </a:endParaRPr>
          </a:p>
          <a:p>
            <a:pPr>
              <a:defRPr sz="1050"/>
            </a:pPr>
            <a:r>
              <a:rPr sz="1400" dirty="0">
                <a:latin typeface="Avenir Next" panose="020B0503020202020204" pitchFamily="34" charset="0"/>
              </a:rPr>
              <a:t>Distant net-zero pledges (e.g. 2070) and questionable carbon-offset claims remain unaddressed in current frameworks.</a:t>
            </a:r>
          </a:p>
        </p:txBody>
      </p:sp>
      <p:sp>
        <p:nvSpPr>
          <p:cNvPr id="17" name="Rounded Rectangle 16"/>
          <p:cNvSpPr/>
          <p:nvPr/>
        </p:nvSpPr>
        <p:spPr>
          <a:xfrm>
            <a:off x="62333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8" name="Rounded Rectangle 17"/>
          <p:cNvSpPr/>
          <p:nvPr/>
        </p:nvSpPr>
        <p:spPr>
          <a:xfrm>
            <a:off x="63109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5</a:t>
            </a:r>
          </a:p>
        </p:txBody>
      </p:sp>
      <p:sp>
        <p:nvSpPr>
          <p:cNvPr id="19" name="TextBox 18"/>
          <p:cNvSpPr txBox="1"/>
          <p:nvPr/>
        </p:nvSpPr>
        <p:spPr>
          <a:xfrm>
            <a:off x="69623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Real-World Enforcement Analysis</a:t>
            </a:r>
          </a:p>
          <a:p>
            <a:pPr>
              <a:defRPr sz="1050"/>
            </a:pPr>
            <a:r>
              <a:rPr sz="1400" dirty="0">
                <a:latin typeface="Avenir Next" panose="020B0503020202020204" pitchFamily="34" charset="0"/>
              </a:rPr>
              <a:t>Lack of </a:t>
            </a:r>
            <a:r>
              <a:rPr lang="en-US" sz="1400" dirty="0">
                <a:latin typeface="Avenir Next" panose="020B0503020202020204" pitchFamily="34" charset="0"/>
              </a:rPr>
              <a:t>doctrinal </a:t>
            </a:r>
            <a:r>
              <a:rPr sz="1400" dirty="0">
                <a:latin typeface="Avenir Next" panose="020B0503020202020204" pitchFamily="34" charset="0"/>
              </a:rPr>
              <a:t>studies evaluating why regulators rarely bring deterrent enforcement actions against greenwashing.</a:t>
            </a:r>
          </a:p>
        </p:txBody>
      </p:sp>
      <p:sp>
        <p:nvSpPr>
          <p:cNvPr id="20" name="Rounded Rectangle 19"/>
          <p:cNvSpPr/>
          <p:nvPr/>
        </p:nvSpPr>
        <p:spPr>
          <a:xfrm>
            <a:off x="731520" y="5665372"/>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914400" y="5711092"/>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sz="1600" dirty="0">
                <a:latin typeface="Avenir Next" panose="020B0503020202020204" pitchFamily="34" charset="0"/>
              </a:rPr>
              <a:t>THIS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 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26080"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7081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(CSRD, Green Claims Directive), US (SEC Rules, FTC Green Guides), UK (FCA Rule, CMA),</a:t>
            </a:r>
            <a:r>
              <a:rPr lang="en-US" sz="1400" dirty="0">
                <a:latin typeface="Avenir Next" panose="020B0503020202020204" pitchFamily="34" charset="0"/>
              </a:rPr>
              <a:t> </a:t>
            </a:r>
            <a:r>
              <a:rPr sz="1400" dirty="0">
                <a:latin typeface="Avenir Next" panose="020B0503020202020204" pitchFamily="34" charset="0"/>
              </a:rPr>
              <a:t>Australia, and others.</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70816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r>
              <a:rPr lang="en-US" sz="3200" b="1" dirty="0">
                <a:solidFill>
                  <a:srgbClr val="173F35"/>
                </a:solidFill>
                <a:latin typeface="Avenir Next Demi Bold"/>
              </a:rPr>
              <a:t> </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Research Question 1: What is greenwashing, how has it evolved, and what are its consequences?</a:t>
            </a:r>
          </a:p>
          <a:p>
            <a:pPr>
              <a:defRPr sz="1150" i="1">
                <a:solidFill>
                  <a:srgbClr val="4A4A4A"/>
                </a:solidFill>
                <a:latin typeface="Calibri"/>
              </a:defRPr>
            </a:pPr>
            <a:r>
              <a:rPr lang="en-IN" dirty="0">
                <a:latin typeface="Avenir Next" panose="020B0503020202020204" pitchFamily="34" charset="0"/>
              </a:rPr>
              <a:t>Answer to RQ1: Greenwashing has shifted from product labels to corporate disclosures and balance sheets. Its harm extends beyond consumer deception to capital misallocation, market distortion, and delayed climate action.</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088129"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GROWN</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9"/>
            <a:ext cx="10058400" cy="777240"/>
          </a:xfrm>
          <a:prstGeom prst="roundRect">
            <a:avLst/>
          </a:prstGeom>
          <a:solidFill>
            <a:schemeClr val="accent5">
              <a:lumMod val="75000"/>
            </a:schemeClr>
          </a:solidFill>
          <a:ln w="12700" cap="flat" cmpd="sng" algn="ctr">
            <a:no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dirty="0">
              <a:latin typeface="Avenir Next" panose="020B0503020202020204" pitchFamily="34" charset="0"/>
            </a:endParaRP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101600" cy="77724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715581"/>
          </a:xfrm>
          <a:prstGeom prst="rect">
            <a:avLst/>
          </a:prstGeom>
          <a:noFill/>
        </p:spPr>
        <p:txBody>
          <a:bodyPr wrap="square" anchor="t">
            <a:spAutoFit/>
          </a:bodyPr>
          <a:lstStyle/>
          <a:p>
            <a:pPr algn="l">
              <a:defRPr sz="1250" b="1">
                <a:solidFill>
                  <a:srgbClr val="D1A94B"/>
                </a:solidFill>
                <a:latin typeface="Avenir Next"/>
              </a:defRPr>
            </a:pPr>
            <a:r>
              <a:rPr sz="1250" b="1" dirty="0">
                <a:solidFill>
                  <a:srgbClr val="D1A94B"/>
                </a:solidFill>
                <a:latin typeface="Avenir Next" panose="020B0503020202020204" pitchFamily="34" charset="0"/>
              </a:rPr>
              <a:t>Constitutional Bedrock: </a:t>
            </a:r>
            <a:endParaRPr lang="en-US" sz="1250" b="1" dirty="0">
              <a:solidFill>
                <a:srgbClr val="D1A94B"/>
              </a:solidFill>
              <a:latin typeface="Avenir Next" panose="020B0503020202020204" pitchFamily="34" charset="0"/>
            </a:endParaRPr>
          </a:p>
          <a:p>
            <a:pPr algn="l">
              <a:defRPr sz="1400" b="1">
                <a:solidFill>
                  <a:srgbClr val="FFFFFF"/>
                </a:solidFill>
                <a:latin typeface="Avenir Next"/>
              </a:defRPr>
            </a:pPr>
            <a:r>
              <a:rPr sz="1400" b="1" dirty="0">
                <a:latin typeface="Avenir Next" panose="020B0503020202020204" pitchFamily="34" charset="0"/>
              </a:rPr>
              <a:t>Articles 21, 48A, 51A(g), and the landmark M.K. Ranjitsinh ruling establish a strong duty to take environmental claims seriously.</a:t>
            </a:r>
            <a:endParaRPr lang="en-US" sz="1400" b="1" dirty="0">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147204"/>
            <a:ext cx="4226454" cy="2622908"/>
          </a:xfrm>
          <a:prstGeom prst="roundRect">
            <a:avLst/>
          </a:prstGeom>
          <a:solidFill>
            <a:schemeClr val="accent6">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1302246"/>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Solution</a:t>
            </a: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57092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4"/>
            <a:ext cx="6678424" cy="500035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25" name="Rounded Rectangle 24"/>
          <p:cNvSpPr/>
          <p:nvPr/>
        </p:nvSpPr>
        <p:spPr>
          <a:xfrm>
            <a:off x="7570381" y="4236431"/>
            <a:ext cx="4226454" cy="1808786"/>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7740502" y="4392740"/>
            <a:ext cx="3920726" cy="1377300"/>
          </a:xfrm>
          <a:prstGeom prst="rect">
            <a:avLst/>
          </a:prstGeom>
          <a:noFill/>
        </p:spPr>
        <p:txBody>
          <a:bodyPr wrap="square" lIns="45720" tIns="22860" rIns="45720" bIns="22860" anchor="ctr">
            <a:spAutoFit/>
          </a:bodyPr>
          <a:lstStyle/>
          <a:p>
            <a:pPr>
              <a:spcAft>
                <a:spcPts val="300"/>
              </a:spcAft>
              <a:defRPr sz="1100" b="1">
                <a:solidFill>
                  <a:srgbClr val="12402D"/>
                </a:solidFill>
              </a:defRPr>
            </a:pPr>
            <a:r>
              <a:rPr sz="1400" dirty="0">
                <a:latin typeface="Avenir Next" panose="020B0503020202020204" pitchFamily="34" charset="0"/>
              </a:rPr>
              <a:t>Research Question 2: Why can't consumer law solve greenwashing alone?</a:t>
            </a:r>
          </a:p>
          <a:p>
            <a:pPr>
              <a:defRPr sz="1050">
                <a:solidFill>
                  <a:srgbClr val="282828"/>
                </a:solidFill>
              </a:defRPr>
            </a:pPr>
            <a:r>
              <a:rPr sz="1400" dirty="0">
                <a:latin typeface="Avenir Next" panose="020B0503020202020204" pitchFamily="34" charset="0"/>
              </a:rPr>
              <a:t>Answer: Consumer law only polices the end-product ad; corporate governance polices the internal systems, board oversight, and verified data that produced the claim.</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Why Greenwashing Is a Corporate Accountability Failure</a:t>
            </a:r>
            <a:r>
              <a:rPr lang="en-US" sz="3000" b="1" dirty="0">
                <a:solidFill>
                  <a:srgbClr val="173F35"/>
                </a:solidFill>
                <a:latin typeface="Avenir Next" panose="020B0503020202020204" pitchFamily="34" charset="0"/>
              </a:rPr>
              <a:t> ?</a:t>
            </a:r>
            <a:endParaRPr sz="3000" b="1" dirty="0">
              <a:solidFill>
                <a:srgbClr val="173F35"/>
              </a:solidFill>
              <a:latin typeface="Avenir Next" panose="020B0503020202020204" pitchFamily="34" charset="0"/>
            </a:endParaRPr>
          </a:p>
        </p:txBody>
      </p:sp>
      <p:sp>
        <p:nvSpPr>
          <p:cNvPr id="5" name="Rounded Rectangle 4"/>
          <p:cNvSpPr/>
          <p:nvPr/>
        </p:nvSpPr>
        <p:spPr>
          <a:xfrm>
            <a:off x="500000" y="1049409"/>
            <a:ext cx="5411403" cy="1801368"/>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549142"/>
          </a:xfrm>
          <a:prstGeom prst="rect">
            <a:avLst/>
          </a:prstGeom>
          <a:noFill/>
        </p:spPr>
        <p:txBody>
          <a:bodyPr wrap="square" lIns="45720" tIns="22860" rIns="45720" bIns="22860" anchor="t">
            <a:spAutoFit/>
          </a:bodyPr>
          <a:lstStyle/>
          <a:p>
            <a:pPr algn="l">
              <a:spcAft>
                <a:spcPts val="600"/>
              </a:spcAft>
              <a:defRPr sz="1600" b="1">
                <a:solidFill>
                  <a:srgbClr val="12402D"/>
                </a:solidFill>
                <a:latin typeface="Avenir Next"/>
                <a:ea typeface="Avenir Next"/>
                <a:cs typeface="Avenir Next"/>
              </a:defRPr>
            </a:pPr>
            <a:r>
              <a:rPr lang="en-US" sz="1600" b="1" dirty="0">
                <a:solidFill>
                  <a:srgbClr val="12402D"/>
                </a:solidFill>
                <a:latin typeface="Avenir Next"/>
                <a:ea typeface="Avenir Next"/>
                <a:cs typeface="Avenir Next"/>
              </a:rPr>
              <a:t>1. What actually a Company is?</a:t>
            </a:r>
          </a:p>
          <a:p>
            <a:pPr>
              <a:spcAft>
                <a:spcPts val="400"/>
              </a:spcAft>
              <a:defRPr sz="1400">
                <a:solidFill>
                  <a:srgbClr val="2D2D2D"/>
                </a:solidFill>
                <a:latin typeface="Avenir Next"/>
                <a:ea typeface="Avenir Next"/>
                <a:cs typeface="Avenir Next"/>
              </a:defRPr>
            </a:pPr>
            <a:r>
              <a:rPr lang="en-US" sz="1400" dirty="0">
                <a:solidFill>
                  <a:srgbClr val="2D2D2D"/>
                </a:solidFill>
                <a:latin typeface="Avenir Next"/>
                <a:ea typeface="Avenir Next"/>
                <a:cs typeface="Avenir Next"/>
              </a:rPr>
              <a:t>• Five classic theories of corporate personality are tested.</a:t>
            </a:r>
          </a:p>
          <a:p>
            <a:pPr>
              <a:spcAft>
                <a:spcPts val="400"/>
              </a:spcAft>
              <a:defRPr sz="1400">
                <a:solidFill>
                  <a:srgbClr val="2D2D2D"/>
                </a:solidFill>
                <a:latin typeface="Avenir Next"/>
                <a:ea typeface="Avenir Next"/>
                <a:cs typeface="Avenir Next"/>
              </a:defRPr>
            </a:pPr>
            <a:r>
              <a:rPr lang="en-US" sz="1400" dirty="0">
                <a:solidFill>
                  <a:srgbClr val="2D2D2D"/>
                </a:solidFill>
                <a:latin typeface="Avenir Next"/>
                <a:ea typeface="Avenir Next"/>
                <a:cs typeface="Avenir Next"/>
              </a:rPr>
              <a:t>• A company is a real social actor: public green promises create legal expectations.</a:t>
            </a:r>
          </a:p>
          <a:p>
            <a:pPr>
              <a:defRPr sz="1400">
                <a:solidFill>
                  <a:srgbClr val="2D2D2D"/>
                </a:solidFill>
                <a:latin typeface="Avenir Next"/>
                <a:ea typeface="Avenir Next"/>
                <a:cs typeface="Avenir Next"/>
              </a:defRPr>
            </a:pPr>
            <a:r>
              <a:rPr lang="en-US" sz="1400" dirty="0">
                <a:solidFill>
                  <a:srgbClr val="2D2D2D"/>
                </a:solidFill>
                <a:latin typeface="Avenir Next"/>
                <a:ea typeface="Avenir Next"/>
                <a:cs typeface="Avenir Next"/>
              </a:rPr>
              <a:t>• Indian law follows the stakeholder position: Section 166(2) makes environmental care an inherent duty.</a:t>
            </a:r>
          </a:p>
        </p:txBody>
      </p:sp>
      <p:sp>
        <p:nvSpPr>
          <p:cNvPr id="7" name="Rounded Rectangle 6"/>
          <p:cNvSpPr/>
          <p:nvPr/>
        </p:nvSpPr>
        <p:spPr>
          <a:xfrm>
            <a:off x="6196000" y="1049407"/>
            <a:ext cx="5411403" cy="2415711"/>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2246769"/>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2. Hohfeld</a:t>
            </a:r>
            <a:r>
              <a:rPr lang="en-US" sz="1600" dirty="0">
                <a:latin typeface="Avenir Next" panose="020B0503020202020204" pitchFamily="34" charset="0"/>
              </a:rPr>
              <a:t>ian Analysis</a:t>
            </a:r>
            <a:r>
              <a:rPr sz="1600" dirty="0">
                <a:latin typeface="Avenir Next" panose="020B0503020202020204" pitchFamily="34" charset="0"/>
              </a:rPr>
              <a:t>: Clarifying Legal Relations</a:t>
            </a:r>
          </a:p>
          <a:p>
            <a:pPr>
              <a:spcAft>
                <a:spcPts val="400"/>
              </a:spcAft>
              <a:defRPr sz="1150">
                <a:solidFill>
                  <a:srgbClr val="2D2D2D"/>
                </a:solidFill>
              </a:defRPr>
            </a:pPr>
            <a:r>
              <a:rPr sz="1400" dirty="0">
                <a:latin typeface="Avenir Next" panose="020B0503020202020204" pitchFamily="34" charset="0"/>
              </a:rPr>
              <a:t>• </a:t>
            </a:r>
            <a:r>
              <a:rPr lang="en-IN" sz="1400" b="1" dirty="0">
                <a:latin typeface="Avenir Next" panose="020B0503020202020204" pitchFamily="34" charset="0"/>
              </a:rPr>
              <a:t>Duty breached: </a:t>
            </a:r>
            <a:r>
              <a:rPr lang="en-IN" sz="1400" dirty="0">
                <a:latin typeface="Avenir Next" panose="020B0503020202020204" pitchFamily="34" charset="0"/>
              </a:rPr>
              <a:t>the duty not to mislead, owed to the State and to investors.</a:t>
            </a:r>
          </a:p>
          <a:p>
            <a:pPr>
              <a:spcAft>
                <a:spcPts val="400"/>
              </a:spcAft>
              <a:defRPr sz="1150">
                <a:solidFill>
                  <a:srgbClr val="2D2D2D"/>
                </a:solidFill>
              </a:defRPr>
            </a:pPr>
            <a:r>
              <a:rPr lang="en-IN" sz="1400" dirty="0">
                <a:latin typeface="Avenir Next" panose="020B0503020202020204" pitchFamily="34" charset="0"/>
              </a:rPr>
              <a:t>•  </a:t>
            </a:r>
            <a:r>
              <a:rPr lang="en-IN" sz="1400" b="1" dirty="0">
                <a:latin typeface="Avenir Next" panose="020B0503020202020204" pitchFamily="34" charset="0"/>
              </a:rPr>
              <a:t>Manager’s privilege misused: </a:t>
            </a:r>
            <a:r>
              <a:rPr lang="en-IN" sz="1400" dirty="0">
                <a:latin typeface="Avenir Next" panose="020B0503020202020204" pitchFamily="34" charset="0"/>
              </a:rPr>
              <a:t>managers may choose how to communicate, but that freedom stops at deception.</a:t>
            </a:r>
          </a:p>
          <a:p>
            <a:pPr>
              <a:spcAft>
                <a:spcPts val="400"/>
              </a:spcAft>
              <a:defRPr sz="1150">
                <a:solidFill>
                  <a:srgbClr val="2D2D2D"/>
                </a:solidFill>
              </a:defRPr>
            </a:pPr>
            <a:r>
              <a:rPr lang="en-IN" sz="1400" dirty="0">
                <a:latin typeface="Avenir Next" panose="020B0503020202020204" pitchFamily="34" charset="0"/>
              </a:rPr>
              <a:t>•  </a:t>
            </a:r>
            <a:r>
              <a:rPr lang="en-IN" sz="1400" b="1" dirty="0">
                <a:latin typeface="Avenir Next" panose="020B0503020202020204" pitchFamily="34" charset="0"/>
              </a:rPr>
              <a:t>Power held: </a:t>
            </a:r>
            <a:r>
              <a:rPr lang="en-IN" sz="1400" dirty="0">
                <a:latin typeface="Avenir Next" panose="020B0503020202020204" pitchFamily="34" charset="0"/>
              </a:rPr>
              <a:t>companies control the ESG information that everyone else acts on.</a:t>
            </a:r>
          </a:p>
          <a:p>
            <a:pPr>
              <a:spcAft>
                <a:spcPts val="400"/>
              </a:spcAft>
              <a:defRPr sz="1150">
                <a:solidFill>
                  <a:srgbClr val="2D2D2D"/>
                </a:solidFill>
              </a:defRPr>
            </a:pPr>
            <a:r>
              <a:rPr lang="en-IN" sz="1400" dirty="0">
                <a:latin typeface="Avenir Next" panose="020B0503020202020204" pitchFamily="34" charset="0"/>
              </a:rPr>
              <a:t>•  </a:t>
            </a:r>
            <a:r>
              <a:rPr lang="en-IN" sz="1400" b="1" dirty="0">
                <a:latin typeface="Avenir Next" panose="020B0503020202020204" pitchFamily="34" charset="0"/>
              </a:rPr>
              <a:t>Immunity retained: </a:t>
            </a:r>
            <a:r>
              <a:rPr lang="en-IN" sz="1400" dirty="0">
                <a:latin typeface="Avenir Next" panose="020B0503020202020204" pitchFamily="34" charset="0"/>
              </a:rPr>
              <a:t>limited liability saves those who gain from a green reputation.</a:t>
            </a:r>
          </a:p>
        </p:txBody>
      </p:sp>
      <p:sp>
        <p:nvSpPr>
          <p:cNvPr id="9" name="Rounded Rectangle 8"/>
          <p:cNvSpPr/>
          <p:nvPr/>
        </p:nvSpPr>
        <p:spPr>
          <a:xfrm>
            <a:off x="500000" y="3098082"/>
            <a:ext cx="5411403" cy="2246768"/>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22843"/>
            <a:ext cx="5155405" cy="1992853"/>
          </a:xfrm>
          <a:prstGeom prst="rect">
            <a:avLst/>
          </a:prstGeom>
          <a:noFill/>
        </p:spPr>
        <p:txBody>
          <a:bodyPr wrap="square" lIns="45720" tIns="22860" rIns="45720" bIns="22860" anchor="t">
            <a:spAutoFit/>
          </a:bodyPr>
          <a:lstStyle/>
          <a:p>
            <a:pPr algn="l">
              <a:spcAft>
                <a:spcPts val="600"/>
              </a:spcAft>
              <a:defRPr sz="1600" b="1">
                <a:solidFill>
                  <a:srgbClr val="12402D"/>
                </a:solidFill>
                <a:latin typeface="Avenir Next"/>
                <a:ea typeface="Avenir Next"/>
                <a:cs typeface="Avenir Next"/>
              </a:defRPr>
            </a:pPr>
            <a:r>
              <a:rPr lang="en-US" sz="1600" b="1" dirty="0">
                <a:solidFill>
                  <a:srgbClr val="12402D"/>
                </a:solidFill>
                <a:latin typeface="Avenir Next"/>
                <a:ea typeface="Avenir Next"/>
                <a:cs typeface="Avenir Next"/>
              </a:rPr>
              <a:t>3. To whom the duty is owed?</a:t>
            </a:r>
          </a:p>
          <a:p>
            <a:pPr>
              <a:spcAft>
                <a:spcPts val="300"/>
              </a:spcAft>
              <a:defRPr sz="1400">
                <a:solidFill>
                  <a:srgbClr val="3A3A4A"/>
                </a:solidFill>
                <a:latin typeface="Avenir Next"/>
                <a:ea typeface="Avenir Next"/>
                <a:cs typeface="Avenir Next"/>
              </a:defRPr>
            </a:pPr>
            <a:r>
              <a:rPr lang="en-US" sz="1400" dirty="0">
                <a:solidFill>
                  <a:srgbClr val="3A3A4A"/>
                </a:solidFill>
                <a:latin typeface="Avenir Next"/>
                <a:ea typeface="Avenir Next"/>
                <a:cs typeface="Avenir Next"/>
              </a:rPr>
              <a:t>• A duty only bites if somebody can enforce it.</a:t>
            </a:r>
          </a:p>
          <a:p>
            <a:pPr>
              <a:spcAft>
                <a:spcPts val="300"/>
              </a:spcAft>
              <a:defRPr sz="1400">
                <a:solidFill>
                  <a:srgbClr val="3A3A4A"/>
                </a:solidFill>
                <a:latin typeface="Avenir Next"/>
                <a:ea typeface="Avenir Next"/>
                <a:cs typeface="Avenir Next"/>
              </a:defRPr>
            </a:pPr>
            <a:r>
              <a:rPr lang="en-US" sz="1400" dirty="0">
                <a:solidFill>
                  <a:srgbClr val="3A3A4A"/>
                </a:solidFill>
                <a:latin typeface="Avenir Next"/>
                <a:ea typeface="Avenir Next"/>
                <a:cs typeface="Avenir Next"/>
              </a:rPr>
              <a:t>• Duties to the State are strongest — CCPA and SEBI can enforce them.</a:t>
            </a:r>
          </a:p>
          <a:p>
            <a:pPr>
              <a:spcAft>
                <a:spcPts val="300"/>
              </a:spcAft>
              <a:defRPr sz="1400">
                <a:solidFill>
                  <a:srgbClr val="3A3A4A"/>
                </a:solidFill>
                <a:latin typeface="Avenir Next"/>
                <a:ea typeface="Avenir Next"/>
                <a:cs typeface="Avenir Next"/>
              </a:defRPr>
            </a:pPr>
            <a:r>
              <a:rPr lang="en-US" sz="1400" dirty="0">
                <a:solidFill>
                  <a:srgbClr val="3A3A4A"/>
                </a:solidFill>
                <a:latin typeface="Avenir Next"/>
                <a:ea typeface="Avenir Next"/>
                <a:cs typeface="Avenir Next"/>
              </a:rPr>
              <a:t>• Investor-facing duties run only through narrow disclosure channels.</a:t>
            </a:r>
          </a:p>
          <a:p>
            <a:pPr>
              <a:spcAft>
                <a:spcPts val="300"/>
              </a:spcAft>
              <a:defRPr sz="1400">
                <a:solidFill>
                  <a:srgbClr val="3A3A4A"/>
                </a:solidFill>
                <a:latin typeface="Avenir Next"/>
                <a:ea typeface="Avenir Next"/>
                <a:cs typeface="Avenir Next"/>
              </a:defRPr>
            </a:pPr>
            <a:r>
              <a:rPr lang="en-US" sz="1400" dirty="0">
                <a:solidFill>
                  <a:srgbClr val="3A3A4A"/>
                </a:solidFill>
                <a:latin typeface="Avenir Next"/>
                <a:ea typeface="Avenir Next"/>
                <a:cs typeface="Avenir Next"/>
              </a:rPr>
              <a:t>• Section 166(2)'s environmental duty has no clear claimant, so it reads as aspiration, not law — the gap this thesis targets.</a:t>
            </a:r>
          </a:p>
        </p:txBody>
      </p:sp>
      <p:sp>
        <p:nvSpPr>
          <p:cNvPr id="11" name="Rounded Rectangle 10"/>
          <p:cNvSpPr/>
          <p:nvPr/>
        </p:nvSpPr>
        <p:spPr>
          <a:xfrm>
            <a:off x="6196000" y="3700001"/>
            <a:ext cx="5411403" cy="1463669"/>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795193"/>
            <a:ext cx="5155405" cy="1066959"/>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4. Why the Duty Fails in Practice</a:t>
            </a:r>
          </a:p>
          <a:p>
            <a:pPr>
              <a:spcAft>
                <a:spcPts val="400"/>
              </a:spcAft>
              <a:defRPr sz="1150">
                <a:solidFill>
                  <a:srgbClr val="2D2D2D"/>
                </a:solidFill>
              </a:defRPr>
            </a:pPr>
            <a:r>
              <a:rPr sz="1400" dirty="0">
                <a:latin typeface="Avenir Next" panose="020B0503020202020204" pitchFamily="34" charset="0"/>
              </a:rPr>
              <a:t>• </a:t>
            </a:r>
            <a:r>
              <a:rPr lang="en-US" sz="1400" b="1" dirty="0">
                <a:latin typeface="Avenir Next" panose="020B0503020202020204" pitchFamily="34" charset="0"/>
              </a:rPr>
              <a:t>Information Asymmetry</a:t>
            </a:r>
            <a:r>
              <a:rPr sz="1400" b="1" dirty="0">
                <a:latin typeface="Avenir Next" panose="020B0503020202020204" pitchFamily="34" charset="0"/>
              </a:rPr>
              <a:t>: </a:t>
            </a:r>
            <a:r>
              <a:rPr sz="1400" dirty="0">
                <a:latin typeface="Avenir Next" panose="020B0503020202020204" pitchFamily="34" charset="0"/>
              </a:rPr>
              <a:t>Insiders know true pollution; outsiders only see polished PR.</a:t>
            </a:r>
          </a:p>
          <a:p>
            <a:pPr>
              <a:spcAft>
                <a:spcPts val="400"/>
              </a:spcAft>
              <a:defRPr sz="1150">
                <a:solidFill>
                  <a:srgbClr val="2D2D2D"/>
                </a:solidFill>
              </a:defRPr>
            </a:pPr>
            <a:r>
              <a:rPr sz="1400" dirty="0">
                <a:latin typeface="Avenir Next" panose="020B0503020202020204" pitchFamily="34" charset="0"/>
              </a:rPr>
              <a:t>• </a:t>
            </a:r>
            <a:r>
              <a:rPr lang="en-US" sz="1400" b="1" dirty="0">
                <a:latin typeface="Avenir Next" panose="020B0503020202020204" pitchFamily="34" charset="0"/>
              </a:rPr>
              <a:t>Lack of T</a:t>
            </a:r>
            <a:r>
              <a:rPr sz="1400" b="1" dirty="0">
                <a:latin typeface="Avenir Next" panose="020B0503020202020204" pitchFamily="34" charset="0"/>
              </a:rPr>
              <a:t>echnical </a:t>
            </a:r>
            <a:r>
              <a:rPr lang="en-US" sz="1400" b="1" dirty="0">
                <a:latin typeface="Avenir Next" panose="020B0503020202020204" pitchFamily="34" charset="0"/>
              </a:rPr>
              <a:t>E</a:t>
            </a:r>
            <a:r>
              <a:rPr sz="1400" b="1" dirty="0">
                <a:latin typeface="Avenir Next" panose="020B0503020202020204" pitchFamily="34" charset="0"/>
              </a:rPr>
              <a:t>xpertise</a:t>
            </a:r>
            <a:r>
              <a:rPr lang="en-US" sz="1400" b="1" dirty="0">
                <a:latin typeface="Avenir Next" panose="020B0503020202020204" pitchFamily="34" charset="0"/>
              </a:rPr>
              <a:t>:</a:t>
            </a:r>
            <a:r>
              <a:rPr sz="1400" b="1" dirty="0">
                <a:latin typeface="Avenir Next" panose="020B0503020202020204" pitchFamily="34" charset="0"/>
              </a:rPr>
              <a:t> </a:t>
            </a:r>
            <a:r>
              <a:rPr lang="en-US" sz="1400" dirty="0">
                <a:latin typeface="Avenir Next" panose="020B0503020202020204" pitchFamily="34" charset="0"/>
              </a:rPr>
              <a:t>among </a:t>
            </a:r>
            <a:r>
              <a:rPr sz="1400" dirty="0">
                <a:latin typeface="Avenir Next" panose="020B0503020202020204" pitchFamily="34" charset="0"/>
              </a:rPr>
              <a:t>ordinary citizens.</a:t>
            </a:r>
          </a:p>
        </p:txBody>
      </p:sp>
      <p:sp>
        <p:nvSpPr>
          <p:cNvPr id="13" name="Rounded Rectangle 12"/>
          <p:cNvSpPr/>
          <p:nvPr/>
        </p:nvSpPr>
        <p:spPr>
          <a:xfrm>
            <a:off x="500000" y="5559916"/>
            <a:ext cx="11192000" cy="928083"/>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5553029"/>
            <a:ext cx="10912000" cy="93871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a:p>
            <a:pPr algn="just">
              <a:defRPr sz="1100">
                <a:solidFill>
                  <a:srgbClr val="282828"/>
                </a:solidFill>
              </a:defRPr>
            </a:pPr>
            <a:r>
              <a:rPr sz="1300" dirty="0">
                <a:latin typeface="Avenir Next" panose="020B0503020202020204" pitchFamily="34" charset="0"/>
              </a:rPr>
              <a:t>Answer: Breaking corporate responsibility into precise legal relations shows greenwashing is not an innocent PR slip. It is a broken duty, an abuse of communication freedom, and an exploitation of information power</a:t>
            </a:r>
            <a:r>
              <a:rPr lang="en-US" sz="1300" dirty="0">
                <a:latin typeface="Avenir Next" panose="020B0503020202020204" pitchFamily="34" charset="0"/>
              </a:rPr>
              <a:t>, </a:t>
            </a:r>
            <a:r>
              <a:rPr sz="1300" dirty="0">
                <a:latin typeface="Avenir Next" panose="020B0503020202020204" pitchFamily="34" charset="0"/>
              </a:rPr>
              <a:t>which </a:t>
            </a:r>
            <a:r>
              <a:rPr lang="en-US" sz="1300" dirty="0">
                <a:latin typeface="Avenir Next" panose="020B0503020202020204" pitchFamily="34" charset="0"/>
              </a:rPr>
              <a:t>must be addressed by corporate </a:t>
            </a:r>
            <a:r>
              <a:rPr sz="1300" dirty="0">
                <a:latin typeface="Avenir Next" panose="020B0503020202020204" pitchFamily="34" charset="0"/>
              </a:rPr>
              <a:t>law.</a:t>
            </a: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Tree>
    <p:extLst>
      <p:ext uri="{BB962C8B-B14F-4D97-AF65-F5344CB8AC3E}">
        <p14:creationId xmlns:p14="http://schemas.microsoft.com/office/powerpoint/2010/main" val="39664053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508000" y="355600"/>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041400"/>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041400"/>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041400"/>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219200"/>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219200"/>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219200"/>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219200"/>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219200"/>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219200"/>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244600"/>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244600"/>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244600"/>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1854200"/>
            <a:ext cx="3251200" cy="25400"/>
          </a:xfrm>
          <a:prstGeom prst="rect">
            <a:avLst/>
          </a:prstGeom>
          <a:solidFill>
            <a:srgbClr val="C5B89A"/>
          </a:solidFill>
          <a:ln>
            <a:noFill/>
          </a:ln>
        </p:spPr>
        <p:txBody>
          <a:bodyPr/>
          <a:lstStyle/>
          <a:p>
            <a:endParaRPr lang="en-US"/>
          </a:p>
        </p:txBody>
      </p:sp>
      <p:sp>
        <p:nvSpPr>
          <p:cNvPr id="17" name="Div 2"/>
          <p:cNvSpPr/>
          <p:nvPr/>
        </p:nvSpPr>
        <p:spPr>
          <a:xfrm>
            <a:off x="4470400" y="1854200"/>
            <a:ext cx="3251200" cy="25400"/>
          </a:xfrm>
          <a:prstGeom prst="rect">
            <a:avLst/>
          </a:prstGeom>
          <a:solidFill>
            <a:srgbClr val="A8C4B0"/>
          </a:solidFill>
          <a:ln>
            <a:noFill/>
          </a:ln>
        </p:spPr>
        <p:txBody>
          <a:bodyPr/>
          <a:lstStyle/>
          <a:p>
            <a:endParaRPr lang="en-US"/>
          </a:p>
        </p:txBody>
      </p:sp>
      <p:sp>
        <p:nvSpPr>
          <p:cNvPr id="18" name="Div 3"/>
          <p:cNvSpPr/>
          <p:nvPr/>
        </p:nvSpPr>
        <p:spPr>
          <a:xfrm>
            <a:off x="8280400" y="1854200"/>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1951180"/>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1951180"/>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1951180"/>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029200"/>
            <a:ext cx="11277600" cy="1320800"/>
          </a:xfrm>
          <a:prstGeom prst="roundRect">
            <a:avLst/>
          </a:prstGeom>
          <a:solidFill>
            <a:srgbClr val="F7F3E8"/>
          </a:solidFill>
          <a:ln>
            <a:noFill/>
          </a:ln>
        </p:spPr>
        <p:txBody>
          <a:bodyPr/>
          <a:lstStyle/>
          <a:p>
            <a:endParaRPr lang="en-US"/>
          </a:p>
        </p:txBody>
      </p:sp>
      <p:sp>
        <p:nvSpPr>
          <p:cNvPr id="23" name="Answer"/>
          <p:cNvSpPr txBox="1"/>
          <p:nvPr/>
        </p:nvSpPr>
        <p:spPr>
          <a:xfrm>
            <a:off x="660400" y="5181600"/>
            <a:ext cx="10871200" cy="914400"/>
          </a:xfrm>
          <a:prstGeom prst="rect">
            <a:avLst/>
          </a:prstGeom>
        </p:spPr>
        <p:txBody>
          <a:bodyPr wrap="square" rtlCol="0" anchor="ctr">
            <a:noAutofit/>
          </a:bodyPr>
          <a:lstStyle/>
          <a:p>
            <a:r>
              <a:rPr lang="en-IN" sz="1400" b="1" dirty="0">
                <a:solidFill>
                  <a:srgbClr val="173F35"/>
                </a:solidFill>
              </a:rPr>
              <a:t>Research Question 4: What duties of directors, disclosure obligations and assurance requirements, under Indian company and securities law, can ground liability for misleading environmental claims?</a:t>
            </a:r>
          </a:p>
          <a:p>
            <a:pPr algn="l"/>
            <a:endParaRPr lang="en-US" sz="500" b="1" dirty="0">
              <a:solidFill>
                <a:srgbClr val="173F35"/>
              </a:solidFill>
            </a:endParaRPr>
          </a:p>
          <a:p>
            <a:pPr algn="l"/>
            <a:r>
              <a:rPr lang="en-US" sz="1400" dirty="0">
                <a:solidFill>
                  <a:srgbClr val="2A2A2A"/>
                </a:solidFill>
                <a:latin typeface="Calibri"/>
                <a:cs typeface="Calibri"/>
              </a:rPr>
              <a:t>Answer to RQ4: Duties already exist in Section 166(2) and SEBI rules. What is missing is the trigger, open legal standing, meaningful penalties, and an automatic bridge between regulators.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9190" y="1015812"/>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106717"/>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822960"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4953252"/>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4953252"/>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1906551"/>
            <a:ext cx="3292762" cy="274056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972901" y="1986055"/>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1009476" y="247047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68675" y="1900148"/>
            <a:ext cx="3267149" cy="286984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612213" y="1986055"/>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48789" y="2470475"/>
            <a:ext cx="2921592"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Rollout delays leave most ESG data effectively self-certified.</a:t>
            </a: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101583" y="1900149"/>
            <a:ext cx="3279955" cy="2843082"/>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251524" y="1986056"/>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88099" y="2470475"/>
            <a:ext cx="2968921"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Still lacks a dedicated ESG enforcement team or cross-checks with pollution data.</a:t>
            </a:r>
          </a:p>
        </p:txBody>
      </p:sp>
      <p:sp>
        <p:nvSpPr>
          <p:cNvPr id="24" name="TextBox 23"/>
          <p:cNvSpPr txBox="1"/>
          <p:nvPr/>
        </p:nvSpPr>
        <p:spPr>
          <a:xfrm>
            <a:off x="11336710" y="540729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5" name="Rounded Rectangle 24"/>
          <p:cNvSpPr/>
          <p:nvPr/>
        </p:nvSpPr>
        <p:spPr>
          <a:xfrm>
            <a:off x="799190" y="6095425"/>
            <a:ext cx="10587831" cy="49722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800">
              <a:latin typeface="Avenir Next" panose="020B0503020202020204" pitchFamily="34" charset="0"/>
            </a:endParaRPr>
          </a:p>
        </p:txBody>
      </p:sp>
      <p:sp>
        <p:nvSpPr>
          <p:cNvPr id="26" name="TextBox 25"/>
          <p:cNvSpPr txBox="1"/>
          <p:nvPr/>
        </p:nvSpPr>
        <p:spPr>
          <a:xfrm>
            <a:off x="929190" y="6107918"/>
            <a:ext cx="10327831" cy="477054"/>
          </a:xfrm>
          <a:prstGeom prst="rect">
            <a:avLst/>
          </a:prstGeom>
          <a:noFill/>
        </p:spPr>
        <p:txBody>
          <a:bodyPr wrap="square" lIns="45720" tIns="22860" rIns="45720" bIns="22860" anchor="ctr">
            <a:spAutoFit/>
          </a:bodyPr>
          <a:lstStyle/>
          <a:p>
            <a:pPr algn="ctr">
              <a:defRPr sz="1050">
                <a:solidFill>
                  <a:srgbClr val="282828"/>
                </a:solidFill>
              </a:defRPr>
            </a:pPr>
            <a:r>
              <a:rPr sz="1400" dirty="0">
                <a:latin typeface="Avenir Next" panose="020B0503020202020204" pitchFamily="34" charset="0"/>
              </a:rPr>
              <a:t>Answer to RQ4: Mandatory disclosure rules exist, but recent rollbacks have softened assurance and deferred supply-chain reporting, allowing greenwashing to persist.</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T</a:t>
            </a:r>
            <a:r>
              <a:rPr sz="2800" dirty="0"/>
              <a:t>he </a:t>
            </a:r>
            <a:r>
              <a:rPr lang="en-US" sz="2800" dirty="0"/>
              <a:t>Enforcement </a:t>
            </a:r>
            <a:r>
              <a:rPr sz="2800" dirty="0"/>
              <a:t>Is Weak</a:t>
            </a:r>
          </a:p>
        </p:txBody>
      </p:sp>
      <p:sp>
        <p:nvSpPr>
          <p:cNvPr id="5" name="TextBox 4"/>
          <p:cNvSpPr txBox="1"/>
          <p:nvPr/>
        </p:nvSpPr>
        <p:spPr>
          <a:xfrm>
            <a:off x="718950"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18950" y="175966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70404" y="1852094"/>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a:t>
            </a:r>
            <a:r>
              <a:rPr sz="1600" dirty="0">
                <a:latin typeface="Avenir Next" panose="020B0503020202020204" pitchFamily="34" charset="0"/>
              </a:rPr>
              <a:t> in law</a:t>
            </a:r>
          </a:p>
        </p:txBody>
      </p:sp>
      <p:sp>
        <p:nvSpPr>
          <p:cNvPr id="10" name="TextBox 9"/>
          <p:cNvSpPr txBox="1"/>
          <p:nvPr/>
        </p:nvSpPr>
        <p:spPr>
          <a:xfrm>
            <a:off x="956694" y="2343888"/>
            <a:ext cx="4352544"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Section 166(2) explicitly places environmental protection inside directors' duties.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Supreme Court rulings (Tata-Mistry, Ranjitsinh) affirm environmental duties and climate rights.</a:t>
            </a:r>
          </a:p>
          <a:p>
            <a:pPr>
              <a:spcAft>
                <a:spcPts val="600"/>
              </a:spcAft>
              <a:defRPr sz="1150">
                <a:solidFill>
                  <a:srgbClr val="2D2D2D"/>
                </a:solidFill>
              </a:defRPr>
            </a:pPr>
            <a:r>
              <a:rPr sz="1400" dirty="0">
                <a:latin typeface="Avenir Next" panose="020B0503020202020204" pitchFamily="34" charset="0"/>
              </a:rPr>
              <a:t>• SEBI's BRSR and BRSR Core formalize detailed sustainability disclosures.</a:t>
            </a:r>
          </a:p>
          <a:p>
            <a:pPr>
              <a:defRPr sz="1150">
                <a:solidFill>
                  <a:srgbClr val="2D2D2D"/>
                </a:solidFill>
              </a:defRPr>
            </a:pPr>
            <a:r>
              <a:rPr sz="1400" dirty="0">
                <a:latin typeface="Avenir Next" panose="020B0503020202020204" pitchFamily="34" charset="0"/>
              </a:rPr>
              <a:t>• CPA 2019 and CCPA 2024 Guidelines prohibit deceptive green advertising.</a:t>
            </a:r>
          </a:p>
        </p:txBody>
      </p:sp>
      <p:sp>
        <p:nvSpPr>
          <p:cNvPr id="11" name="Rounded Rectangle 10"/>
          <p:cNvSpPr/>
          <p:nvPr/>
        </p:nvSpPr>
        <p:spPr>
          <a:xfrm>
            <a:off x="5839590" y="175966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6059045" y="1852094"/>
            <a:ext cx="2755769"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Lack of Enforcement</a:t>
            </a:r>
            <a:endParaRPr sz="1600" dirty="0">
              <a:latin typeface="Avenir Next" panose="020B0503020202020204" pitchFamily="34" charset="0"/>
            </a:endParaRPr>
          </a:p>
        </p:txBody>
      </p:sp>
      <p:sp>
        <p:nvSpPr>
          <p:cNvPr id="13" name="TextBox 12"/>
          <p:cNvSpPr txBox="1"/>
          <p:nvPr/>
        </p:nvSpPr>
        <p:spPr>
          <a:xfrm>
            <a:off x="6095622" y="2343888"/>
            <a:ext cx="4846320"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Zero reported director liability cases under Section 166(2) for green claims.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Narrow legal standing prevents affected public and civil society from filing claims.</a:t>
            </a:r>
          </a:p>
          <a:p>
            <a:pPr>
              <a:spcAft>
                <a:spcPts val="600"/>
              </a:spcAft>
              <a:defRPr sz="1150">
                <a:solidFill>
                  <a:srgbClr val="2D2D2D"/>
                </a:solidFill>
              </a:defRPr>
            </a:pPr>
            <a:r>
              <a:rPr sz="1400" dirty="0">
                <a:latin typeface="Avenir Next" panose="020B0503020202020204" pitchFamily="34" charset="0"/>
              </a:rPr>
              <a:t>• Penalties of ₹1–5 Lakhs under § 166(7) are treated as minor operational costs.</a:t>
            </a:r>
          </a:p>
          <a:p>
            <a:pPr>
              <a:defRPr sz="1150">
                <a:solidFill>
                  <a:srgbClr val="2D2D2D"/>
                </a:solidFill>
              </a:defRPr>
            </a:pPr>
            <a:r>
              <a:rPr sz="1400" dirty="0">
                <a:latin typeface="Avenir Next" panose="020B0503020202020204" pitchFamily="34" charset="0"/>
              </a:rP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895800"/>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895800"/>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US FTC and SEC brought 90+ greenwashing enforcement actions (2021–23).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895799"/>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895800"/>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362370"/>
            <a:ext cx="2412802"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Coordinated sweeps; France issued 141 warnings and 114 injunctions.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895799"/>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895800"/>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023815"/>
            <a:ext cx="180960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340148"/>
            <a:ext cx="1955906" cy="1015663"/>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r>
              <a:rPr lang="en-US" sz="2800" dirty="0"/>
              <a:t> ?</a:t>
            </a:r>
            <a:endParaRPr sz="2800" dirty="0"/>
          </a:p>
        </p:txBody>
      </p:sp>
      <p:graphicFrame>
        <p:nvGraphicFramePr>
          <p:cNvPr id="6" name="Table 5"/>
          <p:cNvGraphicFramePr>
            <a:graphicFrameLocks noGrp="1"/>
          </p:cNvGraphicFramePr>
          <p:nvPr>
            <p:extLst>
              <p:ext uri="{D42A27DB-BD31-4B8C-83A1-F6EECF244321}">
                <p14:modId xmlns:p14="http://schemas.microsoft.com/office/powerpoint/2010/main" val="4208208374"/>
              </p:ext>
            </p:extLst>
          </p:nvPr>
        </p:nvGraphicFramePr>
        <p:xfrm>
          <a:off x="627999" y="1193128"/>
          <a:ext cx="10835640" cy="3611880"/>
        </p:xfrm>
        <a:graphic>
          <a:graphicData uri="http://schemas.openxmlformats.org/drawingml/2006/table">
            <a:tbl>
              <a:tblPr firstRow="1" bandRow="1">
                <a:tableStyleId>{5C22544A-7EE6-4342-B048-85BDC9FD1C3A}</a:tableStyleId>
              </a:tblPr>
              <a:tblGrid>
                <a:gridCol w="2406146">
                  <a:extLst>
                    <a:ext uri="{9D8B030D-6E8A-4147-A177-3AD203B41FA5}">
                      <a16:colId xmlns:a16="http://schemas.microsoft.com/office/drawing/2014/main" val="20000"/>
                    </a:ext>
                  </a:extLst>
                </a:gridCol>
                <a:gridCol w="2015837">
                  <a:extLst>
                    <a:ext uri="{9D8B030D-6E8A-4147-A177-3AD203B41FA5}">
                      <a16:colId xmlns:a16="http://schemas.microsoft.com/office/drawing/2014/main" val="20001"/>
                    </a:ext>
                  </a:extLst>
                </a:gridCol>
                <a:gridCol w="2140527">
                  <a:extLst>
                    <a:ext uri="{9D8B030D-6E8A-4147-A177-3AD203B41FA5}">
                      <a16:colId xmlns:a16="http://schemas.microsoft.com/office/drawing/2014/main" val="20002"/>
                    </a:ext>
                  </a:extLst>
                </a:gridCol>
                <a:gridCol w="212429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r>
                        <a:rPr sz="1600" b="1" dirty="0">
                          <a:solidFill>
                            <a:srgbClr val="FFFFFF"/>
                          </a:solidFill>
                        </a:rPr>
                        <a:t>Design Element</a:t>
                      </a:r>
                    </a:p>
                  </a:txBody>
                  <a:tcPr>
                    <a:solidFill>
                      <a:srgbClr val="173F35"/>
                    </a:solidFill>
                  </a:tcPr>
                </a:tc>
                <a:tc>
                  <a:txBody>
                    <a:bodyPr/>
                    <a:lstStyle/>
                    <a:p>
                      <a:r>
                        <a:rPr sz="1600" b="1">
                          <a:solidFill>
                            <a:srgbClr val="FFFFFF"/>
                          </a:solidFill>
                        </a:rPr>
                        <a:t>European Union</a:t>
                      </a:r>
                    </a:p>
                  </a:txBody>
                  <a:tcPr>
                    <a:solidFill>
                      <a:srgbClr val="173F35"/>
                    </a:solidFill>
                  </a:tcPr>
                </a:tc>
                <a:tc>
                  <a:txBody>
                    <a:bodyPr/>
                    <a:lstStyle/>
                    <a:p>
                      <a:r>
                        <a:rPr sz="1600" b="1">
                          <a:solidFill>
                            <a:srgbClr val="FFFFFF"/>
                          </a:solidFill>
                        </a:rPr>
                        <a:t>United Kingdom</a:t>
                      </a:r>
                    </a:p>
                  </a:txBody>
                  <a:tcPr>
                    <a:solidFill>
                      <a:srgbClr val="173F35"/>
                    </a:solidFill>
                  </a:tcPr>
                </a:tc>
                <a:tc>
                  <a:txBody>
                    <a:bodyPr/>
                    <a:lstStyle/>
                    <a:p>
                      <a:r>
                        <a:rPr sz="1600" b="1">
                          <a:solidFill>
                            <a:srgbClr val="FFFFFF"/>
                          </a:solidFill>
                        </a:rPr>
                        <a:t>Australia</a:t>
                      </a:r>
                    </a:p>
                  </a:txBody>
                  <a:tcPr>
                    <a:solidFill>
                      <a:srgbClr val="173F35"/>
                    </a:solidFill>
                  </a:tcPr>
                </a:tc>
                <a:tc>
                  <a:txBody>
                    <a:bodyPr/>
                    <a:lstStyle/>
                    <a:p>
                      <a:r>
                        <a:rPr sz="1600" b="1">
                          <a:solidFill>
                            <a:srgbClr val="FFFFFF"/>
                          </a:solidFill>
                        </a:rPr>
                        <a:t>India</a:t>
                      </a:r>
                    </a:p>
                  </a:txBody>
                  <a:tcPr>
                    <a:solidFill>
                      <a:srgbClr val="173F35"/>
                    </a:solidFill>
                  </a:tcPr>
                </a:tc>
                <a:extLst>
                  <a:ext uri="{0D108BD9-81ED-4DB2-BD59-A6C34878D82A}">
                    <a16:rowId xmlns:a16="http://schemas.microsoft.com/office/drawing/2014/main" val="10000"/>
                  </a:ext>
                </a:extLst>
              </a:tr>
              <a:tr h="601980">
                <a:tc>
                  <a:txBody>
                    <a:bodyPr/>
                    <a:lstStyle/>
                    <a:p>
                      <a:r>
                        <a:rPr sz="1400" b="1"/>
                        <a:t>Board Accountability</a:t>
                      </a:r>
                    </a:p>
                  </a:txBody>
                  <a:tcPr>
                    <a:solidFill>
                      <a:srgbClr val="FFFDF8"/>
                    </a:solidFill>
                  </a:tcPr>
                </a:tc>
                <a:tc>
                  <a:txBody>
                    <a:bodyPr/>
                    <a:lstStyle/>
                    <a:p>
                      <a:r>
                        <a:rPr sz="1400" b="0" dirty="0"/>
                        <a:t>Strong &amp; direct</a:t>
                      </a:r>
                    </a:p>
                  </a:txBody>
                  <a:tcPr>
                    <a:solidFill>
                      <a:srgbClr val="FFFDF8"/>
                    </a:solidFill>
                  </a:tcPr>
                </a:tc>
                <a:tc>
                  <a:txBody>
                    <a:bodyPr/>
                    <a:lstStyle/>
                    <a:p>
                      <a:r>
                        <a:rPr sz="1400" b="0" dirty="0"/>
                        <a:t>Strong &amp; direct</a:t>
                      </a:r>
                    </a:p>
                  </a:txBody>
                  <a:tcPr>
                    <a:solidFill>
                      <a:srgbClr val="FFFDF8"/>
                    </a:solidFill>
                  </a:tcPr>
                </a:tc>
                <a:tc>
                  <a:txBody>
                    <a:bodyPr/>
                    <a:lstStyle/>
                    <a:p>
                      <a:r>
                        <a:rPr sz="1400" b="0"/>
                        <a:t>Growing &amp; active</a:t>
                      </a:r>
                    </a:p>
                  </a:txBody>
                  <a:tcPr>
                    <a:solidFill>
                      <a:srgbClr val="FFFDF8"/>
                    </a:solidFill>
                  </a:tcPr>
                </a:tc>
                <a:tc>
                  <a:txBody>
                    <a:bodyPr/>
                    <a:lstStyle/>
                    <a:p>
                      <a:r>
                        <a:rPr sz="1400" b="1">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lang="en-IN" sz="1400" dirty="0"/>
                        <a:t>Integrated architecture</a:t>
                      </a:r>
                    </a:p>
                  </a:txBody>
                  <a:tcPr>
                    <a:solidFill>
                      <a:srgbClr val="E8EFE6"/>
                    </a:solidFill>
                  </a:tcPr>
                </a:tc>
                <a:tc>
                  <a:txBody>
                    <a:bodyPr/>
                    <a:lstStyle/>
                    <a:p>
                      <a:r>
                        <a:rPr sz="1400" b="0"/>
                        <a:t>Integrated reporting &amp; claim rules</a:t>
                      </a:r>
                    </a:p>
                  </a:txBody>
                  <a:tcPr>
                    <a:solidFill>
                      <a:srgbClr val="E8EFE6"/>
                    </a:solidFill>
                  </a:tcPr>
                </a:tc>
                <a:tc>
                  <a:txBody>
                    <a:bodyPr/>
                    <a:lstStyle/>
                    <a:p>
                      <a:r>
                        <a:rPr sz="1400" b="0"/>
                        <a:t>FCA + CMA + Company Law</a:t>
                      </a:r>
                    </a:p>
                  </a:txBody>
                  <a:tcPr>
                    <a:solidFill>
                      <a:srgbClr val="E8EFE6"/>
                    </a:solidFill>
                  </a:tcPr>
                </a:tc>
                <a:tc>
                  <a:txBody>
                    <a:bodyPr/>
                    <a:lstStyle/>
                    <a:p>
                      <a:r>
                        <a:rPr sz="1400" b="0" dirty="0"/>
                        <a:t>Active inter-agency teamwork</a:t>
                      </a:r>
                    </a:p>
                  </a:txBody>
                  <a:tcPr>
                    <a:solidFill>
                      <a:srgbClr val="E8EFE6"/>
                    </a:solidFill>
                  </a:tcPr>
                </a:tc>
                <a:tc>
                  <a:txBody>
                    <a:bodyPr/>
                    <a:lstStyle/>
                    <a:p>
                      <a:r>
                        <a:rPr sz="1400" b="1" dirty="0">
                          <a:solidFill>
                            <a:srgbClr val="A8552F"/>
                          </a:solidFill>
                        </a:rPr>
                        <a:t>MCA, SEBI &amp; CCPA</a:t>
                      </a:r>
                      <a:r>
                        <a:rPr lang="en-US" sz="1400" b="1" dirty="0">
                          <a:solidFill>
                            <a:srgbClr val="A8552F"/>
                          </a:solidFill>
                        </a:rPr>
                        <a:t> working</a:t>
                      </a:r>
                      <a:r>
                        <a:rPr sz="1400" b="1" dirty="0">
                          <a:solidFill>
                            <a:srgbClr val="A8552F"/>
                          </a:solidFill>
                        </a:rPr>
                        <a:t> in silos</a:t>
                      </a:r>
                    </a:p>
                  </a:txBody>
                  <a:tcPr>
                    <a:solidFill>
                      <a:srgbClr val="E8EFE6"/>
                    </a:solidFill>
                  </a:tcPr>
                </a:tc>
                <a:extLst>
                  <a:ext uri="{0D108BD9-81ED-4DB2-BD59-A6C34878D82A}">
                    <a16:rowId xmlns:a16="http://schemas.microsoft.com/office/drawing/2014/main" val="10002"/>
                  </a:ext>
                </a:extLst>
              </a:tr>
              <a:tr h="601980">
                <a:tc>
                  <a:txBody>
                    <a:bodyPr/>
                    <a:lstStyle/>
                    <a:p>
                      <a:r>
                        <a:rPr sz="1400" b="1"/>
                        <a:t>Third-Party Audits</a:t>
                      </a:r>
                    </a:p>
                  </a:txBody>
                  <a:tcPr>
                    <a:solidFill>
                      <a:srgbClr val="FFFDF8"/>
                    </a:solidFill>
                  </a:tcPr>
                </a:tc>
                <a:tc>
                  <a:txBody>
                    <a:bodyPr/>
                    <a:lstStyle/>
                    <a:p>
                      <a:r>
                        <a:rPr sz="1400" b="0"/>
                        <a:t>Phased move to strict audits</a:t>
                      </a:r>
                    </a:p>
                  </a:txBody>
                  <a:tcPr>
                    <a:solidFill>
                      <a:srgbClr val="FFFDF8"/>
                    </a:solidFill>
                  </a:tcPr>
                </a:tc>
                <a:tc>
                  <a:txBody>
                    <a:bodyPr/>
                    <a:lstStyle/>
                    <a:p>
                      <a:r>
                        <a:rPr sz="1400" b="0"/>
                        <a:t>Expanding requirements</a:t>
                      </a:r>
                    </a:p>
                  </a:txBody>
                  <a:tcPr>
                    <a:solidFill>
                      <a:srgbClr val="FFFDF8"/>
                    </a:solidFill>
                  </a:tcPr>
                </a:tc>
                <a:tc>
                  <a:txBody>
                    <a:bodyPr/>
                    <a:lstStyle/>
                    <a:p>
                      <a:r>
                        <a:rPr sz="1400" b="0" dirty="0"/>
                        <a:t>Moving to mandatory audits</a:t>
                      </a:r>
                    </a:p>
                  </a:txBody>
                  <a:tcPr>
                    <a:solidFill>
                      <a:srgbClr val="FFFDF8"/>
                    </a:solidFill>
                  </a:tcPr>
                </a:tc>
                <a:tc>
                  <a:txBody>
                    <a:bodyPr/>
                    <a:lstStyle/>
                    <a:p>
                      <a:r>
                        <a:rPr sz="1400" b="1">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400" b="1"/>
                        <a:t>Future Claims &amp; Offsets</a:t>
                      </a:r>
                    </a:p>
                  </a:txBody>
                  <a:tcPr>
                    <a:solidFill>
                      <a:srgbClr val="E8EFE6"/>
                    </a:solidFill>
                  </a:tcPr>
                </a:tc>
                <a:tc>
                  <a:txBody>
                    <a:bodyPr/>
                    <a:lstStyle/>
                    <a:p>
                      <a:r>
                        <a:rPr sz="1400" b="0"/>
                        <a:t>Strict limits on offset claims</a:t>
                      </a:r>
                    </a:p>
                  </a:txBody>
                  <a:tcPr>
                    <a:solidFill>
                      <a:srgbClr val="E8EFE6"/>
                    </a:solidFill>
                  </a:tcPr>
                </a:tc>
                <a:tc>
                  <a:txBody>
                    <a:bodyPr/>
                    <a:lstStyle/>
                    <a:p>
                      <a:r>
                        <a:rPr sz="1400" b="0"/>
                        <a:t>Subject to regulatory checks</a:t>
                      </a:r>
                    </a:p>
                  </a:txBody>
                  <a:tcPr>
                    <a:solidFill>
                      <a:srgbClr val="E8EFE6"/>
                    </a:solidFill>
                  </a:tcPr>
                </a:tc>
                <a:tc>
                  <a:txBody>
                    <a:bodyPr/>
                    <a:lstStyle/>
                    <a:p>
                      <a:r>
                        <a:rPr sz="1400" b="0"/>
                        <a:t>Actively policed under law</a:t>
                      </a:r>
                    </a:p>
                  </a:txBody>
                  <a:tcPr>
                    <a:solidFill>
                      <a:srgbClr val="E8EFE6"/>
                    </a:solidFill>
                  </a:tcPr>
                </a:tc>
                <a:tc>
                  <a:txBody>
                    <a:bodyPr/>
                    <a:lstStyle/>
                    <a:p>
                      <a:r>
                        <a:rPr sz="1400" b="1" dirty="0">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lang="en-IN" sz="1400" dirty="0"/>
                        <a:t>Proportionate penalties</a:t>
                      </a:r>
                    </a:p>
                  </a:txBody>
                  <a:tcPr>
                    <a:solidFill>
                      <a:srgbClr val="FFFDF8"/>
                    </a:solidFill>
                  </a:tcPr>
                </a:tc>
                <a:tc>
                  <a:txBody>
                    <a:bodyPr/>
                    <a:lstStyle/>
                    <a:p>
                      <a:r>
                        <a:rPr sz="1400" b="0"/>
                        <a:t>Linked to company turnover</a:t>
                      </a:r>
                    </a:p>
                  </a:txBody>
                  <a:tcPr>
                    <a:solidFill>
                      <a:srgbClr val="FFFDF8"/>
                    </a:solidFill>
                  </a:tcPr>
                </a:tc>
                <a:tc>
                  <a:txBody>
                    <a:bodyPr/>
                    <a:lstStyle/>
                    <a:p>
                      <a:r>
                        <a:rPr sz="1400" b="0"/>
                        <a:t>Up to 10% global turnover</a:t>
                      </a:r>
                    </a:p>
                  </a:txBody>
                  <a:tcPr>
                    <a:solidFill>
                      <a:srgbClr val="FFFDF8"/>
                    </a:solidFill>
                  </a:tcPr>
                </a:tc>
                <a:tc>
                  <a:txBody>
                    <a:bodyPr/>
                    <a:lstStyle/>
                    <a:p>
                      <a:r>
                        <a:rPr sz="1400" b="0"/>
                        <a:t>High civil penalty exposure</a:t>
                      </a:r>
                    </a:p>
                  </a:txBody>
                  <a:tcPr>
                    <a:solidFill>
                      <a:srgbClr val="FFFDF8"/>
                    </a:solidFill>
                  </a:tcPr>
                </a:tc>
                <a:tc>
                  <a:txBody>
                    <a:bodyPr/>
                    <a:lstStyle/>
                    <a:p>
                      <a:r>
                        <a:rPr sz="1400" b="1" dirty="0">
                          <a:solidFill>
                            <a:srgbClr val="A8552F"/>
                          </a:solidFill>
                        </a:rPr>
                        <a:t>Low fixed cap </a:t>
                      </a:r>
                      <a:r>
                        <a:rPr lang="en-US" sz="1400" b="1" dirty="0">
                          <a:solidFill>
                            <a:srgbClr val="A8552F"/>
                          </a:solidFill>
                        </a:rPr>
                        <a:t>penalties</a:t>
                      </a:r>
                      <a:endParaRPr sz="1400" b="1" dirty="0">
                        <a:solidFill>
                          <a:srgbClr val="A8552F"/>
                        </a:solidFill>
                      </a:endParaRP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60862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1" name="Rounded Rectangle 10"/>
          <p:cNvSpPr/>
          <p:nvPr/>
        </p:nvSpPr>
        <p:spPr>
          <a:xfrm>
            <a:off x="608357" y="5015806"/>
            <a:ext cx="10835640" cy="1384994"/>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96928" y="5194288"/>
            <a:ext cx="10575640" cy="112338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latin typeface="Avenir Next" panose="020B0503020202020204" pitchFamily="34" charset="0"/>
              </a:rPr>
              <a:t>Research Question 5: </a:t>
            </a:r>
            <a:r>
              <a:rPr lang="en-IN" sz="1400" b="1"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p>
          <a:p>
            <a:pPr algn="just">
              <a:defRPr sz="1100">
                <a:solidFill>
                  <a:srgbClr val="282828"/>
                </a:solidFill>
              </a:defRPr>
            </a:pPr>
            <a:endParaRPr lang="en-US" sz="1400" dirty="0">
              <a:latin typeface="Avenir Next" panose="020B0503020202020204" pitchFamily="34" charset="0"/>
            </a:endParaRPr>
          </a:p>
          <a:p>
            <a:pPr algn="just">
              <a:defRPr sz="1100">
                <a:solidFill>
                  <a:srgbClr val="282828"/>
                </a:solidFill>
              </a:defRPr>
            </a:pPr>
            <a:r>
              <a:rPr sz="1400" dirty="0">
                <a:latin typeface="Avenir Next" panose="020B0503020202020204" pitchFamily="34" charset="0"/>
              </a:rPr>
              <a:t>Answer to RQ5: Effective systems demand proof before publication, require independent audits, connect their regulators with automatic referrals, and link fines to turnover so honesty is always the smart business choice.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104233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462633" y="6339493"/>
            <a:ext cx="11200000" cy="646331"/>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765637"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813893"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Claim Substantiation</a:t>
            </a:r>
          </a:p>
        </p:txBody>
      </p:sp>
      <p:sp>
        <p:nvSpPr>
          <p:cNvPr id="10" name="Chevron 9"/>
          <p:cNvSpPr/>
          <p:nvPr/>
        </p:nvSpPr>
        <p:spPr>
          <a:xfrm>
            <a:off x="4862149"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910405"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958661"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383154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ounded Rectangle 13"/>
          <p:cNvSpPr/>
          <p:nvPr/>
        </p:nvSpPr>
        <p:spPr>
          <a:xfrm>
            <a:off x="601035" y="1185641"/>
            <a:ext cx="4275765" cy="626646"/>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ea typeface="+mn-lt"/>
                <a:cs typeface="+mn-lt"/>
              </a:rPr>
              <a:t>Stronger jurisdictions share common design features</a:t>
            </a:r>
            <a:endParaRPr lang="en-US" sz="1600" dirty="0">
              <a:latin typeface="Avenir Next" panose="020B0503020202020204" pitchFamily="34" charset="0"/>
            </a:endParaRPr>
          </a:p>
        </p:txBody>
      </p:sp>
      <p:sp>
        <p:nvSpPr>
          <p:cNvPr id="15" name="TextBox 14"/>
          <p:cNvSpPr txBox="1"/>
          <p:nvPr/>
        </p:nvSpPr>
        <p:spPr>
          <a:xfrm>
            <a:off x="765637" y="1840084"/>
            <a:ext cx="5292991"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Proof Before Publishing: Mandatory verification prior to claims (ex ante).</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Independent Audits: Mandatory third-party assurance that escalates over time.</a:t>
            </a:r>
          </a:p>
          <a:p>
            <a:pPr>
              <a:spcAft>
                <a:spcPts val="500"/>
              </a:spcAft>
              <a:defRPr sz="1150">
                <a:solidFill>
                  <a:srgbClr val="2D2D2D"/>
                </a:solidFill>
              </a:defRPr>
            </a:pPr>
            <a:r>
              <a:rPr sz="1600" dirty="0">
                <a:latin typeface="Avenir Next" panose="020B0503020202020204" pitchFamily="34" charset="0"/>
              </a:rPr>
              <a:t>• Clear Accountability: Direct liability routes for decision-makers.</a:t>
            </a:r>
          </a:p>
          <a:p>
            <a:pPr>
              <a:spcAft>
                <a:spcPts val="500"/>
              </a:spcAft>
              <a:defRPr sz="1150">
                <a:solidFill>
                  <a:srgbClr val="2D2D2D"/>
                </a:solidFill>
              </a:defRPr>
            </a:pPr>
            <a:r>
              <a:rPr sz="1600" dirty="0">
                <a:latin typeface="Avenir Next" panose="020B0503020202020204" pitchFamily="34" charset="0"/>
              </a:rPr>
              <a:t>• Turnover-Linked Penalties: Fines scaled to company revenue to deter misconduct.</a:t>
            </a:r>
          </a:p>
          <a:p>
            <a:pPr>
              <a:defRPr sz="1150">
                <a:solidFill>
                  <a:srgbClr val="2D2D2D"/>
                </a:solidFill>
              </a:defRPr>
            </a:pPr>
            <a:r>
              <a:rPr sz="1600" dirty="0">
                <a:latin typeface="Avenir Next" panose="020B0503020202020204" pitchFamily="34" charset="0"/>
              </a:rPr>
              <a:t>• Lifecycle Coverage: Rules apply from product labels to financial filings.</a:t>
            </a:r>
          </a:p>
        </p:txBody>
      </p:sp>
      <p:sp>
        <p:nvSpPr>
          <p:cNvPr id="16" name="Rounded Rectangle 15"/>
          <p:cNvSpPr/>
          <p:nvPr/>
        </p:nvSpPr>
        <p:spPr>
          <a:xfrm>
            <a:off x="6350320" y="1214172"/>
            <a:ext cx="4897839" cy="383154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ounded Rectangle 16"/>
          <p:cNvSpPr/>
          <p:nvPr/>
        </p:nvSpPr>
        <p:spPr>
          <a:xfrm>
            <a:off x="6276188" y="1185641"/>
            <a:ext cx="3077362" cy="588635"/>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rPr sz="1600">
                <a:latin typeface="Avenir Next" panose="020B0503020202020204" pitchFamily="34" charset="0"/>
              </a:rPr>
              <a:t>Indian Regulatory Design</a:t>
            </a:r>
            <a:endParaRPr sz="1600" dirty="0">
              <a:latin typeface="Avenir Next" panose="020B0503020202020204" pitchFamily="34" charset="0"/>
            </a:endParaRPr>
          </a:p>
        </p:txBody>
      </p:sp>
      <p:sp>
        <p:nvSpPr>
          <p:cNvPr id="18" name="TextBox 17"/>
          <p:cNvSpPr txBox="1"/>
          <p:nvPr/>
        </p:nvSpPr>
        <p:spPr>
          <a:xfrm>
            <a:off x="6402593" y="1811942"/>
            <a:ext cx="4933553"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Reactive Policing: Authorities only step in after an ad has already run.</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Diluted Auditing: Mandatory audits postponed and replaced with soft checks.</a:t>
            </a:r>
          </a:p>
          <a:p>
            <a:pPr>
              <a:spcAft>
                <a:spcPts val="500"/>
              </a:spcAft>
              <a:defRPr sz="1150">
                <a:solidFill>
                  <a:srgbClr val="2D2D2D"/>
                </a:solidFill>
              </a:defRPr>
            </a:pPr>
            <a:r>
              <a:rPr sz="1600" dirty="0">
                <a:latin typeface="Avenir Next" panose="020B0503020202020204" pitchFamily="34" charset="0"/>
              </a:rPr>
              <a:t>• No Pre-Approval: No mandatory third-party verification before claims are made.</a:t>
            </a:r>
          </a:p>
          <a:p>
            <a:pPr>
              <a:spcAft>
                <a:spcPts val="500"/>
              </a:spcAft>
              <a:defRPr sz="1150">
                <a:solidFill>
                  <a:srgbClr val="2D2D2D"/>
                </a:solidFill>
              </a:defRPr>
            </a:pPr>
            <a:r>
              <a:rPr sz="1600" dirty="0">
                <a:latin typeface="Avenir Next" panose="020B0503020202020204" pitchFamily="34" charset="0"/>
              </a:rPr>
              <a:t>• Regulatory Rollbacks: Repeated delays and narrowed reporting scopes.</a:t>
            </a:r>
          </a:p>
          <a:p>
            <a:pPr>
              <a:defRPr sz="1150">
                <a:solidFill>
                  <a:srgbClr val="2D2D2D"/>
                </a:solidFill>
              </a:defRPr>
            </a:pPr>
            <a:r>
              <a:rPr sz="1600" dirty="0">
                <a:latin typeface="Avenir Next" panose="020B0503020202020204" pitchFamily="34" charset="0"/>
              </a:rPr>
              <a:t>• Fixed Low Penalties: Nominal fines that do not deter large corporations.</a:t>
            </a: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740354" y="900000"/>
            <a:ext cx="5116716" cy="2262935"/>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94758" y="8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851248" y="960000"/>
            <a:ext cx="5044439" cy="2046714"/>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a:p>
            <a:pPr>
              <a:defRPr sz="1150">
                <a:solidFill>
                  <a:srgbClr val="2D2D2D"/>
                </a:solidFill>
              </a:defRPr>
            </a:pPr>
            <a:r>
              <a:rPr sz="1600" dirty="0">
                <a:latin typeface="Avenir Next" panose="020B0503020202020204" pitchFamily="34" charset="0"/>
              </a:rP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5" y="3500000"/>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19991" y="34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860839" y="3560000"/>
            <a:ext cx="5033807"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&amp; Ambiguity</a:t>
            </a: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662253" y="4500000"/>
            <a:ext cx="5116716"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74656" y="44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5</a:t>
            </a:r>
            <a:endParaRPr sz="12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711851" y="4560000"/>
            <a:ext cx="5067118" cy="1672253"/>
          </a:xfrm>
          <a:prstGeom prst="rect">
            <a:avLst/>
          </a:prstGeom>
          <a:noFill/>
        </p:spPr>
        <p:txBody>
          <a:bodyPr wrap="square">
            <a:spAutoFit/>
          </a:bodyPr>
          <a:lstStyle/>
          <a:p>
            <a:pPr algn="l">
              <a:spcAft>
                <a:spcPts val="400"/>
              </a:spcAft>
              <a:defRPr sz="1350" b="1">
                <a:solidFill>
                  <a:srgbClr val="A8552F"/>
                </a:solidFill>
                <a:latin typeface="Calibri"/>
              </a:defRPr>
            </a:pPr>
            <a:r>
              <a:rPr sz="1600" b="1" dirty="0">
                <a:solidFill>
                  <a:srgbClr val="12402D"/>
                </a:solidFill>
                <a:latin typeface="Avenir Next" panose="020B0503020202020204" pitchFamily="34" charset="0"/>
              </a:rPr>
              <a:t>Penalty Arbitrage (Greenwashing as a Strategy)</a:t>
            </a:r>
            <a:endParaRPr lang="en-IN" sz="1600" b="1" dirty="0">
              <a:solidFill>
                <a:srgbClr val="12402D"/>
              </a:solidFill>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Fixed low caps: CCPA ₹50L, Section 166(7) ₹5L, FSSAI ₹10L—far below global benchmarks (EU/UK 10% turnover).</a:t>
            </a:r>
          </a:p>
          <a:p>
            <a:pPr>
              <a:defRPr sz="1100">
                <a:solidFill>
                  <a:srgbClr val="2D2D2D"/>
                </a:solidFill>
              </a:defRPr>
            </a:pPr>
            <a:r>
              <a:rPr sz="1600" dirty="0">
                <a:latin typeface="Avenir Next" panose="020B0503020202020204" pitchFamily="34" charset="0"/>
              </a:rP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584260" y="900000"/>
            <a:ext cx="5196834" cy="15475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974656" y="8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695401" y="960000"/>
            <a:ext cx="5145784" cy="1426031"/>
          </a:xfrm>
          <a:prstGeom prst="rect">
            <a:avLst/>
          </a:prstGeom>
          <a:noFill/>
        </p:spPr>
        <p:txBody>
          <a:bodyPr wrap="square">
            <a:spAutoFit/>
          </a:bodyPr>
          <a:lstStyle/>
          <a:p>
            <a:pPr algn="l">
              <a:spcAft>
                <a:spcPts val="400"/>
              </a:spcAft>
              <a:defRPr sz="1350" b="1">
                <a:solidFill>
                  <a:srgbClr val="12402D"/>
                </a:solidFill>
                <a:latin typeface="Calibri"/>
              </a:defRPr>
            </a:pPr>
            <a:r>
              <a:rPr sz="1600" dirty="0">
                <a:latin typeface="Avenir Next" panose="020B0503020202020204" pitchFamily="34" charset="0"/>
              </a:rPr>
              <a:t>Regulatory Backsliding</a:t>
            </a:r>
          </a:p>
          <a:p>
            <a:pPr>
              <a:spcAft>
                <a:spcPts val="400"/>
              </a:spcAft>
              <a:defRPr sz="1100">
                <a:solidFill>
                  <a:srgbClr val="2D2D2D"/>
                </a:solidFill>
              </a:defRPr>
            </a:pPr>
            <a:r>
              <a:rPr sz="1600" dirty="0">
                <a:latin typeface="Avenir Next" panose="020B0503020202020204" pitchFamily="34" charset="0"/>
              </a:rPr>
              <a:t>• SEBI diluted mandatory audits to optional 'assessment' and deferred supply-chain reporting.</a:t>
            </a:r>
          </a:p>
          <a:p>
            <a:pPr>
              <a:defRPr sz="1100">
                <a:solidFill>
                  <a:srgbClr val="2D2D2D"/>
                </a:solidFill>
              </a:defRPr>
            </a:pPr>
            <a:r>
              <a:rPr sz="1600" dirty="0">
                <a:latin typeface="Avenir Next" panose="020B0503020202020204" pitchFamily="34" charset="0"/>
              </a:rP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662253" y="260475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74656" y="254853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4</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711851" y="2664750"/>
            <a:ext cx="5069243" cy="1426031"/>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sz="1600" dirty="0">
                <a:latin typeface="Avenir Next" panose="020B0503020202020204" pitchFamily="34" charset="0"/>
              </a:rP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Purely complaint-driven; consumer cases take 2–5 years to resolve.</a:t>
            </a: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p>
        </p:txBody>
      </p:sp>
      <p:sp>
        <p:nvSpPr>
          <p:cNvPr id="66" name="TextBox 65"/>
          <p:cNvSpPr txBox="1"/>
          <p:nvPr/>
        </p:nvSpPr>
        <p:spPr>
          <a:xfrm>
            <a:off x="568904" y="6366652"/>
            <a:ext cx="11400000" cy="477054"/>
          </a:xfrm>
          <a:prstGeom prst="rect">
            <a:avLst/>
          </a:prstGeom>
          <a:noFill/>
        </p:spPr>
        <p:txBody>
          <a:bodyPr wrap="square" lIns="45720" tIns="22860" rIns="45720" bIns="22860" anchor="t">
            <a:spAutoFit/>
          </a:bodyPr>
          <a:lstStyle/>
          <a:p>
            <a:r>
              <a:rPr sz="1400" i="0" dirty="0">
                <a:solidFill>
                  <a:srgbClr val="6B6F6A"/>
                </a:solidFill>
                <a:latin typeface="Avenir Next" panose="020B0503020202020204" pitchFamily="34" charset="0"/>
              </a:rPr>
              <a:t>Research Question 6: </a:t>
            </a:r>
            <a:r>
              <a:rPr lang="en-IN" sz="1400" dirty="0">
                <a:latin typeface="Avenir Next" panose="020B0503020202020204" pitchFamily="34" charset="0"/>
                <a:ea typeface="+mn-lt"/>
                <a:cs typeface="+mn-lt"/>
              </a:rPr>
              <a:t>How do fragmentation, overlap, weak coordination, and limited enforcement in India's regulatory ecosystem, impede accountability for greenwashing?</a:t>
            </a:r>
            <a:endParaRPr lang="en-US" sz="1400" dirty="0">
              <a:latin typeface="Avenir Next" panose="020B0503020202020204" pitchFamily="34" charset="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270126"/>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corporate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 </a:t>
            </a:r>
            <a:r>
              <a:rPr lang="en-IN" sz="13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r>
              <a:rPr sz="1300" dirty="0">
                <a:solidFill>
                  <a:srgbClr val="2D2D2D"/>
                </a:solidFill>
                <a:latin typeface="Avenir Next" panose="020B0503020202020204" pitchFamily="34" charset="0"/>
              </a:rPr>
              <a:t>.</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35664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609862" y="1350000"/>
            <a:ext cx="3263122" cy="1508105"/>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609862" y="2945300"/>
            <a:ext cx="3263122" cy="3116238"/>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Evaluates </a:t>
            </a:r>
            <a:r>
              <a:rPr lang="en-US" sz="1300" dirty="0">
                <a:solidFill>
                  <a:srgbClr val="2D2D2D"/>
                </a:solidFill>
                <a:latin typeface="Avenir Next" panose="020B0503020202020204" pitchFamily="34" charset="0"/>
              </a:rPr>
              <a:t>whether legal costs exceed benefits</a:t>
            </a:r>
            <a:r>
              <a:rPr sz="1300" dirty="0">
                <a:solidFill>
                  <a:srgbClr val="2D2D2D"/>
                </a:solidFill>
                <a:latin typeface="Avenir Next" panose="020B0503020202020204" pitchFamily="34" charset="0"/>
              </a:rPr>
              <a:t> across Company Law, Securities Law, and Consumer Protection.</a:t>
            </a: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ordinary liability routes are weak. Section 166(2) lacks open standing;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corporate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encompassing</a:t>
            </a:r>
            <a:r>
              <a:rPr sz="1300" dirty="0">
                <a:solidFill>
                  <a:srgbClr val="2D2D2D"/>
                </a:solidFill>
                <a:latin typeface="Avenir Next" panose="020B0503020202020204" pitchFamily="34" charset="0"/>
              </a:rPr>
              <a:t> products,</a:t>
            </a:r>
            <a:r>
              <a:rPr lang="en-US" sz="1300" dirty="0">
                <a:solidFill>
                  <a:srgbClr val="2D2D2D"/>
                </a:solidFill>
                <a:latin typeface="Avenir Next" panose="020B0503020202020204" pitchFamily="34" charset="0"/>
              </a:rPr>
              <a:t> ads,</a:t>
            </a:r>
            <a:r>
              <a:rPr sz="1300" dirty="0">
                <a:solidFill>
                  <a:srgbClr val="2D2D2D"/>
                </a:solidFill>
                <a:latin typeface="Avenir Next" panose="020B0503020202020204" pitchFamily="34" charset="0"/>
              </a:rPr>
              <a:t> corporate </a:t>
            </a:r>
            <a:r>
              <a:rPr lang="en-US" sz="1300" dirty="0">
                <a:solidFill>
                  <a:srgbClr val="2D2D2D"/>
                </a:solidFill>
                <a:latin typeface="Avenir Next" panose="020B0503020202020204" pitchFamily="34" charset="0"/>
              </a:rPr>
              <a:t>annual </a:t>
            </a:r>
            <a:r>
              <a:rPr sz="1300" dirty="0">
                <a:solidFill>
                  <a:srgbClr val="2D2D2D"/>
                </a:solidFill>
                <a:latin typeface="Avenir Next" panose="020B0503020202020204" pitchFamily="34" charset="0"/>
              </a:rPr>
              <a:t>reports,</a:t>
            </a:r>
            <a:r>
              <a:rPr lang="en-US" sz="1300" dirty="0">
                <a:solidFill>
                  <a:srgbClr val="2D2D2D"/>
                </a:solidFill>
                <a:latin typeface="Avenir Next" panose="020B0503020202020204" pitchFamily="34" charset="0"/>
              </a:rPr>
              <a:t> ESG Filings</a:t>
            </a:r>
            <a:r>
              <a:rPr sz="1300" dirty="0">
                <a:solidFill>
                  <a:srgbClr val="2D2D2D"/>
                </a:solidFill>
                <a:latin typeface="Avenir Next" panose="020B0503020202020204" pitchFamily="34" charset="0"/>
              </a:rPr>
              <a:t> and </a:t>
            </a:r>
            <a:r>
              <a:rPr lang="en-US" sz="1300" dirty="0">
                <a:solidFill>
                  <a:srgbClr val="2D2D2D"/>
                </a:solidFill>
                <a:latin typeface="Avenir Next" panose="020B0503020202020204" pitchFamily="34" charset="0"/>
              </a:rPr>
              <a:t>G</a:t>
            </a:r>
            <a:r>
              <a:rPr sz="1300" dirty="0">
                <a:solidFill>
                  <a:srgbClr val="2D2D2D"/>
                </a:solidFill>
                <a:latin typeface="Avenir Next" panose="020B0503020202020204" pitchFamily="34" charset="0"/>
              </a:rPr>
              <a:t>reen </a:t>
            </a:r>
            <a:r>
              <a:rPr lang="en-US" sz="1300" dirty="0">
                <a:solidFill>
                  <a:srgbClr val="2D2D2D"/>
                </a:solidFill>
                <a:latin typeface="Avenir Next" panose="020B0503020202020204" pitchFamily="34" charset="0"/>
              </a:rPr>
              <a:t>B</a:t>
            </a:r>
            <a:r>
              <a:rPr sz="1300" dirty="0">
                <a:solidFill>
                  <a:srgbClr val="2D2D2D"/>
                </a:solidFill>
                <a:latin typeface="Avenir Next" panose="020B0503020202020204" pitchFamily="34" charset="0"/>
              </a:rPr>
              <a:t>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188762"/>
            <a:ext cx="10911841" cy="47397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322112"/>
            <a:ext cx="10475056" cy="231602"/>
          </a:xfrm>
          <a:prstGeom prst="rect">
            <a:avLst/>
          </a:prstGeom>
          <a:noFill/>
        </p:spPr>
        <p:txBody>
          <a:bodyPr wrap="square" lIns="0" tIns="0" rIns="0" bIns="0">
            <a:spAutoFit/>
          </a:bodyPr>
          <a:lstStyle/>
          <a:p>
            <a:pPr algn="ctr">
              <a:lnSpc>
                <a:spcPct val="110000"/>
              </a:lnSpc>
              <a:defRPr sz="1300" b="1">
                <a:solidFill>
                  <a:srgbClr val="12402D"/>
                </a:solidFill>
              </a:defRPr>
            </a:pPr>
            <a:r>
              <a:rPr sz="1400" dirty="0">
                <a:latin typeface="Avenir Next" panose="020B0503020202020204" pitchFamily="34" charset="0"/>
              </a:rPr>
              <a:t>All Three Hypotheses Stand Formally Validated</a:t>
            </a:r>
            <a:endParaRPr sz="14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2057400"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2057400"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2057400"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9" name="Rounded Rectangle 28">
            <a:extLst>
              <a:ext uri="{FF2B5EF4-FFF2-40B4-BE49-F238E27FC236}">
                <a16:creationId xmlns:a16="http://schemas.microsoft.com/office/drawing/2014/main" id="{26F3CA9D-8EC4-C356-F7AF-706559F73CDC}"/>
              </a:ext>
            </a:extLst>
          </p:cNvPr>
          <p:cNvSpPr/>
          <p:nvPr/>
        </p:nvSpPr>
        <p:spPr>
          <a:xfrm>
            <a:off x="611037" y="5570319"/>
            <a:ext cx="10735056" cy="86290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p:cNvSpPr txBox="1"/>
          <p:nvPr/>
        </p:nvSpPr>
        <p:spPr>
          <a:xfrm>
            <a:off x="734355" y="5702107"/>
            <a:ext cx="10405998" cy="692497"/>
          </a:xfrm>
          <a:prstGeom prst="rect">
            <a:avLst/>
          </a:prstGeom>
          <a:noFill/>
        </p:spPr>
        <p:txBody>
          <a:bodyPr wrap="square">
            <a:spAutoFit/>
          </a:bodyPr>
          <a:lstStyle/>
          <a:p>
            <a:pPr>
              <a:defRPr sz="1200">
                <a:solidFill>
                  <a:srgbClr val="6B6F6A"/>
                </a:solidFill>
                <a:latin typeface="Avenir Next"/>
              </a:defRPr>
            </a:pPr>
            <a:r>
              <a:rPr sz="1400" b="0" dirty="0">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latin typeface="Avenir Next"/>
            </a:endParaRPr>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877824"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841248" y="1791191"/>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471416"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468215" y="1763759"/>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8065008"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8016087" y="173632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389151"/>
            <a:ext cx="10735056" cy="117316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447325"/>
            <a:ext cx="10475056" cy="1031051"/>
          </a:xfrm>
          <a:prstGeom prst="rect">
            <a:avLst/>
          </a:prstGeom>
          <a:noFill/>
        </p:spPr>
        <p:txBody>
          <a:bodyPr wrap="square" lIns="45720" tIns="22860" rIns="45720" bIns="22860" anchor="ctr">
            <a:spAutoFit/>
          </a:bodyPr>
          <a:lstStyle/>
          <a:p>
            <a:pPr algn="just">
              <a:defRPr sz="1100">
                <a:solidFill>
                  <a:srgbClr val="282828"/>
                </a:solidFill>
              </a:defRPr>
            </a:pPr>
            <a:r>
              <a:rPr lang="en-IN" sz="140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p>
          <a:p>
            <a:pPr algn="just">
              <a:defRPr sz="1100">
                <a:solidFill>
                  <a:srgbClr val="282828"/>
                </a:solidFill>
              </a:defRPr>
            </a:pPr>
            <a:endParaRPr lang="en-US" sz="800" dirty="0"/>
          </a:p>
          <a:p>
            <a:pPr algn="just">
              <a:defRPr sz="1100">
                <a:solidFill>
                  <a:srgbClr val="282828"/>
                </a:solidFill>
              </a:defRPr>
            </a:pPr>
            <a:r>
              <a:rPr sz="1400" dirty="0"/>
              <a:t>Answer to RQ7: Three statutes working together in sequence—substantiate before publishing, audit independently, refer cases automatically between agencies, and link penalties to turnover so leadership carries the real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6ebd02e2-39fe-9866-8e33-718e47e27752&quot;,&quot;title&quot;:&quot;Condense Text in Sections 1 &amp; 3&quot;,&quot;transport&quot;:&quot;responses&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1810</TotalTime>
  <Words>4811</Words>
  <Application>Microsoft Macintosh PowerPoint</Application>
  <PresentationFormat>Widescreen</PresentationFormat>
  <Paragraphs>478</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1350</cp:revision>
  <dcterms:created xsi:type="dcterms:W3CDTF">2013-01-27T09:14:16Z</dcterms:created>
  <dcterms:modified xsi:type="dcterms:W3CDTF">2026-08-16T08:20:59Z</dcterms:modified>
  <cp:category/>
</cp:coreProperties>
</file>