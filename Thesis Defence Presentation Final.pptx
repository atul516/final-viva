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580"/>
    <p:restoredTop sz="94629"/>
  </p:normalViewPr>
  <p:slideViewPr>
    <p:cSldViewPr snapToGrid="0" snapToObjects="1">
      <p:cViewPr varScale="1">
        <p:scale>
          <a:sx n="86" d="100"/>
          <a:sy n="86" d="100"/>
        </p:scale>
        <p:origin x="216"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a:t>
            </a:r>
            <a:r>
              <a:rPr sz="3200" b="1" dirty="0">
                <a:solidFill>
                  <a:srgbClr val="173F35"/>
                </a:solidFill>
                <a:latin typeface="Avenir Next Demi Bold"/>
              </a:rPr>
              <a:t>?</a:t>
            </a:r>
          </a:p>
        </p:txBody>
      </p:sp>
      <p:sp>
        <p:nvSpPr>
          <p:cNvPr id="6" name="Rounded Rectangle 5"/>
          <p:cNvSpPr/>
          <p:nvPr/>
        </p:nvSpPr>
        <p:spPr>
          <a:xfrm>
            <a:off x="594360" y="1936340"/>
            <a:ext cx="5760720" cy="4524993"/>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02730" y="188482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29067"/>
            <a:ext cx="5486400" cy="4208844"/>
          </a:xfrm>
          <a:prstGeom prst="rect">
            <a:avLst/>
          </a:prstGeom>
          <a:noFill/>
        </p:spPr>
        <p:txBody>
          <a:bodyPr wrap="square" tIns="91440" bIns="91440">
            <a:spAutoFit/>
          </a:bodyPr>
          <a:lstStyle/>
          <a:p>
            <a:pPr>
              <a:spcAft>
                <a:spcPts val="600"/>
              </a:spcAft>
              <a:defRPr sz="1450" b="1">
                <a:solidFill>
                  <a:srgbClr val="173F35"/>
                </a:solidFill>
              </a:defRPr>
            </a:pPr>
            <a:r>
              <a:rPr sz="1400" dirty="0">
                <a:latin typeface="Avenir Next" panose="020B0503020202020204" pitchFamily="34" charset="0"/>
              </a:rPr>
              <a:t>The Eco-Facade  (What Companies Show You)</a:t>
            </a:r>
          </a:p>
          <a:p>
            <a:pPr>
              <a:spcAft>
                <a:spcPts val="500"/>
              </a:spcAft>
            </a:pPr>
            <a:r>
              <a:rPr sz="1400" b="1" dirty="0">
                <a:solidFill>
                  <a:srgbClr val="0E8A74"/>
                </a:solidFill>
                <a:latin typeface="Avenir Next" panose="020B0503020202020204" pitchFamily="34" charset="0"/>
              </a:rPr>
              <a:t>• Visual &amp; Textual Trickery: </a:t>
            </a:r>
            <a:r>
              <a:rPr sz="1400" dirty="0">
                <a:solidFill>
                  <a:srgbClr val="1B1B2F"/>
                </a:solidFill>
                <a:latin typeface="Avenir Next" panose="020B0503020202020204" pitchFamily="34" charset="0"/>
              </a:rPr>
              <a:t>Earthy brown packaging, green leaves, and unverified buzzwords ("100% Eco", "Natural", "Conscious", "Clean").</a:t>
            </a:r>
          </a:p>
          <a:p>
            <a:pPr>
              <a:spcAft>
                <a:spcPts val="500"/>
              </a:spcAft>
            </a:pPr>
            <a:r>
              <a:rPr sz="1400" b="1" dirty="0">
                <a:solidFill>
                  <a:srgbClr val="0E8A74"/>
                </a:solidFill>
                <a:latin typeface="Avenir Next" panose="020B0503020202020204" pitchFamily="34" charset="0"/>
              </a:rPr>
              <a:t>• Self-Awarded Seals: </a:t>
            </a:r>
            <a:r>
              <a:rPr sz="1400" dirty="0">
                <a:solidFill>
                  <a:srgbClr val="1B1B2F"/>
                </a:solidFill>
                <a:latin typeface="Avenir Next" panose="020B0503020202020204" pitchFamily="34" charset="0"/>
              </a:rPr>
              <a:t>Inventing custom green stamps &amp; badges that imitate official third-party certifications.</a:t>
            </a:r>
          </a:p>
          <a:p>
            <a:pPr>
              <a:spcAft>
                <a:spcPts val="500"/>
              </a:spcAft>
            </a:pPr>
            <a:r>
              <a:rPr sz="1400" b="1" dirty="0">
                <a:solidFill>
                  <a:srgbClr val="0E8A74"/>
                </a:solidFill>
                <a:latin typeface="Avenir Next" panose="020B0503020202020204" pitchFamily="34" charset="0"/>
              </a:rPr>
              <a:t>• Halo Marketing: </a:t>
            </a:r>
            <a:r>
              <a:rPr sz="1400" dirty="0">
                <a:solidFill>
                  <a:srgbClr val="1B1B2F"/>
                </a:solidFill>
                <a:latin typeface="Avenir Next" panose="020B0503020202020204" pitchFamily="34" charset="0"/>
              </a:rPr>
              <a:t>High-budget PR highlighting 1 minor eco-feature while masking 99% polluting core operations.</a:t>
            </a:r>
          </a:p>
          <a:p>
            <a:pPr>
              <a:spcBef>
                <a:spcPts val="800"/>
              </a:spcBef>
              <a:spcAft>
                <a:spcPts val="600"/>
              </a:spcAft>
              <a:defRPr sz="1450" b="1">
                <a:solidFill>
                  <a:srgbClr val="A23E2A"/>
                </a:solidFill>
              </a:defRPr>
            </a:pPr>
            <a:r>
              <a:rPr sz="1400" dirty="0">
                <a:latin typeface="Avenir Next" panose="020B0503020202020204" pitchFamily="34" charset="0"/>
              </a:rPr>
              <a:t>The Hidden Reality  (What Stays Concealed)</a:t>
            </a:r>
          </a:p>
          <a:p>
            <a:pPr>
              <a:spcAft>
                <a:spcPts val="500"/>
              </a:spcAft>
            </a:pPr>
            <a:r>
              <a:rPr sz="1400" b="1" dirty="0">
                <a:solidFill>
                  <a:srgbClr val="A23E2A"/>
                </a:solidFill>
                <a:latin typeface="Avenir Next" panose="020B0503020202020204" pitchFamily="34" charset="0"/>
              </a:rPr>
              <a:t>• Unchanged Operations: </a:t>
            </a:r>
            <a:r>
              <a:rPr sz="1400" dirty="0">
                <a:solidFill>
                  <a:srgbClr val="1B1B2F"/>
                </a:solidFill>
                <a:latin typeface="Avenir Next" panose="020B0503020202020204" pitchFamily="34" charset="0"/>
              </a:rPr>
              <a:t>Core supply chains remain heavily dependent on fossil fuels, toxic emissions, and plastic waste.</a:t>
            </a:r>
          </a:p>
          <a:p>
            <a:pPr>
              <a:spcAft>
                <a:spcPts val="500"/>
              </a:spcAft>
            </a:pPr>
            <a:r>
              <a:rPr sz="1400" b="1" dirty="0">
                <a:solidFill>
                  <a:srgbClr val="A23E2A"/>
                </a:solidFill>
                <a:latin typeface="Avenir Next" panose="020B0503020202020204" pitchFamily="34" charset="0"/>
              </a:rPr>
              <a:t>• Verification Deficit: </a:t>
            </a:r>
            <a:r>
              <a:rPr sz="1400" dirty="0">
                <a:solidFill>
                  <a:srgbClr val="1B1B2F"/>
                </a:solidFill>
                <a:latin typeface="Avenir Next" panose="020B0503020202020204" pitchFamily="34" charset="0"/>
              </a:rPr>
              <a:t>Zero scientific proof, independent third-party audits, or regulatory substantiation behind claims.</a:t>
            </a:r>
          </a:p>
          <a:p>
            <a:pPr>
              <a:spcAft>
                <a:spcPts val="500"/>
              </a:spcAft>
            </a:pPr>
            <a:r>
              <a:rPr sz="1400" b="1" dirty="0">
                <a:solidFill>
                  <a:srgbClr val="A23E2A"/>
                </a:solidFill>
                <a:latin typeface="Avenir Next" panose="020B0503020202020204" pitchFamily="34" charset="0"/>
              </a:rPr>
              <a:t>• Decoupled Governance: </a:t>
            </a:r>
            <a:r>
              <a:rPr sz="1400" dirty="0">
                <a:solidFill>
                  <a:srgbClr val="1B1B2F"/>
                </a:solidFill>
                <a:latin typeface="Avenir Next" panose="020B0503020202020204" pitchFamily="34" charset="0"/>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i="1">
                <a:solidFill>
                  <a:srgbClr val="505A55"/>
                </a:solidFill>
              </a:defRPr>
            </a:pPr>
            <a:r>
              <a:rPr sz="1500" b="1" dirty="0"/>
              <a:t>Greenwashing is not an abstract corporate crime—it directly exploits </a:t>
            </a:r>
            <a:r>
              <a:rPr lang="en-US" sz="1500" b="1" dirty="0"/>
              <a:t>our</a:t>
            </a:r>
            <a:r>
              <a:rPr sz="1500"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000821"/>
          </a:xfrm>
          <a:prstGeom prst="rect">
            <a:avLst/>
          </a:prstGeom>
          <a:noFill/>
        </p:spPr>
        <p:txBody>
          <a:bodyPr wrap="square" tIns="91440" bIns="91440">
            <a:spAutoFit/>
          </a:bodyPr>
          <a:lstStyle/>
          <a:p>
            <a:pPr>
              <a:spcAft>
                <a:spcPts val="200"/>
              </a:spcAft>
              <a:defRPr sz="1700" b="1">
                <a:solidFill>
                  <a:srgbClr val="0E8A74"/>
                </a:solidFill>
              </a:defRPr>
            </a:pPr>
            <a:r>
              <a:rPr lang="en-US" dirty="0">
                <a:latin typeface="Avenir Next" panose="020B0503020202020204" pitchFamily="34" charset="0"/>
              </a:rPr>
              <a:t>OUR</a:t>
            </a:r>
            <a:r>
              <a:rPr dirty="0">
                <a:latin typeface="Avenir Next" panose="020B0503020202020204" pitchFamily="34" charset="0"/>
              </a:rPr>
              <a:t> WALLET</a:t>
            </a:r>
          </a:p>
          <a:p>
            <a:pPr>
              <a:spcAft>
                <a:spcPts val="1000"/>
              </a:spcAft>
              <a:defRPr sz="1200" b="1" i="1">
                <a:solidFill>
                  <a:srgbClr val="505A55"/>
                </a:solidFill>
              </a:defRPr>
            </a:pPr>
            <a:r>
              <a:rPr sz="1600" dirty="0">
                <a:latin typeface="Avenir Next" panose="020B0503020202020204" pitchFamily="34" charset="0"/>
              </a:rPr>
              <a:t>"The Premium </a:t>
            </a:r>
            <a:r>
              <a:rPr lang="en-US" sz="1600" dirty="0">
                <a:latin typeface="Avenir Next" panose="020B0503020202020204" pitchFamily="34" charset="0"/>
              </a:rPr>
              <a:t>we</a:t>
            </a:r>
            <a:r>
              <a:rPr sz="1600" dirty="0">
                <a:latin typeface="Avenir Next" panose="020B0503020202020204" pitchFamily="34" charset="0"/>
              </a:rPr>
              <a:t> Pay"</a:t>
            </a:r>
          </a:p>
          <a:p>
            <a:pPr>
              <a:defRPr sz="1100">
                <a:solidFill>
                  <a:srgbClr val="1B1B2F"/>
                </a:solidFill>
              </a:defRPr>
            </a:pPr>
            <a:r>
              <a:rPr sz="1400" dirty="0">
                <a:latin typeface="Avenir Next" panose="020B0503020202020204" pitchFamily="34" charset="0"/>
              </a:rPr>
              <a:t>When </a:t>
            </a:r>
            <a:r>
              <a:rPr lang="en-US" sz="1400" dirty="0">
                <a:latin typeface="Avenir Next" panose="020B0503020202020204" pitchFamily="34" charset="0"/>
              </a:rPr>
              <a:t>we</a:t>
            </a:r>
            <a:r>
              <a:rPr sz="1400" dirty="0">
                <a:latin typeface="Avenir Next" panose="020B0503020202020204" pitchFamily="34" charset="0"/>
              </a:rPr>
              <a:t> deliberately choose the 'eco-friendly' or 'sustainable' option on store shelves and pay extra out of </a:t>
            </a:r>
            <a:r>
              <a:rPr lang="en-US" sz="1400" dirty="0">
                <a:latin typeface="Avenir Next" panose="020B0503020202020204" pitchFamily="34" charset="0"/>
              </a:rPr>
              <a:t>o</a:t>
            </a:r>
            <a:r>
              <a:rPr sz="1400" dirty="0">
                <a:latin typeface="Avenir Next" panose="020B0503020202020204" pitchFamily="34" charset="0"/>
              </a:rPr>
              <a:t>ur own pocket, </a:t>
            </a:r>
            <a:r>
              <a:rPr lang="en-US" sz="1400" dirty="0">
                <a:latin typeface="Avenir Next" panose="020B0503020202020204" pitchFamily="34" charset="0"/>
              </a:rPr>
              <a:t>we</a:t>
            </a:r>
            <a:r>
              <a:rPr sz="1400" dirty="0">
                <a:latin typeface="Avenir Next" panose="020B0503020202020204" pitchFamily="34" charset="0"/>
              </a:rPr>
              <a:t> act with genuine goodwill.</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16265"/>
          </a:xfrm>
          <a:prstGeom prst="rect">
            <a:avLst/>
          </a:prstGeom>
          <a:noFill/>
        </p:spPr>
        <p:txBody>
          <a:bodyPr wrap="square" tIns="91440" bIns="91440">
            <a:spAutoFit/>
          </a:bodyPr>
          <a:lstStyle/>
          <a:p>
            <a:pPr>
              <a:spcAft>
                <a:spcPts val="200"/>
              </a:spcAft>
              <a:defRPr sz="1700" b="1">
                <a:solidFill>
                  <a:srgbClr val="173F35"/>
                </a:solidFill>
              </a:defRPr>
            </a:pPr>
            <a:r>
              <a:rPr lang="en-US" dirty="0">
                <a:latin typeface="Avenir Next" panose="020B0503020202020204" pitchFamily="34" charset="0"/>
              </a:rPr>
              <a:t>OUR</a:t>
            </a:r>
            <a:r>
              <a:rPr dirty="0">
                <a:latin typeface="Avenir Next" panose="020B0503020202020204" pitchFamily="34" charset="0"/>
              </a:rPr>
              <a:t> CHOICE</a:t>
            </a:r>
          </a:p>
          <a:p>
            <a:pPr>
              <a:spcAft>
                <a:spcPts val="1000"/>
              </a:spcAft>
              <a:defRPr sz="1200" b="1" i="1">
                <a:solidFill>
                  <a:srgbClr val="505A55"/>
                </a:solidFill>
              </a:defRPr>
            </a:pPr>
            <a:r>
              <a:rPr lang="en-IN" sz="1600" dirty="0">
                <a:latin typeface="Avenir Next" panose="020B0503020202020204" pitchFamily="34" charset="0"/>
              </a:rPr>
              <a:t>"The Illusion of Choice"</a:t>
            </a:r>
          </a:p>
          <a:p>
            <a:pPr>
              <a:defRPr sz="1100">
                <a:solidFill>
                  <a:srgbClr val="1B1B2F"/>
                </a:solidFill>
              </a:defRPr>
            </a:pPr>
            <a:r>
              <a:rPr lang="en-US" sz="1400" dirty="0">
                <a:latin typeface="Avenir Next" panose="020B0503020202020204" pitchFamily="34" charset="0"/>
              </a:rPr>
              <a:t>We</a:t>
            </a:r>
            <a:r>
              <a:rPr sz="1400" dirty="0">
                <a:latin typeface="Avenir Next" panose="020B0503020202020204" pitchFamily="34" charset="0"/>
              </a:rPr>
              <a:t> try our best in daily life—separating waste, carrying cloth bags, and choosing conscious brands.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841804"/>
          </a:xfrm>
          <a:prstGeom prst="rect">
            <a:avLst/>
          </a:prstGeom>
          <a:noFill/>
        </p:spPr>
        <p:txBody>
          <a:bodyPr wrap="square" tIns="91440" bIns="91440">
            <a:spAutoFit/>
          </a:bodyPr>
          <a:lstStyle/>
          <a:p>
            <a:pPr>
              <a:spcAft>
                <a:spcPts val="200"/>
              </a:spcAft>
              <a:defRPr sz="1700" b="1">
                <a:solidFill>
                  <a:srgbClr val="A23E2A"/>
                </a:solidFill>
              </a:defRPr>
            </a:pPr>
            <a:r>
              <a:rPr dirty="0">
                <a:latin typeface="Avenir Next" panose="020B0503020202020204" pitchFamily="34" charset="0"/>
              </a:rPr>
              <a:t>OUR FUTURE</a:t>
            </a:r>
          </a:p>
          <a:p>
            <a:pPr>
              <a:defRPr sz="1100">
                <a:solidFill>
                  <a:srgbClr val="1B1B2F"/>
                </a:solidFill>
              </a:defRPr>
            </a:pPr>
            <a:endParaRPr lang="en-US" sz="1400" dirty="0">
              <a:latin typeface="Avenir Next" panose="020B0503020202020204" pitchFamily="34" charset="0"/>
            </a:endParaRPr>
          </a:p>
          <a:p>
            <a:pPr>
              <a:defRPr sz="1100">
                <a:solidFill>
                  <a:srgbClr val="1B1B2F"/>
                </a:solidFill>
              </a:defRPr>
            </a:pPr>
            <a:r>
              <a:rPr sz="1400" dirty="0">
                <a:latin typeface="Avenir Next" panose="020B0503020202020204" pitchFamily="34" charset="0"/>
              </a:rPr>
              <a:t>Corporate 'Net-Zero by 2050' slogans create a comforting illusion that someone else is solving the climate crisis.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This false security lulls society into inaction, while extreme weather, toxic microplastics, and environmental loss directly </a:t>
            </a:r>
            <a:r>
              <a:rPr lang="en-US" sz="1400" dirty="0">
                <a:latin typeface="Avenir Next" panose="020B0503020202020204" pitchFamily="34" charset="0"/>
              </a:rPr>
              <a:t>affect our</a:t>
            </a:r>
            <a:r>
              <a:rPr sz="1400" dirty="0">
                <a:latin typeface="Avenir Next" panose="020B0503020202020204" pitchFamily="34" charset="0"/>
              </a:rPr>
              <a:t> famil</a:t>
            </a:r>
            <a:r>
              <a:rPr lang="en-US" sz="1400" dirty="0">
                <a:latin typeface="Avenir Next" panose="020B0503020202020204" pitchFamily="34" charset="0"/>
              </a:rPr>
              <a:t>ies and society</a:t>
            </a:r>
            <a:r>
              <a:rPr sz="1400" dirty="0">
                <a:latin typeface="Avenir Next" panose="020B0503020202020204" pitchFamily="34" charset="0"/>
              </a:rPr>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a:t>
            </a:r>
            <a:r>
              <a:rPr lang="en-US" dirty="0"/>
              <a:t>PROBLEM</a:t>
            </a:r>
            <a:r>
              <a:rPr dirty="0"/>
              <a:t> </a:t>
            </a:r>
            <a:r>
              <a:rPr lang="en-US" dirty="0"/>
              <a:t>IN FRONT OF</a:t>
            </a:r>
            <a:r>
              <a:rPr dirty="0"/>
              <a:t>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400" dirty="0">
                <a:latin typeface="Avenir Next" panose="020B0503020202020204" pitchFamily="34" charset="0"/>
              </a:rPr>
              <a:t>1. Definition &amp; Mechanism</a:t>
            </a:r>
          </a:p>
          <a:p>
            <a:pPr>
              <a:spcBef>
                <a:spcPts val="800"/>
              </a:spcBef>
            </a:pPr>
            <a:r>
              <a:rPr sz="1200" b="1" dirty="0">
                <a:solidFill>
                  <a:srgbClr val="1A1A1A"/>
                </a:solidFill>
                <a:latin typeface="Avenir Next" panose="020B0503020202020204" pitchFamily="34" charset="0"/>
              </a:rPr>
              <a:t>• CCPA 2024 </a:t>
            </a:r>
            <a:r>
              <a:rPr lang="en-US" sz="1200" b="1" dirty="0">
                <a:solidFill>
                  <a:srgbClr val="1A1A1A"/>
                </a:solidFill>
                <a:latin typeface="Avenir Next" panose="020B0503020202020204" pitchFamily="34" charset="0"/>
              </a:rPr>
              <a:t>Greenwashing </a:t>
            </a:r>
            <a:r>
              <a:rPr sz="1200" b="1" dirty="0">
                <a:solidFill>
                  <a:srgbClr val="1A1A1A"/>
                </a:solidFill>
                <a:latin typeface="Avenir Next" panose="020B0503020202020204" pitchFamily="34" charset="0"/>
              </a:rPr>
              <a:t>Definition: </a:t>
            </a:r>
            <a:r>
              <a:rPr sz="1100" dirty="0">
                <a:solidFill>
                  <a:srgbClr val="4A4A4A"/>
                </a:solidFill>
                <a:latin typeface="Avenir Next" panose="020B0503020202020204" pitchFamily="34" charset="0"/>
              </a:rPr>
              <a:t>India’s CCPA Guidelines define greenwashing as "any deceptive or misleading practice" involving: (</a:t>
            </a:r>
            <a:r>
              <a:rPr sz="1100" dirty="0" err="1">
                <a:solidFill>
                  <a:srgbClr val="4A4A4A"/>
                </a:solidFill>
                <a:latin typeface="Avenir Next" panose="020B0503020202020204" pitchFamily="34" charset="0"/>
              </a:rPr>
              <a:t>i</a:t>
            </a:r>
            <a:r>
              <a:rPr sz="1100" dirty="0">
                <a:solidFill>
                  <a:srgbClr val="4A4A4A"/>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Bef>
                <a:spcPts val="800"/>
              </a:spcBef>
            </a:pPr>
            <a:r>
              <a:rPr sz="1200" b="1" dirty="0">
                <a:solidFill>
                  <a:srgbClr val="1A1A1A"/>
                </a:solidFill>
                <a:latin typeface="Avenir Next" panose="020B0503020202020204" pitchFamily="34" charset="0"/>
              </a:rPr>
              <a:t>• International &amp; ESMA Scope: </a:t>
            </a:r>
            <a:r>
              <a:rPr sz="1100" dirty="0">
                <a:solidFill>
                  <a:srgbClr val="4A4A4A"/>
                </a:solidFill>
                <a:latin typeface="Avenir Next" panose="020B0503020202020204" pitchFamily="34" charset="0"/>
              </a:rPr>
              <a:t>ESMA &amp; Greenpeace view it as sustainability communications that fail to fairly reflect the true environmental profile of an entity, product, or financial service.</a:t>
            </a:r>
          </a:p>
          <a:p>
            <a:pPr>
              <a:spcBef>
                <a:spcPts val="800"/>
              </a:spcBef>
            </a:pPr>
            <a:r>
              <a:rPr sz="1200" b="1" dirty="0">
                <a:solidFill>
                  <a:srgbClr val="1A1A1A"/>
                </a:solidFill>
                <a:latin typeface="Avenir Next" panose="020B0503020202020204" pitchFamily="34" charset="0"/>
              </a:rPr>
              <a:t>• Mechanism — Decoupling: </a:t>
            </a:r>
            <a:r>
              <a:rPr sz="1100" dirty="0">
                <a:solidFill>
                  <a:srgbClr val="4A4A4A"/>
                </a:solidFill>
                <a:latin typeface="Avenir Next" panose="020B0503020202020204" pitchFamily="34" charset="0"/>
              </a:rPr>
              <a:t>Root mechanism: Organizational Decoupling—the execution–claim gap where public green commitments &amp; PR operate detached from operational realities.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2. Evolutionary Typology</a:t>
            </a:r>
          </a:p>
          <a:p>
            <a:pPr>
              <a:spcBef>
                <a:spcPts val="800"/>
              </a:spcBef>
            </a:pPr>
            <a:r>
              <a:rPr sz="1400" b="1" dirty="0">
                <a:solidFill>
                  <a:srgbClr val="1A1A1A"/>
                </a:solidFill>
                <a:latin typeface="Avenir Next" panose="020B0503020202020204" pitchFamily="34" charset="0"/>
              </a:rPr>
              <a:t>• Product-Level (1986–): </a:t>
            </a:r>
            <a:r>
              <a:rPr sz="1200" dirty="0" err="1">
                <a:solidFill>
                  <a:srgbClr val="4A4A4A"/>
                </a:solidFill>
                <a:latin typeface="Avenir Next" panose="020B0503020202020204" pitchFamily="34" charset="0"/>
              </a:rPr>
              <a:t>TerraChoice</a:t>
            </a:r>
            <a:r>
              <a:rPr sz="1200" dirty="0">
                <a:solidFill>
                  <a:srgbClr val="4A4A4A"/>
                </a:solidFill>
                <a:latin typeface="Avenir Next" panose="020B0503020202020204" pitchFamily="34" charset="0"/>
              </a:rPr>
              <a:t> "7 Sins": vagueness, hidden trade-offs, false seals, irrelevance, lesser of two evils, plus nature imagery &amp; color trickery.</a:t>
            </a:r>
          </a:p>
          <a:p>
            <a:pPr>
              <a:spcBef>
                <a:spcPts val="800"/>
              </a:spcBef>
            </a:pPr>
            <a:r>
              <a:rPr sz="1400" b="1" dirty="0">
                <a:solidFill>
                  <a:srgbClr val="1A1A1A"/>
                </a:solidFill>
                <a:latin typeface="Avenir Next" panose="020B0503020202020204" pitchFamily="34" charset="0"/>
              </a:rPr>
              <a:t>• Corporate-Level (1990s–): </a:t>
            </a:r>
            <a:r>
              <a:rPr sz="1200" dirty="0">
                <a:solidFill>
                  <a:srgbClr val="4A4A4A"/>
                </a:solidFill>
                <a:latin typeface="Avenir Next" panose="020B0503020202020204" pitchFamily="34" charset="0"/>
              </a:rPr>
              <a:t>Organizational image management &amp; halo marketing deflecting attention from core polluting operations.</a:t>
            </a:r>
          </a:p>
          <a:p>
            <a:pPr>
              <a:spcBef>
                <a:spcPts val="800"/>
              </a:spcBef>
            </a:pPr>
            <a:r>
              <a:rPr sz="1400" b="1" dirty="0">
                <a:solidFill>
                  <a:srgbClr val="1A1A1A"/>
                </a:solidFill>
                <a:latin typeface="Avenir Next" panose="020B0503020202020204" pitchFamily="34" charset="0"/>
              </a:rPr>
              <a:t>• ESG &amp; Financial-Level (Today): </a:t>
            </a:r>
            <a:r>
              <a:rPr sz="1200" dirty="0" err="1">
                <a:solidFill>
                  <a:srgbClr val="4A4A4A"/>
                </a:solidFill>
                <a:latin typeface="Avenir Next" panose="020B0503020202020204" pitchFamily="34" charset="0"/>
              </a:rPr>
              <a:t>Crosswashing</a:t>
            </a:r>
            <a:r>
              <a:rPr sz="1200" dirty="0">
                <a:solidFill>
                  <a:srgbClr val="4A4A4A"/>
                </a:solidFill>
                <a:latin typeface="Avenir Next" panose="020B0503020202020204" pitchFamily="34" charset="0"/>
              </a:rPr>
              <a:t> (selective ESG PR), Reporting Manipulation (omitting Scope 3 value-chain emissions), &amp; </a:t>
            </a:r>
            <a:r>
              <a:rPr sz="1200" dirty="0" err="1">
                <a:solidFill>
                  <a:srgbClr val="4A4A4A"/>
                </a:solidFill>
                <a:latin typeface="Avenir Next" panose="020B0503020202020204" pitchFamily="34" charset="0"/>
              </a:rPr>
              <a:t>Futurewashing</a:t>
            </a:r>
            <a:r>
              <a:rPr sz="1200" dirty="0">
                <a:solidFill>
                  <a:srgbClr val="4A4A4A"/>
                </a:solidFill>
                <a:latin typeface="Avenir Next" panose="020B0503020202020204" pitchFamily="34" charset="0"/>
              </a:rPr>
              <a:t> (unverified net-zero pledges lacking interim milestones).</a:t>
            </a: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3. Multi-Dimensional Harms</a:t>
            </a:r>
          </a:p>
          <a:p>
            <a:pPr>
              <a:spcBef>
                <a:spcPts val="800"/>
              </a:spcBef>
            </a:pPr>
            <a:r>
              <a:rPr sz="1400" b="1" dirty="0">
                <a:solidFill>
                  <a:srgbClr val="1A1A1A"/>
                </a:solidFill>
                <a:latin typeface="Avenir Next" panose="020B0503020202020204" pitchFamily="34" charset="0"/>
              </a:rPr>
              <a:t>• Climate &amp; Environmental: </a:t>
            </a:r>
            <a:r>
              <a:rPr sz="1200" dirty="0">
                <a:solidFill>
                  <a:srgbClr val="4A4A4A"/>
                </a:solidFill>
                <a:latin typeface="Avenir Next" panose="020B0503020202020204" pitchFamily="34" charset="0"/>
              </a:rPr>
              <a:t>Delays real decarbonization, creates false comfort, and keeps high-emission business models alive under transition language.</a:t>
            </a:r>
          </a:p>
          <a:p>
            <a:pPr>
              <a:spcBef>
                <a:spcPts val="800"/>
              </a:spcBef>
            </a:pPr>
            <a:r>
              <a:rPr sz="1400" b="1" dirty="0">
                <a:solidFill>
                  <a:srgbClr val="1A1A1A"/>
                </a:solidFill>
                <a:latin typeface="Avenir Next" panose="020B0503020202020204" pitchFamily="34" charset="0"/>
              </a:rPr>
              <a:t>• Economic &amp; Financial: </a:t>
            </a:r>
            <a:r>
              <a:rPr sz="1200" dirty="0">
                <a:solidFill>
                  <a:srgbClr val="4A4A4A"/>
                </a:solidFill>
                <a:latin typeface="Avenir Next" panose="020B0503020202020204" pitchFamily="34" charset="0"/>
              </a:rPr>
              <a:t>Distorts capital allocation in ESG debt ($55.9B in India) &amp; causes Gresham’s Law in ESG where bad claims drive out genuine green capital.</a:t>
            </a:r>
          </a:p>
          <a:p>
            <a:pPr>
              <a:spcBef>
                <a:spcPts val="800"/>
              </a:spcBef>
            </a:pPr>
            <a:r>
              <a:rPr sz="1400" b="1" dirty="0">
                <a:solidFill>
                  <a:srgbClr val="1A1A1A"/>
                </a:solidFill>
                <a:latin typeface="Avenir Next" panose="020B0503020202020204" pitchFamily="34" charset="0"/>
              </a:rPr>
              <a:t>• Penalty Arbitrage &amp; Trust: </a:t>
            </a:r>
            <a:r>
              <a:rPr sz="1200" dirty="0">
                <a:solidFill>
                  <a:srgbClr val="4A4A4A"/>
                </a:solidFill>
                <a:latin typeface="Avenir Next" panose="020B0503020202020204" pitchFamily="34" charset="0"/>
              </a:rPr>
              <a:t>Low fixed fines make greenwashing a cheap business strategy; erodes investor/consumer trust &amp; induces green fatigue.</a:t>
            </a: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dirty="0"/>
              <a:t>Research Question 1: What is greenwashing, how has it evolved, and what are its consequences?</a:t>
            </a:r>
          </a:p>
          <a:p>
            <a:pPr>
              <a:defRPr sz="1150" i="1">
                <a:solidFill>
                  <a:srgbClr val="4A4A4A"/>
                </a:solidFill>
                <a:latin typeface="Calibri"/>
              </a:defRPr>
            </a:pPr>
            <a:r>
              <a:rPr dirty="0"/>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dirty="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rPr dirty="0"/>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6" name="TextBox 5"/>
          <p:cNvSpPr txBox="1"/>
          <p:nvPr/>
        </p:nvSpPr>
        <p:spPr>
          <a:xfrm>
            <a:off x="1005840" y="1600200"/>
            <a:ext cx="2926080" cy="1677382"/>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Primary &amp; Secondary Sources</a:t>
            </a:r>
          </a:p>
          <a:p>
            <a:pPr>
              <a:defRPr sz="1200" b="0">
                <a:solidFill>
                  <a:srgbClr val="3A3A4A"/>
                </a:solidFill>
                <a:latin typeface="Calibri"/>
              </a:defRPr>
            </a:pPr>
            <a:r>
              <a:rPr lang="en-IN" sz="12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2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200" dirty="0">
              <a:latin typeface="Avenir Next" panose="020B0503020202020204" pitchFamily="34" charset="0"/>
            </a:endParaRPr>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9" name="TextBox 8"/>
          <p:cNvSpPr txBox="1"/>
          <p:nvPr/>
        </p:nvSpPr>
        <p:spPr>
          <a:xfrm>
            <a:off x="46634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Jurisprudential Analysis</a:t>
            </a:r>
          </a:p>
          <a:p>
            <a:pPr>
              <a:defRPr sz="1200" b="0">
                <a:solidFill>
                  <a:srgbClr val="3A3A4A"/>
                </a:solidFill>
                <a:latin typeface="Calibri"/>
              </a:defRPr>
            </a:pPr>
            <a:r>
              <a:rPr sz="1200" dirty="0">
                <a:latin typeface="Avenir Next" panose="020B0503020202020204" pitchFamily="34" charset="0"/>
              </a:rPr>
              <a:t>Hohfeldian decomposition of corporate duties into precise legal relations. </a:t>
            </a:r>
            <a:endParaRPr lang="en-US" sz="1200" dirty="0">
              <a:latin typeface="Avenir Next" panose="020B0503020202020204" pitchFamily="34" charset="0"/>
            </a:endParaRPr>
          </a:p>
          <a:p>
            <a:pPr algn="l">
              <a:spcAft>
                <a:spcPts val="0"/>
              </a:spcAft>
              <a:defRPr sz="1200" b="0">
                <a:solidFill>
                  <a:srgbClr val="3A3A4A"/>
                </a:solidFill>
                <a:latin typeface="Calibri"/>
              </a:defRPr>
            </a:pPr>
            <a:r>
              <a:rPr lang="en-US" sz="1200" dirty="0">
                <a:latin typeface="Avenir Next" panose="020B0503020202020204" pitchFamily="34" charset="0"/>
              </a:rPr>
              <a:t>Principal-agent, legitimacy, stakeholder, decoupling, and institutional theory frameworks.</a:t>
            </a:r>
            <a:endParaRPr lang="en-US" sz="1100" dirty="0">
              <a:latin typeface="Avenir Next" panose="020B0503020202020204" pitchFamily="34" charset="0"/>
            </a:endParaRPr>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8321040" y="1600200"/>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Comparative Legal Analysis</a:t>
            </a:r>
          </a:p>
          <a:p>
            <a:pPr>
              <a:defRPr sz="1200" b="0">
                <a:solidFill>
                  <a:srgbClr val="3A3A4A"/>
                </a:solidFill>
                <a:latin typeface="Calibri"/>
              </a:defRPr>
            </a:pPr>
            <a:r>
              <a:rPr sz="1200" dirty="0">
                <a:latin typeface="Avenir Next" panose="020B0503020202020204" pitchFamily="34" charset="0"/>
              </a:rPr>
              <a:t>Cross-jurisdictional study of EU (CSRD, Green Claims Directive), US (SEC Rules, FTC Green Guides), UK (FCA Rule, CMA),</a:t>
            </a:r>
            <a:r>
              <a:rPr lang="en-US" sz="1200" dirty="0">
                <a:latin typeface="Avenir Next" panose="020B0503020202020204" pitchFamily="34" charset="0"/>
              </a:rPr>
              <a:t> </a:t>
            </a:r>
            <a:r>
              <a:rPr sz="1200" dirty="0">
                <a:latin typeface="Avenir Next" panose="020B0503020202020204" pitchFamily="34" charset="0"/>
              </a:rPr>
              <a:t>Australia, and others.</a:t>
            </a:r>
          </a:p>
        </p:txBody>
      </p:sp>
      <p:sp>
        <p:nvSpPr>
          <p:cNvPr id="13" name="Rounded Rectangle 12"/>
          <p:cNvSpPr/>
          <p:nvPr/>
        </p:nvSpPr>
        <p:spPr>
          <a:xfrm>
            <a:off x="7315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ectangle 13"/>
          <p:cNvSpPr/>
          <p:nvPr/>
        </p:nvSpPr>
        <p:spPr>
          <a:xfrm>
            <a:off x="8229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Rounded Rectangle 15"/>
          <p:cNvSpPr/>
          <p:nvPr/>
        </p:nvSpPr>
        <p:spPr>
          <a:xfrm>
            <a:off x="43891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ectangle 16"/>
          <p:cNvSpPr/>
          <p:nvPr/>
        </p:nvSpPr>
        <p:spPr>
          <a:xfrm>
            <a:off x="44805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8" name="TextBox 17"/>
          <p:cNvSpPr txBox="1"/>
          <p:nvPr/>
        </p:nvSpPr>
        <p:spPr>
          <a:xfrm>
            <a:off x="960223" y="3623472"/>
            <a:ext cx="2926080" cy="130805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Statutory Interpretation</a:t>
            </a:r>
          </a:p>
          <a:p>
            <a:pPr>
              <a:defRPr sz="1200" b="0">
                <a:solidFill>
                  <a:srgbClr val="3A3A4A"/>
                </a:solidFill>
                <a:latin typeface="Calibri"/>
              </a:defRPr>
            </a:pPr>
            <a:r>
              <a:rPr lang="en-IN" sz="12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200" dirty="0">
              <a:latin typeface="Avenir Next" panose="020B0503020202020204" pitchFamily="34" charset="0"/>
              <a:ea typeface="Calibri"/>
              <a:cs typeface="Calibri"/>
            </a:endParaRPr>
          </a:p>
        </p:txBody>
      </p:sp>
      <p:sp>
        <p:nvSpPr>
          <p:cNvPr id="19" name="Rounded Rectangle 18"/>
          <p:cNvSpPr/>
          <p:nvPr/>
        </p:nvSpPr>
        <p:spPr>
          <a:xfrm>
            <a:off x="80467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Rectangle 19"/>
          <p:cNvSpPr/>
          <p:nvPr/>
        </p:nvSpPr>
        <p:spPr>
          <a:xfrm>
            <a:off x="81381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1" name="TextBox 20"/>
          <p:cNvSpPr txBox="1"/>
          <p:nvPr/>
        </p:nvSpPr>
        <p:spPr>
          <a:xfrm>
            <a:off x="4632807" y="3623472"/>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Lex Lata vs. Lex Ferenda</a:t>
            </a:r>
          </a:p>
          <a:p>
            <a:pPr algn="l">
              <a:spcAft>
                <a:spcPts val="0"/>
              </a:spcAft>
              <a:defRPr sz="1200" b="0">
                <a:solidFill>
                  <a:srgbClr val="3A3A4A"/>
                </a:solidFill>
                <a:latin typeface="Calibri"/>
              </a:defRPr>
            </a:pPr>
            <a:r>
              <a:rPr sz="12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5426514"/>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3623472"/>
            <a:ext cx="2926080" cy="130805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Critical Regulatory Assessment</a:t>
            </a:r>
          </a:p>
          <a:p>
            <a:pPr>
              <a:defRPr sz="1200" b="0">
                <a:solidFill>
                  <a:srgbClr val="3A3A4A"/>
                </a:solidFill>
                <a:latin typeface="Calibri"/>
              </a:defRPr>
            </a:pPr>
            <a:r>
              <a:rPr sz="1200" dirty="0">
                <a:latin typeface="Avenir Next" panose="020B0503020202020204" pitchFamily="34" charset="0"/>
              </a:rPr>
              <a:t>Mapping </a:t>
            </a:r>
            <a:r>
              <a:rPr lang="en-US" sz="1200" dirty="0">
                <a:latin typeface="Avenir Next" panose="020B0503020202020204" pitchFamily="34" charset="0"/>
              </a:rPr>
              <a:t>design issues and coordination issues </a:t>
            </a:r>
            <a:r>
              <a:rPr sz="12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research analyses the legal architecture flaws from a comparative standpoint.</a:t>
            </a:r>
            <a:endParaRPr lang="en-US" dirty="0">
              <a:ea typeface="Calibri"/>
              <a:cs typeface="Calibri"/>
            </a:endParaRPr>
          </a:p>
        </p:txBody>
      </p:sp>
      <p:sp>
        <p:nvSpPr>
          <p:cNvPr id="5" name="Rounded Rectangle 4"/>
          <p:cNvSpPr/>
          <p:nvPr/>
        </p:nvSpPr>
        <p:spPr>
          <a:xfrm>
            <a:off x="7469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Rounded Rectangle 5"/>
          <p:cNvSpPr/>
          <p:nvPr/>
        </p:nvSpPr>
        <p:spPr>
          <a:xfrm>
            <a:off x="8245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1</a:t>
            </a:r>
          </a:p>
        </p:txBody>
      </p:sp>
      <p:sp>
        <p:nvSpPr>
          <p:cNvPr id="7" name="TextBox 6"/>
          <p:cNvSpPr txBox="1"/>
          <p:nvPr/>
        </p:nvSpPr>
        <p:spPr>
          <a:xfrm>
            <a:off x="1475918" y="2020824"/>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Board-Level Accountability</a:t>
            </a:r>
          </a:p>
          <a:p>
            <a:pPr algn="l">
              <a:spcAft>
                <a:spcPts val="0"/>
              </a:spcAft>
              <a:defRPr sz="1100" b="0">
                <a:solidFill>
                  <a:srgbClr val="3A3A4A"/>
                </a:solidFill>
                <a:latin typeface="Calibri"/>
              </a:defRPr>
            </a:pPr>
            <a:r>
              <a:rPr sz="1200" dirty="0">
                <a:latin typeface="Avenir Next" panose="020B0503020202020204" pitchFamily="34" charset="0"/>
              </a:rPr>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469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8245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2</a:t>
            </a:r>
          </a:p>
        </p:txBody>
      </p:sp>
      <p:sp>
        <p:nvSpPr>
          <p:cNvPr id="10" name="TextBox 9"/>
          <p:cNvSpPr txBox="1"/>
          <p:nvPr/>
        </p:nvSpPr>
        <p:spPr>
          <a:xfrm>
            <a:off x="14759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Regulatory Fragmentation as Structural Cause</a:t>
            </a:r>
          </a:p>
          <a:p>
            <a:pPr algn="l">
              <a:spcAft>
                <a:spcPts val="0"/>
              </a:spcAft>
              <a:defRPr sz="1100" b="0">
                <a:solidFill>
                  <a:srgbClr val="3A3A4A"/>
                </a:solidFill>
                <a:latin typeface="Calibri"/>
              </a:defRPr>
            </a:pPr>
            <a:r>
              <a:rPr sz="1200" dirty="0">
                <a:latin typeface="Avenir Next" panose="020B0503020202020204" pitchFamily="34" charset="0"/>
              </a:rPr>
              <a:t>Environmental claims policed through overlapping but siloed regimes (MCA, SEBI, CCPA/ASCI) — creating jurisdictional uncertainty and the 'accountability vacuum.'</a:t>
            </a:r>
          </a:p>
        </p:txBody>
      </p:sp>
      <p:sp>
        <p:nvSpPr>
          <p:cNvPr id="11" name="Rounded Rectangle 10"/>
          <p:cNvSpPr/>
          <p:nvPr/>
        </p:nvSpPr>
        <p:spPr>
          <a:xfrm>
            <a:off x="746974" y="4111186"/>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2" name="Rounded Rectangle 11"/>
          <p:cNvSpPr/>
          <p:nvPr/>
        </p:nvSpPr>
        <p:spPr>
          <a:xfrm>
            <a:off x="824586" y="4248347"/>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3</a:t>
            </a:r>
          </a:p>
        </p:txBody>
      </p:sp>
      <p:sp>
        <p:nvSpPr>
          <p:cNvPr id="13" name="TextBox 12"/>
          <p:cNvSpPr txBox="1"/>
          <p:nvPr/>
        </p:nvSpPr>
        <p:spPr>
          <a:xfrm>
            <a:off x="1475918" y="4166051"/>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Verification Gap</a:t>
            </a:r>
          </a:p>
          <a:p>
            <a:pPr algn="l">
              <a:spcAft>
                <a:spcPts val="0"/>
              </a:spcAft>
              <a:defRPr sz="1100" b="0">
                <a:solidFill>
                  <a:srgbClr val="3A3A4A"/>
                </a:solidFill>
                <a:latin typeface="Calibri"/>
              </a:defRPr>
            </a:pPr>
            <a:r>
              <a:rPr sz="1200" dirty="0">
                <a:latin typeface="Avenir Next" panose="020B0503020202020204" pitchFamily="34" charset="0"/>
              </a:rPr>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333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5" name="Rounded Rectangle 14"/>
          <p:cNvSpPr/>
          <p:nvPr/>
        </p:nvSpPr>
        <p:spPr>
          <a:xfrm>
            <a:off x="63109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4</a:t>
            </a:r>
          </a:p>
        </p:txBody>
      </p:sp>
      <p:sp>
        <p:nvSpPr>
          <p:cNvPr id="16" name="TextBox 15"/>
          <p:cNvSpPr txBox="1"/>
          <p:nvPr/>
        </p:nvSpPr>
        <p:spPr>
          <a:xfrm>
            <a:off x="6962318" y="2020824"/>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Evolving Forms of Greenwashing</a:t>
            </a:r>
          </a:p>
          <a:p>
            <a:pPr algn="l">
              <a:spcAft>
                <a:spcPts val="0"/>
              </a:spcAft>
              <a:defRPr sz="1100" b="0">
                <a:solidFill>
                  <a:srgbClr val="3A3A4A"/>
                </a:solidFill>
                <a:latin typeface="Calibri"/>
              </a:defRPr>
            </a:pPr>
            <a:r>
              <a:rPr sz="1200" dirty="0">
                <a:latin typeface="Avenir Next" panose="020B0503020202020204" pitchFamily="34" charset="0"/>
              </a:rPr>
              <a:t>'</a:t>
            </a:r>
            <a:r>
              <a:rPr sz="1200" dirty="0" err="1">
                <a:latin typeface="Avenir Next" panose="020B0503020202020204" pitchFamily="34" charset="0"/>
              </a:rPr>
              <a:t>Futurewashing</a:t>
            </a:r>
            <a:r>
              <a:rPr sz="1200" dirty="0">
                <a:latin typeface="Avenir Next" panose="020B0503020202020204" pitchFamily="34" charset="0"/>
              </a:rPr>
              <a:t>' through extended net-zero timelines (e.g. India's 2070 target) and carbon-offset-based claims are addressed only indirectly in current frameworks.</a:t>
            </a:r>
          </a:p>
        </p:txBody>
      </p:sp>
      <p:sp>
        <p:nvSpPr>
          <p:cNvPr id="17" name="Rounded Rectangle 16"/>
          <p:cNvSpPr/>
          <p:nvPr/>
        </p:nvSpPr>
        <p:spPr>
          <a:xfrm>
            <a:off x="62333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Rounded Rectangle 17"/>
          <p:cNvSpPr/>
          <p:nvPr/>
        </p:nvSpPr>
        <p:spPr>
          <a:xfrm>
            <a:off x="63109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5</a:t>
            </a:r>
          </a:p>
        </p:txBody>
      </p:sp>
      <p:sp>
        <p:nvSpPr>
          <p:cNvPr id="19" name="TextBox 18"/>
          <p:cNvSpPr txBox="1"/>
          <p:nvPr/>
        </p:nvSpPr>
        <p:spPr>
          <a:xfrm>
            <a:off x="69623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Enforcement Analysis</a:t>
            </a:r>
          </a:p>
          <a:p>
            <a:pPr algn="l">
              <a:spcAft>
                <a:spcPts val="0"/>
              </a:spcAft>
              <a:defRPr sz="1100" b="0">
                <a:solidFill>
                  <a:srgbClr val="3A3A4A"/>
                </a:solidFill>
                <a:latin typeface="Calibri"/>
              </a:defRPr>
            </a:pPr>
            <a:r>
              <a:rPr sz="1200" dirty="0">
                <a:latin typeface="Avenir Next" panose="020B0503020202020204" pitchFamily="34" charset="0"/>
              </a:rPr>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485492"/>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531212"/>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t>THIS STUDY</a:t>
            </a:r>
            <a:r>
              <a:rPr lang="en-US" dirty="0"/>
              <a:t> COMPRISES OF FOLLOWING SIX CHAPTERS-</a:t>
            </a:r>
          </a:p>
          <a:p>
            <a:pPr algn="l">
              <a:spcAft>
                <a:spcPts val="400"/>
              </a:spcAft>
              <a:defRPr sz="1200" b="1">
                <a:solidFill>
                  <a:srgbClr val="095E4F"/>
                </a:solidFill>
                <a:latin typeface="Calibri"/>
              </a:defRPr>
            </a:pPr>
            <a:endParaRPr lang="en-US" sz="1400" dirty="0"/>
          </a:p>
          <a:p>
            <a:pPr marL="228600" indent="-228600" algn="l">
              <a:lnSpc>
                <a:spcPct val="150000"/>
              </a:lnSpc>
              <a:spcAft>
                <a:spcPts val="400"/>
              </a:spcAft>
              <a:buAutoNum type="arabicPeriod"/>
              <a:defRPr sz="1200" b="1">
                <a:solidFill>
                  <a:srgbClr val="095E4F"/>
                </a:solidFill>
                <a:latin typeface="Calibri"/>
              </a:defRPr>
            </a:pPr>
            <a:r>
              <a:rPr lang="en-US" sz="1400" cap="small" dirty="0"/>
              <a:t>Introduction</a:t>
            </a:r>
            <a:endParaRPr lang="en-US" sz="14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Conceptualizing Greenwashing And Corporate Governance Intervention</a:t>
            </a:r>
            <a:endParaRPr lang="en-US"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Greenwashing: Corporate Responsibility And Accountability</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Prevention Of Greenwashing: International Perspective</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Indian Regulatory Ecosystem To Prevent Greenwashing</a:t>
            </a:r>
            <a:r>
              <a:rPr lang="en-IN" sz="1400" b="1" cap="small" dirty="0"/>
              <a:t> </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Conclusion</a:t>
            </a:r>
            <a:endParaRPr lang="en-IN" sz="14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538609"/>
          </a:xfrm>
          <a:prstGeom prst="rect">
            <a:avLst/>
          </a:prstGeom>
          <a:noFill/>
        </p:spPr>
        <p:txBody>
          <a:bodyPr wrap="square" lIns="45720" tIns="22860" rIns="45720" bIns="22860" anchor="t">
            <a:spAutoFit/>
          </a:bodyPr>
          <a:lstStyle/>
          <a:p>
            <a:pPr algn="l"/>
            <a:r>
              <a:rPr sz="3200" b="1" dirty="0">
                <a:solidFill>
                  <a:srgbClr val="173F35"/>
                </a:solidFill>
                <a:latin typeface="Avenir Next Demi Bold"/>
              </a:rPr>
              <a:t>Why Greenwashing Is a Corporate Accountability Failure</a:t>
            </a:r>
          </a:p>
        </p:txBody>
      </p:sp>
      <p:sp>
        <p:nvSpPr>
          <p:cNvPr id="5" name="Rounded Rectangle 4"/>
          <p:cNvSpPr/>
          <p:nvPr/>
        </p:nvSpPr>
        <p:spPr>
          <a:xfrm>
            <a:off x="500000" y="1049408"/>
            <a:ext cx="5411403" cy="1964247"/>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1.  What kind of thing is a company?</a:t>
            </a:r>
          </a:p>
          <a:p>
            <a:pPr algn="l">
              <a:spcAft>
                <a:spcPts val="300"/>
              </a:spcAft>
            </a:pPr>
            <a:r>
              <a:rPr sz="1100" b="0" i="0" dirty="0">
                <a:solidFill>
                  <a:srgbClr val="3A3A4A"/>
                </a:solidFill>
                <a:latin typeface="Avenir Next" panose="020B0503020202020204" pitchFamily="34" charset="0"/>
              </a:rPr>
              <a:t>•  The thesis tests five classic theories of corporate personality.</a:t>
            </a:r>
          </a:p>
          <a:p>
            <a:pPr algn="l">
              <a:spcAft>
                <a:spcPts val="300"/>
              </a:spcAft>
            </a:pPr>
            <a:r>
              <a:rPr sz="1100" b="0" i="0" dirty="0">
                <a:solidFill>
                  <a:srgbClr val="3A3A4A"/>
                </a:solidFill>
                <a:latin typeface="Avenir Next" panose="020B0503020202020204" pitchFamily="34" charset="0"/>
              </a:rPr>
              <a:t>•  Fiction and Purpose theory let the State attach environmental duties to the company it creates.</a:t>
            </a:r>
          </a:p>
          <a:p>
            <a:pPr algn="l">
              <a:spcAft>
                <a:spcPts val="300"/>
              </a:spcAft>
            </a:pPr>
            <a:r>
              <a:rPr sz="1100" b="0" i="0" dirty="0">
                <a:solidFill>
                  <a:srgbClr val="3A3A4A"/>
                </a:solidFill>
                <a:latin typeface="Avenir Next" panose="020B0503020202020204" pitchFamily="34" charset="0"/>
              </a:rPr>
              <a:t>•  Realist theory is the strongest fit: a company is a real social actor, so its green promises create real legal relations.</a:t>
            </a:r>
          </a:p>
          <a:p>
            <a:pPr algn="l">
              <a:spcAft>
                <a:spcPts val="300"/>
              </a:spcAft>
            </a:pPr>
            <a:r>
              <a:rPr sz="1100" b="0" i="0" dirty="0">
                <a:solidFill>
                  <a:srgbClr val="3A3A4A"/>
                </a:solidFill>
                <a:latin typeface="Avenir Next" panose="020B0503020202020204" pitchFamily="34" charset="0"/>
              </a:rPr>
              <a:t>•  Indian law sits closest to a Realist–Stakeholder position, so Section 166(2) is a natural fit, not an odd add-on.</a:t>
            </a:r>
          </a:p>
        </p:txBody>
      </p:sp>
      <p:sp>
        <p:nvSpPr>
          <p:cNvPr id="7" name="Rounded Rectangle 6"/>
          <p:cNvSpPr/>
          <p:nvPr/>
        </p:nvSpPr>
        <p:spPr>
          <a:xfrm>
            <a:off x="6196000" y="1049408"/>
            <a:ext cx="5411403" cy="1964247"/>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1890261"/>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2.  </a:t>
            </a:r>
            <a:r>
              <a:rPr sz="1600" b="1" i="0" dirty="0" err="1">
                <a:solidFill>
                  <a:srgbClr val="095E4F"/>
                </a:solidFill>
                <a:latin typeface="Avenir Next" panose="020B0503020202020204" pitchFamily="34" charset="0"/>
              </a:rPr>
              <a:t>Hohfeld</a:t>
            </a:r>
            <a:r>
              <a:rPr sz="1600" b="1" i="0" dirty="0">
                <a:solidFill>
                  <a:srgbClr val="095E4F"/>
                </a:solidFill>
                <a:latin typeface="Avenir Next" panose="020B0503020202020204" pitchFamily="34" charset="0"/>
              </a:rPr>
              <a:t>: turning a vague duty into precise legal relations</a:t>
            </a:r>
          </a:p>
          <a:p>
            <a:pPr algn="l">
              <a:spcAft>
                <a:spcPts val="300"/>
              </a:spcAft>
            </a:pPr>
            <a:r>
              <a:rPr sz="1100" b="0" i="0" dirty="0">
                <a:solidFill>
                  <a:srgbClr val="3A3A4A"/>
                </a:solidFill>
                <a:latin typeface="Avenir Next" panose="020B0503020202020204" pitchFamily="34" charset="0"/>
              </a:rPr>
              <a:t>•  Duty breached — the duty not to mislead, owed to the State and to investors.</a:t>
            </a:r>
          </a:p>
          <a:p>
            <a:pPr algn="l">
              <a:spcAft>
                <a:spcPts val="300"/>
              </a:spcAft>
            </a:pPr>
            <a:r>
              <a:rPr sz="1100" b="0" i="0" dirty="0">
                <a:solidFill>
                  <a:srgbClr val="3A3A4A"/>
                </a:solidFill>
                <a:latin typeface="Avenir Next" panose="020B0503020202020204" pitchFamily="34" charset="0"/>
              </a:rPr>
              <a:t>•  Privilege misused — managers may choose how to communicate, but that freedom stops at deception.</a:t>
            </a:r>
          </a:p>
          <a:p>
            <a:pPr algn="l">
              <a:spcAft>
                <a:spcPts val="300"/>
              </a:spcAft>
            </a:pPr>
            <a:r>
              <a:rPr sz="1100" b="0" i="0" dirty="0">
                <a:solidFill>
                  <a:srgbClr val="3A3A4A"/>
                </a:solidFill>
                <a:latin typeface="Avenir Next" panose="020B0503020202020204" pitchFamily="34" charset="0"/>
              </a:rPr>
              <a:t>•  Power held — companies control the ESG information that everyone else acts on.</a:t>
            </a:r>
          </a:p>
          <a:p>
            <a:pPr algn="l">
              <a:spcAft>
                <a:spcPts val="300"/>
              </a:spcAft>
            </a:pPr>
            <a:r>
              <a:rPr sz="1100" b="0" i="0" dirty="0">
                <a:solidFill>
                  <a:srgbClr val="3A3A4A"/>
                </a:solidFill>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151870"/>
            <a:ext cx="5411403" cy="189586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3.  Who holds the matching right?</a:t>
            </a:r>
          </a:p>
          <a:p>
            <a:pPr algn="l">
              <a:spcAft>
                <a:spcPts val="300"/>
              </a:spcAft>
            </a:pPr>
            <a:r>
              <a:rPr sz="1100" b="0" i="0" dirty="0">
                <a:solidFill>
                  <a:srgbClr val="3A3A4A"/>
                </a:solidFill>
                <a:latin typeface="Avenir Next" panose="020B0503020202020204" pitchFamily="34" charset="0"/>
              </a:rPr>
              <a:t>•  A duty only bites if somebody can enforce it.</a:t>
            </a:r>
          </a:p>
          <a:p>
            <a:pPr algn="l">
              <a:spcAft>
                <a:spcPts val="300"/>
              </a:spcAft>
            </a:pPr>
            <a:r>
              <a:rPr sz="1100" b="0" i="0" dirty="0">
                <a:solidFill>
                  <a:srgbClr val="3A3A4A"/>
                </a:solidFill>
                <a:latin typeface="Avenir Next" panose="020B0503020202020204" pitchFamily="34" charset="0"/>
              </a:rPr>
              <a:t>•  Duties owed to the State are strongest — the CCPA and SEBI can act on their own motion.</a:t>
            </a:r>
          </a:p>
          <a:p>
            <a:pPr algn="l">
              <a:spcAft>
                <a:spcPts val="300"/>
              </a:spcAft>
            </a:pPr>
            <a:r>
              <a:rPr sz="1100" b="0" i="0" dirty="0">
                <a:solidFill>
                  <a:srgbClr val="3A3A4A"/>
                </a:solidFill>
                <a:latin typeface="Avenir Next" panose="020B0503020202020204" pitchFamily="34" charset="0"/>
              </a:rPr>
              <a:t>•  Investor-facing duties are enforceable, but only through narrow disclosure channels.</a:t>
            </a:r>
          </a:p>
          <a:p>
            <a:pPr algn="l">
              <a:spcAft>
                <a:spcPts val="300"/>
              </a:spcAft>
            </a:pPr>
            <a:r>
              <a:rPr sz="1100" b="0" i="0" dirty="0">
                <a:solidFill>
                  <a:srgbClr val="3A3A4A"/>
                </a:solidFill>
                <a:latin typeface="Avenir Next" panose="020B0503020202020204" pitchFamily="34" charset="0"/>
              </a:rPr>
              <a:t>•  Section 166(2)'s environmental duty has no clear claimant, so it reads as aspiration rather than law. That is the gap this thesis targets.</a:t>
            </a:r>
          </a:p>
        </p:txBody>
      </p:sp>
      <p:sp>
        <p:nvSpPr>
          <p:cNvPr id="11" name="Rounded Rectangle 10"/>
          <p:cNvSpPr/>
          <p:nvPr/>
        </p:nvSpPr>
        <p:spPr>
          <a:xfrm>
            <a:off x="6196000" y="3151870"/>
            <a:ext cx="5411403" cy="189586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4.  Why the duty still fails in practice</a:t>
            </a:r>
          </a:p>
          <a:p>
            <a:pPr algn="l">
              <a:spcAft>
                <a:spcPts val="300"/>
              </a:spcAft>
            </a:pPr>
            <a:r>
              <a:rPr sz="1100" b="0" i="0" dirty="0">
                <a:solidFill>
                  <a:srgbClr val="3A3A4A"/>
                </a:solidFill>
                <a:latin typeface="Avenir Next" panose="020B0503020202020204" pitchFamily="34" charset="0"/>
              </a:rPr>
              <a:t>•  Principal–agent theory: insiders know the real environmental performance, outsiders rely on what insiders choose to disclose.</a:t>
            </a:r>
          </a:p>
          <a:p>
            <a:pPr algn="l">
              <a:spcAft>
                <a:spcPts val="300"/>
              </a:spcAft>
            </a:pPr>
            <a:r>
              <a:rPr sz="1100" b="0" i="0" dirty="0">
                <a:solidFill>
                  <a:srgbClr val="3A3A4A"/>
                </a:solidFill>
                <a:latin typeface="Avenir Next" panose="020B0503020202020204" pitchFamily="34" charset="0"/>
              </a:rPr>
              <a:t>•  Checking a green claim needs carbon and lifecycle expertise that most stakeholders simply do not have.</a:t>
            </a:r>
          </a:p>
          <a:p>
            <a:pPr algn="l">
              <a:spcAft>
                <a:spcPts val="300"/>
              </a:spcAft>
            </a:pPr>
            <a:r>
              <a:rPr sz="1100" b="0" i="0" dirty="0">
                <a:solidFill>
                  <a:srgbClr val="3A3A4A"/>
                </a:solidFill>
                <a:latin typeface="Avenir Next" panose="020B0503020202020204" pitchFamily="34" charset="0"/>
              </a:rPr>
              <a:t>•  Sustainability reporting is easy to dress up, so it is a weak signal of alignment.</a:t>
            </a:r>
          </a:p>
          <a:p>
            <a:pPr algn="l">
              <a:spcAft>
                <a:spcPts val="300"/>
              </a:spcAft>
            </a:pPr>
            <a:r>
              <a:rPr sz="1100" b="0" i="0" dirty="0">
                <a:solidFill>
                  <a:srgbClr val="3A3A4A"/>
                </a:solidFill>
                <a:latin typeface="Avenir Next" panose="020B0503020202020204" pitchFamily="34" charset="0"/>
              </a:rPr>
              <a:t>•  Promoter-controlled ownership and thin independent assurance widen the gap further in India.</a:t>
            </a:r>
          </a:p>
        </p:txBody>
      </p:sp>
      <p:sp>
        <p:nvSpPr>
          <p:cNvPr id="13" name="Rounded Rectangle 12"/>
          <p:cNvSpPr/>
          <p:nvPr/>
        </p:nvSpPr>
        <p:spPr>
          <a:xfrm>
            <a:off x="500000" y="5560153"/>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4" name="TextBox 13"/>
          <p:cNvSpPr txBox="1"/>
          <p:nvPr/>
        </p:nvSpPr>
        <p:spPr>
          <a:xfrm>
            <a:off x="640000" y="5678154"/>
            <a:ext cx="10912000" cy="553998"/>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RQ3:  </a:t>
            </a:r>
            <a:r>
              <a:rPr sz="1100" b="0" i="0">
                <a:solidFill>
                  <a:srgbClr val="3A3A4A"/>
                </a:solidFill>
                <a:latin typeface="Avenir Next" panose="020B0503020202020204" pitchFamily="34" charset="0"/>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00000" y="6488000"/>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6" name="TextBox 15">
            <a:extLst>
              <a:ext uri="{FF2B5EF4-FFF2-40B4-BE49-F238E27FC236}">
                <a16:creationId xmlns:a16="http://schemas.microsoft.com/office/drawing/2014/main" id="{2148E3C8-0044-CEC8-804E-88F7886EBEA7}"/>
              </a:ext>
            </a:extLst>
          </p:cNvPr>
          <p:cNvSpPr txBox="1"/>
          <p:nvPr/>
        </p:nvSpPr>
        <p:spPr>
          <a:xfrm>
            <a:off x="500000" y="5052876"/>
            <a:ext cx="11300000" cy="646331"/>
          </a:xfrm>
          <a:prstGeom prst="rect">
            <a:avLst/>
          </a:prstGeom>
          <a:noFill/>
        </p:spPr>
        <p:txBody>
          <a:bodyPr wrap="square" lIns="45720" tIns="22860" rIns="45720" bIns="22860" anchor="t">
            <a:spAutoFit/>
          </a:bodyPr>
          <a:lstStyle/>
          <a:p>
            <a:r>
              <a:rPr sz="1400" b="0" i="0" dirty="0">
                <a:latin typeface="Avenir Next" panose="020B0503020202020204" pitchFamily="34" charset="0"/>
              </a:rPr>
              <a:t>Research Question 3:</a:t>
            </a:r>
            <a:r>
              <a:rPr lang="en-US" sz="1400" b="0" i="0" dirty="0">
                <a:latin typeface="Avenir Next" panose="020B0503020202020204" pitchFamily="34" charset="0"/>
              </a:rPr>
              <a:t> </a:t>
            </a:r>
            <a:r>
              <a:rPr lang="en-IN" sz="1400" dirty="0">
                <a:latin typeface="Avenir Next" panose="020B0503020202020204" pitchFamily="34" charset="0"/>
                <a:ea typeface="+mn-lt"/>
                <a:cs typeface="+mn-lt"/>
              </a:rPr>
              <a:t>What are the jurisprudential foundations of corporate responsibility that justify treating greenwashing as a failure of corporate accountability?</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panose="020B0503020202020204" pitchFamily="34" charset="0"/>
            </a:endParaRP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11280302" cy="95410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India's Legal Ecosystem</a:t>
            </a:r>
            <a:r>
              <a:rPr lang="en-US" sz="2800" dirty="0"/>
              <a:t> For Tackling Misleading Environmental Claims</a:t>
            </a:r>
            <a:endParaRPr lang="en-IN" sz="2800" dirty="0"/>
          </a:p>
        </p:txBody>
      </p:sp>
      <p:sp>
        <p:nvSpPr>
          <p:cNvPr id="6" name="Rounded Rectangle 5"/>
          <p:cNvSpPr/>
          <p:nvPr/>
        </p:nvSpPr>
        <p:spPr>
          <a:xfrm>
            <a:off x="980082" y="139164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0083" y="1474753"/>
            <a:ext cx="9829800" cy="584775"/>
          </a:xfrm>
          <a:prstGeom prst="rect">
            <a:avLst/>
          </a:prstGeom>
          <a:noFill/>
        </p:spPr>
        <p:txBody>
          <a:bodyPr wrap="square" anchor="t">
            <a:spAutoFit/>
          </a:bodyPr>
          <a:lstStyle/>
          <a:p>
            <a:pPr algn="ctr">
              <a:defRPr sz="1300" b="1">
                <a:solidFill>
                  <a:srgbClr val="173F35"/>
                </a:solidFill>
                <a:latin typeface="Avenir Next"/>
              </a:defRPr>
            </a:pPr>
            <a:r>
              <a:rPr sz="1600" dirty="0"/>
              <a:t>Constitutional bedrock: Articles 21, 48A, 51A(g), environmental doctrines, and M.K. Ranjitsinh strengthen the duty to take environmental claims seriously.</a:t>
            </a:r>
          </a:p>
        </p:txBody>
      </p:sp>
      <p:sp>
        <p:nvSpPr>
          <p:cNvPr id="8" name="Rounded Rectangle 7"/>
          <p:cNvSpPr/>
          <p:nvPr/>
        </p:nvSpPr>
        <p:spPr>
          <a:xfrm>
            <a:off x="877824"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ectangle 8"/>
          <p:cNvSpPr/>
          <p:nvPr/>
        </p:nvSpPr>
        <p:spPr>
          <a:xfrm>
            <a:off x="877824" y="2294521"/>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024127" y="2489971"/>
            <a:ext cx="3279495"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1: Consumer Protection</a:t>
            </a:r>
          </a:p>
        </p:txBody>
      </p:sp>
      <p:sp>
        <p:nvSpPr>
          <p:cNvPr id="11" name="TextBox 10"/>
          <p:cNvSpPr txBox="1"/>
          <p:nvPr/>
        </p:nvSpPr>
        <p:spPr>
          <a:xfrm>
            <a:off x="1024128" y="2855731"/>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CPA 2019, CCPA, consumer commissions, and ASCI target misleading product and advertising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a:t>
            </a:r>
            <a:r>
              <a:rPr lang="en-US" dirty="0">
                <a:latin typeface="Avenir Next" panose="020B0503020202020204" pitchFamily="34" charset="0"/>
              </a:rPr>
              <a:t>Aspirational</a:t>
            </a:r>
            <a:r>
              <a:rPr dirty="0">
                <a:latin typeface="Avenir Next" panose="020B0503020202020204" pitchFamily="34" charset="0"/>
              </a:rPr>
              <a:t>.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primarily remedial</a:t>
            </a:r>
            <a:r>
              <a:rPr dirty="0">
                <a:latin typeface="Avenir Next" panose="020B0503020202020204" pitchFamily="34" charset="0"/>
              </a:rPr>
              <a:t> and consumer-facing.</a:t>
            </a:r>
          </a:p>
        </p:txBody>
      </p:sp>
      <p:sp>
        <p:nvSpPr>
          <p:cNvPr id="12" name="Rounded Rectangle 11"/>
          <p:cNvSpPr/>
          <p:nvPr/>
        </p:nvSpPr>
        <p:spPr>
          <a:xfrm>
            <a:off x="4462272"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4462272" y="2294521"/>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4608576" y="2489971"/>
            <a:ext cx="3304186"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2: Securities and Finance</a:t>
            </a:r>
          </a:p>
        </p:txBody>
      </p:sp>
      <p:sp>
        <p:nvSpPr>
          <p:cNvPr id="15" name="TextBox 14"/>
          <p:cNvSpPr txBox="1"/>
          <p:nvPr/>
        </p:nvSpPr>
        <p:spPr>
          <a:xfrm>
            <a:off x="4596231" y="2874019"/>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SEBI, BRSR, BRSR Core, ESG debt rules, PFUTP, and ESG ratings address investor-facing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formal disclosure architecture.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limited assurance</a:t>
            </a:r>
            <a:r>
              <a:rPr dirty="0">
                <a:latin typeface="Avenir Next" panose="020B0503020202020204" pitchFamily="34" charset="0"/>
              </a:rPr>
              <a:t> and diluted verification.</a:t>
            </a:r>
          </a:p>
        </p:txBody>
      </p:sp>
      <p:sp>
        <p:nvSpPr>
          <p:cNvPr id="16" name="Rounded Rectangle 15"/>
          <p:cNvSpPr/>
          <p:nvPr/>
        </p:nvSpPr>
        <p:spPr>
          <a:xfrm>
            <a:off x="8046720"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7" name="Rectangle 16"/>
          <p:cNvSpPr/>
          <p:nvPr/>
        </p:nvSpPr>
        <p:spPr>
          <a:xfrm>
            <a:off x="8046720" y="2294521"/>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TextBox 17"/>
          <p:cNvSpPr txBox="1"/>
          <p:nvPr/>
        </p:nvSpPr>
        <p:spPr>
          <a:xfrm>
            <a:off x="8193024" y="2489971"/>
            <a:ext cx="3279494"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3: Corporate Governance</a:t>
            </a:r>
          </a:p>
        </p:txBody>
      </p:sp>
      <p:sp>
        <p:nvSpPr>
          <p:cNvPr id="19" name="TextBox 18"/>
          <p:cNvSpPr txBox="1"/>
          <p:nvPr/>
        </p:nvSpPr>
        <p:spPr>
          <a:xfrm>
            <a:off x="8193024" y="2997343"/>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MCA and the Companies Act place environmental protection inside directors' duties.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Section 166(2) is textually strong.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standing, penalties, and enforcement route remain weak.</a:t>
            </a:r>
          </a:p>
        </p:txBody>
      </p:sp>
      <p:sp>
        <p:nvSpPr>
          <p:cNvPr id="20" name="Rounded Rectangle 19"/>
          <p:cNvSpPr/>
          <p:nvPr/>
        </p:nvSpPr>
        <p:spPr>
          <a:xfrm>
            <a:off x="1249519" y="4605746"/>
            <a:ext cx="9775867" cy="162543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1" name="TextBox 20"/>
          <p:cNvSpPr txBox="1"/>
          <p:nvPr/>
        </p:nvSpPr>
        <p:spPr>
          <a:xfrm>
            <a:off x="1405426" y="4687174"/>
            <a:ext cx="9576650" cy="1544012"/>
          </a:xfrm>
          <a:prstGeom prst="rect">
            <a:avLst/>
          </a:prstGeom>
          <a:noFill/>
        </p:spPr>
        <p:txBody>
          <a:bodyPr wrap="square" lIns="91440" tIns="45720" rIns="91440" bIns="45720" anchor="t">
            <a:spAutoFit/>
          </a:bodyPr>
          <a:lstStyle/>
          <a:p>
            <a:pPr>
              <a:spcAft>
                <a:spcPts val="200"/>
              </a:spcAft>
              <a:defRPr sz="1150" b="0">
                <a:solidFill>
                  <a:srgbClr val="2A2A2A"/>
                </a:solidFill>
                <a:latin typeface="Avenir Next"/>
              </a:defRPr>
            </a:pPr>
            <a:r>
              <a:rPr lang="en-IN" sz="1400" b="1" i="1" dirty="0">
                <a:solidFill>
                  <a:srgbClr val="3A3A4A"/>
                </a:solidFill>
                <a:latin typeface="Avenir Next" panose="020B0503020202020204" pitchFamily="34" charset="0"/>
                <a:ea typeface="Calibri"/>
                <a:cs typeface="Calibri"/>
              </a:rPr>
              <a:t>Other Complementary laws and bodies:</a:t>
            </a:r>
            <a:r>
              <a:rPr lang="en-IN" sz="1400" b="1" dirty="0">
                <a:solidFill>
                  <a:srgbClr val="3A3A4A"/>
                </a:solidFill>
                <a:latin typeface="Avenir Next" panose="020B0503020202020204" pitchFamily="34" charset="0"/>
                <a:ea typeface="Calibri"/>
                <a:cs typeface="Calibri"/>
              </a:rPr>
              <a:t> </a:t>
            </a:r>
            <a:endParaRPr lang="en-US" sz="1400" b="1"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EPA 1986 (provides environmental performance standards as objective benchmarks which can possibly be followed for greenwashing too),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NGT (broad remedial spectrum, </a:t>
            </a:r>
            <a:r>
              <a:rPr lang="en-IN" sz="1200" i="1" dirty="0" err="1">
                <a:solidFill>
                  <a:srgbClr val="3A3A4A"/>
                </a:solidFill>
                <a:latin typeface="Avenir Next" panose="020B0503020202020204" pitchFamily="34" charset="0"/>
                <a:ea typeface="Calibri"/>
                <a:cs typeface="Calibri"/>
              </a:rPr>
              <a:t>suo</a:t>
            </a:r>
            <a:r>
              <a:rPr lang="en-IN" sz="1200" i="1" dirty="0">
                <a:solidFill>
                  <a:srgbClr val="3A3A4A"/>
                </a:solidFill>
                <a:latin typeface="Avenir Next" panose="020B0503020202020204" pitchFamily="34" charset="0"/>
                <a:ea typeface="Calibri"/>
                <a:cs typeface="Calibri"/>
              </a:rPr>
              <a:t> motu</a:t>
            </a:r>
            <a:r>
              <a:rPr lang="en-IN" sz="1200" dirty="0">
                <a:solidFill>
                  <a:srgbClr val="3A3A4A"/>
                </a:solidFill>
                <a:latin typeface="Avenir Next" panose="020B0503020202020204" pitchFamily="34" charset="0"/>
                <a:ea typeface="Calibri"/>
                <a:cs typeface="Calibri"/>
              </a:rPr>
              <a:t> powers, proportionality-based penalties),</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FSSAI (covers food-sector claims, has brought in mandatory scientific substantiation from Jan 2026 for new products),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BIS </a:t>
            </a:r>
            <a:r>
              <a:rPr lang="en-IN" sz="1200" dirty="0" err="1">
                <a:solidFill>
                  <a:srgbClr val="3A3A4A"/>
                </a:solidFill>
                <a:latin typeface="Avenir Next" panose="020B0503020202020204" pitchFamily="34" charset="0"/>
                <a:ea typeface="Calibri"/>
                <a:cs typeface="Calibri"/>
              </a:rPr>
              <a:t>Ecomark</a:t>
            </a:r>
            <a:r>
              <a:rPr lang="en-IN" sz="1200" dirty="0">
                <a:solidFill>
                  <a:srgbClr val="3A3A4A"/>
                </a:solidFill>
                <a:latin typeface="Avenir Next" panose="020B0503020202020204" pitchFamily="34" charset="0"/>
                <a:ea typeface="Calibri"/>
                <a:cs typeface="Calibri"/>
              </a:rPr>
              <a:t> (voluntary third-party certification can be obtained by anyone),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Trademark Act Section 9(1)(b) (provides indirect protection by refusing registration of deceptive 'green' marks)</a:t>
            </a:r>
            <a:endParaRPr dirty="0">
              <a:latin typeface="Avenir Next" panose="020B0503020202020204" pitchFamily="34" charset="0"/>
            </a:endParaRPr>
          </a:p>
        </p:txBody>
      </p:sp>
      <p:sp>
        <p:nvSpPr>
          <p:cNvPr id="5" name="TextBox 4">
            <a:extLst>
              <a:ext uri="{FF2B5EF4-FFF2-40B4-BE49-F238E27FC236}">
                <a16:creationId xmlns:a16="http://schemas.microsoft.com/office/drawing/2014/main" id="{7D74CA95-08AD-D19F-ADE5-1DC20B43934B}"/>
              </a:ext>
            </a:extLst>
          </p:cNvPr>
          <p:cNvSpPr txBox="1"/>
          <p:nvPr/>
        </p:nvSpPr>
        <p:spPr>
          <a:xfrm>
            <a:off x="3844343" y="6266469"/>
            <a:ext cx="6143222" cy="338554"/>
          </a:xfrm>
          <a:prstGeom prst="rect">
            <a:avLst/>
          </a:prstGeom>
          <a:noFill/>
        </p:spPr>
        <p:txBody>
          <a:bodyPr wrap="square">
            <a:spAutoFit/>
          </a:bodyPr>
          <a:lstStyle/>
          <a:p>
            <a:pPr>
              <a:defRPr sz="2200" b="1">
                <a:solidFill>
                  <a:srgbClr val="173F35"/>
                </a:solidFill>
                <a:latin typeface="Avenir Next Demi Bold"/>
              </a:defRPr>
            </a:pPr>
            <a:r>
              <a:rPr lang="en-IN" sz="1600" dirty="0">
                <a:latin typeface="Avenir Next" panose="020B0503020202020204" pitchFamily="34" charset="0"/>
              </a:rPr>
              <a:t>Many Rules, </a:t>
            </a:r>
            <a:r>
              <a:rPr lang="en-US" sz="1600" dirty="0">
                <a:latin typeface="Avenir Next" panose="020B0503020202020204" pitchFamily="34" charset="0"/>
              </a:rPr>
              <a:t>But not a Functioning System</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66174" y="6529590"/>
            <a:ext cx="4000000" cy="215444"/>
          </a:xfrm>
          <a:prstGeom prst="rect">
            <a:avLst/>
          </a:prstGeom>
          <a:noFill/>
        </p:spPr>
        <p:txBody>
          <a:bodyPr wrap="square" lIns="45720" tIns="22860" rIns="45720" bIns="22860" anchor="t">
            <a:spAutoFit/>
          </a:bodyPr>
          <a:lstStyle/>
          <a:p>
            <a:pPr algn="l"/>
            <a:r>
              <a:rPr sz="1100" b="0" i="0" dirty="0">
                <a:latin typeface="Calibri"/>
              </a:rPr>
              <a:t>Source base: Chapte</a:t>
            </a:r>
            <a:r>
              <a:rPr lang="en-US" sz="1100" b="0" i="0" dirty="0">
                <a:latin typeface="Calibri"/>
              </a:rPr>
              <a:t>r 5.</a:t>
            </a:r>
            <a:endParaRPr sz="1100" b="0" i="0" dirty="0">
              <a:latin typeface="Calibri"/>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52607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p>
        </p:txBody>
      </p:sp>
      <p:sp>
        <p:nvSpPr>
          <p:cNvPr id="6" name="Rounded Rectangle 5"/>
          <p:cNvSpPr/>
          <p:nvPr/>
        </p:nvSpPr>
        <p:spPr>
          <a:xfrm>
            <a:off x="786384" y="1461266"/>
            <a:ext cx="10607040" cy="4178167"/>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965914" y="1774131"/>
            <a:ext cx="10427509" cy="3754874"/>
          </a:xfrm>
          <a:prstGeom prst="rect">
            <a:avLst/>
          </a:prstGeom>
          <a:noFill/>
        </p:spPr>
        <p:txBody>
          <a:bodyPr wrap="square" lIns="91440" tIns="45720" rIns="91440" bIns="45720" anchor="t">
            <a:spAutoFit/>
          </a:bodyPr>
          <a:lstStyle/>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Vague and Broad Scope: The terms "community," "environment," and "best interests of stakeholders" are broad and undefined.</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Sections 241-244 and derivative-style pathways are narrow </a:t>
            </a:r>
            <a:r>
              <a:rPr lang="en-US" sz="1600" dirty="0">
                <a:latin typeface="Avenir Next" panose="020B0503020202020204" pitchFamily="34" charset="0"/>
              </a:rPr>
              <a:t>in environmental cases </a:t>
            </a:r>
            <a:r>
              <a:rPr sz="1600" dirty="0">
                <a:latin typeface="Avenir Next" panose="020B0503020202020204" pitchFamily="34" charset="0"/>
              </a:rPr>
              <a:t>and designed mainly for shareholder disputes.</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 166(7</a:t>
            </a:r>
            <a:r>
              <a:rPr lang="en-US" sz="1600" dirty="0">
                <a:latin typeface="Avenir Next" panose="020B0503020202020204" pitchFamily="34" charset="0"/>
              </a:rPr>
              <a:t>):</a:t>
            </a:r>
            <a:r>
              <a:rPr sz="1600" dirty="0">
                <a:latin typeface="Avenir Next" panose="020B0503020202020204" pitchFamily="34" charset="0"/>
              </a:rPr>
              <a:t> ₹1-5 lakh penalty is too small to deter board-level greenwashing in large companies.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Conflict with Profit Maximization: Directors often prioritize short-term commercial goals over long-term environmental or community interests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No mandatory referral system moves a misleading claim from CCPA or SEBI into MCA action under Section 166(2).</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"Protection of environment" needs judicial precedent linking with "environmental misrepresentation”, that’s the hurdle of enforcement.</a:t>
            </a:r>
          </a:p>
        </p:txBody>
      </p:sp>
      <p:sp>
        <p:nvSpPr>
          <p:cNvPr id="17" name="TextBox 16"/>
          <p:cNvSpPr txBox="1"/>
          <p:nvPr/>
        </p:nvSpPr>
        <p:spPr>
          <a:xfrm>
            <a:off x="786384" y="6370401"/>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3.</a:t>
            </a:r>
            <a:endParaRPr sz="11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724071"/>
            <a:ext cx="10753086" cy="692497"/>
          </a:xfrm>
          <a:prstGeom prst="rect">
            <a:avLst/>
          </a:prstGeom>
          <a:noFill/>
        </p:spPr>
        <p:txBody>
          <a:bodyPr wrap="square" lIns="45720" tIns="22860" rIns="45720" bIns="22860" anchor="t">
            <a:spAutoFit/>
          </a:bodyPr>
          <a:lstStyle/>
          <a:p>
            <a:r>
              <a:rPr lang="en-US" sz="1400" b="0" i="0" dirty="0">
                <a:latin typeface="Avenir Next"/>
              </a:rPr>
              <a:t>Answers </a:t>
            </a:r>
            <a:r>
              <a:rPr sz="1400" b="0" i="0" dirty="0">
                <a:latin typeface="Avenir Next"/>
              </a:rPr>
              <a:t>Research Question 4 : </a:t>
            </a:r>
            <a:r>
              <a:rPr lang="en-IN" sz="1400" dirty="0">
                <a:ea typeface="+mn-lt"/>
                <a:cs typeface="+mn-lt"/>
              </a:rPr>
              <a:t>What duties of directors, disclosure obligations, and assurance requirements, under Indian company and securities law, can ground liability for misleading environmental claims?</a:t>
            </a:r>
            <a:endParaRPr lang="en-US" sz="1400" dirty="0">
              <a:ea typeface="+mn-lt"/>
              <a:cs typeface="+mn-lt"/>
            </a:endParaRPr>
          </a:p>
          <a:p>
            <a:pPr algn="l"/>
            <a:endParaRPr sz="14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488602"/>
            <a:ext cx="10186416" cy="292388"/>
          </a:xfrm>
          <a:prstGeom prst="rect">
            <a:avLst/>
          </a:prstGeom>
          <a:noFill/>
        </p:spPr>
        <p:txBody>
          <a:bodyPr wrap="square" anchor="t">
            <a:spAutoFit/>
          </a:bodyPr>
          <a:lstStyle/>
          <a:p>
            <a:pPr algn="ctr">
              <a:defRPr sz="1300" b="1">
                <a:solidFill>
                  <a:srgbClr val="173F35"/>
                </a:solidFill>
                <a:latin typeface="Avenir Next Demi Bold"/>
              </a:defRPr>
            </a:pPr>
            <a:r>
              <a:rPr>
                <a:latin typeface="Avenir Next" panose="020B0503020202020204" pitchFamily="34" charset="0"/>
              </a:rP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BRSR still covers only the top 1000 listed entities, leaving major unlisted and lower-ranked emitters outside.</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latin typeface="Avenir Next" panose="020B0503020202020204" pitchFamily="34" charset="0"/>
              </a:rPr>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latin typeface="Avenir Next" panose="020B0503020202020204" pitchFamily="34" charset="0"/>
              </a:rPr>
              <a:t>Backsliding</a:t>
            </a:r>
            <a:endParaRPr lang="en-US" dirty="0">
              <a:latin typeface="Avenir Next" panose="020B0503020202020204" pitchFamily="34" charset="0"/>
            </a:endParaRPr>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Reasonable assurance gave way to 'assessment or assurance', a much softer credibility signal.</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latin typeface="Avenir Next" panose="020B0503020202020204" pitchFamily="34" charset="0"/>
              </a:rPr>
              <a:t>Gensol-BluSmart</a:t>
            </a:r>
            <a:r>
              <a:rPr sz="1050" dirty="0">
                <a:latin typeface="Avenir Next" panose="020B0503020202020204" pitchFamily="34" charset="0"/>
              </a:rPr>
              <a:t> shows SEBI can act, but the trigger was public scrutiny and whistleblowing, not routine ESG surveillance.</a:t>
            </a:r>
            <a:endParaRPr lang="en-US" sz="1050" dirty="0">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There is still no dedicated ESG enforcement vertical or systematic cross-check with pollution and compliance data.</a:t>
            </a:r>
          </a:p>
        </p:txBody>
      </p:sp>
      <p:sp>
        <p:nvSpPr>
          <p:cNvPr id="24" name="TextBox 23"/>
          <p:cNvSpPr txBox="1"/>
          <p:nvPr/>
        </p:nvSpPr>
        <p:spPr>
          <a:xfrm>
            <a:off x="11269448" y="6364224"/>
            <a:ext cx="251992" cy="230832"/>
          </a:xfrm>
          <a:prstGeom prst="rect">
            <a:avLst/>
          </a:prstGeom>
          <a:noFill/>
        </p:spPr>
        <p:txBody>
          <a:bodyPr wrap="none">
            <a:spAutoFit/>
          </a:bodyPr>
          <a:lstStyle/>
          <a:p>
            <a:pPr algn="r">
              <a:defRPr sz="900">
                <a:solidFill>
                  <a:srgbClr val="6B6F6A"/>
                </a:solidFill>
                <a:latin typeface="Avenir Next"/>
              </a:defRPr>
            </a:pPr>
            <a:r>
              <a:rPr>
                <a:latin typeface="Avenir Next" panose="020B0503020202020204" pitchFamily="34" charset="0"/>
              </a:rP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929190" y="5893028"/>
            <a:ext cx="10327831" cy="353943"/>
          </a:xfrm>
          <a:prstGeom prst="rect">
            <a:avLst/>
          </a:prstGeom>
          <a:noFill/>
        </p:spPr>
        <p:txBody>
          <a:bodyPr wrap="square" lIns="45720" tIns="22860" rIns="45720" bIns="22860" anchor="ctr">
            <a:spAutoFit/>
          </a:bodyPr>
          <a:lstStyle/>
          <a:p>
            <a:pPr algn="ctr"/>
            <a:r>
              <a:rPr sz="1000" b="1" i="0">
                <a:solidFill>
                  <a:srgbClr val="095E4F"/>
                </a:solidFill>
                <a:latin typeface="Avenir Next" panose="020B0503020202020204" pitchFamily="34" charset="0"/>
              </a:rPr>
              <a:t>Answer to RQ4:  </a:t>
            </a:r>
            <a:r>
              <a:rPr sz="1000" b="0" i="0">
                <a:solidFill>
                  <a:srgbClr val="3A3A4A"/>
                </a:solidFill>
                <a:latin typeface="Avenir Next" panose="020B0503020202020204" pitchFamily="34" charset="0"/>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48138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509438"/>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latin typeface="Avenir Next" panose="020B0503020202020204" pitchFamily="34" charset="0"/>
              </a:rPr>
              <a:t>Inference: </a:t>
            </a:r>
            <a:r>
              <a:rPr lang="en-US" dirty="0">
                <a:latin typeface="Avenir Next" panose="020B0503020202020204" pitchFamily="34" charset="0"/>
              </a:rPr>
              <a:t>T</a:t>
            </a:r>
            <a:r>
              <a:rPr dirty="0">
                <a:latin typeface="Avenir Next" panose="020B0503020202020204" pitchFamily="34" charset="0"/>
              </a:rPr>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latin typeface="Avenir Next" panose="020B0503020202020204" pitchFamily="34" charset="0"/>
              </a:rPr>
              <a:t>CPA 2019 &amp; CCPA </a:t>
            </a:r>
            <a:r>
              <a:rPr lang="en-US" dirty="0">
                <a:latin typeface="Avenir Next" panose="020B0503020202020204" pitchFamily="34" charset="0"/>
              </a:rPr>
              <a:t>Greenwashing Guidelines</a:t>
            </a:r>
            <a:r>
              <a:rPr dirty="0">
                <a:latin typeface="Avenir Next" panose="020B0503020202020204" pitchFamily="34" charset="0"/>
              </a:rPr>
              <a:t> — </a:t>
            </a:r>
            <a:endParaRPr lang="en-US" dirty="0">
              <a:latin typeface="Avenir Next" panose="020B0503020202020204" pitchFamily="34" charset="0"/>
            </a:endParaRPr>
          </a:p>
          <a:p>
            <a:pPr>
              <a:spcAft>
                <a:spcPts val="300"/>
              </a:spcAft>
              <a:defRPr sz="1500" b="1">
                <a:solidFill>
                  <a:srgbClr val="095E4F"/>
                </a:solidFill>
                <a:latin typeface="Calibri"/>
              </a:defRPr>
            </a:pPr>
            <a:r>
              <a:rPr dirty="0">
                <a:latin typeface="Avenir Next" panose="020B0503020202020204" pitchFamily="34" charset="0"/>
              </a:rPr>
              <a:t>Structural </a:t>
            </a:r>
            <a:r>
              <a:rPr lang="en-US" dirty="0">
                <a:latin typeface="Avenir Next" panose="020B0503020202020204" pitchFamily="34" charset="0"/>
              </a:rPr>
              <a:t>Limitations</a:t>
            </a:r>
            <a:endParaRPr dirty="0">
              <a:latin typeface="Avenir Next" panose="020B0503020202020204" pitchFamily="34" charset="0"/>
            </a:endParaRPr>
          </a:p>
          <a:p>
            <a:pPr algn="l">
              <a:spcAft>
                <a:spcPts val="150"/>
              </a:spcAft>
              <a:defRPr sz="1050" b="0">
                <a:solidFill>
                  <a:srgbClr val="3A3A4A"/>
                </a:solidFill>
                <a:latin typeface="Calibri"/>
              </a:defRPr>
            </a:pPr>
            <a:r>
              <a:rPr sz="1200" dirty="0">
                <a:latin typeface="Avenir Next" panose="020B0503020202020204" pitchFamily="34" charset="0"/>
              </a:rPr>
              <a:t>1. Reactive, complaint-driven architecture — intervention occurs after claims enter the market.</a:t>
            </a:r>
            <a:endParaRPr sz="1200" dirty="0">
              <a:latin typeface="Avenir Next" panose="020B0503020202020204" pitchFamily="34" charset="0"/>
              <a:ea typeface="Calibri"/>
              <a:cs typeface="Calibri"/>
            </a:endParaRPr>
          </a:p>
          <a:p>
            <a:pPr algn="l">
              <a:spcAft>
                <a:spcPts val="150"/>
              </a:spcAft>
              <a:defRPr sz="1050" b="0">
                <a:solidFill>
                  <a:srgbClr val="3A3A4A"/>
                </a:solidFill>
                <a:latin typeface="Calibri"/>
              </a:defRPr>
            </a:pPr>
            <a:r>
              <a:rPr sz="1200" dirty="0">
                <a:latin typeface="Avenir Next" panose="020B0503020202020204" pitchFamily="34" charset="0"/>
              </a:rPr>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latin typeface="Avenir Next" panose="020B0503020202020204" pitchFamily="34" charset="0"/>
              </a:rPr>
              <a:t>3. Evidentiary asymmetry — burden on complainant; corporations control the information.</a:t>
            </a:r>
          </a:p>
          <a:p>
            <a:pPr algn="l">
              <a:spcAft>
                <a:spcPts val="150"/>
              </a:spcAft>
              <a:defRPr sz="1050" b="0">
                <a:solidFill>
                  <a:srgbClr val="3A3A4A"/>
                </a:solidFill>
                <a:latin typeface="Calibri"/>
              </a:defRPr>
            </a:pPr>
            <a:r>
              <a:rPr sz="1200" dirty="0">
                <a:latin typeface="Avenir Next" panose="020B0503020202020204" pitchFamily="34" charset="0"/>
              </a:rPr>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latin typeface="Avenir Next" panose="020B0503020202020204" pitchFamily="34" charset="0"/>
              </a:rPr>
              <a:t>5. Puffery exception — 'obvious hyperboles' carve-out creates loopholes for vague environmental language.</a:t>
            </a:r>
          </a:p>
          <a:p>
            <a:pPr algn="l">
              <a:spcAft>
                <a:spcPts val="0"/>
              </a:spcAft>
              <a:defRPr sz="1050" b="0">
                <a:solidFill>
                  <a:srgbClr val="3A3A4A"/>
                </a:solidFill>
                <a:latin typeface="Calibri"/>
              </a:defRPr>
            </a:pPr>
            <a:r>
              <a:rPr sz="1200" dirty="0">
                <a:latin typeface="Avenir Next" panose="020B0503020202020204" pitchFamily="34" charset="0"/>
              </a:rPr>
              <a:t>6. No director / board-level accountability — fines imposed on entities, not decision-makers.</a:t>
            </a:r>
          </a:p>
          <a:p>
            <a:pPr>
              <a:defRPr sz="1050" b="0">
                <a:solidFill>
                  <a:srgbClr val="3A3A4A"/>
                </a:solidFill>
                <a:latin typeface="Calibri"/>
              </a:defRPr>
            </a:pPr>
            <a:r>
              <a:rPr lang="en-US" sz="1200" dirty="0">
                <a:latin typeface="Avenir Next" panose="020B0503020202020204" pitchFamily="34" charset="0"/>
                <a:ea typeface="Calibri"/>
                <a:cs typeface="Calibri"/>
              </a:rPr>
              <a:t>7. Guidelines only: may not stand legal test</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4996"/>
            <a:ext cx="5171536" cy="1277273"/>
          </a:xfrm>
          <a:prstGeom prst="rect">
            <a:avLst/>
          </a:prstGeom>
          <a:noFill/>
        </p:spPr>
        <p:txBody>
          <a:bodyPr wrap="square" lIns="45720" tIns="22860" rIns="45720" bIns="22860" anchor="ctr">
            <a:spAutoFit/>
          </a:bodyPr>
          <a:lstStyle/>
          <a:p>
            <a:r>
              <a:rPr lang="en-IN" sz="1000" dirty="0">
                <a:solidFill>
                  <a:srgbClr val="6B6F6A"/>
                </a:solidFill>
                <a:latin typeface="Avenir Next"/>
              </a:rPr>
              <a:t>Research Question 2: </a:t>
            </a:r>
            <a:r>
              <a:rPr lang="en-IN" sz="1000" dirty="0">
                <a:ea typeface="+mn-lt"/>
                <a:cs typeface="+mn-lt"/>
              </a:rPr>
              <a:t>What are the structural limitations of consumer protection and advertising law in addressing greenwashing, and what legal pathways exist through corporate governance?</a:t>
            </a:r>
          </a:p>
          <a:p>
            <a:pPr algn="l"/>
            <a:endParaRPr lang="en-US" sz="1000" b="1" i="0" dirty="0">
              <a:solidFill>
                <a:srgbClr val="095E4F"/>
              </a:solidFill>
              <a:latin typeface="Avenir Next" panose="020B0503020202020204" pitchFamily="34" charset="0"/>
            </a:endParaRPr>
          </a:p>
          <a:p>
            <a:pPr algn="l"/>
            <a:r>
              <a:rPr sz="1000" b="1" i="0" dirty="0">
                <a:solidFill>
                  <a:srgbClr val="095E4F"/>
                </a:solidFill>
                <a:latin typeface="Avenir Next" panose="020B0503020202020204" pitchFamily="34" charset="0"/>
              </a:rPr>
              <a:t>Answer to RQ2:  </a:t>
            </a:r>
            <a:r>
              <a:rPr sz="1000" b="0" i="0" dirty="0">
                <a:solidFill>
                  <a:srgbClr val="3A3A4A"/>
                </a:solidFill>
                <a:latin typeface="Avenir Next" panose="020B0503020202020204" pitchFamily="34" charset="0"/>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166(2) expressly places environmental protection inside directors' duties.</a:t>
            </a:r>
            <a:endParaRPr lang="en-US" sz="1400" dirty="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SEBI's BRSR and BRSR Core </a:t>
            </a:r>
            <a:r>
              <a:rPr sz="1400" dirty="0" err="1">
                <a:latin typeface="Avenir Next" panose="020B0503020202020204" pitchFamily="34" charset="0"/>
              </a:rPr>
              <a:t>formalise</a:t>
            </a:r>
            <a:r>
              <a:rPr sz="1400" dirty="0">
                <a:latin typeface="Avenir Next" panose="020B0503020202020204" pitchFamily="34" charset="0"/>
              </a:rPr>
              <a:t> sustainability disclosure obligations.</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No reported director liability under Section 166(2) for environmental misrepresentation.</a:t>
            </a:r>
            <a:endParaRPr lang="en-US" sz="140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166(7) penalties remain commercially minor for large companies.</a:t>
            </a: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BRSR assurance is partial and delayed, leaving much ESG data effectively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200" b="0">
                <a:solidFill>
                  <a:srgbClr val="2A2A2A"/>
                </a:solidFill>
                <a:latin typeface="Avenir Next"/>
              </a:defRPr>
            </a:pPr>
            <a:r>
              <a:rPr lang="en-US" sz="1400" dirty="0">
                <a:latin typeface="Avenir Next" panose="020B0503020202020204" pitchFamily="34" charset="0"/>
              </a:rPr>
              <a:t>US FTC brought 90 greenwashing enforcement actions between 2021-2023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200" b="0">
                <a:solidFill>
                  <a:srgbClr val="2A2A2A"/>
                </a:solidFill>
                <a:latin typeface="Avenir Next"/>
              </a:defRPr>
            </a:pPr>
            <a:r>
              <a:rPr sz="1050" dirty="0">
                <a:latin typeface="Avenir Next" panose="020B0503020202020204" pitchFamily="34" charset="0"/>
              </a:rPr>
              <a:t>Integrated reporting, claim controls, verification, and coordinated sweeps.</a:t>
            </a:r>
            <a:endParaRPr lang="en-US" sz="1050" dirty="0">
              <a:latin typeface="Avenir Next" panose="020B0503020202020204" pitchFamily="34" charset="0"/>
            </a:endParaRPr>
          </a:p>
          <a:p>
            <a:pPr algn="l">
              <a:defRPr sz="1200" b="0">
                <a:solidFill>
                  <a:srgbClr val="2A2A2A"/>
                </a:solidFill>
                <a:latin typeface="Avenir Next"/>
              </a:defRPr>
            </a:pPr>
            <a:r>
              <a:rPr lang="en-IN" sz="1050" dirty="0">
                <a:latin typeface="Avenir Next" panose="020B0503020202020204" pitchFamily="34" charset="0"/>
              </a:rPr>
              <a:t>France alone issued 141 warnings &amp; 114 injunctions-misleading env claims</a:t>
            </a:r>
            <a:endParaRPr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Tools exist, but visible </a:t>
            </a:r>
            <a:r>
              <a:rPr lang="en-US" sz="1400" dirty="0">
                <a:latin typeface="Avenir Next" panose="020B0503020202020204" pitchFamily="34" charset="0"/>
              </a:rPr>
              <a:t>reported </a:t>
            </a:r>
            <a:r>
              <a:rPr sz="1400" dirty="0">
                <a:latin typeface="Avenir Next" panose="020B0503020202020204" pitchFamily="34" charset="0"/>
              </a:rPr>
              <a:t>deterrent </a:t>
            </a:r>
            <a:r>
              <a:rPr lang="en-US" sz="1400" dirty="0">
                <a:latin typeface="Avenir Next" panose="020B0503020202020204" pitchFamily="34" charset="0"/>
              </a:rPr>
              <a:t>case</a:t>
            </a:r>
            <a:r>
              <a:rPr sz="1400" dirty="0">
                <a:latin typeface="Avenir Next" panose="020B0503020202020204" pitchFamily="34" charset="0"/>
              </a:rPr>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ex ante substantiation requirements</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stronger assurance / verification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clear liability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credible and visible penalties</a:t>
            </a: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preventive design across the life cycle of the claim</a:t>
            </a:r>
            <a:endParaRPr sz="1400" dirty="0">
              <a:latin typeface="Avenir Next" panose="020B0503020202020204" pitchFamily="34" charset="0"/>
            </a:endParaRP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rPr>
              <a:t>Indian </a:t>
            </a:r>
            <a:r>
              <a:rPr lang="en-US" sz="1400" dirty="0" err="1">
                <a:latin typeface="Avenir Next" panose="020B0503020202020204" pitchFamily="34" charset="0"/>
              </a:rPr>
              <a:t>Regularoty</a:t>
            </a:r>
            <a:r>
              <a:rPr lang="en-US" sz="1400" dirty="0">
                <a:latin typeface="Avenir Next" panose="020B0503020202020204" pitchFamily="34" charset="0"/>
              </a:rPr>
              <a:t>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incomplete verification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weak assurance design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no robust ex ante substantiation framework</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repeated regulatory relaxations / backsliding</a:t>
            </a:r>
            <a:endParaRPr sz="1400" dirty="0">
              <a:latin typeface="Avenir Next" panose="020B0503020202020204" pitchFamily="34" charset="0"/>
            </a:endParaRP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comparatively modest penalties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892249"/>
            <a:ext cx="5291452" cy="236907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1993"/>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1027121"/>
            <a:ext cx="5044439" cy="2069797"/>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Definitional Fragmentation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Firms invest in "defensible wording" rather than verifiable performance.</a:t>
            </a:r>
            <a:endParaRPr sz="1400" dirty="0">
              <a:latin typeface="Avenir Next" panose="020B0503020202020204" pitchFamily="34" charset="0"/>
            </a:endParaRP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374611"/>
            <a:ext cx="5175557" cy="28617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422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10771"/>
            <a:ext cx="5033807" cy="2716128"/>
          </a:xfrm>
          <a:prstGeom prst="rect">
            <a:avLst/>
          </a:prstGeom>
          <a:noFill/>
        </p:spPr>
        <p:txBody>
          <a:bodyPr wrap="square">
            <a:spAutoFit/>
          </a:bodyPr>
          <a:lstStyle/>
          <a:p>
            <a:pPr algn="l">
              <a:spcAft>
                <a:spcPts val="300"/>
              </a:spcAft>
              <a:defRPr sz="1400" b="1">
                <a:solidFill>
                  <a:srgbClr val="095E4F"/>
                </a:solidFill>
                <a:latin typeface="Calibri"/>
              </a:defRPr>
            </a:pPr>
            <a:r>
              <a:rPr lang="en-US" dirty="0">
                <a:latin typeface="Avenir Next" panose="020B0503020202020204" pitchFamily="34" charset="0"/>
              </a:rPr>
              <a:t>Regulatory Proliferation with Sustained Ambiguity</a:t>
            </a:r>
            <a:endParaRPr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A single "carbon neutral" claim simultaneously engages CCPA, SEBI, MCA, FSSAI, and </a:t>
            </a:r>
            <a:r>
              <a:rPr lang="en-IN" sz="1400" dirty="0" err="1">
                <a:latin typeface="Avenir Next" panose="020B0503020202020204" pitchFamily="34" charset="0"/>
              </a:rPr>
              <a:t>MoEFCC</a:t>
            </a:r>
            <a:r>
              <a:rPr lang="en-IN" sz="1400" dirty="0">
                <a:latin typeface="Avenir Next" panose="020B0503020202020204" pitchFamily="34" charset="0"/>
              </a:rPr>
              <a: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Green Taxonomy Paradox: India's May 2025 Climate Finance Taxonomy added a </a:t>
            </a:r>
            <a:r>
              <a:rPr lang="en-IN" sz="1400" i="1" dirty="0">
                <a:latin typeface="Avenir Next" panose="020B0503020202020204" pitchFamily="34" charset="0"/>
              </a:rPr>
              <a:t>new</a:t>
            </a:r>
            <a:r>
              <a:rPr lang="en-IN" sz="1400" dirty="0">
                <a:latin typeface="Avenir Next" panose="020B0503020202020204" pitchFamily="34" charset="0"/>
              </a:rPr>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Guidelines' subordination clause ("in addition to and not in derogation of") creates ambiguity rather than resolving it.</a:t>
            </a:r>
            <a:endParaRPr sz="1400" dirty="0">
              <a:latin typeface="Avenir Next" panose="020B0503020202020204" pitchFamily="34" charset="0"/>
            </a:endParaRP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389194"/>
            <a:ext cx="5212080" cy="20279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452966"/>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2826"/>
            <a:ext cx="5067118" cy="1854354"/>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Penalty Arbitrage — Greenwashing as Rational Strategy</a:t>
            </a:r>
            <a:endParaRPr lang="en-IN"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43321"/>
            <a:ext cx="5196834" cy="17518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1993"/>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1074930"/>
            <a:ext cx="5145784" cy="1677382"/>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SEBI (active dilution): value-chain disclosure deferred &amp; narrowed; 'assessment or assurance’ </a:t>
            </a:r>
            <a:r>
              <a:rPr lang="en-US" sz="1400" dirty="0">
                <a:latin typeface="Avenir Next" panose="020B0503020202020204" pitchFamily="34" charset="0"/>
              </a:rPr>
              <a:t>choice replaces earlier</a:t>
            </a:r>
            <a:r>
              <a:rPr sz="1400" dirty="0">
                <a:latin typeface="Avenir Next" panose="020B0503020202020204" pitchFamily="34" charset="0"/>
              </a:rPr>
              <a:t> mandatory assurance.</a:t>
            </a:r>
            <a:endParaRPr lang="en-US" sz="1400" dirty="0">
              <a:latin typeface="Avenir Next" panose="020B0503020202020204" pitchFamily="34" charset="0"/>
            </a:endParaRP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MCA</a:t>
            </a:r>
            <a:r>
              <a:rPr lang="en-US" sz="1400" dirty="0">
                <a:latin typeface="Avenir Next" panose="020B0503020202020204" pitchFamily="34" charset="0"/>
              </a:rPr>
              <a:t> </a:t>
            </a:r>
            <a:r>
              <a:rPr sz="1400" dirty="0">
                <a:latin typeface="Avenir Next" panose="020B0503020202020204" pitchFamily="34" charset="0"/>
              </a:rPr>
              <a:t>Rejected all Parliamentary Standing Committee recommendations for ESG oversight body, turnover-based penalties</a:t>
            </a:r>
            <a:r>
              <a:rPr lang="en-US" sz="1400" dirty="0">
                <a:latin typeface="Avenir Next" panose="020B0503020202020204" pitchFamily="34" charset="0"/>
              </a:rPr>
              <a:t>.</a:t>
            </a:r>
            <a:endParaRPr sz="1400" dirty="0">
              <a:latin typeface="Avenir Next" panose="020B0503020202020204" pitchFamily="34" charset="0"/>
            </a:endParaRP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81021"/>
            <a:ext cx="5116716" cy="15223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816084"/>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899714"/>
            <a:ext cx="5069243" cy="1592744"/>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dirty="0">
                <a:latin typeface="Avenir Next" panose="020B0503020202020204" pitchFamily="34" charset="0"/>
                <a:ea typeface="+mn-lt"/>
                <a:cs typeface="+mn-lt"/>
              </a:rPr>
              <a:t>Reactive enforcement &amp;</a:t>
            </a:r>
            <a:r>
              <a:rPr lang="en-US" dirty="0">
                <a:latin typeface="Avenir Next" panose="020B0503020202020204" pitchFamily="34" charset="0"/>
              </a:rPr>
              <a:t> </a:t>
            </a:r>
            <a:r>
              <a:rPr dirty="0">
                <a:latin typeface="Avenir Next" panose="020B0503020202020204" pitchFamily="34" charset="0"/>
              </a:rPr>
              <a:t>Surveillance Limitations</a:t>
            </a:r>
            <a:endParaRPr lang="en-US" sz="1600" dirty="0">
              <a:latin typeface="Avenir Next" panose="020B0503020202020204" pitchFamily="34" charset="0"/>
            </a:endParaRPr>
          </a:p>
          <a:p>
            <a:pPr marL="171450" indent="-171450" algn="l">
              <a:spcAft>
                <a:spcPts val="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Complaint-driven, reactive architecture — no proactive market scanning for environmental claims.</a:t>
            </a:r>
            <a:r>
              <a:rPr lang="en-US" sz="1400" dirty="0">
                <a:latin typeface="Avenir Next" panose="020B0503020202020204" pitchFamily="34" charset="0"/>
              </a:rPr>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400" dirty="0">
                <a:latin typeface="Avenir Next" panose="020B0503020202020204" pitchFamily="34" charset="0"/>
              </a:rPr>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200" dirty="0">
              <a:latin typeface="Avenir Next" panose="020B0503020202020204" pitchFamily="34" charset="0"/>
            </a:endParaRP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rPr sz="1600"/>
                        <a:t>Design element</a:t>
                      </a:r>
                    </a:p>
                  </a:txBody>
                  <a:tcPr>
                    <a:solidFill>
                      <a:srgbClr val="173F35"/>
                    </a:solidFill>
                  </a:tcPr>
                </a:tc>
                <a:tc>
                  <a:txBody>
                    <a:bodyPr/>
                    <a:lstStyle/>
                    <a:p>
                      <a:pPr algn="ctr">
                        <a:defRPr sz="1100" b="1">
                          <a:solidFill>
                            <a:srgbClr val="FFFFFF"/>
                          </a:solidFill>
                          <a:latin typeface="Avenir Next"/>
                        </a:defRPr>
                      </a:pPr>
                      <a:r>
                        <a:rPr sz="1600"/>
                        <a:t>European Union</a:t>
                      </a:r>
                    </a:p>
                  </a:txBody>
                  <a:tcPr>
                    <a:solidFill>
                      <a:srgbClr val="173F35"/>
                    </a:solidFill>
                  </a:tcPr>
                </a:tc>
                <a:tc>
                  <a:txBody>
                    <a:bodyPr/>
                    <a:lstStyle/>
                    <a:p>
                      <a:pPr algn="ctr">
                        <a:defRPr sz="1100" b="1">
                          <a:solidFill>
                            <a:srgbClr val="FFFFFF"/>
                          </a:solidFill>
                          <a:latin typeface="Avenir Next"/>
                        </a:defRPr>
                      </a:pPr>
                      <a:r>
                        <a:rPr sz="1600"/>
                        <a:t>United Kingdom</a:t>
                      </a:r>
                    </a:p>
                  </a:txBody>
                  <a:tcPr>
                    <a:solidFill>
                      <a:srgbClr val="173F35"/>
                    </a:solidFill>
                  </a:tcPr>
                </a:tc>
                <a:tc>
                  <a:txBody>
                    <a:bodyPr/>
                    <a:lstStyle/>
                    <a:p>
                      <a:pPr algn="ctr">
                        <a:defRPr sz="1100" b="1">
                          <a:solidFill>
                            <a:srgbClr val="FFFFFF"/>
                          </a:solidFill>
                          <a:latin typeface="Avenir Next"/>
                        </a:defRPr>
                      </a:pPr>
                      <a:r>
                        <a:rPr sz="1600" dirty="0"/>
                        <a:t>Australia</a:t>
                      </a:r>
                    </a:p>
                  </a:txBody>
                  <a:tcPr>
                    <a:solidFill>
                      <a:srgbClr val="173F35"/>
                    </a:solidFill>
                  </a:tcPr>
                </a:tc>
                <a:tc>
                  <a:txBody>
                    <a:bodyPr/>
                    <a:lstStyle/>
                    <a:p>
                      <a:pPr algn="ctr">
                        <a:defRPr sz="1100" b="1">
                          <a:solidFill>
                            <a:srgbClr val="FFFFFF"/>
                          </a:solidFill>
                          <a:latin typeface="Avenir Next"/>
                        </a:defRPr>
                      </a:pPr>
                      <a:r>
                        <a:rPr sz="1600"/>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rPr sz="1400"/>
                        <a:t>Board-level accountability</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Partial but real</a:t>
                      </a:r>
                    </a:p>
                  </a:txBody>
                  <a:tcPr>
                    <a:solidFill>
                      <a:srgbClr val="FFFDF8"/>
                    </a:solidFill>
                  </a:tcPr>
                </a:tc>
                <a:tc>
                  <a:txBody>
                    <a:bodyPr/>
                    <a:lstStyle/>
                    <a:p>
                      <a:pPr algn="ctr">
                        <a:defRPr sz="1050" b="0">
                          <a:solidFill>
                            <a:srgbClr val="173F35"/>
                          </a:solidFill>
                          <a:latin typeface="Avenir Next"/>
                        </a:defRPr>
                      </a:pPr>
                      <a:r>
                        <a:rPr sz="1400"/>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sz="1400"/>
                        <a:t>Integrated architecture</a:t>
                      </a:r>
                    </a:p>
                  </a:txBody>
                  <a:tcPr>
                    <a:solidFill>
                      <a:srgbClr val="E8EFE6"/>
                    </a:solidFill>
                  </a:tcPr>
                </a:tc>
                <a:tc>
                  <a:txBody>
                    <a:bodyPr/>
                    <a:lstStyle/>
                    <a:p>
                      <a:pPr algn="ctr">
                        <a:defRPr sz="1050" b="0">
                          <a:solidFill>
                            <a:srgbClr val="2A2A2A"/>
                          </a:solidFill>
                          <a:latin typeface="Avenir Next"/>
                        </a:defRPr>
                      </a:pPr>
                      <a:r>
                        <a:rPr sz="1400"/>
                        <a:t>Reporting + claims + enforcement</a:t>
                      </a:r>
                    </a:p>
                  </a:txBody>
                  <a:tcPr>
                    <a:solidFill>
                      <a:srgbClr val="E8EFE6"/>
                    </a:solidFill>
                  </a:tcPr>
                </a:tc>
                <a:tc>
                  <a:txBody>
                    <a:bodyPr/>
                    <a:lstStyle/>
                    <a:p>
                      <a:pPr algn="ctr">
                        <a:defRPr sz="1050" b="0">
                          <a:solidFill>
                            <a:srgbClr val="2A2A2A"/>
                          </a:solidFill>
                          <a:latin typeface="Avenir Next"/>
                        </a:defRPr>
                      </a:pPr>
                      <a:r>
                        <a:rPr sz="1400"/>
                        <a:t>FCA + CMA + company law</a:t>
                      </a:r>
                    </a:p>
                  </a:txBody>
                  <a:tcPr>
                    <a:solidFill>
                      <a:srgbClr val="E8EFE6"/>
                    </a:solidFill>
                  </a:tcPr>
                </a:tc>
                <a:tc>
                  <a:txBody>
                    <a:bodyPr/>
                    <a:lstStyle/>
                    <a:p>
                      <a:pPr algn="ctr">
                        <a:defRPr sz="1050" b="0">
                          <a:solidFill>
                            <a:srgbClr val="2A2A2A"/>
                          </a:solidFill>
                          <a:latin typeface="Avenir Next"/>
                        </a:defRPr>
                      </a:pPr>
                      <a:r>
                        <a:rPr sz="1400"/>
                        <a:t>Active regulator coordination</a:t>
                      </a:r>
                    </a:p>
                  </a:txBody>
                  <a:tcPr>
                    <a:solidFill>
                      <a:srgbClr val="E8EFE6"/>
                    </a:solidFill>
                  </a:tcPr>
                </a:tc>
                <a:tc>
                  <a:txBody>
                    <a:bodyPr/>
                    <a:lstStyle/>
                    <a:p>
                      <a:pPr algn="ctr">
                        <a:defRPr sz="1050" b="0">
                          <a:solidFill>
                            <a:srgbClr val="173F35"/>
                          </a:solidFill>
                          <a:latin typeface="Avenir Next"/>
                        </a:defRPr>
                      </a:pPr>
                      <a:r>
                        <a:rPr sz="1400"/>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rPr sz="1400"/>
                        <a:t>Third-party assurance</a:t>
                      </a:r>
                    </a:p>
                  </a:txBody>
                  <a:tcPr>
                    <a:solidFill>
                      <a:srgbClr val="FFFDF8"/>
                    </a:solidFill>
                  </a:tcPr>
                </a:tc>
                <a:tc>
                  <a:txBody>
                    <a:bodyPr/>
                    <a:lstStyle/>
                    <a:p>
                      <a:pPr algn="ctr">
                        <a:defRPr sz="1050" b="0">
                          <a:solidFill>
                            <a:srgbClr val="2A2A2A"/>
                          </a:solidFill>
                          <a:latin typeface="Avenir Next"/>
                        </a:defRPr>
                      </a:pPr>
                      <a:r>
                        <a:rPr sz="1400"/>
                        <a:t>Phased toward stronger assurance</a:t>
                      </a:r>
                    </a:p>
                  </a:txBody>
                  <a:tcPr>
                    <a:solidFill>
                      <a:srgbClr val="FFFDF8"/>
                    </a:solidFill>
                  </a:tcPr>
                </a:tc>
                <a:tc>
                  <a:txBody>
                    <a:bodyPr/>
                    <a:lstStyle/>
                    <a:p>
                      <a:pPr algn="ctr">
                        <a:defRPr sz="1050" b="0">
                          <a:solidFill>
                            <a:srgbClr val="2A2A2A"/>
                          </a:solidFill>
                          <a:latin typeface="Avenir Next"/>
                        </a:defRPr>
                      </a:pPr>
                      <a:r>
                        <a:rPr sz="1400"/>
                        <a:t>Developing</a:t>
                      </a:r>
                    </a:p>
                  </a:txBody>
                  <a:tcPr>
                    <a:solidFill>
                      <a:srgbClr val="FFFDF8"/>
                    </a:solidFill>
                  </a:tcPr>
                </a:tc>
                <a:tc>
                  <a:txBody>
                    <a:bodyPr/>
                    <a:lstStyle/>
                    <a:p>
                      <a:pPr algn="ctr">
                        <a:defRPr sz="1050" b="0">
                          <a:solidFill>
                            <a:srgbClr val="2A2A2A"/>
                          </a:solidFill>
                          <a:latin typeface="Avenir Next"/>
                        </a:defRPr>
                      </a:pPr>
                      <a:r>
                        <a:rPr sz="1400"/>
                        <a:t>Building toward mandatory climate assurance</a:t>
                      </a:r>
                    </a:p>
                  </a:txBody>
                  <a:tcPr>
                    <a:solidFill>
                      <a:srgbClr val="FFFDF8"/>
                    </a:solidFill>
                  </a:tcPr>
                </a:tc>
                <a:tc>
                  <a:txBody>
                    <a:bodyPr/>
                    <a:lstStyle/>
                    <a:p>
                      <a:pPr algn="ctr">
                        <a:defRPr sz="1050" b="0">
                          <a:solidFill>
                            <a:srgbClr val="173F35"/>
                          </a:solidFill>
                          <a:latin typeface="Avenir Next"/>
                        </a:defRPr>
                      </a:pPr>
                      <a:r>
                        <a:rPr sz="1400"/>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rPr sz="1400"/>
                        <a:t>Forward-looking claim controls</a:t>
                      </a:r>
                    </a:p>
                  </a:txBody>
                  <a:tcPr>
                    <a:solidFill>
                      <a:srgbClr val="E8EFE6"/>
                    </a:solidFill>
                  </a:tcPr>
                </a:tc>
                <a:tc>
                  <a:txBody>
                    <a:bodyPr/>
                    <a:lstStyle/>
                    <a:p>
                      <a:pPr algn="ctr">
                        <a:defRPr sz="1050" b="0">
                          <a:solidFill>
                            <a:srgbClr val="2A2A2A"/>
                          </a:solidFill>
                          <a:latin typeface="Avenir Next"/>
                        </a:defRPr>
                      </a:pPr>
                      <a:r>
                        <a:rPr sz="1400"/>
                        <a:t>Offsets and neutrality claims constrained</a:t>
                      </a:r>
                    </a:p>
                  </a:txBody>
                  <a:tcPr>
                    <a:solidFill>
                      <a:srgbClr val="E8EFE6"/>
                    </a:solidFill>
                  </a:tcPr>
                </a:tc>
                <a:tc>
                  <a:txBody>
                    <a:bodyPr/>
                    <a:lstStyle/>
                    <a:p>
                      <a:pPr algn="ctr">
                        <a:defRPr sz="1050" b="0">
                          <a:solidFill>
                            <a:srgbClr val="2A2A2A"/>
                          </a:solidFill>
                          <a:latin typeface="Avenir Next"/>
                        </a:defRPr>
                      </a:pPr>
                      <a:r>
                        <a:rPr sz="1400"/>
                        <a:t>Partial</a:t>
                      </a:r>
                    </a:p>
                  </a:txBody>
                  <a:tcPr>
                    <a:solidFill>
                      <a:srgbClr val="E8EFE6"/>
                    </a:solidFill>
                  </a:tcPr>
                </a:tc>
                <a:tc>
                  <a:txBody>
                    <a:bodyPr/>
                    <a:lstStyle/>
                    <a:p>
                      <a:pPr algn="ctr">
                        <a:defRPr sz="1050" b="0">
                          <a:solidFill>
                            <a:srgbClr val="2A2A2A"/>
                          </a:solidFill>
                          <a:latin typeface="Avenir Next"/>
                        </a:defRPr>
                      </a:pPr>
                      <a:r>
                        <a:rPr sz="1400"/>
                        <a:t>Emerging</a:t>
                      </a:r>
                    </a:p>
                  </a:txBody>
                  <a:tcPr>
                    <a:solidFill>
                      <a:srgbClr val="E8EFE6"/>
                    </a:solidFill>
                  </a:tcPr>
                </a:tc>
                <a:tc>
                  <a:txBody>
                    <a:bodyPr/>
                    <a:lstStyle/>
                    <a:p>
                      <a:pPr algn="ctr">
                        <a:defRPr sz="1050" b="0">
                          <a:solidFill>
                            <a:srgbClr val="173F35"/>
                          </a:solidFill>
                          <a:latin typeface="Avenir Next"/>
                        </a:defRPr>
                      </a:pPr>
                      <a:r>
                        <a:rPr sz="1400"/>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sz="1400"/>
                        <a:t>Proportionate penalties</a:t>
                      </a:r>
                    </a:p>
                  </a:txBody>
                  <a:tcPr>
                    <a:solidFill>
                      <a:srgbClr val="FFFDF8"/>
                    </a:solidFill>
                  </a:tcPr>
                </a:tc>
                <a:tc>
                  <a:txBody>
                    <a:bodyPr/>
                    <a:lstStyle/>
                    <a:p>
                      <a:pPr algn="ctr">
                        <a:defRPr sz="1050" b="0">
                          <a:solidFill>
                            <a:srgbClr val="2A2A2A"/>
                          </a:solidFill>
                          <a:latin typeface="Avenir Next"/>
                        </a:defRPr>
                      </a:pPr>
                      <a:r>
                        <a:rPr sz="1400"/>
                        <a:t>Turnover-linked</a:t>
                      </a:r>
                    </a:p>
                  </a:txBody>
                  <a:tcPr>
                    <a:solidFill>
                      <a:srgbClr val="FFFDF8"/>
                    </a:solidFill>
                  </a:tcPr>
                </a:tc>
                <a:tc>
                  <a:txBody>
                    <a:bodyPr/>
                    <a:lstStyle/>
                    <a:p>
                      <a:pPr algn="ctr">
                        <a:defRPr sz="1050" b="0">
                          <a:solidFill>
                            <a:srgbClr val="2A2A2A"/>
                          </a:solidFill>
                          <a:latin typeface="Avenir Next"/>
                        </a:defRPr>
                      </a:pPr>
                      <a:r>
                        <a:rPr sz="1400"/>
                        <a:t>Up to 10% global turnover</a:t>
                      </a:r>
                    </a:p>
                  </a:txBody>
                  <a:tcPr>
                    <a:solidFill>
                      <a:srgbClr val="FFFDF8"/>
                    </a:solidFill>
                  </a:tcPr>
                </a:tc>
                <a:tc>
                  <a:txBody>
                    <a:bodyPr/>
                    <a:lstStyle/>
                    <a:p>
                      <a:pPr algn="ctr">
                        <a:defRPr sz="1050" b="0">
                          <a:solidFill>
                            <a:srgbClr val="2A2A2A"/>
                          </a:solidFill>
                          <a:latin typeface="Avenir Next"/>
                        </a:defRPr>
                      </a:pPr>
                      <a:r>
                        <a:rPr sz="1400"/>
                        <a:t>High civil penalty exposure</a:t>
                      </a:r>
                    </a:p>
                  </a:txBody>
                  <a:tcPr>
                    <a:solidFill>
                      <a:srgbClr val="FFFDF8"/>
                    </a:solidFill>
                  </a:tcPr>
                </a:tc>
                <a:tc>
                  <a:txBody>
                    <a:bodyPr/>
                    <a:lstStyle/>
                    <a:p>
                      <a:pPr algn="ctr">
                        <a:defRPr sz="1050" b="0">
                          <a:solidFill>
                            <a:srgbClr val="173F35"/>
                          </a:solidFill>
                          <a:latin typeface="Avenir Next"/>
                        </a:defRPr>
                      </a:pPr>
                      <a:r>
                        <a:rPr sz="1400" dirty="0"/>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r>
              <a:rPr sz="1100" b="1" i="0" dirty="0">
                <a:solidFill>
                  <a:srgbClr val="095E4F"/>
                </a:solidFill>
                <a:latin typeface="Avenir Next" panose="020B0503020202020204" pitchFamily="34" charset="0"/>
              </a:rPr>
              <a:t>Answer to RQ5:  </a:t>
            </a:r>
            <a:r>
              <a:rPr sz="1100" b="0" i="0" dirty="0">
                <a:solidFill>
                  <a:srgbClr val="3A3A4A"/>
                </a:solidFill>
                <a:latin typeface="Avenir Next" panose="020B0503020202020204" pitchFamily="34" charset="0"/>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Ex ante claim approval</a:t>
            </a:r>
          </a:p>
          <a:p>
            <a:pPr algn="l">
              <a:spcAft>
                <a:spcPts val="0"/>
              </a:spcAft>
              <a:defRPr sz="950" b="0">
                <a:solidFill>
                  <a:srgbClr val="3A3A4A"/>
                </a:solidFill>
                <a:latin typeface="Calibri"/>
              </a:defRPr>
            </a:pPr>
            <a:r>
              <a:rPr sz="1200">
                <a:latin typeface="Avenir Next" panose="020B0503020202020204" pitchFamily="34" charset="0"/>
              </a:rPr>
              <a:t>Independent 'Certificate of Conformity' before publication — EU GCD; Colombia Decree 1369.</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third-party assurance</a:t>
            </a:r>
          </a:p>
          <a:p>
            <a:pPr algn="l">
              <a:spcAft>
                <a:spcPts val="0"/>
              </a:spcAft>
              <a:defRPr sz="950" b="0">
                <a:solidFill>
                  <a:srgbClr val="3A3A4A"/>
                </a:solidFill>
                <a:latin typeface="Calibri"/>
              </a:defRPr>
            </a:pPr>
            <a:r>
              <a:rPr sz="1200" dirty="0">
                <a:latin typeface="Avenir Next" panose="020B0503020202020204" pitchFamily="34" charset="0"/>
              </a:rPr>
              <a:t>Limited assurance from Year 1; escalating to reasonable (audit) assurance — EU CSRD; Australia AASB S2.</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Double materiality</a:t>
            </a:r>
          </a:p>
          <a:p>
            <a:pPr algn="l">
              <a:spcAft>
                <a:spcPts val="0"/>
              </a:spcAft>
              <a:defRPr sz="950" b="0">
                <a:solidFill>
                  <a:srgbClr val="3A3A4A"/>
                </a:solidFill>
                <a:latin typeface="Calibri"/>
              </a:defRPr>
            </a:pPr>
            <a:r>
              <a:rPr sz="1200">
                <a:latin typeface="Avenir Next" panose="020B0503020202020204" pitchFamily="34" charset="0"/>
              </a:rPr>
              <a:t>Disclose how sustainability affects the firm AND how the firm affects the environment — EU CSRD/ESRS. Single-direction materiality enables selective disclosure.</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LCA for product claims</a:t>
            </a:r>
          </a:p>
          <a:p>
            <a:pPr algn="l">
              <a:spcAft>
                <a:spcPts val="0"/>
              </a:spcAft>
              <a:defRPr sz="950" b="0">
                <a:solidFill>
                  <a:srgbClr val="3A3A4A"/>
                </a:solidFill>
                <a:latin typeface="Calibri"/>
              </a:defRPr>
            </a:pPr>
            <a:r>
              <a:rPr sz="1200" dirty="0">
                <a:latin typeface="Avenir Next" panose="020B0503020202020204" pitchFamily="34" charset="0"/>
              </a:rPr>
              <a:t>Full lifecycle assessment — raw materials to end-of-life — required for any environmental product claim. EU GCD;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Scope 3 reporting</a:t>
            </a:r>
          </a:p>
          <a:p>
            <a:pPr algn="l">
              <a:spcAft>
                <a:spcPts val="0"/>
              </a:spcAft>
              <a:defRPr sz="950" b="0">
                <a:solidFill>
                  <a:srgbClr val="3A3A4A"/>
                </a:solidFill>
                <a:latin typeface="Calibri"/>
              </a:defRPr>
            </a:pPr>
            <a:r>
              <a:rPr sz="1200" dirty="0">
                <a:latin typeface="Avenir Next" panose="020B0503020202020204" pitchFamily="34" charset="0"/>
              </a:rPr>
              <a:t>Supply-chain emissions cannot be excluded — hiding Scope 3 allows 'climate progress' claims while concealing largest source. EU CSRD; Australia AASB S2.</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Reversed burden of proof</a:t>
            </a:r>
          </a:p>
          <a:p>
            <a:pPr algn="l">
              <a:spcAft>
                <a:spcPts val="0"/>
              </a:spcAft>
              <a:defRPr sz="950" b="0">
                <a:solidFill>
                  <a:srgbClr val="3A3A4A"/>
                </a:solidFill>
                <a:latin typeface="Calibri"/>
              </a:defRPr>
            </a:pPr>
            <a:r>
              <a:rPr sz="1200" dirty="0">
                <a:latin typeface="Avenir Next" panose="020B0503020202020204" pitchFamily="34" charset="0"/>
              </a:rPr>
              <a:t>Company must affirmatively prove each claim — not the complainant. Canada Competition Act; Chile proposed bill; EU GCD.</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Claim-specific substantiation</a:t>
            </a:r>
          </a:p>
          <a:p>
            <a:pPr algn="l">
              <a:spcAft>
                <a:spcPts val="0"/>
              </a:spcAft>
              <a:defRPr sz="950" b="0">
                <a:solidFill>
                  <a:srgbClr val="3A3A4A"/>
                </a:solidFill>
                <a:latin typeface="Calibri"/>
              </a:defRPr>
            </a:pPr>
            <a:r>
              <a:rPr sz="1200" dirty="0">
                <a:latin typeface="Avenir Next" panose="020B0503020202020204" pitchFamily="34" charset="0"/>
              </a:rP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Ban on vague generic claims</a:t>
            </a:r>
          </a:p>
          <a:p>
            <a:pPr algn="l">
              <a:spcAft>
                <a:spcPts val="0"/>
              </a:spcAft>
              <a:defRPr sz="950" b="0">
                <a:solidFill>
                  <a:srgbClr val="3A3A4A"/>
                </a:solidFill>
                <a:latin typeface="Calibri"/>
              </a:defRPr>
            </a:pPr>
            <a:r>
              <a:rPr sz="1200" dirty="0">
                <a:latin typeface="Avenir Next" panose="020B0503020202020204" pitchFamily="34" charset="0"/>
              </a:rPr>
              <a:t>'Eco-friendly,' 'sustainable,' 'green,' 'climate neutral' without evidence are prohibited — EU ECGT; UK CMA; FTC; CCPA 2024.</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Turnover-linked proportionate penalties</a:t>
            </a:r>
          </a:p>
          <a:p>
            <a:pPr algn="l">
              <a:spcAft>
                <a:spcPts val="0"/>
              </a:spcAft>
              <a:defRPr sz="950" b="0">
                <a:solidFill>
                  <a:srgbClr val="3A3A4A"/>
                </a:solidFill>
                <a:latin typeface="Calibri"/>
              </a:defRPr>
            </a:pPr>
            <a:r>
              <a:rPr sz="1200">
                <a:latin typeface="Avenir Next" panose="020B0503020202020204" pitchFamily="34" charset="0"/>
              </a:rPr>
              <a:t>EU ≥4% | UK 10% | Canada 3% worldwide revenues. Fixed / low-cap penalties (India ₹5L) are insufficient deterrents.</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Coordinated multi-agency architecture</a:t>
            </a:r>
          </a:p>
          <a:p>
            <a:pPr algn="l">
              <a:spcAft>
                <a:spcPts val="0"/>
              </a:spcAft>
              <a:defRPr sz="950" b="0">
                <a:solidFill>
                  <a:srgbClr val="3A3A4A"/>
                </a:solidFill>
                <a:latin typeface="Calibri"/>
              </a:defRPr>
            </a:pPr>
            <a:r>
              <a:rPr sz="1200" dirty="0">
                <a:latin typeface="Avenir Next" panose="020B0503020202020204" pitchFamily="34" charset="0"/>
              </a:rPr>
              <a:t>Greenwashing crosses consumer, securities, environmental, and company law — requires automatic referral between agencies. EU model vs. India (CCPA / SEBI / MCA / </a:t>
            </a:r>
            <a:r>
              <a:rPr sz="1200" dirty="0" err="1">
                <a:latin typeface="Avenir Next" panose="020B0503020202020204" pitchFamily="34" charset="0"/>
              </a:rPr>
              <a:t>MoEFCC</a:t>
            </a:r>
            <a:r>
              <a:rPr sz="1200" dirty="0">
                <a:latin typeface="Avenir Next" panose="020B0503020202020204" pitchFamily="34" charset="0"/>
              </a:rPr>
              <a:t>: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1332986989"/>
              </p:ext>
            </p:extLst>
          </p:nvPr>
        </p:nvGraphicFramePr>
        <p:xfrm>
          <a:off x="377059" y="943552"/>
          <a:ext cx="11407110" cy="5582453"/>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Research Question</a:t>
                      </a:r>
                      <a:endParaRPr sz="1100" b="1" dirty="0">
                        <a:solidFill>
                          <a:srgbClr val="FFFFFF"/>
                        </a:solidFill>
                        <a:latin typeface="Avenir Next"/>
                      </a:endParaRPr>
                    </a:p>
                  </a:txBody>
                  <a:tcPr marL="73152" marR="73152" marT="36576" marB="36576" anchor="ctr">
                    <a:solidFill>
                      <a:srgbClr val="173F35"/>
                    </a:solidFill>
                  </a:tcPr>
                </a:tc>
                <a:tc>
                  <a:txBody>
                    <a:bodyPr/>
                    <a:lstStyle/>
                    <a:p>
                      <a:pPr algn="l"/>
                      <a:r>
                        <a:rPr lang="en-US" sz="1100" b="1" dirty="0">
                          <a:solidFill>
                            <a:srgbClr val="FFFFFF"/>
                          </a:solidFill>
                          <a:latin typeface="Avenir Next"/>
                        </a:rPr>
                        <a:t>Related </a:t>
                      </a:r>
                      <a:r>
                        <a:rPr sz="1100" b="1" dirty="0">
                          <a:solidFill>
                            <a:srgbClr val="FFFFFF"/>
                          </a:solidFill>
                          <a:latin typeface="Avenir Next"/>
                        </a:rPr>
                        <a:t>Chapter</a:t>
                      </a:r>
                    </a:p>
                  </a:txBody>
                  <a:tcPr marL="73152" marR="73152" marT="36576" marB="36576" anchor="ctr">
                    <a:solidFill>
                      <a:srgbClr val="173F35"/>
                    </a:solidFill>
                  </a:tcPr>
                </a:tc>
                <a:tc>
                  <a:txBody>
                    <a:bodyPr/>
                    <a:lstStyle/>
                    <a:p>
                      <a:pPr algn="l"/>
                      <a:r>
                        <a:rPr lang="en-US" sz="1100" b="1" dirty="0">
                          <a:solidFill>
                            <a:srgbClr val="FFFFFF"/>
                          </a:solidFill>
                          <a:latin typeface="Avenir Next"/>
                        </a:rPr>
                        <a:t>S</a:t>
                      </a:r>
                      <a:r>
                        <a:rPr sz="1100" b="1" dirty="0">
                          <a:solidFill>
                            <a:srgbClr val="FFFFFF"/>
                          </a:solidFill>
                          <a:latin typeface="Avenir Next"/>
                        </a:rPr>
                        <a:t>hort </a:t>
                      </a:r>
                      <a:r>
                        <a:rPr lang="en-US" sz="1100" b="1" dirty="0">
                          <a:solidFill>
                            <a:srgbClr val="FFFFFF"/>
                          </a:solidFill>
                          <a:latin typeface="Avenir Next"/>
                        </a:rPr>
                        <a:t>A</a:t>
                      </a:r>
                      <a:r>
                        <a:rPr sz="1100" b="1" dirty="0">
                          <a:solidFill>
                            <a:srgbClr val="FFFFFF"/>
                          </a:solidFill>
                          <a:latin typeface="Avenir Next"/>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pPr algn="ctr"/>
                      <a:r>
                        <a:rPr sz="1100" b="1">
                          <a:solidFill>
                            <a:srgbClr val="095E4F"/>
                          </a:solidFill>
                          <a:latin typeface="Avenir Next"/>
                        </a:rPr>
                        <a:t>1</a:t>
                      </a:r>
                    </a:p>
                  </a:txBody>
                  <a:tcPr marL="36576" marR="36576" anchor="ctr">
                    <a:solidFill>
                      <a:srgbClr val="FFF6EA"/>
                    </a:solidFill>
                  </a:tcPr>
                </a:tc>
                <a:tc>
                  <a:txBody>
                    <a:bodyPr/>
                    <a:lstStyle/>
                    <a:p>
                      <a:pPr algn="l"/>
                      <a:r>
                        <a:rPr sz="1050" dirty="0">
                          <a:solidFill>
                            <a:srgbClr val="3A3A4A"/>
                          </a:solidFill>
                          <a:latin typeface="Avenir Next"/>
                        </a:rPr>
                        <a:t>What is greenwashing, how has it evolved and what are its consequences?</a:t>
                      </a:r>
                    </a:p>
                  </a:txBody>
                  <a:tcPr marL="73152" marR="73152" marT="36576" marB="36576" anchor="ctr">
                    <a:solidFill>
                      <a:srgbClr val="FFF6EA"/>
                    </a:solidFill>
                  </a:tcPr>
                </a:tc>
                <a:tc>
                  <a:txBody>
                    <a:bodyPr/>
                    <a:lstStyle/>
                    <a:p>
                      <a:pPr algn="l"/>
                      <a:r>
                        <a:rPr sz="1100" b="1" dirty="0">
                          <a:solidFill>
                            <a:srgbClr val="095E4F"/>
                          </a:solidFill>
                          <a:latin typeface="Avenir Next"/>
                        </a:rPr>
                        <a:t>Chapter 2</a:t>
                      </a:r>
                      <a:endParaRPr sz="1050" b="0" dirty="0">
                        <a:solidFill>
                          <a:srgbClr val="3A3A4A"/>
                        </a:solidFill>
                        <a:latin typeface="Avenir Next"/>
                      </a:endParaRPr>
                    </a:p>
                  </a:txBody>
                  <a:tcPr marL="73152" marR="73152" marT="36576" marB="36576" anchor="ctr">
                    <a:solidFill>
                      <a:srgbClr val="FFF6EA"/>
                    </a:solidFill>
                  </a:tcPr>
                </a:tc>
                <a:tc>
                  <a:txBody>
                    <a:bodyPr/>
                    <a:lstStyle/>
                    <a:p>
                      <a:pPr algn="l"/>
                      <a:r>
                        <a:rPr sz="1050" dirty="0">
                          <a:solidFill>
                            <a:srgbClr val="3A3A4A"/>
                          </a:solidFill>
                          <a:latin typeface="Avenir Next"/>
                        </a:rPr>
                        <a:t>It has moved from the product label to the </a:t>
                      </a:r>
                      <a:r>
                        <a:rPr lang="en-US" sz="1050" dirty="0">
                          <a:solidFill>
                            <a:srgbClr val="3A3A4A"/>
                          </a:solidFill>
                          <a:latin typeface="Avenir Next"/>
                        </a:rPr>
                        <a:t>ESG disclosures</a:t>
                      </a:r>
                      <a:r>
                        <a:rPr sz="1050" dirty="0">
                          <a:solidFill>
                            <a:srgbClr val="3A3A4A"/>
                          </a:solidFill>
                          <a:latin typeface="Avenir Next"/>
                        </a:rPr>
                        <a:t>. The </a:t>
                      </a:r>
                      <a:r>
                        <a:rPr lang="en-US" sz="1050" dirty="0">
                          <a:solidFill>
                            <a:srgbClr val="3A3A4A"/>
                          </a:solidFill>
                          <a:latin typeface="Avenir Next"/>
                        </a:rPr>
                        <a:t>consequences are: </a:t>
                      </a:r>
                      <a:r>
                        <a:rPr sz="1050" dirty="0">
                          <a:solidFill>
                            <a:srgbClr val="3A3A4A"/>
                          </a:solidFill>
                          <a:latin typeface="Avenir Next"/>
                        </a:rPr>
                        <a:t>misdirected capital, weaker market integrity and delayed climate action, not only a </a:t>
                      </a:r>
                      <a:r>
                        <a:rPr lang="en-US" sz="1050" dirty="0">
                          <a:solidFill>
                            <a:srgbClr val="3A3A4A"/>
                          </a:solidFill>
                          <a:latin typeface="Avenir Next"/>
                        </a:rPr>
                        <a:t>misguided </a:t>
                      </a:r>
                      <a:r>
                        <a:rPr sz="1050" dirty="0">
                          <a:solidFill>
                            <a:srgbClr val="3A3A4A"/>
                          </a:solidFill>
                          <a:latin typeface="Avenir Next"/>
                        </a:rPr>
                        <a:t>shopper.</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pPr algn="ctr"/>
                      <a:r>
                        <a:rPr sz="1100" b="1">
                          <a:solidFill>
                            <a:srgbClr val="095E4F"/>
                          </a:solidFill>
                          <a:latin typeface="Avenir Next"/>
                        </a:rPr>
                        <a:t>2</a:t>
                      </a:r>
                    </a:p>
                  </a:txBody>
                  <a:tcPr marL="36576" marR="36576" anchor="ctr">
                    <a:solidFill>
                      <a:srgbClr val="E8EFE6"/>
                    </a:solidFill>
                  </a:tcPr>
                </a:tc>
                <a:tc>
                  <a:txBody>
                    <a:bodyPr/>
                    <a:lstStyle/>
                    <a:p>
                      <a:pPr algn="l"/>
                      <a:r>
                        <a:rPr sz="1050" dirty="0">
                          <a:solidFill>
                            <a:srgbClr val="3A3A4A"/>
                          </a:solidFill>
                          <a:latin typeface="Avenir Next"/>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pPr algn="l"/>
                      <a:r>
                        <a:rPr sz="1100" b="1" dirty="0">
                          <a:solidFill>
                            <a:srgbClr val="095E4F"/>
                          </a:solidFill>
                          <a:latin typeface="Avenir Next"/>
                        </a:rPr>
                        <a:t>Chapter 2</a:t>
                      </a:r>
                      <a:r>
                        <a:rPr lang="en-US" sz="1050" b="0" dirty="0">
                          <a:solidFill>
                            <a:srgbClr val="3A3A4A"/>
                          </a:solidFill>
                          <a:latin typeface="Avenir Next"/>
                        </a:rPr>
                        <a:t>, </a:t>
                      </a:r>
                      <a:r>
                        <a:rPr sz="1100" b="1" dirty="0">
                          <a:solidFill>
                            <a:srgbClr val="095E4F"/>
                          </a:solidFill>
                          <a:latin typeface="Avenir Next"/>
                        </a:rPr>
                        <a:t>Chapter 5</a:t>
                      </a:r>
                      <a:endParaRPr sz="1050" b="0" dirty="0">
                        <a:solidFill>
                          <a:srgbClr val="3A3A4A"/>
                        </a:solidFill>
                        <a:latin typeface="Avenir Next"/>
                      </a:endParaRPr>
                    </a:p>
                  </a:txBody>
                  <a:tcPr marL="73152" marR="73152" marT="36576" marB="36576" anchor="ctr">
                    <a:solidFill>
                      <a:srgbClr val="E8EFE6"/>
                    </a:solidFill>
                  </a:tcPr>
                </a:tc>
                <a:tc>
                  <a:txBody>
                    <a:bodyPr/>
                    <a:lstStyle/>
                    <a:p>
                      <a:pPr algn="l"/>
                      <a:r>
                        <a:rPr lang="en-US" sz="1050" dirty="0">
                          <a:solidFill>
                            <a:srgbClr val="3A3A4A"/>
                          </a:solidFill>
                          <a:latin typeface="Avenir Next"/>
                        </a:rPr>
                        <a:t>Consumer Protection </a:t>
                      </a:r>
                      <a:r>
                        <a:rPr sz="1050" dirty="0">
                          <a:solidFill>
                            <a:srgbClr val="3A3A4A"/>
                          </a:solidFill>
                          <a:latin typeface="Avenir Next"/>
                        </a:rPr>
                        <a:t>law only reaches the claim after it is published. Company law reaches the board, the disclosure and the assurance that produced the claim.</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pPr algn="ctr"/>
                      <a:r>
                        <a:rPr sz="1100" b="1">
                          <a:solidFill>
                            <a:srgbClr val="095E4F"/>
                          </a:solidFill>
                          <a:latin typeface="Avenir Next"/>
                        </a:rPr>
                        <a:t>3</a:t>
                      </a:r>
                    </a:p>
                  </a:txBody>
                  <a:tcPr marL="36576" marR="36576" anchor="ctr">
                    <a:solidFill>
                      <a:srgbClr val="FFF6EA"/>
                    </a:solidFill>
                  </a:tcPr>
                </a:tc>
                <a:tc>
                  <a:txBody>
                    <a:bodyPr/>
                    <a:lstStyle/>
                    <a:p>
                      <a:pPr algn="l"/>
                      <a:r>
                        <a:rPr sz="1050">
                          <a:solidFill>
                            <a:srgbClr val="3A3A4A"/>
                          </a:solidFill>
                          <a:latin typeface="Avenir Next"/>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pPr algn="l"/>
                      <a:r>
                        <a:rPr sz="1100" b="1" dirty="0">
                          <a:solidFill>
                            <a:srgbClr val="095E4F"/>
                          </a:solidFill>
                          <a:latin typeface="Avenir Next"/>
                        </a:rPr>
                        <a:t>Chapter 3</a:t>
                      </a:r>
                      <a:endParaRPr sz="1050" b="0" dirty="0">
                        <a:solidFill>
                          <a:srgbClr val="3A3A4A"/>
                        </a:solidFill>
                        <a:latin typeface="Avenir Next"/>
                      </a:endParaRPr>
                    </a:p>
                  </a:txBody>
                  <a:tcPr marL="73152" marR="73152" marT="36576" marB="36576" anchor="ctr">
                    <a:solidFill>
                      <a:srgbClr val="FFF6EA"/>
                    </a:solidFill>
                  </a:tcPr>
                </a:tc>
                <a:tc>
                  <a:txBody>
                    <a:bodyPr/>
                    <a:lstStyle/>
                    <a:p>
                      <a:pPr algn="l"/>
                      <a:r>
                        <a:rPr sz="1050" dirty="0">
                          <a:solidFill>
                            <a:srgbClr val="3A3A4A"/>
                          </a:solidFill>
                          <a:latin typeface="Avenir Next"/>
                        </a:rPr>
                        <a:t>Read through Hohfeld</a:t>
                      </a:r>
                      <a:r>
                        <a:rPr lang="en-US" sz="1050" dirty="0">
                          <a:solidFill>
                            <a:srgbClr val="3A3A4A"/>
                          </a:solidFill>
                          <a:latin typeface="Avenir Next"/>
                        </a:rPr>
                        <a:t>ian Analysis</a:t>
                      </a:r>
                      <a:r>
                        <a:rPr sz="1050" dirty="0">
                          <a:solidFill>
                            <a:srgbClr val="3A3A4A"/>
                          </a:solidFill>
                          <a:latin typeface="Avenir Next"/>
                        </a:rPr>
                        <a:t>, greenwashing is a breached duty, a misused managerial freedom and an exploited information advantage.</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pPr algn="ctr"/>
                      <a:r>
                        <a:rPr sz="1100" b="1">
                          <a:solidFill>
                            <a:srgbClr val="095E4F"/>
                          </a:solidFill>
                          <a:latin typeface="Avenir Next"/>
                        </a:rPr>
                        <a:t>4</a:t>
                      </a:r>
                    </a:p>
                  </a:txBody>
                  <a:tcPr marL="36576" marR="36576" anchor="ctr">
                    <a:solidFill>
                      <a:srgbClr val="E8EFE6"/>
                    </a:solidFill>
                  </a:tcPr>
                </a:tc>
                <a:tc>
                  <a:txBody>
                    <a:bodyPr/>
                    <a:lstStyle/>
                    <a:p>
                      <a:pPr algn="l"/>
                      <a:r>
                        <a:rPr sz="1050">
                          <a:solidFill>
                            <a:srgbClr val="3A3A4A"/>
                          </a:solidFill>
                          <a:latin typeface="Avenir Next"/>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pPr algn="l"/>
                      <a:r>
                        <a:rPr sz="1100" b="1" dirty="0">
                          <a:solidFill>
                            <a:srgbClr val="095E4F"/>
                          </a:solidFill>
                          <a:latin typeface="Avenir Next"/>
                        </a:rPr>
                        <a:t>Chapter 3</a:t>
                      </a:r>
                      <a:r>
                        <a:rPr lang="en-US" sz="1100" b="1" dirty="0">
                          <a:solidFill>
                            <a:srgbClr val="095E4F"/>
                          </a:solidFill>
                          <a:latin typeface="Avenir Next"/>
                        </a:rPr>
                        <a:t>, </a:t>
                      </a:r>
                      <a:r>
                        <a:rPr sz="1050" b="0" dirty="0">
                          <a:solidFill>
                            <a:srgbClr val="3A3A4A"/>
                          </a:solidFill>
                          <a:latin typeface="Avenir Next"/>
                        </a:rPr>
                        <a:t> </a:t>
                      </a:r>
                      <a:r>
                        <a:rPr sz="1100" b="1" dirty="0">
                          <a:solidFill>
                            <a:srgbClr val="095E4F"/>
                          </a:solidFill>
                          <a:latin typeface="Avenir Next"/>
                        </a:rPr>
                        <a:t>Chapter 5</a:t>
                      </a:r>
                      <a:endParaRPr sz="1050" b="0" dirty="0">
                        <a:solidFill>
                          <a:srgbClr val="3A3A4A"/>
                        </a:solidFill>
                        <a:latin typeface="Avenir Next"/>
                      </a:endParaRPr>
                    </a:p>
                  </a:txBody>
                  <a:tcPr marL="73152" marR="73152" marT="36576" marB="36576" anchor="ctr">
                    <a:solidFill>
                      <a:srgbClr val="E8EFE6"/>
                    </a:solidFill>
                  </a:tcPr>
                </a:tc>
                <a:tc>
                  <a:txBody>
                    <a:bodyPr/>
                    <a:lstStyle/>
                    <a:p>
                      <a:pPr algn="l"/>
                      <a:r>
                        <a:rPr sz="1050" dirty="0">
                          <a:solidFill>
                            <a:srgbClr val="3A3A4A"/>
                          </a:solidFill>
                          <a:latin typeface="Avenir Next"/>
                        </a:rPr>
                        <a:t>Section 166(2), SEBI's BRSR and BRSR Core, and PFUTP already exist. </a:t>
                      </a:r>
                      <a:r>
                        <a:rPr lang="en-US" sz="1050" dirty="0">
                          <a:solidFill>
                            <a:srgbClr val="3A3A4A"/>
                          </a:solidFill>
                          <a:latin typeface="Avenir Next"/>
                        </a:rPr>
                        <a:t>But they suffer from n</a:t>
                      </a:r>
                      <a:r>
                        <a:rPr sz="1050" dirty="0">
                          <a:solidFill>
                            <a:srgbClr val="3A3A4A"/>
                          </a:solidFill>
                          <a:latin typeface="Avenir Next"/>
                        </a:rPr>
                        <a:t>arrow standing, small penalties and softened assurance stop them from being triggered.</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pPr algn="ctr"/>
                      <a:r>
                        <a:rPr sz="1100" b="1">
                          <a:solidFill>
                            <a:srgbClr val="095E4F"/>
                          </a:solidFill>
                          <a:latin typeface="Avenir Next"/>
                        </a:rPr>
                        <a:t>5</a:t>
                      </a:r>
                    </a:p>
                  </a:txBody>
                  <a:tcPr marL="36576" marR="36576" anchor="ctr">
                    <a:solidFill>
                      <a:srgbClr val="FFF6EA"/>
                    </a:solidFill>
                  </a:tcPr>
                </a:tc>
                <a:tc>
                  <a:txBody>
                    <a:bodyPr/>
                    <a:lstStyle/>
                    <a:p>
                      <a:pPr algn="l"/>
                      <a:r>
                        <a:rPr sz="1050">
                          <a:solidFill>
                            <a:srgbClr val="3A3A4A"/>
                          </a:solidFill>
                          <a:latin typeface="Avenir Next"/>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pPr algn="l"/>
                      <a:r>
                        <a:rPr sz="1100" b="1" dirty="0">
                          <a:solidFill>
                            <a:srgbClr val="095E4F"/>
                          </a:solidFill>
                          <a:latin typeface="Avenir Next"/>
                        </a:rPr>
                        <a:t>Chapter 4</a:t>
                      </a:r>
                      <a:endParaRPr sz="1050" b="0" dirty="0">
                        <a:solidFill>
                          <a:srgbClr val="3A3A4A"/>
                        </a:solidFill>
                        <a:latin typeface="Avenir Next"/>
                      </a:endParaRPr>
                    </a:p>
                  </a:txBody>
                  <a:tcPr marL="73152" marR="73152" marT="36576" marB="36576" anchor="ctr">
                    <a:solidFill>
                      <a:srgbClr val="FFF6EA"/>
                    </a:solidFill>
                  </a:tcPr>
                </a:tc>
                <a:tc>
                  <a:txBody>
                    <a:bodyPr/>
                    <a:lstStyle/>
                    <a:p>
                      <a:pPr algn="l"/>
                      <a:r>
                        <a:rPr sz="1050" dirty="0">
                          <a:solidFill>
                            <a:srgbClr val="3A3A4A"/>
                          </a:solidFill>
                          <a:latin typeface="Avenir Next"/>
                        </a:rPr>
                        <a:t>Ten design features, led by proof before publication, independent assurance, automatic referral between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pPr algn="ctr"/>
                      <a:r>
                        <a:rPr sz="1100" b="1">
                          <a:solidFill>
                            <a:srgbClr val="095E4F"/>
                          </a:solidFill>
                          <a:latin typeface="Avenir Next"/>
                        </a:rPr>
                        <a:t>6</a:t>
                      </a:r>
                    </a:p>
                  </a:txBody>
                  <a:tcPr marL="36576" marR="36576" anchor="ctr">
                    <a:solidFill>
                      <a:srgbClr val="E8EFE6"/>
                    </a:solidFill>
                  </a:tcPr>
                </a:tc>
                <a:tc>
                  <a:txBody>
                    <a:bodyPr/>
                    <a:lstStyle/>
                    <a:p>
                      <a:pPr algn="l"/>
                      <a:r>
                        <a:rPr sz="1050">
                          <a:solidFill>
                            <a:srgbClr val="3A3A4A"/>
                          </a:solidFill>
                          <a:latin typeface="Avenir Next"/>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pPr algn="l"/>
                      <a:r>
                        <a:rPr sz="1100" b="1" dirty="0">
                          <a:solidFill>
                            <a:srgbClr val="095E4F"/>
                          </a:solidFill>
                          <a:latin typeface="Avenir Next"/>
                        </a:rPr>
                        <a:t>Chapter 5</a:t>
                      </a:r>
                      <a:endParaRPr sz="1050" b="0" dirty="0">
                        <a:solidFill>
                          <a:srgbClr val="3A3A4A"/>
                        </a:solidFill>
                        <a:latin typeface="Avenir Next"/>
                      </a:endParaRPr>
                    </a:p>
                  </a:txBody>
                  <a:tcPr marL="73152" marR="73152" marT="36576" marB="36576" anchor="ctr">
                    <a:solidFill>
                      <a:srgbClr val="E8EFE6"/>
                    </a:solidFill>
                  </a:tcPr>
                </a:tc>
                <a:tc>
                  <a:txBody>
                    <a:bodyPr/>
                    <a:lstStyle/>
                    <a:p>
                      <a:pPr algn="l"/>
                      <a:r>
                        <a:rPr sz="1050" dirty="0">
                          <a:solidFill>
                            <a:srgbClr val="3A3A4A"/>
                          </a:solidFill>
                          <a:latin typeface="Avenir Next"/>
                        </a:rPr>
                        <a:t>Five structural gaps: fragmented definitions, </a:t>
                      </a:r>
                      <a:r>
                        <a:rPr lang="en-US" sz="1050" dirty="0">
                          <a:solidFill>
                            <a:srgbClr val="3A3A4A"/>
                          </a:solidFill>
                          <a:latin typeface="Avenir Next"/>
                        </a:rPr>
                        <a:t>lack of harmony in laws and regulations, regulatory</a:t>
                      </a:r>
                      <a:r>
                        <a:rPr sz="1050" dirty="0">
                          <a:solidFill>
                            <a:srgbClr val="3A3A4A"/>
                          </a:solidFill>
                          <a:latin typeface="Avenir Next"/>
                        </a:rPr>
                        <a:t> proliferation, active backsliding, reactive enforcement and penalty arbitrage.</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pPr algn="ctr"/>
                      <a:r>
                        <a:rPr sz="1100" b="1">
                          <a:solidFill>
                            <a:srgbClr val="095E4F"/>
                          </a:solidFill>
                          <a:latin typeface="Avenir Next"/>
                        </a:rPr>
                        <a:t>7</a:t>
                      </a:r>
                    </a:p>
                  </a:txBody>
                  <a:tcPr marL="36576" marR="36576" anchor="ctr">
                    <a:solidFill>
                      <a:srgbClr val="FFF6EA"/>
                    </a:solidFill>
                  </a:tcPr>
                </a:tc>
                <a:tc>
                  <a:txBody>
                    <a:bodyPr/>
                    <a:lstStyle/>
                    <a:p>
                      <a:pPr algn="l"/>
                      <a:r>
                        <a:rPr sz="1050">
                          <a:solidFill>
                            <a:srgbClr val="3A3A4A"/>
                          </a:solidFill>
                          <a:latin typeface="Avenir Next"/>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pPr algn="l"/>
                      <a:r>
                        <a:rPr sz="1100" b="1" dirty="0">
                          <a:solidFill>
                            <a:srgbClr val="095E4F"/>
                          </a:solidFill>
                          <a:latin typeface="Avenir Next"/>
                        </a:rPr>
                        <a:t>Chapter 6</a:t>
                      </a:r>
                      <a:endParaRPr sz="1050" b="0" dirty="0">
                        <a:solidFill>
                          <a:srgbClr val="3A3A4A"/>
                        </a:solidFill>
                        <a:latin typeface="Avenir Next"/>
                      </a:endParaRPr>
                    </a:p>
                  </a:txBody>
                  <a:tcPr marL="73152" marR="73152" marT="36576" marB="36576" anchor="ctr">
                    <a:solidFill>
                      <a:srgbClr val="FFF6EA"/>
                    </a:solidFill>
                  </a:tcPr>
                </a:tc>
                <a:tc>
                  <a:txBody>
                    <a:bodyPr/>
                    <a:lstStyle/>
                    <a:p>
                      <a:pPr algn="l"/>
                      <a:r>
                        <a:rPr sz="1050" dirty="0">
                          <a:solidFill>
                            <a:srgbClr val="3A3A4A"/>
                          </a:solidFill>
                          <a:latin typeface="Avenir Next"/>
                        </a:rPr>
                        <a:t>Five system-level moves, plus specific levers inside the Companies Act, SEBI regulations and consumer law, shifting the law from reacting to preventing.</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520000"/>
          </a:xfrm>
          <a:prstGeom prst="rect">
            <a:avLst/>
          </a:prstGeom>
          <a:noFill/>
        </p:spPr>
        <p:txBody>
          <a:bodyPr wrap="square" lIns="0" tIns="0" rIns="0" bIns="0">
            <a:spAutoFit/>
          </a:bodyPr>
          <a:lstStyle/>
          <a:p>
            <a:pPr>
              <a:defRPr sz="2500" b="1">
                <a:solidFill>
                  <a:srgbClr val="173F35"/>
                </a:solidFill>
                <a:latin typeface="Avenir Next Demi Bold"/>
              </a:defRPr>
            </a:pPr>
            <a:r>
              <a:t>Testing of Hypotheses</a:t>
            </a:r>
          </a:p>
        </p:txBody>
      </p:sp>
      <p:sp>
        <p:nvSpPr>
          <p:cNvPr id="4" name="TextBox 3"/>
          <p:cNvSpPr txBox="1"/>
          <p:nvPr/>
        </p:nvSpPr>
        <p:spPr>
          <a:xfrm>
            <a:off x="548639" y="860000"/>
            <a:ext cx="11094722" cy="169277"/>
          </a:xfrm>
          <a:prstGeom prst="rect">
            <a:avLst/>
          </a:prstGeom>
          <a:noFill/>
        </p:spPr>
        <p:txBody>
          <a:bodyPr wrap="square" lIns="0" tIns="0" rIns="0" bIns="0">
            <a:spAutoFit/>
          </a:bodyPr>
          <a:lstStyle/>
          <a:p>
            <a:r>
              <a:rPr sz="1100" b="1" dirty="0">
                <a:solidFill>
                  <a:srgbClr val="173F35"/>
                </a:solidFill>
                <a:latin typeface="Avenir Next Demi Bold"/>
              </a:rPr>
              <a:t>Doctrinal &amp; </a:t>
            </a:r>
            <a:r>
              <a:rPr lang="en-IN" sz="1100" b="1" dirty="0">
                <a:solidFill>
                  <a:srgbClr val="173F35"/>
                </a:solidFill>
                <a:latin typeface="Avenir Next Demi Bold"/>
              </a:rPr>
              <a:t>Analytical </a:t>
            </a:r>
            <a:r>
              <a:rPr sz="1100" b="1" dirty="0">
                <a:solidFill>
                  <a:srgbClr val="173F35"/>
                </a:solidFill>
                <a:latin typeface="Avenir Next Demi Bold"/>
              </a:rPr>
              <a:t>Validity-Check</a:t>
            </a:r>
            <a:r>
              <a:rPr lang="en-US" sz="1100" b="1" dirty="0">
                <a:solidFill>
                  <a:srgbClr val="173F35"/>
                </a:solidFill>
                <a:latin typeface="Avenir Next Demi Bold"/>
              </a:rPr>
              <a:t>s</a:t>
            </a:r>
            <a:r>
              <a:rPr sz="1100" b="1" dirty="0">
                <a:solidFill>
                  <a:srgbClr val="173F35"/>
                </a:solidFill>
                <a:latin typeface="Avenir Next Demi Bold"/>
              </a:rPr>
              <a:t>: </a:t>
            </a:r>
            <a:r>
              <a:rPr sz="1100" dirty="0">
                <a:solidFill>
                  <a:srgbClr val="6B6F6A"/>
                </a:solidFill>
                <a:latin typeface="Avenir Next"/>
              </a:rPr>
              <a:t>Four-step structured </a:t>
            </a:r>
            <a:r>
              <a:rPr lang="en-US" sz="1100" dirty="0">
                <a:solidFill>
                  <a:srgbClr val="6B6F6A"/>
                </a:solidFill>
                <a:latin typeface="Avenir Next"/>
              </a:rPr>
              <a:t>validation</a:t>
            </a:r>
            <a:r>
              <a:rPr sz="1100" dirty="0">
                <a:solidFill>
                  <a:srgbClr val="6B6F6A"/>
                </a:solidFill>
                <a:latin typeface="Avenir Next"/>
              </a:rPr>
              <a:t> across Conceptual Scope, Duty-Power Allocation, Enforcement Pathway, and Rival Explanations</a:t>
            </a:r>
          </a:p>
        </p:txBody>
      </p:sp>
      <p:sp>
        <p:nvSpPr>
          <p:cNvPr id="5" name="Rounded Rectangle 4"/>
          <p:cNvSpPr/>
          <p:nvPr/>
        </p:nvSpPr>
        <p:spPr>
          <a:xfrm>
            <a:off x="40043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63498" y="1156936"/>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3652" y="1403545"/>
            <a:ext cx="3154654" cy="1077218"/>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H₁: </a:t>
            </a:r>
            <a:r>
              <a:rPr lang="en-IN" sz="1400" b="1" dirty="0">
                <a:solidFill>
                  <a:srgbClr val="173F35"/>
                </a:solidFill>
                <a:latin typeface="Avenir Next Demi Bold"/>
              </a:rPr>
              <a:t>Greenwashing in India is primarily a consequence of weak corporate governance and the limited operationalisation of board-level environmental responsibility."</a:t>
            </a:r>
            <a:endParaRPr sz="1100" b="1" dirty="0">
              <a:solidFill>
                <a:srgbClr val="173F35"/>
              </a:solidFill>
              <a:latin typeface="Avenir Next Demi Bold"/>
            </a:endParaRPr>
          </a:p>
        </p:txBody>
      </p:sp>
      <p:sp>
        <p:nvSpPr>
          <p:cNvPr id="8" name="TextBox 7"/>
          <p:cNvSpPr txBox="1"/>
          <p:nvPr/>
        </p:nvSpPr>
        <p:spPr>
          <a:xfrm>
            <a:off x="653650" y="2685791"/>
            <a:ext cx="3154654"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Extends beyond consumer ads to investor-facing disclosures (sustainability reports, BRSR, net-zero/transition narratives, </a:t>
            </a:r>
            <a:r>
              <a:rPr sz="1100" dirty="0" err="1">
                <a:solidFill>
                  <a:srgbClr val="2A2A2A"/>
                </a:solidFill>
                <a:latin typeface="Avenir Next" panose="020B0503020202020204" pitchFamily="34" charset="0"/>
              </a:rPr>
              <a:t>futurewashing</a:t>
            </a:r>
            <a:r>
              <a:rPr sz="1100" dirty="0">
                <a:solidFill>
                  <a:srgbClr val="2A2A2A"/>
                </a:solidFill>
                <a:latin typeface="Avenir Next" panose="020B0503020202020204" pitchFamily="34" charset="0"/>
              </a:rPr>
              <a:t>).</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Consumer law (CPA/ASCI) regulates ads without transferring onus to board decision-makers. Corporate governance is the proper locus for oversight.</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MCA/SEBI possess misstatement powers, but the corporate governance framework for greenwashing remains jurisprudentially underdeveloped.</a:t>
            </a:r>
          </a:p>
        </p:txBody>
      </p:sp>
      <p:sp>
        <p:nvSpPr>
          <p:cNvPr id="9" name="Rounded Rectangle 8"/>
          <p:cNvSpPr/>
          <p:nvPr/>
        </p:nvSpPr>
        <p:spPr>
          <a:xfrm>
            <a:off x="4356643"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25112" y="1156936"/>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09862" y="1403545"/>
            <a:ext cx="3154654" cy="1464503"/>
          </a:xfrm>
          <a:prstGeom prst="rect">
            <a:avLst/>
          </a:prstGeom>
          <a:noFill/>
        </p:spPr>
        <p:txBody>
          <a:bodyPr wrap="square" lIns="0" tIns="0" rIns="0" bIns="0">
            <a:spAutoFit/>
          </a:bodyPr>
          <a:lstStyle/>
          <a:p>
            <a:pPr>
              <a:spcAft>
                <a:spcPts val="200"/>
              </a:spcAft>
            </a:pPr>
            <a:r>
              <a:rPr sz="1400" b="1" dirty="0">
                <a:solidFill>
                  <a:srgbClr val="173F35"/>
                </a:solidFill>
                <a:latin typeface="Avenir Next Demi Bold"/>
              </a:rPr>
              <a:t>H₂:</a:t>
            </a:r>
            <a:r>
              <a:rPr lang="en-US" sz="1400" b="1" dirty="0">
                <a:solidFill>
                  <a:srgbClr val="173F35"/>
                </a:solidFill>
                <a:latin typeface="Avenir Next Demi Bold"/>
              </a:rPr>
              <a:t> </a:t>
            </a:r>
            <a:r>
              <a:rPr lang="en-IN" sz="1400" b="1" dirty="0">
                <a:solidFill>
                  <a:srgbClr val="173F35"/>
                </a:solidFill>
                <a:latin typeface="Avenir Next Demi Bold"/>
              </a:rPr>
              <a:t>The existing legal framework does not impose sufficiently clear, stringent, and deterrent liability for misleading environmental disclosures, thereby enabling corporations to avoid meaningful accountability.</a:t>
            </a:r>
          </a:p>
          <a:p>
            <a:pPr>
              <a:spcAft>
                <a:spcPts val="200"/>
              </a:spcAft>
            </a:pPr>
            <a:endParaRPr sz="950" i="1" dirty="0">
              <a:solidFill>
                <a:srgbClr val="3A3A4A"/>
              </a:solidFill>
              <a:latin typeface="Avenir Next"/>
            </a:endParaRPr>
          </a:p>
        </p:txBody>
      </p:sp>
      <p:sp>
        <p:nvSpPr>
          <p:cNvPr id="12" name="TextBox 11"/>
          <p:cNvSpPr txBox="1"/>
          <p:nvPr/>
        </p:nvSpPr>
        <p:spPr>
          <a:xfrm>
            <a:off x="4609862" y="2796153"/>
            <a:ext cx="326312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Tests whether legal costs exceed benefits across all 3 pillars (Company Law, Securities Law, Consumer Protection) rather than just ad fines.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Duties exist, but ordinary liability routes are weak. § 166(2) lacks open standing (narrow §§ 241-244 route); consumer penalties (₹5L cap) lack deterrence.</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Detection is fragmented; weak verification raises proof burdens. Hohfeldian analysis: legal duties without accessible triggers fail to create real liability.</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Fraud provisions exist at margins, but are scattered across pillars, face high proof burdens, and lack a routine enforcement pathway.</a:t>
            </a:r>
          </a:p>
        </p:txBody>
      </p:sp>
      <p:sp>
        <p:nvSpPr>
          <p:cNvPr id="13" name="Rounded Rectangle 12"/>
          <p:cNvSpPr/>
          <p:nvPr/>
        </p:nvSpPr>
        <p:spPr>
          <a:xfrm>
            <a:off x="8281316" y="1156936"/>
            <a:ext cx="3683771" cy="47049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81317" y="1156936"/>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34535" y="1403545"/>
            <a:ext cx="3154654" cy="1077218"/>
          </a:xfrm>
          <a:prstGeom prst="rect">
            <a:avLst/>
          </a:prstGeom>
          <a:noFill/>
        </p:spPr>
        <p:txBody>
          <a:bodyPr wrap="square" lIns="0" tIns="0" rIns="0" bIns="0">
            <a:spAutoFit/>
          </a:bodyPr>
          <a:lstStyle/>
          <a:p>
            <a:r>
              <a:rPr sz="1400" b="1" dirty="0">
                <a:solidFill>
                  <a:srgbClr val="173F35"/>
                </a:solidFill>
                <a:latin typeface="Avenir Next Demi Bold"/>
              </a:rPr>
              <a:t>H₃: </a:t>
            </a:r>
            <a:r>
              <a:rPr lang="en-IN" sz="1400" b="1" dirty="0">
                <a:solidFill>
                  <a:srgbClr val="173F35"/>
                </a:solidFill>
                <a:latin typeface="Avenir Next Demi Bold"/>
              </a:rPr>
              <a:t>In addressing the issue of greenwashing, the present legal mechanism involving different regulatory bodies is inchoate and incomplete.</a:t>
            </a:r>
          </a:p>
        </p:txBody>
      </p:sp>
      <p:sp>
        <p:nvSpPr>
          <p:cNvPr id="16" name="TextBox 15"/>
          <p:cNvSpPr txBox="1"/>
          <p:nvPr/>
        </p:nvSpPr>
        <p:spPr>
          <a:xfrm>
            <a:off x="8534535" y="2685791"/>
            <a:ext cx="3257032" cy="3036216"/>
          </a:xfrm>
          <a:prstGeom prst="rect">
            <a:avLst/>
          </a:prstGeom>
          <a:noFill/>
        </p:spPr>
        <p:txBody>
          <a:bodyPr wrap="square" lIns="0" tIns="0" rIns="0" bIns="0">
            <a:spAutoFit/>
          </a:bodyPr>
          <a:lstStyle/>
          <a:p>
            <a:pPr>
              <a:lnSpc>
                <a:spcPct val="105000"/>
              </a:lnSpc>
              <a:spcAft>
                <a:spcPts val="500"/>
              </a:spcAft>
            </a:pPr>
            <a:r>
              <a:rPr sz="1100" b="1" dirty="0">
                <a:solidFill>
                  <a:srgbClr val="173F35"/>
                </a:solidFill>
                <a:latin typeface="Avenir Next" panose="020B0503020202020204" pitchFamily="34" charset="0"/>
              </a:rPr>
              <a:t>1. Conceptual Scope: </a:t>
            </a:r>
            <a:r>
              <a:rPr sz="1100" dirty="0">
                <a:solidFill>
                  <a:srgbClr val="2A2A2A"/>
                </a:solidFill>
                <a:latin typeface="Avenir Next" panose="020B0503020202020204" pitchFamily="34" charset="0"/>
              </a:rPr>
              <a:t>Greenwashing is a lifecycle phenomenon crossing products, ads, annual reports, ESG filings, and green finance instruments.</a:t>
            </a:r>
          </a:p>
          <a:p>
            <a:pPr>
              <a:lnSpc>
                <a:spcPct val="105000"/>
              </a:lnSpc>
              <a:spcAft>
                <a:spcPts val="500"/>
              </a:spcAft>
            </a:pPr>
            <a:r>
              <a:rPr sz="1100" b="1" dirty="0">
                <a:solidFill>
                  <a:srgbClr val="173F35"/>
                </a:solidFill>
                <a:latin typeface="Avenir Next" panose="020B0503020202020204" pitchFamily="34" charset="0"/>
              </a:rPr>
              <a:t>2. Duty Allocation: </a:t>
            </a:r>
            <a:r>
              <a:rPr sz="1100" dirty="0">
                <a:solidFill>
                  <a:srgbClr val="2A2A2A"/>
                </a:solidFill>
                <a:latin typeface="Avenir Next" panose="020B0503020202020204" pitchFamily="34" charset="0"/>
              </a:rPr>
              <a:t>Multi-pillar allocation creates 'lifecycle gaps': identical claims face fragmented treatment and divergent evidentiary standards across venues.</a:t>
            </a:r>
          </a:p>
          <a:p>
            <a:pPr>
              <a:lnSpc>
                <a:spcPct val="105000"/>
              </a:lnSpc>
              <a:spcAft>
                <a:spcPts val="500"/>
              </a:spcAft>
            </a:pPr>
            <a:r>
              <a:rPr sz="1100" b="1" dirty="0">
                <a:solidFill>
                  <a:srgbClr val="173F35"/>
                </a:solidFill>
                <a:latin typeface="Avenir Next" panose="020B0503020202020204" pitchFamily="34" charset="0"/>
              </a:rPr>
              <a:t>3. Enforcement Pathway: </a:t>
            </a:r>
            <a:r>
              <a:rPr sz="1100" dirty="0">
                <a:solidFill>
                  <a:srgbClr val="2A2A2A"/>
                </a:solidFill>
                <a:latin typeface="Avenir Next" panose="020B0503020202020204" pitchFamily="34" charset="0"/>
              </a:rPr>
              <a:t>Architecture lacks lead-regulator designation, mandatory cross-referrals, joint investigation protocols, and shared verification baselines.</a:t>
            </a:r>
          </a:p>
          <a:p>
            <a:pPr>
              <a:lnSpc>
                <a:spcPct val="105000"/>
              </a:lnSpc>
              <a:spcAft>
                <a:spcPts val="500"/>
              </a:spcAft>
            </a:pPr>
            <a:r>
              <a:rPr sz="1100" b="1" dirty="0">
                <a:solidFill>
                  <a:srgbClr val="173F35"/>
                </a:solidFill>
                <a:latin typeface="Avenir Next" panose="020B0503020202020204" pitchFamily="34" charset="0"/>
              </a:rPr>
              <a:t>4. Rival Explanation: </a:t>
            </a:r>
            <a:r>
              <a:rPr sz="1100" dirty="0">
                <a:solidFill>
                  <a:srgbClr val="2A2A2A"/>
                </a:solidFill>
                <a:latin typeface="Avenir Next" panose="020B0503020202020204" pitchFamily="34" charset="0"/>
              </a:rPr>
              <a:t>Multiple regulators create strength only if </a:t>
            </a:r>
            <a:r>
              <a:rPr sz="1100" dirty="0" err="1">
                <a:solidFill>
                  <a:srgbClr val="2A2A2A"/>
                </a:solidFill>
                <a:latin typeface="Avenir Next" panose="020B0503020202020204" pitchFamily="34" charset="0"/>
              </a:rPr>
              <a:t>harmonised</a:t>
            </a:r>
            <a:r>
              <a:rPr sz="1100" dirty="0">
                <a:solidFill>
                  <a:srgbClr val="2A2A2A"/>
                </a:solidFill>
                <a:latin typeface="Avenir Next" panose="020B0503020202020204" pitchFamily="34" charset="0"/>
              </a:rPr>
              <a:t>; uncoordinated overlap produces forum-shopping, regulatory arbitrage, and 'orphan' cases.</a:t>
            </a:r>
          </a:p>
        </p:txBody>
      </p:sp>
      <p:sp>
        <p:nvSpPr>
          <p:cNvPr id="17" name="Rounded Rectangle 16"/>
          <p:cNvSpPr/>
          <p:nvPr/>
        </p:nvSpPr>
        <p:spPr>
          <a:xfrm>
            <a:off x="731519" y="5948019"/>
            <a:ext cx="10911841" cy="71471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8319" y="6188762"/>
            <a:ext cx="10475056" cy="198516"/>
          </a:xfrm>
          <a:prstGeom prst="rect">
            <a:avLst/>
          </a:prstGeom>
          <a:noFill/>
        </p:spPr>
        <p:txBody>
          <a:bodyPr wrap="square" lIns="0" tIns="0" rIns="0" bIns="0">
            <a:spAutoFit/>
          </a:bodyPr>
          <a:lstStyle/>
          <a:p>
            <a:pPr algn="ctr">
              <a:lnSpc>
                <a:spcPct val="110000"/>
              </a:lnSpc>
            </a:pPr>
            <a:r>
              <a:rPr sz="1200" b="1" dirty="0">
                <a:solidFill>
                  <a:srgbClr val="173F35"/>
                </a:solidFill>
                <a:latin typeface="Avenir Next" panose="020B0503020202020204" pitchFamily="34" charset="0"/>
              </a:rPr>
              <a:t>All three hypotheses stand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6922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1. Institutional integration</a:t>
            </a:r>
          </a:p>
        </p:txBody>
      </p:sp>
      <p:sp>
        <p:nvSpPr>
          <p:cNvPr id="9" name="TextBox 8"/>
          <p:cNvSpPr txBox="1"/>
          <p:nvPr/>
        </p:nvSpPr>
        <p:spPr>
          <a:xfrm>
            <a:off x="816777" y="1730924"/>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Create a permanent inter-regulatory greenwashing mechanism linking MCA, SEBI, CCPA, </a:t>
            </a:r>
            <a:r>
              <a:rPr sz="1400" dirty="0" err="1">
                <a:latin typeface="Avenir Next" panose="020B0503020202020204" pitchFamily="34" charset="0"/>
              </a:rPr>
              <a:t>MoEFCC</a:t>
            </a:r>
            <a:r>
              <a:rPr sz="1400" dirty="0">
                <a:latin typeface="Avenir Next" panose="020B0503020202020204" pitchFamily="34" charset="0"/>
              </a:rPr>
              <a:t>, CPCB, BIS, FSSAI, and sectoral bodies.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18860"/>
            <a:ext cx="1764792" cy="830997"/>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2. Lead regulator model</a:t>
            </a:r>
          </a:p>
        </p:txBody>
      </p:sp>
      <p:sp>
        <p:nvSpPr>
          <p:cNvPr id="13" name="TextBox 12"/>
          <p:cNvSpPr txBox="1"/>
          <p:nvPr/>
        </p:nvSpPr>
        <p:spPr>
          <a:xfrm>
            <a:off x="2956473"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Use mandatory cross-referrals, shared evidence protocols, and a rule for who coordinates a claim that travels across the market.</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3. Standardised substantiation</a:t>
            </a:r>
          </a:p>
        </p:txBody>
      </p:sp>
      <p:sp>
        <p:nvSpPr>
          <p:cNvPr id="17" name="TextBox 16"/>
          <p:cNvSpPr txBox="1"/>
          <p:nvPr/>
        </p:nvSpPr>
        <p:spPr>
          <a:xfrm>
            <a:off x="5096169" y="1758356"/>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Move toward lifecycle-based verification, product-category rules, accredited verifiers, and common evidentiary standards.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4. Proactive surveillance</a:t>
            </a:r>
          </a:p>
        </p:txBody>
      </p:sp>
      <p:sp>
        <p:nvSpPr>
          <p:cNvPr id="21" name="TextBox 20"/>
          <p:cNvSpPr txBox="1"/>
          <p:nvPr/>
        </p:nvSpPr>
        <p:spPr>
          <a:xfrm>
            <a:off x="7235865"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Run market sweeps in high-risk sectors and cross-check sustainability claims against pollution, compliance, and finance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5. Enforcement capacity</a:t>
            </a:r>
          </a:p>
        </p:txBody>
      </p:sp>
      <p:sp>
        <p:nvSpPr>
          <p:cNvPr id="25" name="TextBox 24"/>
          <p:cNvSpPr txBox="1"/>
          <p:nvPr/>
        </p:nvSpPr>
        <p:spPr>
          <a:xfrm>
            <a:off x="9375561" y="1758356"/>
            <a:ext cx="1764792" cy="1600438"/>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Build shared technical expertise on carbon accounting, offsets, lifecycle analysis,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800" b="0">
                <a:solidFill>
                  <a:srgbClr val="173F35"/>
                </a:solidFill>
                <a:latin typeface="Georgia"/>
              </a:defRPr>
            </a:pPr>
            <a:r>
              <a:rPr sz="2000" dirty="0">
                <a:latin typeface="Avenir Next" panose="020B0503020202020204" pitchFamily="34" charset="0"/>
              </a:rPr>
              <a:t>Narrative takeaway: credible anti-greenwashing law starts before the claim is published, not after the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defRPr sz="1200" b="0">
                <a:solidFill>
                  <a:srgbClr val="2A2A2A"/>
                </a:solidFill>
                <a:latin typeface="Avenir Next"/>
              </a:defRPr>
            </a:pPr>
            <a:r>
              <a:rPr sz="1600">
                <a:latin typeface="Avenir Next" panose="020B0503020202020204" pitchFamily="34" charset="0"/>
              </a:rPr>
              <a:t>- Turnover-linked penalties for directors authorising misleading environmental claims.</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Clear standing to enforce the environmental duty under Section 166(2).</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Board-level ESG committee and stronger whistleblower pathways for environmental misrepresentation.</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Fuller value-chain disclosure and mandatory reasonable assurance over time.</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Explicit classification of ESG misrepresentation under PFUTP.</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Stronger competence, transparency, and penalty rules for ESG rating providers; movement toward double materiality.</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Convert the 2024 Greenwashing Guidelines into formal delegated legislation.</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Use turnover-based penalties and corrective advertising for serious claims.</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Narrow the puffery exception and adopt claim-specific substantiation standards.</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RQ7:  </a:t>
            </a:r>
            <a:r>
              <a:rPr sz="1100" b="0" i="0">
                <a:solidFill>
                  <a:srgbClr val="3A3A4A"/>
                </a:solidFill>
                <a:latin typeface="Avenir Next" panose="020B0503020202020204" pitchFamily="34" charset="0"/>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1429</TotalTime>
  <Words>5558</Words>
  <Application>Microsoft Macintosh PowerPoint</Application>
  <PresentationFormat>Widescreen</PresentationFormat>
  <Paragraphs>458</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1100</cp:revision>
  <dcterms:created xsi:type="dcterms:W3CDTF">2013-01-27T09:14:16Z</dcterms:created>
  <dcterms:modified xsi:type="dcterms:W3CDTF">2026-08-14T07:38:07Z</dcterms:modified>
  <cp:category/>
</cp:coreProperties>
</file>